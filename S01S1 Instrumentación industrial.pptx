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media/image2.jpg" ContentType="image/jpe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66.jpg" ContentType="image/jpeg"/>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257" r:id="rId3"/>
    <p:sldId id="290" r:id="rId4"/>
    <p:sldId id="258" r:id="rId5"/>
    <p:sldId id="288" r:id="rId6"/>
    <p:sldId id="289" r:id="rId7"/>
    <p:sldId id="259" r:id="rId8"/>
    <p:sldId id="260" r:id="rId9"/>
    <p:sldId id="291" r:id="rId10"/>
    <p:sldId id="362" r:id="rId11"/>
    <p:sldId id="364" r:id="rId12"/>
    <p:sldId id="292" r:id="rId13"/>
    <p:sldId id="293" r:id="rId14"/>
    <p:sldId id="330" r:id="rId15"/>
    <p:sldId id="331" r:id="rId16"/>
    <p:sldId id="332" r:id="rId17"/>
    <p:sldId id="333" r:id="rId18"/>
    <p:sldId id="335" r:id="rId19"/>
    <p:sldId id="337" r:id="rId20"/>
    <p:sldId id="278" r:id="rId21"/>
    <p:sldId id="336" r:id="rId22"/>
    <p:sldId id="279" r:id="rId23"/>
    <p:sldId id="280" r:id="rId24"/>
    <p:sldId id="281" r:id="rId25"/>
    <p:sldId id="339" r:id="rId26"/>
    <p:sldId id="340" r:id="rId27"/>
    <p:sldId id="341" r:id="rId28"/>
    <p:sldId id="343" r:id="rId29"/>
    <p:sldId id="344" r:id="rId30"/>
    <p:sldId id="346" r:id="rId31"/>
    <p:sldId id="345" r:id="rId32"/>
    <p:sldId id="347" r:id="rId33"/>
    <p:sldId id="348" r:id="rId34"/>
    <p:sldId id="349" r:id="rId35"/>
    <p:sldId id="350" r:id="rId36"/>
    <p:sldId id="351" r:id="rId37"/>
    <p:sldId id="352" r:id="rId38"/>
    <p:sldId id="353" r:id="rId39"/>
    <p:sldId id="354" r:id="rId40"/>
    <p:sldId id="356" r:id="rId41"/>
    <p:sldId id="357" r:id="rId42"/>
    <p:sldId id="359" r:id="rId43"/>
    <p:sldId id="269" r:id="rId44"/>
    <p:sldId id="270" r:id="rId45"/>
    <p:sldId id="271" r:id="rId46"/>
    <p:sldId id="355" r:id="rId47"/>
    <p:sldId id="273" r:id="rId48"/>
    <p:sldId id="294" r:id="rId49"/>
    <p:sldId id="360" r:id="rId50"/>
    <p:sldId id="361" r:id="rId51"/>
    <p:sldId id="295" r:id="rId52"/>
    <p:sldId id="365" r:id="rId53"/>
    <p:sldId id="363" r:id="rId54"/>
    <p:sldId id="296" r:id="rId55"/>
    <p:sldId id="366" r:id="rId56"/>
    <p:sldId id="286" r:id="rId57"/>
    <p:sldId id="298" r:id="rId58"/>
    <p:sldId id="299" r:id="rId59"/>
    <p:sldId id="368" r:id="rId60"/>
    <p:sldId id="300" r:id="rId61"/>
    <p:sldId id="369" r:id="rId62"/>
    <p:sldId id="301" r:id="rId63"/>
    <p:sldId id="370" r:id="rId64"/>
    <p:sldId id="302" r:id="rId65"/>
    <p:sldId id="371" r:id="rId66"/>
    <p:sldId id="297" r:id="rId67"/>
    <p:sldId id="287" r:id="rId68"/>
  </p:sldIdLst>
  <p:sldSz cx="12192000" cy="6858000"/>
  <p:notesSz cx="12192000" cy="6858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93CE91FC-33D8-49BC-B6BC-25E973A6B31F}">
          <p14:sldIdLst>
            <p14:sldId id="256"/>
            <p14:sldId id="257"/>
            <p14:sldId id="290"/>
            <p14:sldId id="258"/>
            <p14:sldId id="288"/>
            <p14:sldId id="289"/>
          </p14:sldIdLst>
        </p14:section>
        <p14:section name="TRANSFORMACIÓN" id="{CB2F2C08-53B8-4927-8AC8-BED5439F422B}">
          <p14:sldIdLst>
            <p14:sldId id="259"/>
            <p14:sldId id="260"/>
            <p14:sldId id="291"/>
            <p14:sldId id="362"/>
            <p14:sldId id="364"/>
            <p14:sldId id="292"/>
            <p14:sldId id="293"/>
            <p14:sldId id="330"/>
            <p14:sldId id="331"/>
            <p14:sldId id="332"/>
            <p14:sldId id="333"/>
            <p14:sldId id="335"/>
            <p14:sldId id="337"/>
            <p14:sldId id="278"/>
            <p14:sldId id="336"/>
            <p14:sldId id="279"/>
            <p14:sldId id="280"/>
            <p14:sldId id="281"/>
            <p14:sldId id="339"/>
            <p14:sldId id="340"/>
            <p14:sldId id="341"/>
            <p14:sldId id="343"/>
            <p14:sldId id="344"/>
            <p14:sldId id="346"/>
            <p14:sldId id="345"/>
            <p14:sldId id="347"/>
            <p14:sldId id="348"/>
            <p14:sldId id="349"/>
            <p14:sldId id="350"/>
            <p14:sldId id="351"/>
            <p14:sldId id="352"/>
            <p14:sldId id="353"/>
            <p14:sldId id="354"/>
            <p14:sldId id="356"/>
            <p14:sldId id="357"/>
            <p14:sldId id="359"/>
            <p14:sldId id="269"/>
            <p14:sldId id="270"/>
            <p14:sldId id="271"/>
            <p14:sldId id="355"/>
            <p14:sldId id="273"/>
            <p14:sldId id="294"/>
            <p14:sldId id="360"/>
            <p14:sldId id="361"/>
            <p14:sldId id="295"/>
            <p14:sldId id="365"/>
            <p14:sldId id="363"/>
            <p14:sldId id="296"/>
            <p14:sldId id="366"/>
          </p14:sldIdLst>
        </p14:section>
        <p14:section name="PRACTICA" id="{6FC7F958-B212-4DE1-9BCD-BE116454671F}">
          <p14:sldIdLst>
            <p14:sldId id="286"/>
            <p14:sldId id="298"/>
            <p14:sldId id="299"/>
            <p14:sldId id="368"/>
            <p14:sldId id="300"/>
            <p14:sldId id="369"/>
            <p14:sldId id="301"/>
            <p14:sldId id="370"/>
            <p14:sldId id="302"/>
            <p14:sldId id="371"/>
          </p14:sldIdLst>
        </p14:section>
        <p14:section name="CIERRE" id="{A5FC579F-3669-4281-8DA7-9545B3A76DDE}">
          <p14:sldIdLst>
            <p14:sldId id="297"/>
            <p14:sldId id="28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18" autoAdjust="0"/>
    <p:restoredTop sz="94195" autoAdjust="0"/>
  </p:normalViewPr>
  <p:slideViewPr>
    <p:cSldViewPr>
      <p:cViewPr>
        <p:scale>
          <a:sx n="50" d="100"/>
          <a:sy n="50" d="100"/>
        </p:scale>
        <p:origin x="774" y="348"/>
      </p:cViewPr>
      <p:guideLst>
        <p:guide orient="horz" pos="2880"/>
        <p:guide pos="216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C0665C3-3854-4D22-A0C9-0F8F7CDBA1C2}" type="datetimeFigureOut">
              <a:rPr lang="es-PE" smtClean="0"/>
              <a:t>14/08/2025</a:t>
            </a:fld>
            <a:endParaRPr lang="es-PE"/>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82DFD32-1F63-4192-BC75-4F02DA87ECD5}" type="slidenum">
              <a:rPr lang="es-PE" smtClean="0"/>
              <a:t>‹Nº›</a:t>
            </a:fld>
            <a:endParaRPr lang="es-PE"/>
          </a:p>
        </p:txBody>
      </p:sp>
    </p:spTree>
    <p:extLst>
      <p:ext uri="{BB962C8B-B14F-4D97-AF65-F5344CB8AC3E}">
        <p14:creationId xmlns:p14="http://schemas.microsoft.com/office/powerpoint/2010/main" val="3417761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12</a:t>
            </a:fld>
            <a:endParaRPr lang="es-PE"/>
          </a:p>
        </p:txBody>
      </p:sp>
    </p:spTree>
    <p:extLst>
      <p:ext uri="{BB962C8B-B14F-4D97-AF65-F5344CB8AC3E}">
        <p14:creationId xmlns:p14="http://schemas.microsoft.com/office/powerpoint/2010/main" val="1429759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13</a:t>
            </a:fld>
            <a:endParaRPr lang="es-PE"/>
          </a:p>
        </p:txBody>
      </p:sp>
    </p:spTree>
    <p:extLst>
      <p:ext uri="{BB962C8B-B14F-4D97-AF65-F5344CB8AC3E}">
        <p14:creationId xmlns:p14="http://schemas.microsoft.com/office/powerpoint/2010/main" val="84933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lnSpc>
                <a:spcPct val="80000"/>
              </a:lnSpc>
            </a:pPr>
            <a:r>
              <a:rPr lang="es-ES_tradnl" altLang="es-PE" sz="1600" dirty="0">
                <a:effectLst/>
                <a:latin typeface="Arial" panose="020B0604020202020204" pitchFamily="34" charset="0"/>
              </a:rPr>
              <a:t>Principio de funcionamiento</a:t>
            </a:r>
          </a:p>
          <a:p>
            <a:pPr eaLnBrk="1" hangingPunct="1">
              <a:lnSpc>
                <a:spcPct val="80000"/>
              </a:lnSpc>
            </a:pPr>
            <a:r>
              <a:rPr lang="es-ES_tradnl" altLang="es-PE" u="sng" dirty="0">
                <a:effectLst/>
                <a:latin typeface="Arial" panose="020B0604020202020204" pitchFamily="34" charset="0"/>
              </a:rPr>
              <a:t>Efecto </a:t>
            </a:r>
            <a:r>
              <a:rPr lang="es-ES_tradnl" altLang="es-PE" u="sng" dirty="0" err="1">
                <a:effectLst/>
                <a:latin typeface="Arial" panose="020B0604020202020204" pitchFamily="34" charset="0"/>
              </a:rPr>
              <a:t>Seebek</a:t>
            </a:r>
            <a:r>
              <a:rPr lang="es-ES_tradnl" altLang="es-PE" dirty="0">
                <a:effectLst/>
                <a:latin typeface="Arial" panose="020B0604020202020204" pitchFamily="34" charset="0"/>
              </a:rPr>
              <a:t>: </a:t>
            </a:r>
            <a:r>
              <a:rPr lang="es-ES_tradnl" altLang="es-PE" sz="1200" dirty="0">
                <a:effectLst/>
                <a:latin typeface="Arial" panose="020B0604020202020204" pitchFamily="34" charset="0"/>
              </a:rPr>
              <a:t>En un circuito conformado por dos metales cuyas junturas están a temperaturas diferentes, circula una pequeña corriente.</a:t>
            </a:r>
          </a:p>
          <a:p>
            <a:pPr eaLnBrk="1" hangingPunct="1">
              <a:lnSpc>
                <a:spcPct val="80000"/>
              </a:lnSpc>
            </a:pPr>
            <a:r>
              <a:rPr lang="es-ES_tradnl" altLang="es-PE" u="sng" dirty="0">
                <a:effectLst/>
                <a:latin typeface="Arial" panose="020B0604020202020204" pitchFamily="34" charset="0"/>
              </a:rPr>
              <a:t>Efecto </a:t>
            </a:r>
            <a:r>
              <a:rPr lang="es-ES_tradnl" altLang="es-PE" u="sng" dirty="0" err="1">
                <a:effectLst/>
                <a:latin typeface="Arial" panose="020B0604020202020204" pitchFamily="34" charset="0"/>
              </a:rPr>
              <a:t>Peltier</a:t>
            </a:r>
            <a:r>
              <a:rPr lang="es-ES_tradnl" altLang="es-PE" u="sng" dirty="0">
                <a:effectLst/>
                <a:latin typeface="Arial" panose="020B0604020202020204" pitchFamily="34" charset="0"/>
              </a:rPr>
              <a:t>:</a:t>
            </a:r>
            <a:r>
              <a:rPr lang="es-ES_tradnl" altLang="es-PE" dirty="0">
                <a:effectLst/>
                <a:latin typeface="Arial" panose="020B0604020202020204" pitchFamily="34" charset="0"/>
              </a:rPr>
              <a:t> </a:t>
            </a:r>
            <a:r>
              <a:rPr lang="es-ES_tradnl" altLang="es-PE" sz="1200" dirty="0">
                <a:effectLst/>
                <a:latin typeface="Arial" panose="020B0604020202020204" pitchFamily="34" charset="0"/>
              </a:rPr>
              <a:t>Reversibilidad del fenómeno. Si se aplica una tensión al circuito anterior, una juntura se calienta y la otra se enfría dependiendo del sentido de circulación de la corriente.</a:t>
            </a:r>
          </a:p>
          <a:p>
            <a:pPr eaLnBrk="1" hangingPunct="1">
              <a:lnSpc>
                <a:spcPct val="80000"/>
              </a:lnSpc>
            </a:pPr>
            <a:r>
              <a:rPr lang="es-ES_tradnl" altLang="es-PE" u="sng" dirty="0">
                <a:effectLst/>
                <a:latin typeface="Arial" panose="020B0604020202020204" pitchFamily="34" charset="0"/>
              </a:rPr>
              <a:t>Efecto Thompson:</a:t>
            </a:r>
            <a:r>
              <a:rPr lang="es-ES_tradnl" altLang="es-PE" dirty="0">
                <a:effectLst/>
                <a:latin typeface="Arial" panose="020B0604020202020204" pitchFamily="34" charset="0"/>
              </a:rPr>
              <a:t> </a:t>
            </a:r>
            <a:r>
              <a:rPr lang="es-ES_tradnl" altLang="es-PE" sz="1200" dirty="0">
                <a:effectLst/>
                <a:latin typeface="Arial" panose="020B0604020202020204" pitchFamily="34" charset="0"/>
              </a:rPr>
              <a:t>Cualquier material conductor homogéneo, expuesto a un gradiente de temperatura, genera una </a:t>
            </a:r>
            <a:r>
              <a:rPr lang="es-ES_tradnl" altLang="es-PE" sz="1200" dirty="0" err="1">
                <a:effectLst/>
                <a:latin typeface="Arial" panose="020B0604020202020204" pitchFamily="34" charset="0"/>
              </a:rPr>
              <a:t>fem</a:t>
            </a:r>
            <a:r>
              <a:rPr lang="es-ES_tradnl" altLang="es-PE" sz="1200" dirty="0">
                <a:effectLst/>
                <a:latin typeface="Arial" panose="020B0604020202020204" pitchFamily="34" charset="0"/>
              </a:rPr>
              <a:t> entre sus extremos.</a:t>
            </a:r>
            <a:endParaRPr lang="es-ES" altLang="es-PE" sz="1200" dirty="0">
              <a:effectLst/>
              <a:latin typeface="Arial" panose="020B0604020202020204" pitchFamily="34" charset="0"/>
            </a:endParaRPr>
          </a:p>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36</a:t>
            </a:fld>
            <a:endParaRPr lang="es-PE"/>
          </a:p>
        </p:txBody>
      </p:sp>
    </p:spTree>
    <p:extLst>
      <p:ext uri="{BB962C8B-B14F-4D97-AF65-F5344CB8AC3E}">
        <p14:creationId xmlns:p14="http://schemas.microsoft.com/office/powerpoint/2010/main" val="2923103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48</a:t>
            </a:fld>
            <a:endParaRPr lang="es-PE"/>
          </a:p>
        </p:txBody>
      </p:sp>
    </p:spTree>
    <p:extLst>
      <p:ext uri="{BB962C8B-B14F-4D97-AF65-F5344CB8AC3E}">
        <p14:creationId xmlns:p14="http://schemas.microsoft.com/office/powerpoint/2010/main" val="1510297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49</a:t>
            </a:fld>
            <a:endParaRPr lang="es-PE"/>
          </a:p>
        </p:txBody>
      </p:sp>
    </p:spTree>
    <p:extLst>
      <p:ext uri="{BB962C8B-B14F-4D97-AF65-F5344CB8AC3E}">
        <p14:creationId xmlns:p14="http://schemas.microsoft.com/office/powerpoint/2010/main" val="3172561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50</a:t>
            </a:fld>
            <a:endParaRPr lang="es-PE"/>
          </a:p>
        </p:txBody>
      </p:sp>
    </p:spTree>
    <p:extLst>
      <p:ext uri="{BB962C8B-B14F-4D97-AF65-F5344CB8AC3E}">
        <p14:creationId xmlns:p14="http://schemas.microsoft.com/office/powerpoint/2010/main" val="2820563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66</a:t>
            </a:fld>
            <a:endParaRPr lang="es-PE"/>
          </a:p>
        </p:txBody>
      </p:sp>
    </p:spTree>
    <p:extLst>
      <p:ext uri="{BB962C8B-B14F-4D97-AF65-F5344CB8AC3E}">
        <p14:creationId xmlns:p14="http://schemas.microsoft.com/office/powerpoint/2010/main" val="1586054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4.wdp"/><Relationship Id="rId17" Type="http://schemas.openxmlformats.org/officeDocument/2006/relationships/image" Target="../media/image10.png"/><Relationship Id="rId2" Type="http://schemas.openxmlformats.org/officeDocument/2006/relationships/image" Target="../media/image2.jpg"/><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microsoft.com/office/2007/relationships/hdphoto" Target="../media/hdphoto1.wdp"/><Relationship Id="rId1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5.wdp"/></Relationships>
</file>

<file path=ppt/slideLayouts/_rels/slideLayout4.xml.rels><?xml version="1.0" encoding="UTF-8" standalone="yes"?>
<Relationships xmlns="http://schemas.openxmlformats.org/package/2006/relationships"><Relationship Id="rId8" Type="http://schemas.microsoft.com/office/2007/relationships/hdphoto" Target="../media/hdphoto3.wdp"/><Relationship Id="rId13" Type="http://schemas.microsoft.com/office/2007/relationships/hdphoto" Target="../media/hdphoto5.wdp"/><Relationship Id="rId18" Type="http://schemas.openxmlformats.org/officeDocument/2006/relationships/image" Target="../media/image1.jp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17" Type="http://schemas.microsoft.com/office/2007/relationships/hdphoto" Target="../media/hdphoto7.wdp"/><Relationship Id="rId2" Type="http://schemas.openxmlformats.org/officeDocument/2006/relationships/image" Target="../media/image2.jpg"/><Relationship Id="rId16" Type="http://schemas.openxmlformats.org/officeDocument/2006/relationships/image" Target="../media/image10.png"/><Relationship Id="rId1" Type="http://schemas.openxmlformats.org/officeDocument/2006/relationships/slideMaster" Target="../slideMasters/slideMaster1.xml"/><Relationship Id="rId6" Type="http://schemas.microsoft.com/office/2007/relationships/hdphoto" Target="../media/hdphoto2.wdp"/><Relationship Id="rId11" Type="http://schemas.microsoft.com/office/2007/relationships/hdphoto" Target="../media/hdphoto4.wdp"/><Relationship Id="rId5" Type="http://schemas.openxmlformats.org/officeDocument/2006/relationships/image" Target="../media/image4.png"/><Relationship Id="rId15" Type="http://schemas.microsoft.com/office/2007/relationships/hdphoto" Target="../media/hdphoto6.wdp"/><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png"/><Relationship Id="rId1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8" Type="http://schemas.microsoft.com/office/2007/relationships/hdphoto" Target="../media/hdphoto3.wdp"/><Relationship Id="rId13" Type="http://schemas.microsoft.com/office/2007/relationships/hdphoto" Target="../media/hdphoto5.wdp"/><Relationship Id="rId18" Type="http://schemas.openxmlformats.org/officeDocument/2006/relationships/image" Target="../media/image1.jp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17" Type="http://schemas.microsoft.com/office/2007/relationships/hdphoto" Target="../media/hdphoto7.wdp"/><Relationship Id="rId2" Type="http://schemas.openxmlformats.org/officeDocument/2006/relationships/image" Target="../media/image2.jpg"/><Relationship Id="rId16" Type="http://schemas.openxmlformats.org/officeDocument/2006/relationships/image" Target="../media/image10.png"/><Relationship Id="rId1" Type="http://schemas.openxmlformats.org/officeDocument/2006/relationships/slideMaster" Target="../slideMasters/slideMaster1.xml"/><Relationship Id="rId6" Type="http://schemas.microsoft.com/office/2007/relationships/hdphoto" Target="../media/hdphoto2.wdp"/><Relationship Id="rId11" Type="http://schemas.microsoft.com/office/2007/relationships/hdphoto" Target="../media/hdphoto4.wdp"/><Relationship Id="rId5" Type="http://schemas.openxmlformats.org/officeDocument/2006/relationships/image" Target="../media/image4.png"/><Relationship Id="rId15" Type="http://schemas.microsoft.com/office/2007/relationships/hdphoto" Target="../media/hdphoto6.wdp"/><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png"/><Relationship Id="rId1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4.wdp"/><Relationship Id="rId17" Type="http://schemas.openxmlformats.org/officeDocument/2006/relationships/image" Target="../media/image10.png"/><Relationship Id="rId2" Type="http://schemas.openxmlformats.org/officeDocument/2006/relationships/image" Target="../media/image2.jpg"/><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microsoft.com/office/2007/relationships/hdphoto" Target="../media/hdphoto1.wdp"/><Relationship Id="rId1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5.wdp"/></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4.wdp"/><Relationship Id="rId17" Type="http://schemas.openxmlformats.org/officeDocument/2006/relationships/image" Target="../media/image10.png"/><Relationship Id="rId2" Type="http://schemas.openxmlformats.org/officeDocument/2006/relationships/image" Target="../media/image2.jpg"/><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microsoft.com/office/2007/relationships/hdphoto" Target="../media/hdphoto1.wdp"/><Relationship Id="rId1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5.wdp"/></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4.wdp"/><Relationship Id="rId17" Type="http://schemas.openxmlformats.org/officeDocument/2006/relationships/image" Target="../media/image10.png"/><Relationship Id="rId2" Type="http://schemas.openxmlformats.org/officeDocument/2006/relationships/image" Target="../media/image2.jpg"/><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microsoft.com/office/2007/relationships/hdphoto" Target="../media/hdphoto1.wdp"/><Relationship Id="rId1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5.wdp"/></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4.wdp"/><Relationship Id="rId17" Type="http://schemas.openxmlformats.org/officeDocument/2006/relationships/image" Target="../media/image10.png"/><Relationship Id="rId2" Type="http://schemas.openxmlformats.org/officeDocument/2006/relationships/image" Target="../media/image2.jpg"/><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microsoft.com/office/2007/relationships/hdphoto" Target="../media/hdphoto1.wdp"/><Relationship Id="rId1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5.wdp"/></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microsoft.com/office/2007/relationships/hdphoto" Target="../media/hdphoto3.wdp"/><Relationship Id="rId13" Type="http://schemas.microsoft.com/office/2007/relationships/hdphoto" Target="../media/hdphoto5.wdp"/><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17" Type="http://schemas.microsoft.com/office/2007/relationships/hdphoto" Target="../media/hdphoto7.wdp"/><Relationship Id="rId2" Type="http://schemas.openxmlformats.org/officeDocument/2006/relationships/image" Target="../media/image1.jpg"/><Relationship Id="rId16" Type="http://schemas.openxmlformats.org/officeDocument/2006/relationships/image" Target="../media/image10.png"/><Relationship Id="rId1" Type="http://schemas.openxmlformats.org/officeDocument/2006/relationships/slideMaster" Target="../slideMasters/slideMaster1.xml"/><Relationship Id="rId6" Type="http://schemas.microsoft.com/office/2007/relationships/hdphoto" Target="../media/hdphoto2.wdp"/><Relationship Id="rId11" Type="http://schemas.microsoft.com/office/2007/relationships/hdphoto" Target="../media/hdphoto4.wdp"/><Relationship Id="rId5" Type="http://schemas.openxmlformats.org/officeDocument/2006/relationships/image" Target="../media/image4.png"/><Relationship Id="rId15" Type="http://schemas.microsoft.com/office/2007/relationships/hdphoto" Target="../media/hdphoto6.wdp"/><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png"/><Relationship Id="rId1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Nombre del curso y Tema">
    <p:bg>
      <p:bgPr>
        <a:solidFill>
          <a:schemeClr val="bg1"/>
        </a:solidFill>
        <a:effectLst/>
      </p:bgPr>
    </p:bg>
    <p:spTree>
      <p:nvGrpSpPr>
        <p:cNvPr id="1" name=""/>
        <p:cNvGrpSpPr/>
        <p:nvPr/>
      </p:nvGrpSpPr>
      <p:grpSpPr>
        <a:xfrm>
          <a:off x="0" y="0"/>
          <a:ext cx="0" cy="0"/>
          <a:chOff x="0" y="0"/>
          <a:chExt cx="0" cy="0"/>
        </a:xfrm>
      </p:grpSpPr>
      <p:pic>
        <p:nvPicPr>
          <p:cNvPr id="16" name="bg object 16"/>
          <p:cNvPicPr/>
          <p:nvPr userDrawn="1"/>
        </p:nvPicPr>
        <p:blipFill>
          <a:blip r:embed="rId2" cstate="print"/>
          <a:stretch>
            <a:fillRect/>
          </a:stretch>
        </p:blipFill>
        <p:spPr>
          <a:xfrm>
            <a:off x="4572" y="0"/>
            <a:ext cx="8121904" cy="6857997"/>
          </a:xfrm>
          <a:prstGeom prst="rect">
            <a:avLst/>
          </a:prstGeom>
        </p:spPr>
      </p:pic>
      <p:sp>
        <p:nvSpPr>
          <p:cNvPr id="2" name="Holder 2"/>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rgbClr val="C00000"/>
                </a:solidFill>
                <a:latin typeface="+mj-lt"/>
                <a:ea typeface="+mj-ea"/>
                <a:cs typeface="+mj-cs"/>
              </a:defRPr>
            </a:lvl1pPr>
          </a:lstStyle>
          <a:p>
            <a:r>
              <a:rPr lang="es-ES" dirty="0"/>
              <a:t>Haga clic para modificar el estilo de título del patrón</a:t>
            </a:r>
            <a:endParaRPr dirty="0"/>
          </a:p>
        </p:txBody>
      </p:sp>
      <p:sp>
        <p:nvSpPr>
          <p:cNvPr id="5" name="Holder 5"/>
          <p:cNvSpPr>
            <a:spLocks noGrp="1"/>
          </p:cNvSpPr>
          <p:nvPr>
            <p:ph type="sldNum" sz="quarter" idx="7"/>
          </p:nvPr>
        </p:nvSpPr>
        <p:spPr>
          <a:xfrm>
            <a:off x="8610600" y="6356350"/>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C935D5-6D3E-4FF0-877B-AA27AB4CF1C1}" type="slidenum">
              <a:rPr lang="es-PE" smtClean="0"/>
              <a:pPr/>
              <a:t>‹Nº›</a:t>
            </a:fld>
            <a:endParaRPr/>
          </a:p>
        </p:txBody>
      </p:sp>
      <p:sp>
        <p:nvSpPr>
          <p:cNvPr id="7" name="Holder 3">
            <a:extLst>
              <a:ext uri="{FF2B5EF4-FFF2-40B4-BE49-F238E27FC236}">
                <a16:creationId xmlns:a16="http://schemas.microsoft.com/office/drawing/2014/main" id="{3F8A92E3-7833-D5B6-A3E0-B25F3D9B2D3C}"/>
              </a:ext>
            </a:extLst>
          </p:cNvPr>
          <p:cNvSpPr>
            <a:spLocks noGrp="1"/>
          </p:cNvSpPr>
          <p:nvPr>
            <p:ph type="subTitle" idx="4" hasCustomPrompt="1"/>
          </p:nvPr>
        </p:nvSpPr>
        <p:spPr>
          <a:xfrm>
            <a:off x="838200" y="1825625"/>
            <a:ext cx="10515600" cy="4351338"/>
          </a:xfrm>
          <a:prstGeom prst="rect">
            <a:avLst/>
          </a:prstGeom>
        </p:spPr>
        <p:txBody>
          <a:bodyPr vert="horz" wrap="square"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a:p>
        </p:txBody>
      </p:sp>
    </p:spTree>
    <p:extLst>
      <p:ext uri="{BB962C8B-B14F-4D97-AF65-F5344CB8AC3E}">
        <p14:creationId xmlns:p14="http://schemas.microsoft.com/office/powerpoint/2010/main" val="359860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UDAS">
    <p:spTree>
      <p:nvGrpSpPr>
        <p:cNvPr id="1" name=""/>
        <p:cNvGrpSpPr/>
        <p:nvPr/>
      </p:nvGrpSpPr>
      <p:grpSpPr>
        <a:xfrm>
          <a:off x="0" y="0"/>
          <a:ext cx="0" cy="0"/>
          <a:chOff x="0" y="0"/>
          <a:chExt cx="0" cy="0"/>
        </a:xfrm>
      </p:grpSpPr>
      <p:pic>
        <p:nvPicPr>
          <p:cNvPr id="33" name="Imagen 32">
            <a:extLst>
              <a:ext uri="{FF2B5EF4-FFF2-40B4-BE49-F238E27FC236}">
                <a16:creationId xmlns:a16="http://schemas.microsoft.com/office/drawing/2014/main" id="{DF497077-C168-57F5-151E-786107B89C5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4194" y="855472"/>
            <a:ext cx="5105400" cy="6002528"/>
          </a:xfrm>
          <a:prstGeom prst="rect">
            <a:avLst/>
          </a:prstGeom>
        </p:spPr>
      </p:pic>
      <p:pic>
        <p:nvPicPr>
          <p:cNvPr id="34" name="bg object 16">
            <a:extLst>
              <a:ext uri="{FF2B5EF4-FFF2-40B4-BE49-F238E27FC236}">
                <a16:creationId xmlns:a16="http://schemas.microsoft.com/office/drawing/2014/main" id="{6A517272-C42D-C03B-742E-BE2F811E8CD3}"/>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5" name="Rectángulo 4">
            <a:extLst>
              <a:ext uri="{FF2B5EF4-FFF2-40B4-BE49-F238E27FC236}">
                <a16:creationId xmlns:a16="http://schemas.microsoft.com/office/drawing/2014/main" id="{B63C1180-4408-4669-B7D8-2C705D3E0CED}"/>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3F2E9854-F4C5-0687-4D18-C0DA63C4A9B8}"/>
              </a:ext>
            </a:extLst>
          </p:cNvPr>
          <p:cNvSpPr/>
          <p:nvPr userDrawn="1"/>
        </p:nvSpPr>
        <p:spPr>
          <a:xfrm>
            <a:off x="11349733" y="-1974"/>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8" name="Picture 8">
            <a:extLst>
              <a:ext uri="{FF2B5EF4-FFF2-40B4-BE49-F238E27FC236}">
                <a16:creationId xmlns:a16="http://schemas.microsoft.com/office/drawing/2014/main" id="{5F45EDAC-9217-AD2B-E61E-3EAA3C7BAD46}"/>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Marca de verificación en blanco y negro Gratis Dibujos Animados  Imágene｜Illustoon ES">
            <a:extLst>
              <a:ext uri="{FF2B5EF4-FFF2-40B4-BE49-F238E27FC236}">
                <a16:creationId xmlns:a16="http://schemas.microsoft.com/office/drawing/2014/main" id="{10AF4D9E-8A60-4136-A9C4-86C2CF65FAF0}"/>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Bombilla, Bombilla incandescente, Luz eléctrica, Lámpara, Negro, Blanco y  negro, Línea, silueta, ligero, negro, En blanco y negro png | PNGWing">
            <a:extLst>
              <a:ext uri="{FF2B5EF4-FFF2-40B4-BE49-F238E27FC236}">
                <a16:creationId xmlns:a16="http://schemas.microsoft.com/office/drawing/2014/main" id="{C4721AD4-0A99-6619-FE8D-100B47F6E109}"/>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Piezas de rompecabezas en variante blanco y negro - Iconos gratis de">
            <a:extLst>
              <a:ext uri="{FF2B5EF4-FFF2-40B4-BE49-F238E27FC236}">
                <a16:creationId xmlns:a16="http://schemas.microsoft.com/office/drawing/2014/main" id="{D18D9D4D-1F5E-47CA-F904-626181D15B72}"/>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FFC5D09D-33AB-E513-3078-6A315BCB7EAC}"/>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Grupo de iconos del equipo trabajo grupo de trabajo, texto, grupo social,  silueta png | PNGWing">
            <a:extLst>
              <a:ext uri="{FF2B5EF4-FFF2-40B4-BE49-F238E27FC236}">
                <a16:creationId xmlns:a16="http://schemas.microsoft.com/office/drawing/2014/main" id="{C4FA21B4-6DDC-8F90-A7E3-23AAC3816DF4}"/>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a:extLst>
              <a:ext uri="{FF2B5EF4-FFF2-40B4-BE49-F238E27FC236}">
                <a16:creationId xmlns:a16="http://schemas.microsoft.com/office/drawing/2014/main" id="{39E13929-9F0F-71A6-71F8-793A7C7118A6}"/>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6A17A6BD-78D4-3A47-92FD-A1549CF86C99}"/>
              </a:ext>
            </a:extLst>
          </p:cNvPr>
          <p:cNvSpPr txBox="1"/>
          <p:nvPr userDrawn="1"/>
        </p:nvSpPr>
        <p:spPr>
          <a:xfrm>
            <a:off x="11389032" y="771916"/>
            <a:ext cx="824265" cy="307777"/>
          </a:xfrm>
          <a:prstGeom prst="rect">
            <a:avLst/>
          </a:prstGeom>
          <a:noFill/>
        </p:spPr>
        <p:txBody>
          <a:bodyPr wrap="none" rtlCol="0">
            <a:spAutoFit/>
          </a:bodyPr>
          <a:lstStyle/>
          <a:p>
            <a:r>
              <a:rPr lang="es-PE" sz="1400" b="1" i="1" dirty="0">
                <a:latin typeface="Arial" panose="020B0604020202020204" pitchFamily="34" charset="0"/>
                <a:cs typeface="Arial" panose="020B0604020202020204" pitchFamily="34" charset="0"/>
              </a:rPr>
              <a:t>DUDAS</a:t>
            </a:r>
          </a:p>
        </p:txBody>
      </p:sp>
      <p:pic>
        <p:nvPicPr>
          <p:cNvPr id="2" name="Picture 2" descr="Ilustración de Icono De Cese Cierre Conclusión Logotipo Vectorial ...">
            <a:extLst>
              <a:ext uri="{FF2B5EF4-FFF2-40B4-BE49-F238E27FC236}">
                <a16:creationId xmlns:a16="http://schemas.microsoft.com/office/drawing/2014/main" id="{92D6F3D3-EE82-9850-04E5-6EEDC401EF2E}"/>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9" name="Marcador de contenido 2">
            <a:extLst>
              <a:ext uri="{FF2B5EF4-FFF2-40B4-BE49-F238E27FC236}">
                <a16:creationId xmlns:a16="http://schemas.microsoft.com/office/drawing/2014/main" id="{E1CD0D04-47B7-916D-70A4-FA6F279A56D2}"/>
              </a:ext>
            </a:extLst>
          </p:cNvPr>
          <p:cNvSpPr>
            <a:spLocks noGrp="1"/>
          </p:cNvSpPr>
          <p:nvPr>
            <p:ph idx="1"/>
          </p:nvPr>
        </p:nvSpPr>
        <p:spPr>
          <a:xfrm>
            <a:off x="914400" y="1585424"/>
            <a:ext cx="9525000" cy="45312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0" name="Marcador de fecha 3">
            <a:extLst>
              <a:ext uri="{FF2B5EF4-FFF2-40B4-BE49-F238E27FC236}">
                <a16:creationId xmlns:a16="http://schemas.microsoft.com/office/drawing/2014/main" id="{3942D783-7D18-9F40-7018-63E62800E09C}"/>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18" name="Marcador de número de diapositiva 5">
            <a:extLst>
              <a:ext uri="{FF2B5EF4-FFF2-40B4-BE49-F238E27FC236}">
                <a16:creationId xmlns:a16="http://schemas.microsoft.com/office/drawing/2014/main" id="{3A3904C8-4F23-30AA-AFC7-2C25E6F90314}"/>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6" name="Título 1">
            <a:extLst>
              <a:ext uri="{FF2B5EF4-FFF2-40B4-BE49-F238E27FC236}">
                <a16:creationId xmlns:a16="http://schemas.microsoft.com/office/drawing/2014/main" id="{DD421450-4D7F-E743-C690-FAE421AD9AD4}"/>
              </a:ext>
            </a:extLst>
          </p:cNvPr>
          <p:cNvSpPr>
            <a:spLocks noGrp="1"/>
          </p:cNvSpPr>
          <p:nvPr>
            <p:ph type="title"/>
          </p:nvPr>
        </p:nvSpPr>
        <p:spPr>
          <a:xfrm>
            <a:off x="914400" y="628903"/>
            <a:ext cx="9525000" cy="72995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Tree>
    <p:extLst>
      <p:ext uri="{BB962C8B-B14F-4D97-AF65-F5344CB8AC3E}">
        <p14:creationId xmlns:p14="http://schemas.microsoft.com/office/powerpoint/2010/main" val="258913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OGROS">
    <p:spTree>
      <p:nvGrpSpPr>
        <p:cNvPr id="1" name=""/>
        <p:cNvGrpSpPr/>
        <p:nvPr/>
      </p:nvGrpSpPr>
      <p:grpSpPr>
        <a:xfrm>
          <a:off x="0" y="0"/>
          <a:ext cx="0" cy="0"/>
          <a:chOff x="0" y="0"/>
          <a:chExt cx="0" cy="0"/>
        </a:xfrm>
      </p:grpSpPr>
      <p:pic>
        <p:nvPicPr>
          <p:cNvPr id="33" name="Imagen 32">
            <a:extLst>
              <a:ext uri="{FF2B5EF4-FFF2-40B4-BE49-F238E27FC236}">
                <a16:creationId xmlns:a16="http://schemas.microsoft.com/office/drawing/2014/main" id="{DF497077-C168-57F5-151E-786107B89C5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sp>
        <p:nvSpPr>
          <p:cNvPr id="5" name="Rectángulo 4">
            <a:extLst>
              <a:ext uri="{FF2B5EF4-FFF2-40B4-BE49-F238E27FC236}">
                <a16:creationId xmlns:a16="http://schemas.microsoft.com/office/drawing/2014/main" id="{B63C1180-4408-4669-B7D8-2C705D3E0CED}"/>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3F2E9854-F4C5-0687-4D18-C0DA63C4A9B8}"/>
              </a:ext>
            </a:extLst>
          </p:cNvPr>
          <p:cNvSpPr/>
          <p:nvPr userDrawn="1"/>
        </p:nvSpPr>
        <p:spPr>
          <a:xfrm>
            <a:off x="11349733" y="1051933"/>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8" name="Picture 8">
            <a:extLst>
              <a:ext uri="{FF2B5EF4-FFF2-40B4-BE49-F238E27FC236}">
                <a16:creationId xmlns:a16="http://schemas.microsoft.com/office/drawing/2014/main" id="{5F45EDAC-9217-AD2B-E61E-3EAA3C7BAD46}"/>
              </a:ext>
            </a:extLst>
          </p:cNvPr>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Marca de verificación en blanco y negro Gratis Dibujos Animados  Imágene｜Illustoon ES">
            <a:extLst>
              <a:ext uri="{FF2B5EF4-FFF2-40B4-BE49-F238E27FC236}">
                <a16:creationId xmlns:a16="http://schemas.microsoft.com/office/drawing/2014/main" id="{10AF4D9E-8A60-4136-A9C4-86C2CF65FAF0}"/>
              </a:ext>
            </a:extLst>
          </p:cNvPr>
          <p:cNvPicPr>
            <a:picLocks noChangeAspect="1" noChangeArrowheads="1"/>
          </p:cNvPicPr>
          <p:nvPr userDrawn="1"/>
        </p:nvPicPr>
        <p:blipFill rotWithShape="1">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Bombilla, Bombilla incandescente, Luz eléctrica, Lámpara, Negro, Blanco y  negro, Línea, silueta, ligero, negro, En blanco y negro png | PNGWing">
            <a:extLst>
              <a:ext uri="{FF2B5EF4-FFF2-40B4-BE49-F238E27FC236}">
                <a16:creationId xmlns:a16="http://schemas.microsoft.com/office/drawing/2014/main" id="{C4721AD4-0A99-6619-FE8D-100B47F6E109}"/>
              </a:ext>
            </a:extLst>
          </p:cNvPr>
          <p:cNvPicPr>
            <a:picLocks noChangeAspect="1" noChangeArrowheads="1"/>
          </p:cNvPicPr>
          <p:nvPr userDrawn="1"/>
        </p:nvPicPr>
        <p:blipFill>
          <a:blip r:embed="rId7" cstate="print">
            <a:extLst>
              <a:ext uri="{BEBA8EAE-BF5A-486C-A8C5-ECC9F3942E4B}">
                <a14:imgProps xmlns:a14="http://schemas.microsoft.com/office/drawing/2010/main">
                  <a14:imgLayer r:embed="rId8">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Piezas de rompecabezas en variante blanco y negro - Iconos gratis de">
            <a:extLst>
              <a:ext uri="{FF2B5EF4-FFF2-40B4-BE49-F238E27FC236}">
                <a16:creationId xmlns:a16="http://schemas.microsoft.com/office/drawing/2014/main" id="{D18D9D4D-1F5E-47CA-F904-626181D15B72}"/>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FFC5D09D-33AB-E513-3078-6A315BCB7EAC}"/>
              </a:ext>
            </a:extLst>
          </p:cNvPr>
          <p:cNvPicPr>
            <a:picLocks noChangeAspect="1" noChangeArrowheads="1"/>
          </p:cNvPicPr>
          <p:nvPr userDrawn="1"/>
        </p:nvPicPr>
        <p:blipFill rotWithShape="1">
          <a:blip r:embed="rId10" cstate="print">
            <a:extLst>
              <a:ext uri="{BEBA8EAE-BF5A-486C-A8C5-ECC9F3942E4B}">
                <a14:imgProps xmlns:a14="http://schemas.microsoft.com/office/drawing/2010/main">
                  <a14:imgLayer r:embed="rId11">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Grupo de iconos del equipo trabajo grupo de trabajo, texto, grupo social,  silueta png | PNGWing">
            <a:extLst>
              <a:ext uri="{FF2B5EF4-FFF2-40B4-BE49-F238E27FC236}">
                <a16:creationId xmlns:a16="http://schemas.microsoft.com/office/drawing/2014/main" id="{C4FA21B4-6DDC-8F90-A7E3-23AAC3816DF4}"/>
              </a:ext>
            </a:extLst>
          </p:cNvPr>
          <p:cNvPicPr>
            <a:picLocks noChangeAspect="1" noChangeArrowheads="1"/>
          </p:cNvPicPr>
          <p:nvPr userDrawn="1"/>
        </p:nvPicPr>
        <p:blipFill rotWithShape="1">
          <a:blip r:embed="rId12" cstate="print">
            <a:extLst>
              <a:ext uri="{BEBA8EAE-BF5A-486C-A8C5-ECC9F3942E4B}">
                <a14:imgProps xmlns:a14="http://schemas.microsoft.com/office/drawing/2010/main">
                  <a14:imgLayer r:embed="rId13">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a:extLst>
              <a:ext uri="{FF2B5EF4-FFF2-40B4-BE49-F238E27FC236}">
                <a16:creationId xmlns:a16="http://schemas.microsoft.com/office/drawing/2014/main" id="{39E13929-9F0F-71A6-71F8-793A7C7118A6}"/>
              </a:ext>
            </a:extLst>
          </p:cNvPr>
          <p:cNvPicPr>
            <a:picLocks noChangeAspect="1" noChangeArrowheads="1"/>
          </p:cNvPicPr>
          <p:nvPr userDrawn="1"/>
        </p:nvPicPr>
        <p:blipFill rotWithShape="1">
          <a:blip r:embed="rId14" cstate="print">
            <a:extLst>
              <a:ext uri="{BEBA8EAE-BF5A-486C-A8C5-ECC9F3942E4B}">
                <a14:imgProps xmlns:a14="http://schemas.microsoft.com/office/drawing/2010/main">
                  <a14:imgLayer r:embed="rId15">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6A17A6BD-78D4-3A47-92FD-A1549CF86C99}"/>
              </a:ext>
            </a:extLst>
          </p:cNvPr>
          <p:cNvSpPr txBox="1"/>
          <p:nvPr userDrawn="1"/>
        </p:nvSpPr>
        <p:spPr>
          <a:xfrm>
            <a:off x="11349734" y="1825823"/>
            <a:ext cx="863563" cy="276999"/>
          </a:xfrm>
          <a:prstGeom prst="rect">
            <a:avLst/>
          </a:prstGeom>
          <a:noFill/>
        </p:spPr>
        <p:txBody>
          <a:bodyPr wrap="square" rtlCol="0">
            <a:spAutoFit/>
          </a:bodyPr>
          <a:lstStyle/>
          <a:p>
            <a:pPr algn="ctr"/>
            <a:r>
              <a:rPr lang="es-PE" sz="1200" b="1" i="1" dirty="0">
                <a:latin typeface="Arial" panose="020B0604020202020204" pitchFamily="34" charset="0"/>
                <a:cs typeface="Arial" panose="020B0604020202020204" pitchFamily="34" charset="0"/>
              </a:rPr>
              <a:t>LOGROS</a:t>
            </a:r>
            <a:endParaRPr lang="es-PE" sz="1400" b="1" i="1" dirty="0">
              <a:latin typeface="Arial" panose="020B0604020202020204" pitchFamily="34" charset="0"/>
              <a:cs typeface="Arial" panose="020B0604020202020204" pitchFamily="34" charset="0"/>
            </a:endParaRPr>
          </a:p>
        </p:txBody>
      </p:sp>
      <p:pic>
        <p:nvPicPr>
          <p:cNvPr id="2" name="Picture 2" descr="Ilustración de Icono De Cese Cierre Conclusión Logotipo Vectorial ...">
            <a:extLst>
              <a:ext uri="{FF2B5EF4-FFF2-40B4-BE49-F238E27FC236}">
                <a16:creationId xmlns:a16="http://schemas.microsoft.com/office/drawing/2014/main" id="{7C51BE66-2F82-50BA-1D76-1FFFAB8F0D12}"/>
              </a:ext>
            </a:extLst>
          </p:cNvPr>
          <p:cNvPicPr>
            <a:picLocks noChangeAspect="1" noChangeArrowheads="1"/>
          </p:cNvPicPr>
          <p:nvPr userDrawn="1"/>
        </p:nvPicPr>
        <p:blipFill rotWithShape="1">
          <a:blip r:embed="rId16" cstate="print">
            <a:extLst>
              <a:ext uri="{BEBA8EAE-BF5A-486C-A8C5-ECC9F3942E4B}">
                <a14:imgProps xmlns:a14="http://schemas.microsoft.com/office/drawing/2010/main">
                  <a14:imgLayer r:embed="rId17">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pic>
        <p:nvPicPr>
          <p:cNvPr id="3" name="bg object 16">
            <a:extLst>
              <a:ext uri="{FF2B5EF4-FFF2-40B4-BE49-F238E27FC236}">
                <a16:creationId xmlns:a16="http://schemas.microsoft.com/office/drawing/2014/main" id="{504E29FB-52C4-103F-85BE-4D74E346BA02}"/>
              </a:ext>
            </a:extLst>
          </p:cNvPr>
          <p:cNvPicPr>
            <a:picLocks noChangeAspect="1"/>
          </p:cNvPicPr>
          <p:nvPr userDrawn="1"/>
        </p:nvPicPr>
        <p:blipFill rotWithShape="1">
          <a:blip r:embed="rId18" cstate="print"/>
          <a:srcRect l="50331" t="76667" b="11111"/>
          <a:stretch/>
        </p:blipFill>
        <p:spPr>
          <a:xfrm>
            <a:off x="4518787" y="6318000"/>
            <a:ext cx="2598874" cy="540000"/>
          </a:xfrm>
          <a:prstGeom prst="rect">
            <a:avLst/>
          </a:prstGeom>
        </p:spPr>
      </p:pic>
      <p:sp>
        <p:nvSpPr>
          <p:cNvPr id="10" name="Marcador de contenido 2">
            <a:extLst>
              <a:ext uri="{FF2B5EF4-FFF2-40B4-BE49-F238E27FC236}">
                <a16:creationId xmlns:a16="http://schemas.microsoft.com/office/drawing/2014/main" id="{1F7ADEBC-526C-909A-359D-715C6FF86FFC}"/>
              </a:ext>
            </a:extLst>
          </p:cNvPr>
          <p:cNvSpPr>
            <a:spLocks noGrp="1"/>
          </p:cNvSpPr>
          <p:nvPr>
            <p:ph idx="1"/>
          </p:nvPr>
        </p:nvSpPr>
        <p:spPr>
          <a:xfrm>
            <a:off x="914400" y="1389055"/>
            <a:ext cx="9525000" cy="4727583"/>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6" name="Marcador de fecha 3">
            <a:extLst>
              <a:ext uri="{FF2B5EF4-FFF2-40B4-BE49-F238E27FC236}">
                <a16:creationId xmlns:a16="http://schemas.microsoft.com/office/drawing/2014/main" id="{6660AD97-7685-8200-4DC6-6A3893333856}"/>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18" name="Marcador de número de diapositiva 5">
            <a:extLst>
              <a:ext uri="{FF2B5EF4-FFF2-40B4-BE49-F238E27FC236}">
                <a16:creationId xmlns:a16="http://schemas.microsoft.com/office/drawing/2014/main" id="{8D37A306-DE74-343E-FDE8-3C3EB97A847C}"/>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6" name="Título 1">
            <a:extLst>
              <a:ext uri="{FF2B5EF4-FFF2-40B4-BE49-F238E27FC236}">
                <a16:creationId xmlns:a16="http://schemas.microsoft.com/office/drawing/2014/main" id="{297CB0DC-E22F-A185-8B35-15E12868296C}"/>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Tree>
    <p:extLst>
      <p:ext uri="{BB962C8B-B14F-4D97-AF65-F5344CB8AC3E}">
        <p14:creationId xmlns:p14="http://schemas.microsoft.com/office/powerpoint/2010/main" val="1853498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TILIDAD_">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B71EA2DE-AF8D-DE82-E6DE-D3A42E714D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sp>
        <p:nvSpPr>
          <p:cNvPr id="21" name="Rectángulo 20">
            <a:extLst>
              <a:ext uri="{FF2B5EF4-FFF2-40B4-BE49-F238E27FC236}">
                <a16:creationId xmlns:a16="http://schemas.microsoft.com/office/drawing/2014/main" id="{964BACD1-B9BC-7087-9408-CC20D6D8F42F}"/>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2" name="Rectángulo 21">
            <a:extLst>
              <a:ext uri="{FF2B5EF4-FFF2-40B4-BE49-F238E27FC236}">
                <a16:creationId xmlns:a16="http://schemas.microsoft.com/office/drawing/2014/main" id="{77CF3B5A-704C-09C0-CF92-39249AD7244C}"/>
              </a:ext>
            </a:extLst>
          </p:cNvPr>
          <p:cNvSpPr/>
          <p:nvPr userDrawn="1"/>
        </p:nvSpPr>
        <p:spPr>
          <a:xfrm>
            <a:off x="11349733" y="2133600"/>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23" name="Picture 8">
            <a:extLst>
              <a:ext uri="{FF2B5EF4-FFF2-40B4-BE49-F238E27FC236}">
                <a16:creationId xmlns:a16="http://schemas.microsoft.com/office/drawing/2014/main" id="{DFAD0A1F-5137-01D4-4E8D-E256245536B8}"/>
              </a:ext>
            </a:extLst>
          </p:cNvPr>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Marca de verificación en blanco y negro Gratis Dibujos Animados  Imágene｜Illustoon ES">
            <a:extLst>
              <a:ext uri="{FF2B5EF4-FFF2-40B4-BE49-F238E27FC236}">
                <a16:creationId xmlns:a16="http://schemas.microsoft.com/office/drawing/2014/main" id="{2C043277-3B0B-C1F0-7590-877627C29EB5}"/>
              </a:ext>
            </a:extLst>
          </p:cNvPr>
          <p:cNvPicPr>
            <a:picLocks noChangeAspect="1" noChangeArrowheads="1"/>
          </p:cNvPicPr>
          <p:nvPr userDrawn="1"/>
        </p:nvPicPr>
        <p:blipFill rotWithShape="1">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Bombilla, Bombilla incandescente, Luz eléctrica, Lámpara, Negro, Blanco y  negro, Línea, silueta, ligero, negro, En blanco y negro png | PNGWing">
            <a:extLst>
              <a:ext uri="{FF2B5EF4-FFF2-40B4-BE49-F238E27FC236}">
                <a16:creationId xmlns:a16="http://schemas.microsoft.com/office/drawing/2014/main" id="{0A44A542-4CDD-AC2F-0B6C-AEB99E3C2F13}"/>
              </a:ext>
            </a:extLst>
          </p:cNvPr>
          <p:cNvPicPr>
            <a:picLocks noChangeAspect="1" noChangeArrowheads="1"/>
          </p:cNvPicPr>
          <p:nvPr userDrawn="1"/>
        </p:nvPicPr>
        <p:blipFill>
          <a:blip r:embed="rId7" cstate="print">
            <a:extLst>
              <a:ext uri="{BEBA8EAE-BF5A-486C-A8C5-ECC9F3942E4B}">
                <a14:imgProps xmlns:a14="http://schemas.microsoft.com/office/drawing/2010/main">
                  <a14:imgLayer r:embed="rId8">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Piezas de rompecabezas en variante blanco y negro - Iconos gratis de">
            <a:extLst>
              <a:ext uri="{FF2B5EF4-FFF2-40B4-BE49-F238E27FC236}">
                <a16:creationId xmlns:a16="http://schemas.microsoft.com/office/drawing/2014/main" id="{A9E85E49-F4BE-1DA0-A596-8C7970C7273A}"/>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BC1AD608-658F-B7DD-79D5-909326A4D992}"/>
              </a:ext>
            </a:extLst>
          </p:cNvPr>
          <p:cNvPicPr>
            <a:picLocks noChangeAspect="1" noChangeArrowheads="1"/>
          </p:cNvPicPr>
          <p:nvPr userDrawn="1"/>
        </p:nvPicPr>
        <p:blipFill rotWithShape="1">
          <a:blip r:embed="rId10" cstate="print">
            <a:extLst>
              <a:ext uri="{BEBA8EAE-BF5A-486C-A8C5-ECC9F3942E4B}">
                <a14:imgProps xmlns:a14="http://schemas.microsoft.com/office/drawing/2010/main">
                  <a14:imgLayer r:embed="rId11">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Grupo de iconos del equipo trabajo grupo de trabajo, texto, grupo social,  silueta png | PNGWing">
            <a:extLst>
              <a:ext uri="{FF2B5EF4-FFF2-40B4-BE49-F238E27FC236}">
                <a16:creationId xmlns:a16="http://schemas.microsoft.com/office/drawing/2014/main" id="{54832530-CB8D-1C73-2E4E-808E6617544F}"/>
              </a:ext>
            </a:extLst>
          </p:cNvPr>
          <p:cNvPicPr>
            <a:picLocks noChangeAspect="1" noChangeArrowheads="1"/>
          </p:cNvPicPr>
          <p:nvPr userDrawn="1"/>
        </p:nvPicPr>
        <p:blipFill rotWithShape="1">
          <a:blip r:embed="rId12" cstate="print">
            <a:extLst>
              <a:ext uri="{BEBA8EAE-BF5A-486C-A8C5-ECC9F3942E4B}">
                <a14:imgProps xmlns:a14="http://schemas.microsoft.com/office/drawing/2010/main">
                  <a14:imgLayer r:embed="rId13">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a:extLst>
              <a:ext uri="{FF2B5EF4-FFF2-40B4-BE49-F238E27FC236}">
                <a16:creationId xmlns:a16="http://schemas.microsoft.com/office/drawing/2014/main" id="{A8564C68-464A-3E9E-2B91-E4A9F3A6738C}"/>
              </a:ext>
            </a:extLst>
          </p:cNvPr>
          <p:cNvPicPr>
            <a:picLocks noChangeAspect="1" noChangeArrowheads="1"/>
          </p:cNvPicPr>
          <p:nvPr userDrawn="1"/>
        </p:nvPicPr>
        <p:blipFill rotWithShape="1">
          <a:blip r:embed="rId14" cstate="print">
            <a:extLst>
              <a:ext uri="{BEBA8EAE-BF5A-486C-A8C5-ECC9F3942E4B}">
                <a14:imgProps xmlns:a14="http://schemas.microsoft.com/office/drawing/2010/main">
                  <a14:imgLayer r:embed="rId15">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2CE84DB7-FFC5-DF52-2837-0031183DA268}"/>
              </a:ext>
            </a:extLst>
          </p:cNvPr>
          <p:cNvSpPr txBox="1"/>
          <p:nvPr userDrawn="1"/>
        </p:nvSpPr>
        <p:spPr>
          <a:xfrm>
            <a:off x="11342256" y="2907490"/>
            <a:ext cx="895404" cy="276999"/>
          </a:xfrm>
          <a:prstGeom prst="rect">
            <a:avLst/>
          </a:prstGeom>
          <a:noFill/>
        </p:spPr>
        <p:txBody>
          <a:bodyPr wrap="square" rtlCol="0">
            <a:spAutoFit/>
          </a:bodyPr>
          <a:lstStyle/>
          <a:p>
            <a:r>
              <a:rPr lang="es-PE" sz="1200" b="1" i="1" dirty="0">
                <a:latin typeface="Arial" panose="020B0604020202020204" pitchFamily="34" charset="0"/>
                <a:cs typeface="Arial" panose="020B0604020202020204" pitchFamily="34" charset="0"/>
              </a:rPr>
              <a:t>UTILIDAD</a:t>
            </a:r>
            <a:endParaRPr lang="es-PE" sz="1400" b="1" i="1" dirty="0">
              <a:latin typeface="Arial" panose="020B0604020202020204" pitchFamily="34" charset="0"/>
              <a:cs typeface="Arial" panose="020B0604020202020204" pitchFamily="34" charset="0"/>
            </a:endParaRPr>
          </a:p>
        </p:txBody>
      </p:sp>
      <p:pic>
        <p:nvPicPr>
          <p:cNvPr id="2" name="Picture 2" descr="Ilustración de Icono De Cese Cierre Conclusión Logotipo Vectorial ...">
            <a:extLst>
              <a:ext uri="{FF2B5EF4-FFF2-40B4-BE49-F238E27FC236}">
                <a16:creationId xmlns:a16="http://schemas.microsoft.com/office/drawing/2014/main" id="{82902FFA-F416-1968-1CBC-B545C61F8B36}"/>
              </a:ext>
            </a:extLst>
          </p:cNvPr>
          <p:cNvPicPr>
            <a:picLocks noChangeAspect="1" noChangeArrowheads="1"/>
          </p:cNvPicPr>
          <p:nvPr userDrawn="1"/>
        </p:nvPicPr>
        <p:blipFill rotWithShape="1">
          <a:blip r:embed="rId16" cstate="print">
            <a:extLst>
              <a:ext uri="{BEBA8EAE-BF5A-486C-A8C5-ECC9F3942E4B}">
                <a14:imgProps xmlns:a14="http://schemas.microsoft.com/office/drawing/2010/main">
                  <a14:imgLayer r:embed="rId17">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pic>
        <p:nvPicPr>
          <p:cNvPr id="3" name="bg object 16">
            <a:extLst>
              <a:ext uri="{FF2B5EF4-FFF2-40B4-BE49-F238E27FC236}">
                <a16:creationId xmlns:a16="http://schemas.microsoft.com/office/drawing/2014/main" id="{E28B11B6-4775-E9A0-4A91-C810578C657C}"/>
              </a:ext>
            </a:extLst>
          </p:cNvPr>
          <p:cNvPicPr>
            <a:picLocks noChangeAspect="1"/>
          </p:cNvPicPr>
          <p:nvPr userDrawn="1"/>
        </p:nvPicPr>
        <p:blipFill rotWithShape="1">
          <a:blip r:embed="rId18" cstate="print"/>
          <a:srcRect l="50331" t="76667" b="11111"/>
          <a:stretch/>
        </p:blipFill>
        <p:spPr>
          <a:xfrm>
            <a:off x="4518787" y="6318000"/>
            <a:ext cx="2598874" cy="540000"/>
          </a:xfrm>
          <a:prstGeom prst="rect">
            <a:avLst/>
          </a:prstGeom>
        </p:spPr>
      </p:pic>
      <p:sp>
        <p:nvSpPr>
          <p:cNvPr id="7" name="Marcador de contenido 2">
            <a:extLst>
              <a:ext uri="{FF2B5EF4-FFF2-40B4-BE49-F238E27FC236}">
                <a16:creationId xmlns:a16="http://schemas.microsoft.com/office/drawing/2014/main" id="{6B663B13-839D-CDAC-6A6D-C409DD088D88}"/>
              </a:ext>
            </a:extLst>
          </p:cNvPr>
          <p:cNvSpPr>
            <a:spLocks noGrp="1"/>
          </p:cNvSpPr>
          <p:nvPr>
            <p:ph idx="1"/>
          </p:nvPr>
        </p:nvSpPr>
        <p:spPr>
          <a:xfrm>
            <a:off x="914400" y="1389055"/>
            <a:ext cx="9525000" cy="14080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r>
              <a:rPr lang="es-ES" dirty="0"/>
              <a:t>Haga clic para modificar los estilos de texto del patrón</a:t>
            </a:r>
          </a:p>
          <a:p>
            <a:r>
              <a:rPr lang="es-ES" dirty="0"/>
              <a:t>Haga clic para modificar los estilos de texto del patrón</a:t>
            </a:r>
            <a:endParaRPr lang="es-PE" dirty="0"/>
          </a:p>
        </p:txBody>
      </p:sp>
      <p:sp>
        <p:nvSpPr>
          <p:cNvPr id="8" name="Marcador de fecha 3">
            <a:extLst>
              <a:ext uri="{FF2B5EF4-FFF2-40B4-BE49-F238E27FC236}">
                <a16:creationId xmlns:a16="http://schemas.microsoft.com/office/drawing/2014/main" id="{54E5711C-6DFD-4D21-9043-E521CC8A8367}"/>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9" name="Marcador de número de diapositiva 5">
            <a:extLst>
              <a:ext uri="{FF2B5EF4-FFF2-40B4-BE49-F238E27FC236}">
                <a16:creationId xmlns:a16="http://schemas.microsoft.com/office/drawing/2014/main" id="{458C3309-76B7-5E28-F3F8-800452731698}"/>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10" name="Marcador de posición de imagen 2">
            <a:extLst>
              <a:ext uri="{FF2B5EF4-FFF2-40B4-BE49-F238E27FC236}">
                <a16:creationId xmlns:a16="http://schemas.microsoft.com/office/drawing/2014/main" id="{0EDB6A82-2E13-A7E7-9E90-B4BFDFF59551}"/>
              </a:ext>
            </a:extLst>
          </p:cNvPr>
          <p:cNvSpPr>
            <a:spLocks noGrp="1"/>
          </p:cNvSpPr>
          <p:nvPr>
            <p:ph type="pic" idx="10"/>
          </p:nvPr>
        </p:nvSpPr>
        <p:spPr>
          <a:xfrm>
            <a:off x="2530131" y="2993990"/>
            <a:ext cx="6172200" cy="328646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Título 1">
            <a:extLst>
              <a:ext uri="{FF2B5EF4-FFF2-40B4-BE49-F238E27FC236}">
                <a16:creationId xmlns:a16="http://schemas.microsoft.com/office/drawing/2014/main" id="{9490F63A-D19C-1E13-BF6F-18CC8F03F18A}"/>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Tree>
    <p:extLst>
      <p:ext uri="{BB962C8B-B14F-4D97-AF65-F5344CB8AC3E}">
        <p14:creationId xmlns:p14="http://schemas.microsoft.com/office/powerpoint/2010/main" val="2156739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BERES">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78976DD2-6490-1A98-4C77-699BC2385D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pic>
        <p:nvPicPr>
          <p:cNvPr id="13" name="bg object 16">
            <a:extLst>
              <a:ext uri="{FF2B5EF4-FFF2-40B4-BE49-F238E27FC236}">
                <a16:creationId xmlns:a16="http://schemas.microsoft.com/office/drawing/2014/main" id="{4A958BBF-AF54-42EF-9942-F0AB911197B3}"/>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7" name="Rectángulo 6">
            <a:extLst>
              <a:ext uri="{FF2B5EF4-FFF2-40B4-BE49-F238E27FC236}">
                <a16:creationId xmlns:a16="http://schemas.microsoft.com/office/drawing/2014/main" id="{90C5E238-D02B-5E3C-AB04-4DF8387DF70C}"/>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8" name="Rectángulo 7">
            <a:extLst>
              <a:ext uri="{FF2B5EF4-FFF2-40B4-BE49-F238E27FC236}">
                <a16:creationId xmlns:a16="http://schemas.microsoft.com/office/drawing/2014/main" id="{F572675C-AAFA-1549-B208-DC67E2B1DF71}"/>
              </a:ext>
            </a:extLst>
          </p:cNvPr>
          <p:cNvSpPr/>
          <p:nvPr userDrawn="1"/>
        </p:nvSpPr>
        <p:spPr>
          <a:xfrm>
            <a:off x="11349733" y="3414133"/>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10" name="Picture 8">
            <a:extLst>
              <a:ext uri="{FF2B5EF4-FFF2-40B4-BE49-F238E27FC236}">
                <a16:creationId xmlns:a16="http://schemas.microsoft.com/office/drawing/2014/main" id="{BE9CE0C0-D841-0490-02E7-16C040D3AFCC}"/>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Marca de verificación en blanco y negro Gratis Dibujos Animados  Imágene｜Illustoon ES">
            <a:extLst>
              <a:ext uri="{FF2B5EF4-FFF2-40B4-BE49-F238E27FC236}">
                <a16:creationId xmlns:a16="http://schemas.microsoft.com/office/drawing/2014/main" id="{93834D8D-C489-84C6-A18F-6A69114BC625}"/>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Bombilla, Bombilla incandescente, Luz eléctrica, Lámpara, Negro, Blanco y  negro, Línea, silueta, ligero, negro, En blanco y negro png | PNGWing">
            <a:extLst>
              <a:ext uri="{FF2B5EF4-FFF2-40B4-BE49-F238E27FC236}">
                <a16:creationId xmlns:a16="http://schemas.microsoft.com/office/drawing/2014/main" id="{15AF2559-2FF2-D9F9-0515-0C86BAC53E2A}"/>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Piezas de rompecabezas en variante blanco y negro - Iconos gratis de">
            <a:extLst>
              <a:ext uri="{FF2B5EF4-FFF2-40B4-BE49-F238E27FC236}">
                <a16:creationId xmlns:a16="http://schemas.microsoft.com/office/drawing/2014/main" id="{3946312D-BC2C-2F17-C8A6-4D503D5B2EAC}"/>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B043BA98-2044-E217-45C8-95096E267C4F}"/>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Grupo de iconos del equipo trabajo grupo de trabajo, texto, grupo social,  silueta png | PNGWing">
            <a:extLst>
              <a:ext uri="{FF2B5EF4-FFF2-40B4-BE49-F238E27FC236}">
                <a16:creationId xmlns:a16="http://schemas.microsoft.com/office/drawing/2014/main" id="{538AA17D-BA9A-08C4-C224-5FF2809372FC}"/>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a:extLst>
              <a:ext uri="{FF2B5EF4-FFF2-40B4-BE49-F238E27FC236}">
                <a16:creationId xmlns:a16="http://schemas.microsoft.com/office/drawing/2014/main" id="{E25C6D5E-6C58-B416-446E-A9AA1D56881B}"/>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22" name="CuadroTexto 21">
            <a:extLst>
              <a:ext uri="{FF2B5EF4-FFF2-40B4-BE49-F238E27FC236}">
                <a16:creationId xmlns:a16="http://schemas.microsoft.com/office/drawing/2014/main" id="{7384297B-AB5D-9104-C1C7-EB44607C37D5}"/>
              </a:ext>
            </a:extLst>
          </p:cNvPr>
          <p:cNvSpPr txBox="1"/>
          <p:nvPr userDrawn="1"/>
        </p:nvSpPr>
        <p:spPr>
          <a:xfrm>
            <a:off x="11277600" y="4188023"/>
            <a:ext cx="1166529" cy="307777"/>
          </a:xfrm>
          <a:prstGeom prst="rect">
            <a:avLst/>
          </a:prstGeom>
          <a:noFill/>
        </p:spPr>
        <p:txBody>
          <a:bodyPr wrap="square" rtlCol="0">
            <a:spAutoFit/>
          </a:bodyPr>
          <a:lstStyle/>
          <a:p>
            <a:r>
              <a:rPr lang="es-PE" sz="1400" b="1" i="1" dirty="0">
                <a:latin typeface="Arial" panose="020B0604020202020204" pitchFamily="34" charset="0"/>
                <a:cs typeface="Arial" panose="020B0604020202020204" pitchFamily="34" charset="0"/>
              </a:rPr>
              <a:t>SABERES</a:t>
            </a:r>
          </a:p>
        </p:txBody>
      </p:sp>
      <p:pic>
        <p:nvPicPr>
          <p:cNvPr id="2" name="Picture 2" descr="Ilustración de Icono De Cese Cierre Conclusión Logotipo Vectorial ...">
            <a:extLst>
              <a:ext uri="{FF2B5EF4-FFF2-40B4-BE49-F238E27FC236}">
                <a16:creationId xmlns:a16="http://schemas.microsoft.com/office/drawing/2014/main" id="{45C9A3BE-9CEA-94FA-CEF3-692C771C99B1}"/>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2">
            <a:extLst>
              <a:ext uri="{FF2B5EF4-FFF2-40B4-BE49-F238E27FC236}">
                <a16:creationId xmlns:a16="http://schemas.microsoft.com/office/drawing/2014/main" id="{42CE5D56-13EA-6569-762A-14D9A58F6BD7}"/>
              </a:ext>
            </a:extLst>
          </p:cNvPr>
          <p:cNvSpPr>
            <a:spLocks noGrp="1"/>
          </p:cNvSpPr>
          <p:nvPr>
            <p:ph idx="1"/>
          </p:nvPr>
        </p:nvSpPr>
        <p:spPr>
          <a:xfrm>
            <a:off x="914400" y="1389055"/>
            <a:ext cx="9525000" cy="4727583"/>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9" name="Marcador de fecha 3">
            <a:extLst>
              <a:ext uri="{FF2B5EF4-FFF2-40B4-BE49-F238E27FC236}">
                <a16:creationId xmlns:a16="http://schemas.microsoft.com/office/drawing/2014/main" id="{BAE8BBD7-04CB-CEF4-108F-4CCDCF6893A0}"/>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16" name="Marcador de número de diapositiva 5">
            <a:extLst>
              <a:ext uri="{FF2B5EF4-FFF2-40B4-BE49-F238E27FC236}">
                <a16:creationId xmlns:a16="http://schemas.microsoft.com/office/drawing/2014/main" id="{FD51DB9E-8482-DE69-14E5-280B79A92592}"/>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4" name="Título 1">
            <a:extLst>
              <a:ext uri="{FF2B5EF4-FFF2-40B4-BE49-F238E27FC236}">
                <a16:creationId xmlns:a16="http://schemas.microsoft.com/office/drawing/2014/main" id="{0D4D80F2-DFD0-D6E2-61B4-060CCBBC409E}"/>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Tree>
    <p:extLst>
      <p:ext uri="{BB962C8B-B14F-4D97-AF65-F5344CB8AC3E}">
        <p14:creationId xmlns:p14="http://schemas.microsoft.com/office/powerpoint/2010/main" val="1516317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ANSFORMACION">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DF3D0E70-AB08-E016-86AE-6E8350DC1E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pic>
        <p:nvPicPr>
          <p:cNvPr id="13" name="bg object 16">
            <a:extLst>
              <a:ext uri="{FF2B5EF4-FFF2-40B4-BE49-F238E27FC236}">
                <a16:creationId xmlns:a16="http://schemas.microsoft.com/office/drawing/2014/main" id="{4A958BBF-AF54-42EF-9942-F0AB911197B3}"/>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22" name="Rectángulo 21">
            <a:extLst>
              <a:ext uri="{FF2B5EF4-FFF2-40B4-BE49-F238E27FC236}">
                <a16:creationId xmlns:a16="http://schemas.microsoft.com/office/drawing/2014/main" id="{66D8FE5E-0BE4-6220-20D7-A52C11F72D45}"/>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3" name="Rectángulo 22">
            <a:extLst>
              <a:ext uri="{FF2B5EF4-FFF2-40B4-BE49-F238E27FC236}">
                <a16:creationId xmlns:a16="http://schemas.microsoft.com/office/drawing/2014/main" id="{CA998CFD-EB67-629F-11AC-1120E5B69A57}"/>
              </a:ext>
            </a:extLst>
          </p:cNvPr>
          <p:cNvSpPr/>
          <p:nvPr userDrawn="1"/>
        </p:nvSpPr>
        <p:spPr>
          <a:xfrm>
            <a:off x="11349733" y="4267200"/>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25" name="Picture 8">
            <a:extLst>
              <a:ext uri="{FF2B5EF4-FFF2-40B4-BE49-F238E27FC236}">
                <a16:creationId xmlns:a16="http://schemas.microsoft.com/office/drawing/2014/main" id="{C5E1DF90-30F4-06B4-0E12-EAD2C461E626}"/>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Marca de verificación en blanco y negro Gratis Dibujos Animados  Imágene｜Illustoon ES">
            <a:extLst>
              <a:ext uri="{FF2B5EF4-FFF2-40B4-BE49-F238E27FC236}">
                <a16:creationId xmlns:a16="http://schemas.microsoft.com/office/drawing/2014/main" id="{FB612E47-FB04-E290-D57A-7A249830547D}"/>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Bombilla, Bombilla incandescente, Luz eléctrica, Lámpara, Negro, Blanco y  negro, Línea, silueta, ligero, negro, En blanco y negro png | PNGWing">
            <a:extLst>
              <a:ext uri="{FF2B5EF4-FFF2-40B4-BE49-F238E27FC236}">
                <a16:creationId xmlns:a16="http://schemas.microsoft.com/office/drawing/2014/main" id="{A8406A99-F8F4-36CD-6B14-1785246D0A3E}"/>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Piezas de rompecabezas en variante blanco y negro - Iconos gratis de">
            <a:extLst>
              <a:ext uri="{FF2B5EF4-FFF2-40B4-BE49-F238E27FC236}">
                <a16:creationId xmlns:a16="http://schemas.microsoft.com/office/drawing/2014/main" id="{7AA0CACD-0E08-7690-E8AB-6219B9000551}"/>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6FEA18BD-3D96-D714-0793-C2A751A5937D}"/>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Grupo de iconos del equipo trabajo grupo de trabajo, texto, grupo social,  silueta png | PNGWing">
            <a:extLst>
              <a:ext uri="{FF2B5EF4-FFF2-40B4-BE49-F238E27FC236}">
                <a16:creationId xmlns:a16="http://schemas.microsoft.com/office/drawing/2014/main" id="{A4F378DA-989D-5181-C5DC-57DF469D6C82}"/>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a:extLst>
              <a:ext uri="{FF2B5EF4-FFF2-40B4-BE49-F238E27FC236}">
                <a16:creationId xmlns:a16="http://schemas.microsoft.com/office/drawing/2014/main" id="{7A69B007-F9B1-A8A6-F2E0-FB416F727E45}"/>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96EAC5CB-DE09-459A-D893-D45306B4EA6A}"/>
              </a:ext>
            </a:extLst>
          </p:cNvPr>
          <p:cNvSpPr txBox="1"/>
          <p:nvPr userDrawn="1"/>
        </p:nvSpPr>
        <p:spPr>
          <a:xfrm>
            <a:off x="11342255" y="5052597"/>
            <a:ext cx="959206" cy="307777"/>
          </a:xfrm>
          <a:prstGeom prst="rect">
            <a:avLst/>
          </a:prstGeom>
          <a:noFill/>
        </p:spPr>
        <p:txBody>
          <a:bodyPr wrap="square" rtlCol="0">
            <a:spAutoFit/>
          </a:bodyPr>
          <a:lstStyle/>
          <a:p>
            <a:r>
              <a:rPr lang="es-PE" sz="1400" b="1" i="1" dirty="0" err="1">
                <a:latin typeface="Arial" panose="020B0604020202020204" pitchFamily="34" charset="0"/>
                <a:cs typeface="Arial" panose="020B0604020202020204" pitchFamily="34" charset="0"/>
              </a:rPr>
              <a:t>TRANSF</a:t>
            </a:r>
            <a:endParaRPr lang="es-PE" sz="1400" b="1" i="1" dirty="0">
              <a:latin typeface="Arial" panose="020B0604020202020204" pitchFamily="34" charset="0"/>
              <a:cs typeface="Arial" panose="020B0604020202020204" pitchFamily="34" charset="0"/>
            </a:endParaRPr>
          </a:p>
        </p:txBody>
      </p:sp>
      <p:pic>
        <p:nvPicPr>
          <p:cNvPr id="2" name="Picture 2" descr="Ilustración de Icono De Cese Cierre Conclusión Logotipo Vectorial ...">
            <a:extLst>
              <a:ext uri="{FF2B5EF4-FFF2-40B4-BE49-F238E27FC236}">
                <a16:creationId xmlns:a16="http://schemas.microsoft.com/office/drawing/2014/main" id="{B81451FC-5229-86FA-A3A5-E94C5417312C}"/>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7F0DACF7-9F27-DD79-5A66-C1A96E4319FA}"/>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
        <p:nvSpPr>
          <p:cNvPr id="5" name="Marcador de contenido 2">
            <a:extLst>
              <a:ext uri="{FF2B5EF4-FFF2-40B4-BE49-F238E27FC236}">
                <a16:creationId xmlns:a16="http://schemas.microsoft.com/office/drawing/2014/main" id="{811AADAF-9512-01E7-B76B-FA8896C61ED1}"/>
              </a:ext>
            </a:extLst>
          </p:cNvPr>
          <p:cNvSpPr>
            <a:spLocks noGrp="1"/>
          </p:cNvSpPr>
          <p:nvPr>
            <p:ph idx="1"/>
          </p:nvPr>
        </p:nvSpPr>
        <p:spPr>
          <a:xfrm>
            <a:off x="914400" y="1389055"/>
            <a:ext cx="9525000" cy="4727583"/>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7" name="Marcador de fecha 3">
            <a:extLst>
              <a:ext uri="{FF2B5EF4-FFF2-40B4-BE49-F238E27FC236}">
                <a16:creationId xmlns:a16="http://schemas.microsoft.com/office/drawing/2014/main" id="{CA150DD3-2A73-C2AF-02E5-78FEBECE13A3}"/>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8" name="Marcador de número de diapositiva 5">
            <a:extLst>
              <a:ext uri="{FF2B5EF4-FFF2-40B4-BE49-F238E27FC236}">
                <a16:creationId xmlns:a16="http://schemas.microsoft.com/office/drawing/2014/main" id="{515D26F2-B5A2-FE51-8E14-5F5EA0BA3A76}"/>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Tree>
    <p:extLst>
      <p:ext uri="{BB962C8B-B14F-4D97-AF65-F5344CB8AC3E}">
        <p14:creationId xmlns:p14="http://schemas.microsoft.com/office/powerpoint/2010/main" val="1067939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ACTICA">
    <p:spTree>
      <p:nvGrpSpPr>
        <p:cNvPr id="1" name=""/>
        <p:cNvGrpSpPr/>
        <p:nvPr/>
      </p:nvGrpSpPr>
      <p:grpSpPr>
        <a:xfrm>
          <a:off x="0" y="0"/>
          <a:ext cx="0" cy="0"/>
          <a:chOff x="0" y="0"/>
          <a:chExt cx="0" cy="0"/>
        </a:xfrm>
      </p:grpSpPr>
      <p:pic>
        <p:nvPicPr>
          <p:cNvPr id="23" name="Imagen 22">
            <a:extLst>
              <a:ext uri="{FF2B5EF4-FFF2-40B4-BE49-F238E27FC236}">
                <a16:creationId xmlns:a16="http://schemas.microsoft.com/office/drawing/2014/main" id="{7CB7C3D8-55D3-7601-B945-29FF1EA75CD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pic>
        <p:nvPicPr>
          <p:cNvPr id="13" name="bg object 16">
            <a:extLst>
              <a:ext uri="{FF2B5EF4-FFF2-40B4-BE49-F238E27FC236}">
                <a16:creationId xmlns:a16="http://schemas.microsoft.com/office/drawing/2014/main" id="{4A958BBF-AF54-42EF-9942-F0AB911197B3}"/>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26" name="Rectángulo 25">
            <a:extLst>
              <a:ext uri="{FF2B5EF4-FFF2-40B4-BE49-F238E27FC236}">
                <a16:creationId xmlns:a16="http://schemas.microsoft.com/office/drawing/2014/main" id="{CDA52E8F-6193-E3EA-4F00-2188F9A5E885}"/>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30" name="Rectángulo 29">
            <a:extLst>
              <a:ext uri="{FF2B5EF4-FFF2-40B4-BE49-F238E27FC236}">
                <a16:creationId xmlns:a16="http://schemas.microsoft.com/office/drawing/2014/main" id="{4E144B9F-3C63-A601-EBDA-16EEE16A3A67}"/>
              </a:ext>
            </a:extLst>
          </p:cNvPr>
          <p:cNvSpPr/>
          <p:nvPr userDrawn="1"/>
        </p:nvSpPr>
        <p:spPr>
          <a:xfrm>
            <a:off x="11349733" y="5245196"/>
            <a:ext cx="863564" cy="8420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31" name="Picture 8">
            <a:extLst>
              <a:ext uri="{FF2B5EF4-FFF2-40B4-BE49-F238E27FC236}">
                <a16:creationId xmlns:a16="http://schemas.microsoft.com/office/drawing/2014/main" id="{3DD5A69F-C36E-3377-5F81-4678D6C7C53D}"/>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Marca de verificación en blanco y negro Gratis Dibujos Animados  Imágene｜Illustoon ES">
            <a:extLst>
              <a:ext uri="{FF2B5EF4-FFF2-40B4-BE49-F238E27FC236}">
                <a16:creationId xmlns:a16="http://schemas.microsoft.com/office/drawing/2014/main" id="{A582C456-7463-946D-8AEF-5C883574B02A}"/>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Bombilla, Bombilla incandescente, Luz eléctrica, Lámpara, Negro, Blanco y  negro, Línea, silueta, ligero, negro, En blanco y negro png | PNGWing">
            <a:extLst>
              <a:ext uri="{FF2B5EF4-FFF2-40B4-BE49-F238E27FC236}">
                <a16:creationId xmlns:a16="http://schemas.microsoft.com/office/drawing/2014/main" id="{DC08C414-520C-AB05-C735-FCDB45954BCD}"/>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Piezas de rompecabezas en variante blanco y negro - Iconos gratis de">
            <a:extLst>
              <a:ext uri="{FF2B5EF4-FFF2-40B4-BE49-F238E27FC236}">
                <a16:creationId xmlns:a16="http://schemas.microsoft.com/office/drawing/2014/main" id="{0058D272-FF78-FA3D-1FFE-FD52BF915086}"/>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B431CA2B-8CF8-07DE-042E-6624BB4BEA91}"/>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Grupo de iconos del equipo trabajo grupo de trabajo, texto, grupo social,  silueta png | PNGWing">
            <a:extLst>
              <a:ext uri="{FF2B5EF4-FFF2-40B4-BE49-F238E27FC236}">
                <a16:creationId xmlns:a16="http://schemas.microsoft.com/office/drawing/2014/main" id="{17B354EA-3DF0-3AB9-65BA-F10AB5E1A7D0}"/>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a:extLst>
              <a:ext uri="{FF2B5EF4-FFF2-40B4-BE49-F238E27FC236}">
                <a16:creationId xmlns:a16="http://schemas.microsoft.com/office/drawing/2014/main" id="{354E8B6B-894A-4025-260C-AE3BB633730D}"/>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39" name="CuadroTexto 38">
            <a:extLst>
              <a:ext uri="{FF2B5EF4-FFF2-40B4-BE49-F238E27FC236}">
                <a16:creationId xmlns:a16="http://schemas.microsoft.com/office/drawing/2014/main" id="{A63A0566-5290-FF15-C382-BB132BBA1D04}"/>
              </a:ext>
            </a:extLst>
          </p:cNvPr>
          <p:cNvSpPr txBox="1"/>
          <p:nvPr userDrawn="1"/>
        </p:nvSpPr>
        <p:spPr>
          <a:xfrm>
            <a:off x="11277600" y="5803090"/>
            <a:ext cx="1089585" cy="276999"/>
          </a:xfrm>
          <a:prstGeom prst="rect">
            <a:avLst/>
          </a:prstGeom>
          <a:noFill/>
        </p:spPr>
        <p:txBody>
          <a:bodyPr wrap="square" rtlCol="0">
            <a:spAutoFit/>
          </a:bodyPr>
          <a:lstStyle/>
          <a:p>
            <a:r>
              <a:rPr lang="es-PE" sz="1200" b="1" i="1" dirty="0">
                <a:latin typeface="Arial" panose="020B0604020202020204" pitchFamily="34" charset="0"/>
                <a:cs typeface="Arial" panose="020B0604020202020204" pitchFamily="34" charset="0"/>
              </a:rPr>
              <a:t>PRACTICA</a:t>
            </a:r>
            <a:endParaRPr lang="es-PE" sz="1400" b="1" i="1" dirty="0">
              <a:latin typeface="Arial" panose="020B0604020202020204" pitchFamily="34" charset="0"/>
              <a:cs typeface="Arial" panose="020B0604020202020204" pitchFamily="34" charset="0"/>
            </a:endParaRPr>
          </a:p>
        </p:txBody>
      </p:sp>
      <p:pic>
        <p:nvPicPr>
          <p:cNvPr id="2" name="Picture 2" descr="Ilustración de Icono De Cese Cierre Conclusión Logotipo Vectorial ...">
            <a:extLst>
              <a:ext uri="{FF2B5EF4-FFF2-40B4-BE49-F238E27FC236}">
                <a16:creationId xmlns:a16="http://schemas.microsoft.com/office/drawing/2014/main" id="{1875088F-0053-852B-1ED2-89DCD3E0F785}"/>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2">
            <a:extLst>
              <a:ext uri="{FF2B5EF4-FFF2-40B4-BE49-F238E27FC236}">
                <a16:creationId xmlns:a16="http://schemas.microsoft.com/office/drawing/2014/main" id="{A9CB2844-3F5E-A9A9-C635-716CA1E2A9BF}"/>
              </a:ext>
            </a:extLst>
          </p:cNvPr>
          <p:cNvSpPr>
            <a:spLocks noGrp="1"/>
          </p:cNvSpPr>
          <p:nvPr>
            <p:ph idx="1"/>
          </p:nvPr>
        </p:nvSpPr>
        <p:spPr>
          <a:xfrm>
            <a:off x="4518787" y="1316442"/>
            <a:ext cx="5920614" cy="1731558"/>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endParaRPr lang="es-PE" dirty="0"/>
          </a:p>
        </p:txBody>
      </p:sp>
      <p:sp>
        <p:nvSpPr>
          <p:cNvPr id="7" name="Marcador de fecha 3">
            <a:extLst>
              <a:ext uri="{FF2B5EF4-FFF2-40B4-BE49-F238E27FC236}">
                <a16:creationId xmlns:a16="http://schemas.microsoft.com/office/drawing/2014/main" id="{D5E28F44-D4EC-6A8D-0F81-A400FF3DCACF}"/>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8" name="Marcador de número de diapositiva 5">
            <a:extLst>
              <a:ext uri="{FF2B5EF4-FFF2-40B4-BE49-F238E27FC236}">
                <a16:creationId xmlns:a16="http://schemas.microsoft.com/office/drawing/2014/main" id="{B0E5138A-F5A9-C2DC-235F-3EB9D552E858}"/>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9" name="Marcador de posición de imagen 2">
            <a:extLst>
              <a:ext uri="{FF2B5EF4-FFF2-40B4-BE49-F238E27FC236}">
                <a16:creationId xmlns:a16="http://schemas.microsoft.com/office/drawing/2014/main" id="{997C22DC-415E-2CC9-AF12-1CBD952D7F68}"/>
              </a:ext>
            </a:extLst>
          </p:cNvPr>
          <p:cNvSpPr>
            <a:spLocks noGrp="1"/>
          </p:cNvSpPr>
          <p:nvPr>
            <p:ph type="pic" idx="10"/>
          </p:nvPr>
        </p:nvSpPr>
        <p:spPr>
          <a:xfrm>
            <a:off x="914400" y="1316442"/>
            <a:ext cx="3463748" cy="4800196"/>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contenido 2">
            <a:extLst>
              <a:ext uri="{FF2B5EF4-FFF2-40B4-BE49-F238E27FC236}">
                <a16:creationId xmlns:a16="http://schemas.microsoft.com/office/drawing/2014/main" id="{C06184B0-CDB4-5142-66EE-CE024BEFA639}"/>
              </a:ext>
            </a:extLst>
          </p:cNvPr>
          <p:cNvSpPr>
            <a:spLocks noGrp="1"/>
          </p:cNvSpPr>
          <p:nvPr>
            <p:ph idx="11"/>
          </p:nvPr>
        </p:nvSpPr>
        <p:spPr>
          <a:xfrm>
            <a:off x="4518785" y="3186710"/>
            <a:ext cx="5920615" cy="2929928"/>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p>
          <a:p>
            <a:pPr lvl="3"/>
            <a:r>
              <a:rPr lang="es-ES" dirty="0"/>
              <a:t>Cuarto nivel</a:t>
            </a:r>
            <a:endParaRPr lang="es-PE" dirty="0"/>
          </a:p>
        </p:txBody>
      </p:sp>
      <p:sp>
        <p:nvSpPr>
          <p:cNvPr id="6" name="Título 1">
            <a:extLst>
              <a:ext uri="{FF2B5EF4-FFF2-40B4-BE49-F238E27FC236}">
                <a16:creationId xmlns:a16="http://schemas.microsoft.com/office/drawing/2014/main" id="{629EC0EE-C3C3-2759-F095-B1703E1D6E3C}"/>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Tree>
    <p:extLst>
      <p:ext uri="{BB962C8B-B14F-4D97-AF65-F5344CB8AC3E}">
        <p14:creationId xmlns:p14="http://schemas.microsoft.com/office/powerpoint/2010/main" val="517148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IERRE_">
    <p:spTree>
      <p:nvGrpSpPr>
        <p:cNvPr id="1" name=""/>
        <p:cNvGrpSpPr/>
        <p:nvPr/>
      </p:nvGrpSpPr>
      <p:grpSpPr>
        <a:xfrm>
          <a:off x="0" y="0"/>
          <a:ext cx="0" cy="0"/>
          <a:chOff x="0" y="0"/>
          <a:chExt cx="0" cy="0"/>
        </a:xfrm>
      </p:grpSpPr>
      <p:pic>
        <p:nvPicPr>
          <p:cNvPr id="23" name="Imagen 22">
            <a:extLst>
              <a:ext uri="{FF2B5EF4-FFF2-40B4-BE49-F238E27FC236}">
                <a16:creationId xmlns:a16="http://schemas.microsoft.com/office/drawing/2014/main" id="{7CB7C3D8-55D3-7601-B945-29FF1EA75CD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pic>
        <p:nvPicPr>
          <p:cNvPr id="13" name="bg object 16">
            <a:extLst>
              <a:ext uri="{FF2B5EF4-FFF2-40B4-BE49-F238E27FC236}">
                <a16:creationId xmlns:a16="http://schemas.microsoft.com/office/drawing/2014/main" id="{4A958BBF-AF54-42EF-9942-F0AB911197B3}"/>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25" name="Rectángulo 24">
            <a:extLst>
              <a:ext uri="{FF2B5EF4-FFF2-40B4-BE49-F238E27FC236}">
                <a16:creationId xmlns:a16="http://schemas.microsoft.com/office/drawing/2014/main" id="{C4F4E1B1-20BD-1C00-D3C8-E606FC314D61}"/>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9" name="Rectángulo 28">
            <a:extLst>
              <a:ext uri="{FF2B5EF4-FFF2-40B4-BE49-F238E27FC236}">
                <a16:creationId xmlns:a16="http://schemas.microsoft.com/office/drawing/2014/main" id="{DC9AF322-711F-7FF1-32BE-E27A6F922221}"/>
              </a:ext>
            </a:extLst>
          </p:cNvPr>
          <p:cNvSpPr/>
          <p:nvPr userDrawn="1"/>
        </p:nvSpPr>
        <p:spPr>
          <a:xfrm>
            <a:off x="11349733" y="5943600"/>
            <a:ext cx="863564" cy="913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30" name="Picture 8">
            <a:extLst>
              <a:ext uri="{FF2B5EF4-FFF2-40B4-BE49-F238E27FC236}">
                <a16:creationId xmlns:a16="http://schemas.microsoft.com/office/drawing/2014/main" id="{C3E80837-C51A-97D0-5C1B-C2623197EC9E}"/>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Marca de verificación en blanco y negro Gratis Dibujos Animados  Imágene｜Illustoon ES">
            <a:extLst>
              <a:ext uri="{FF2B5EF4-FFF2-40B4-BE49-F238E27FC236}">
                <a16:creationId xmlns:a16="http://schemas.microsoft.com/office/drawing/2014/main" id="{C7999A11-E50C-D63C-7E2F-78E8AFF43CF4}"/>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Bombilla, Bombilla incandescente, Luz eléctrica, Lámpara, Negro, Blanco y  negro, Línea, silueta, ligero, negro, En blanco y negro png | PNGWing">
            <a:extLst>
              <a:ext uri="{FF2B5EF4-FFF2-40B4-BE49-F238E27FC236}">
                <a16:creationId xmlns:a16="http://schemas.microsoft.com/office/drawing/2014/main" id="{E39B8510-C7B3-3565-C723-400A044ACF7B}"/>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Piezas de rompecabezas en variante blanco y negro - Iconos gratis de">
            <a:extLst>
              <a:ext uri="{FF2B5EF4-FFF2-40B4-BE49-F238E27FC236}">
                <a16:creationId xmlns:a16="http://schemas.microsoft.com/office/drawing/2014/main" id="{CB8849C2-5494-8CCA-456D-112314628EDE}"/>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320E258B-D854-61C3-A280-A6147BB3A20B}"/>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Grupo de iconos del equipo trabajo grupo de trabajo, texto, grupo social,  silueta png | PNGWing">
            <a:extLst>
              <a:ext uri="{FF2B5EF4-FFF2-40B4-BE49-F238E27FC236}">
                <a16:creationId xmlns:a16="http://schemas.microsoft.com/office/drawing/2014/main" id="{43704638-5F6B-F61D-2F40-CB73CD21D920}"/>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a:extLst>
              <a:ext uri="{FF2B5EF4-FFF2-40B4-BE49-F238E27FC236}">
                <a16:creationId xmlns:a16="http://schemas.microsoft.com/office/drawing/2014/main" id="{DA346D84-360A-757C-DE61-3190483687A7}"/>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38" name="CuadroTexto 37">
            <a:extLst>
              <a:ext uri="{FF2B5EF4-FFF2-40B4-BE49-F238E27FC236}">
                <a16:creationId xmlns:a16="http://schemas.microsoft.com/office/drawing/2014/main" id="{40F6DDD3-E307-A095-5169-588BAA62AA4C}"/>
              </a:ext>
            </a:extLst>
          </p:cNvPr>
          <p:cNvSpPr txBox="1"/>
          <p:nvPr userDrawn="1"/>
        </p:nvSpPr>
        <p:spPr>
          <a:xfrm>
            <a:off x="11389032" y="6626423"/>
            <a:ext cx="864339" cy="307777"/>
          </a:xfrm>
          <a:prstGeom prst="rect">
            <a:avLst/>
          </a:prstGeom>
          <a:noFill/>
        </p:spPr>
        <p:txBody>
          <a:bodyPr wrap="none" rtlCol="0">
            <a:spAutoFit/>
          </a:bodyPr>
          <a:lstStyle/>
          <a:p>
            <a:r>
              <a:rPr lang="es-PE" sz="1400" b="1" i="1" dirty="0">
                <a:latin typeface="Arial" panose="020B0604020202020204" pitchFamily="34" charset="0"/>
                <a:cs typeface="Arial" panose="020B0604020202020204" pitchFamily="34" charset="0"/>
              </a:rPr>
              <a:t>CIERRE</a:t>
            </a:r>
          </a:p>
        </p:txBody>
      </p:sp>
      <p:pic>
        <p:nvPicPr>
          <p:cNvPr id="2" name="Picture 2" descr="Ilustración de Icono De Cese Cierre Conclusión Logotipo Vectorial ...">
            <a:extLst>
              <a:ext uri="{FF2B5EF4-FFF2-40B4-BE49-F238E27FC236}">
                <a16:creationId xmlns:a16="http://schemas.microsoft.com/office/drawing/2014/main" id="{60024693-CBFD-1014-52E6-DD189C3BE711}"/>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19800"/>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2">
            <a:extLst>
              <a:ext uri="{FF2B5EF4-FFF2-40B4-BE49-F238E27FC236}">
                <a16:creationId xmlns:a16="http://schemas.microsoft.com/office/drawing/2014/main" id="{8D2A4DB5-4944-5E0D-B064-CF67535DD9C2}"/>
              </a:ext>
            </a:extLst>
          </p:cNvPr>
          <p:cNvSpPr>
            <a:spLocks noGrp="1"/>
          </p:cNvSpPr>
          <p:nvPr>
            <p:ph idx="1"/>
          </p:nvPr>
        </p:nvSpPr>
        <p:spPr>
          <a:xfrm>
            <a:off x="914400" y="1389055"/>
            <a:ext cx="9525000" cy="4727583"/>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7" name="Marcador de fecha 3">
            <a:extLst>
              <a:ext uri="{FF2B5EF4-FFF2-40B4-BE49-F238E27FC236}">
                <a16:creationId xmlns:a16="http://schemas.microsoft.com/office/drawing/2014/main" id="{6C866F58-0F06-5975-A918-D03B1C931BBC}"/>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8" name="Marcador de número de diapositiva 5">
            <a:extLst>
              <a:ext uri="{FF2B5EF4-FFF2-40B4-BE49-F238E27FC236}">
                <a16:creationId xmlns:a16="http://schemas.microsoft.com/office/drawing/2014/main" id="{E5AE400E-46A2-4AAF-357B-24DC41A662AD}"/>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dirty="0"/>
          </a:p>
        </p:txBody>
      </p:sp>
      <p:sp>
        <p:nvSpPr>
          <p:cNvPr id="4" name="Título 1">
            <a:extLst>
              <a:ext uri="{FF2B5EF4-FFF2-40B4-BE49-F238E27FC236}">
                <a16:creationId xmlns:a16="http://schemas.microsoft.com/office/drawing/2014/main" id="{E9A9DDFE-D2D1-6B34-A76A-DA10C287CE48}"/>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Tree>
    <p:extLst>
      <p:ext uri="{BB962C8B-B14F-4D97-AF65-F5344CB8AC3E}">
        <p14:creationId xmlns:p14="http://schemas.microsoft.com/office/powerpoint/2010/main" val="3227521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ACIAS">
    <p:bg>
      <p:bgPr>
        <a:solidFill>
          <a:schemeClr val="bg1"/>
        </a:solidFill>
        <a:effectLst/>
      </p:bgPr>
    </p:bg>
    <p:spTree>
      <p:nvGrpSpPr>
        <p:cNvPr id="1" name=""/>
        <p:cNvGrpSpPr/>
        <p:nvPr/>
      </p:nvGrpSpPr>
      <p:grpSpPr>
        <a:xfrm>
          <a:off x="0" y="0"/>
          <a:ext cx="0" cy="0"/>
          <a:chOff x="0" y="0"/>
          <a:chExt cx="0" cy="0"/>
        </a:xfrm>
      </p:grpSpPr>
      <p:sp>
        <p:nvSpPr>
          <p:cNvPr id="4" name="object 4"/>
          <p:cNvSpPr/>
          <p:nvPr userDrawn="1"/>
        </p:nvSpPr>
        <p:spPr>
          <a:xfrm>
            <a:off x="0" y="0"/>
            <a:ext cx="12192000" cy="6858000"/>
          </a:xfrm>
          <a:prstGeom prst="rect">
            <a:avLst/>
          </a:prstGeom>
          <a:blipFill>
            <a:blip r:embed="rId2" cstate="print"/>
            <a:stretch>
              <a:fillRect/>
            </a:stretch>
          </a:blipFill>
        </p:spPr>
        <p:txBody>
          <a:bodyPr wrap="square" lIns="0" tIns="0" rIns="0" bIns="0" rtlCol="0">
            <a:noAutofit/>
          </a:bodyPr>
          <a:lstStyle/>
          <a:p>
            <a:endParaRPr/>
          </a:p>
        </p:txBody>
      </p:sp>
      <p:sp>
        <p:nvSpPr>
          <p:cNvPr id="3" name="Rectángulo 2">
            <a:extLst>
              <a:ext uri="{FF2B5EF4-FFF2-40B4-BE49-F238E27FC236}">
                <a16:creationId xmlns:a16="http://schemas.microsoft.com/office/drawing/2014/main" id="{29A47087-91EB-3914-3287-5AD291A090CC}"/>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 name="Título 1">
            <a:extLst>
              <a:ext uri="{FF2B5EF4-FFF2-40B4-BE49-F238E27FC236}">
                <a16:creationId xmlns:a16="http://schemas.microsoft.com/office/drawing/2014/main" id="{643CB07E-CD56-2078-08DB-9F46D185F303}"/>
              </a:ext>
            </a:extLst>
          </p:cNvPr>
          <p:cNvSpPr>
            <a:spLocks noGrp="1"/>
          </p:cNvSpPr>
          <p:nvPr>
            <p:ph type="ctrTitle" hasCustomPrompt="1"/>
          </p:nvPr>
        </p:nvSpPr>
        <p:spPr>
          <a:xfrm>
            <a:off x="826656" y="415528"/>
            <a:ext cx="8545944" cy="2387600"/>
          </a:xfrm>
          <a:prstGeom prst="rect">
            <a:avLst/>
          </a:prstGeom>
        </p:spPr>
        <p:txBody>
          <a:bodyPr anchor="b"/>
          <a:lstStyle>
            <a:lvl1pPr algn="ctr">
              <a:defRPr sz="6000" b="1">
                <a:solidFill>
                  <a:srgbClr val="C00000"/>
                </a:solidFill>
              </a:defRPr>
            </a:lvl1pPr>
          </a:lstStyle>
          <a:p>
            <a:r>
              <a:rPr lang="es-ES" dirty="0"/>
              <a:t>GRACIAS</a:t>
            </a:r>
            <a:endParaRPr lang="es-PE" dirty="0"/>
          </a:p>
        </p:txBody>
      </p:sp>
      <p:sp>
        <p:nvSpPr>
          <p:cNvPr id="6" name="Subtítulo 2">
            <a:extLst>
              <a:ext uri="{FF2B5EF4-FFF2-40B4-BE49-F238E27FC236}">
                <a16:creationId xmlns:a16="http://schemas.microsoft.com/office/drawing/2014/main" id="{9CA8813C-11C0-0297-5357-0247B8403112}"/>
              </a:ext>
            </a:extLst>
          </p:cNvPr>
          <p:cNvSpPr>
            <a:spLocks noGrp="1"/>
          </p:cNvSpPr>
          <p:nvPr>
            <p:ph type="subTitle" idx="1"/>
          </p:nvPr>
        </p:nvSpPr>
        <p:spPr>
          <a:xfrm>
            <a:off x="826656" y="4424363"/>
            <a:ext cx="8545944" cy="121443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endParaRPr lang="es-PE" dirty="0"/>
          </a:p>
        </p:txBody>
      </p:sp>
      <p:sp>
        <p:nvSpPr>
          <p:cNvPr id="8" name="Marcador de fecha 3">
            <a:extLst>
              <a:ext uri="{FF2B5EF4-FFF2-40B4-BE49-F238E27FC236}">
                <a16:creationId xmlns:a16="http://schemas.microsoft.com/office/drawing/2014/main" id="{B63A8F81-51EE-9043-ED6C-E69F00E541B8}"/>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9" name="Marcador de número de diapositiva 5">
            <a:extLst>
              <a:ext uri="{FF2B5EF4-FFF2-40B4-BE49-F238E27FC236}">
                <a16:creationId xmlns:a16="http://schemas.microsoft.com/office/drawing/2014/main" id="{7FA57BB9-8B63-E112-97EA-B40133AE83E5}"/>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dirty="0"/>
          </a:p>
        </p:txBody>
      </p:sp>
    </p:spTree>
    <p:extLst>
      <p:ext uri="{BB962C8B-B14F-4D97-AF65-F5344CB8AC3E}">
        <p14:creationId xmlns:p14="http://schemas.microsoft.com/office/powerpoint/2010/main" val="779108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OR CORREGIR">
    <p:bg>
      <p:bgPr>
        <a:solidFill>
          <a:schemeClr val="bg1"/>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D37F00B-6444-3BE1-D3FB-58BCBD724D4C}"/>
              </a:ext>
            </a:extLst>
          </p:cNvPr>
          <p:cNvSpPr/>
          <p:nvPr userDrawn="1"/>
        </p:nvSpPr>
        <p:spPr>
          <a:xfrm>
            <a:off x="0" y="-1"/>
            <a:ext cx="11365344" cy="685799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3" name="Rectángulo 2">
            <a:extLst>
              <a:ext uri="{FF2B5EF4-FFF2-40B4-BE49-F238E27FC236}">
                <a16:creationId xmlns:a16="http://schemas.microsoft.com/office/drawing/2014/main" id="{29A47087-91EB-3914-3287-5AD291A090CC}"/>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7" name="bg object 16">
            <a:extLst>
              <a:ext uri="{FF2B5EF4-FFF2-40B4-BE49-F238E27FC236}">
                <a16:creationId xmlns:a16="http://schemas.microsoft.com/office/drawing/2014/main" id="{8640EAFD-7DED-DD37-7285-052394D0D345}"/>
              </a:ext>
            </a:extLst>
          </p:cNvPr>
          <p:cNvPicPr>
            <a:picLocks noChangeAspect="1"/>
          </p:cNvPicPr>
          <p:nvPr userDrawn="1"/>
        </p:nvPicPr>
        <p:blipFill rotWithShape="1">
          <a:blip r:embed="rId2" cstate="print"/>
          <a:srcRect l="50331" t="76667" b="11111"/>
          <a:stretch/>
        </p:blipFill>
        <p:spPr>
          <a:xfrm>
            <a:off x="4518787" y="6318000"/>
            <a:ext cx="2598874" cy="540000"/>
          </a:xfrm>
          <a:prstGeom prst="rect">
            <a:avLst/>
          </a:prstGeom>
        </p:spPr>
      </p:pic>
      <p:sp>
        <p:nvSpPr>
          <p:cNvPr id="8" name="Rectángulo 7">
            <a:extLst>
              <a:ext uri="{FF2B5EF4-FFF2-40B4-BE49-F238E27FC236}">
                <a16:creationId xmlns:a16="http://schemas.microsoft.com/office/drawing/2014/main" id="{9906CA8F-12A1-58C8-FB3A-CD466193D4CC}"/>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10" name="Picture 8">
            <a:extLst>
              <a:ext uri="{FF2B5EF4-FFF2-40B4-BE49-F238E27FC236}">
                <a16:creationId xmlns:a16="http://schemas.microsoft.com/office/drawing/2014/main" id="{F181EE87-EC3E-854C-B572-851F0F5546CD}"/>
              </a:ext>
            </a:extLst>
          </p:cNvPr>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Marca de verificación en blanco y negro Gratis Dibujos Animados  Imágene｜Illustoon ES">
            <a:extLst>
              <a:ext uri="{FF2B5EF4-FFF2-40B4-BE49-F238E27FC236}">
                <a16:creationId xmlns:a16="http://schemas.microsoft.com/office/drawing/2014/main" id="{097158EA-9A98-AC6F-B6A4-A190CA6ED709}"/>
              </a:ext>
            </a:extLst>
          </p:cNvPr>
          <p:cNvPicPr>
            <a:picLocks noChangeAspect="1" noChangeArrowheads="1"/>
          </p:cNvPicPr>
          <p:nvPr userDrawn="1"/>
        </p:nvPicPr>
        <p:blipFill rotWithShape="1">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Bombilla, Bombilla incandescente, Luz eléctrica, Lámpara, Negro, Blanco y  negro, Línea, silueta, ligero, negro, En blanco y negro png | PNGWing">
            <a:extLst>
              <a:ext uri="{FF2B5EF4-FFF2-40B4-BE49-F238E27FC236}">
                <a16:creationId xmlns:a16="http://schemas.microsoft.com/office/drawing/2014/main" id="{12D11473-D315-C7D0-7B99-F972FE1FAB45}"/>
              </a:ext>
            </a:extLst>
          </p:cNvPr>
          <p:cNvPicPr>
            <a:picLocks noChangeAspect="1" noChangeArrowheads="1"/>
          </p:cNvPicPr>
          <p:nvPr userDrawn="1"/>
        </p:nvPicPr>
        <p:blipFill>
          <a:blip r:embed="rId7" cstate="print">
            <a:extLst>
              <a:ext uri="{BEBA8EAE-BF5A-486C-A8C5-ECC9F3942E4B}">
                <a14:imgProps xmlns:a14="http://schemas.microsoft.com/office/drawing/2010/main">
                  <a14:imgLayer r:embed="rId8">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Piezas de rompecabezas en variante blanco y negro - Iconos gratis de">
            <a:extLst>
              <a:ext uri="{FF2B5EF4-FFF2-40B4-BE49-F238E27FC236}">
                <a16:creationId xmlns:a16="http://schemas.microsoft.com/office/drawing/2014/main" id="{C56188C5-2E13-7740-CA6C-64E7FF646ABE}"/>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02358743-0859-B8C8-0910-C12D1C6CB5EE}"/>
              </a:ext>
            </a:extLst>
          </p:cNvPr>
          <p:cNvPicPr>
            <a:picLocks noChangeAspect="1" noChangeArrowheads="1"/>
          </p:cNvPicPr>
          <p:nvPr userDrawn="1"/>
        </p:nvPicPr>
        <p:blipFill rotWithShape="1">
          <a:blip r:embed="rId10" cstate="print">
            <a:extLst>
              <a:ext uri="{BEBA8EAE-BF5A-486C-A8C5-ECC9F3942E4B}">
                <a14:imgProps xmlns:a14="http://schemas.microsoft.com/office/drawing/2010/main">
                  <a14:imgLayer r:embed="rId11">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Grupo de iconos del equipo trabajo grupo de trabajo, texto, grupo social,  silueta png | PNGWing">
            <a:extLst>
              <a:ext uri="{FF2B5EF4-FFF2-40B4-BE49-F238E27FC236}">
                <a16:creationId xmlns:a16="http://schemas.microsoft.com/office/drawing/2014/main" id="{E57A6DDC-3E7B-9171-C4BB-CAA2C763D31D}"/>
              </a:ext>
            </a:extLst>
          </p:cNvPr>
          <p:cNvPicPr>
            <a:picLocks noChangeAspect="1" noChangeArrowheads="1"/>
          </p:cNvPicPr>
          <p:nvPr userDrawn="1"/>
        </p:nvPicPr>
        <p:blipFill rotWithShape="1">
          <a:blip r:embed="rId12" cstate="print">
            <a:extLst>
              <a:ext uri="{BEBA8EAE-BF5A-486C-A8C5-ECC9F3942E4B}">
                <a14:imgProps xmlns:a14="http://schemas.microsoft.com/office/drawing/2010/main">
                  <a14:imgLayer r:embed="rId13">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a:extLst>
              <a:ext uri="{FF2B5EF4-FFF2-40B4-BE49-F238E27FC236}">
                <a16:creationId xmlns:a16="http://schemas.microsoft.com/office/drawing/2014/main" id="{C890FE3A-E766-0FBA-86CD-D646571AB9C1}"/>
              </a:ext>
            </a:extLst>
          </p:cNvPr>
          <p:cNvPicPr>
            <a:picLocks noChangeAspect="1" noChangeArrowheads="1"/>
          </p:cNvPicPr>
          <p:nvPr userDrawn="1"/>
        </p:nvPicPr>
        <p:blipFill rotWithShape="1">
          <a:blip r:embed="rId14" cstate="print">
            <a:extLst>
              <a:ext uri="{BEBA8EAE-BF5A-486C-A8C5-ECC9F3942E4B}">
                <a14:imgProps xmlns:a14="http://schemas.microsoft.com/office/drawing/2010/main">
                  <a14:imgLayer r:embed="rId15">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3E19A59A-D176-A4B5-550B-A109E74986A1}"/>
              </a:ext>
            </a:extLst>
          </p:cNvPr>
          <p:cNvSpPr txBox="1"/>
          <p:nvPr userDrawn="1"/>
        </p:nvSpPr>
        <p:spPr>
          <a:xfrm>
            <a:off x="11389032" y="771916"/>
            <a:ext cx="824265" cy="307777"/>
          </a:xfrm>
          <a:prstGeom prst="rect">
            <a:avLst/>
          </a:prstGeom>
          <a:noFill/>
        </p:spPr>
        <p:txBody>
          <a:bodyPr wrap="none" rtlCol="0">
            <a:spAutoFit/>
          </a:bodyPr>
          <a:lstStyle/>
          <a:p>
            <a:r>
              <a:rPr lang="es-PE" sz="1400" b="1" i="1" dirty="0">
                <a:latin typeface="Arial" panose="020B0604020202020204" pitchFamily="34" charset="0"/>
                <a:cs typeface="Arial" panose="020B0604020202020204" pitchFamily="34" charset="0"/>
              </a:rPr>
              <a:t>DUDAS</a:t>
            </a:r>
          </a:p>
        </p:txBody>
      </p:sp>
      <p:pic>
        <p:nvPicPr>
          <p:cNvPr id="21" name="Picture 2" descr="Ilustración de Icono De Cese Cierre Conclusión Logotipo Vectorial ...">
            <a:extLst>
              <a:ext uri="{FF2B5EF4-FFF2-40B4-BE49-F238E27FC236}">
                <a16:creationId xmlns:a16="http://schemas.microsoft.com/office/drawing/2014/main" id="{54FC650D-02E7-C7B9-0D5E-F8F5C15857ED}"/>
              </a:ext>
            </a:extLst>
          </p:cNvPr>
          <p:cNvPicPr>
            <a:picLocks noChangeAspect="1" noChangeArrowheads="1"/>
          </p:cNvPicPr>
          <p:nvPr userDrawn="1"/>
        </p:nvPicPr>
        <p:blipFill rotWithShape="1">
          <a:blip r:embed="rId16" cstate="print">
            <a:extLst>
              <a:ext uri="{BEBA8EAE-BF5A-486C-A8C5-ECC9F3942E4B}">
                <a14:imgProps xmlns:a14="http://schemas.microsoft.com/office/drawing/2010/main">
                  <a14:imgLayer r:embed="rId17">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fecha 3">
            <a:extLst>
              <a:ext uri="{FF2B5EF4-FFF2-40B4-BE49-F238E27FC236}">
                <a16:creationId xmlns:a16="http://schemas.microsoft.com/office/drawing/2014/main" id="{2BF1E378-1703-2E23-755B-F43FEAC6B103}"/>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9" name="Marcador de número de diapositiva 5">
            <a:extLst>
              <a:ext uri="{FF2B5EF4-FFF2-40B4-BE49-F238E27FC236}">
                <a16:creationId xmlns:a16="http://schemas.microsoft.com/office/drawing/2014/main" id="{77FF17BD-BCF1-64F1-F9AF-068FB1986934}"/>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dirty="0"/>
          </a:p>
        </p:txBody>
      </p:sp>
    </p:spTree>
    <p:extLst>
      <p:ext uri="{BB962C8B-B14F-4D97-AF65-F5344CB8AC3E}">
        <p14:creationId xmlns:p14="http://schemas.microsoft.com/office/powerpoint/2010/main" val="26179461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5">
            <a:extLst>
              <a:ext uri="{FF2B5EF4-FFF2-40B4-BE49-F238E27FC236}">
                <a16:creationId xmlns:a16="http://schemas.microsoft.com/office/drawing/2014/main" id="{6AEABA4A-7FC9-3FE2-44B3-B2EF6E23C95D}"/>
              </a:ext>
            </a:extLst>
          </p:cNvPr>
          <p:cNvSpPr>
            <a:spLocks noGrp="1" noChangeArrowheads="1"/>
          </p:cNvSpPr>
          <p:nvPr>
            <p:ph type="dt" sz="half" idx="10"/>
          </p:nvPr>
        </p:nvSpPr>
        <p:spPr>
          <a:ln/>
        </p:spPr>
        <p:txBody>
          <a:bodyPr/>
          <a:lstStyle>
            <a:lvl1pPr>
              <a:defRPr/>
            </a:lvl1pPr>
          </a:lstStyle>
          <a:p>
            <a:pPr>
              <a:defRPr/>
            </a:pPr>
            <a:fld id="{A17155F6-9A25-4AC5-B421-1BC22D69C145}" type="datetime1">
              <a:rPr lang="es-ES"/>
              <a:pPr>
                <a:defRPr/>
              </a:pPr>
              <a:t>14/08/2025</a:t>
            </a:fld>
            <a:endParaRPr lang="es-ES" altLang="en-US"/>
          </a:p>
        </p:txBody>
      </p:sp>
      <p:sp>
        <p:nvSpPr>
          <p:cNvPr id="5" name="Rectangle 6">
            <a:extLst>
              <a:ext uri="{FF2B5EF4-FFF2-40B4-BE49-F238E27FC236}">
                <a16:creationId xmlns:a16="http://schemas.microsoft.com/office/drawing/2014/main" id="{30FA2891-F6F3-0444-8242-34D4BBB048A9}"/>
              </a:ext>
            </a:extLst>
          </p:cNvPr>
          <p:cNvSpPr>
            <a:spLocks noGrp="1" noChangeArrowheads="1"/>
          </p:cNvSpPr>
          <p:nvPr>
            <p:ph type="ftr" sz="quarter" idx="11"/>
          </p:nvPr>
        </p:nvSpPr>
        <p:spPr>
          <a:ln/>
        </p:spPr>
        <p:txBody>
          <a:bodyPr/>
          <a:lstStyle>
            <a:lvl1pPr>
              <a:defRPr/>
            </a:lvl1pPr>
          </a:lstStyle>
          <a:p>
            <a:pPr>
              <a:defRPr/>
            </a:pPr>
            <a:endParaRPr lang="es-ES" altLang="en-US"/>
          </a:p>
        </p:txBody>
      </p:sp>
      <p:sp>
        <p:nvSpPr>
          <p:cNvPr id="6" name="Rectangle 7">
            <a:extLst>
              <a:ext uri="{FF2B5EF4-FFF2-40B4-BE49-F238E27FC236}">
                <a16:creationId xmlns:a16="http://schemas.microsoft.com/office/drawing/2014/main" id="{7ECDFD3B-8C7B-5124-FD0A-554C85314D32}"/>
              </a:ext>
            </a:extLst>
          </p:cNvPr>
          <p:cNvSpPr>
            <a:spLocks noGrp="1" noChangeArrowheads="1"/>
          </p:cNvSpPr>
          <p:nvPr>
            <p:ph type="sldNum" sz="quarter" idx="12"/>
          </p:nvPr>
        </p:nvSpPr>
        <p:spPr>
          <a:ln/>
        </p:spPr>
        <p:txBody>
          <a:bodyPr/>
          <a:lstStyle>
            <a:lvl1pPr>
              <a:defRPr/>
            </a:lvl1pPr>
          </a:lstStyle>
          <a:p>
            <a:fld id="{C57C1B54-AB15-4E50-B18F-5B73554976DC}" type="slidenum">
              <a:rPr lang="es-ES" altLang="en-US"/>
              <a:pPr/>
              <a:t>‹Nº›</a:t>
            </a:fld>
            <a:endParaRPr lang="es-ES" altLang="en-US"/>
          </a:p>
        </p:txBody>
      </p:sp>
    </p:spTree>
    <p:extLst>
      <p:ext uri="{BB962C8B-B14F-4D97-AF65-F5344CB8AC3E}">
        <p14:creationId xmlns:p14="http://schemas.microsoft.com/office/powerpoint/2010/main" val="4199208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AE4121-6A75-10F8-013F-7AD57F8D042D}"/>
              </a:ext>
            </a:extLst>
          </p:cNvPr>
          <p:cNvSpPr>
            <a:spLocks noGrp="1"/>
          </p:cNvSpPr>
          <p:nvPr>
            <p:ph type="title"/>
          </p:nvPr>
        </p:nvSpPr>
        <p:spPr>
          <a:xfrm>
            <a:off x="609600" y="457200"/>
            <a:ext cx="10972800" cy="1371600"/>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91614E87-E0D4-1E3B-3AE6-14008DDB91F1}"/>
              </a:ext>
            </a:extLst>
          </p:cNvPr>
          <p:cNvSpPr>
            <a:spLocks noGrp="1"/>
          </p:cNvSpPr>
          <p:nvPr>
            <p:ph type="body" sz="half" idx="1"/>
          </p:nvPr>
        </p:nvSpPr>
        <p:spPr>
          <a:xfrm>
            <a:off x="609600" y="1981200"/>
            <a:ext cx="5384800" cy="3886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4EFE8993-CA23-A226-C1BA-B9E3421C726B}"/>
              </a:ext>
            </a:extLst>
          </p:cNvPr>
          <p:cNvSpPr>
            <a:spLocks noGrp="1"/>
          </p:cNvSpPr>
          <p:nvPr>
            <p:ph sz="half" idx="2"/>
          </p:nvPr>
        </p:nvSpPr>
        <p:spPr>
          <a:xfrm>
            <a:off x="6197600" y="1981200"/>
            <a:ext cx="5384800" cy="3886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pie de página 4">
            <a:extLst>
              <a:ext uri="{FF2B5EF4-FFF2-40B4-BE49-F238E27FC236}">
                <a16:creationId xmlns:a16="http://schemas.microsoft.com/office/drawing/2014/main" id="{F94114B6-661C-1B9B-685B-DD324FA24CD6}"/>
              </a:ext>
            </a:extLst>
          </p:cNvPr>
          <p:cNvSpPr>
            <a:spLocks noGrp="1"/>
          </p:cNvSpPr>
          <p:nvPr>
            <p:ph type="ftr" sz="quarter" idx="10"/>
          </p:nvPr>
        </p:nvSpPr>
        <p:spPr>
          <a:xfrm>
            <a:off x="4165600" y="6248400"/>
            <a:ext cx="3860800" cy="457200"/>
          </a:xfrm>
        </p:spPr>
        <p:txBody>
          <a:bodyPr/>
          <a:lstStyle>
            <a:lvl1pPr>
              <a:defRPr/>
            </a:lvl1pPr>
          </a:lstStyle>
          <a:p>
            <a:endParaRPr lang="es-ES" altLang="es-PE"/>
          </a:p>
        </p:txBody>
      </p:sp>
      <p:sp>
        <p:nvSpPr>
          <p:cNvPr id="6" name="Marcador de número de diapositiva 5">
            <a:extLst>
              <a:ext uri="{FF2B5EF4-FFF2-40B4-BE49-F238E27FC236}">
                <a16:creationId xmlns:a16="http://schemas.microsoft.com/office/drawing/2014/main" id="{E16E2DE1-E842-0D25-3938-65F5069DCF20}"/>
              </a:ext>
            </a:extLst>
          </p:cNvPr>
          <p:cNvSpPr>
            <a:spLocks noGrp="1"/>
          </p:cNvSpPr>
          <p:nvPr>
            <p:ph type="sldNum" sz="quarter" idx="11"/>
          </p:nvPr>
        </p:nvSpPr>
        <p:spPr>
          <a:xfrm>
            <a:off x="8737600" y="6248400"/>
            <a:ext cx="2844800" cy="457200"/>
          </a:xfrm>
        </p:spPr>
        <p:txBody>
          <a:bodyPr/>
          <a:lstStyle>
            <a:lvl1pPr>
              <a:defRPr/>
            </a:lvl1pPr>
          </a:lstStyle>
          <a:p>
            <a:fld id="{D8FD7129-210B-4716-BFAC-EE3936A31D3A}" type="slidenum">
              <a:rPr lang="es-ES" altLang="es-PE"/>
              <a:pPr/>
              <a:t>‹Nº›</a:t>
            </a:fld>
            <a:endParaRPr lang="es-ES" altLang="es-PE"/>
          </a:p>
        </p:txBody>
      </p:sp>
      <p:sp>
        <p:nvSpPr>
          <p:cNvPr id="7" name="Marcador de fecha 6">
            <a:extLst>
              <a:ext uri="{FF2B5EF4-FFF2-40B4-BE49-F238E27FC236}">
                <a16:creationId xmlns:a16="http://schemas.microsoft.com/office/drawing/2014/main" id="{F9491707-F1FA-E15B-18D8-BC9916965751}"/>
              </a:ext>
            </a:extLst>
          </p:cNvPr>
          <p:cNvSpPr>
            <a:spLocks noGrp="1"/>
          </p:cNvSpPr>
          <p:nvPr>
            <p:ph type="dt" sz="half" idx="12"/>
          </p:nvPr>
        </p:nvSpPr>
        <p:spPr>
          <a:xfrm>
            <a:off x="609600" y="6245225"/>
            <a:ext cx="2844800" cy="476250"/>
          </a:xfrm>
        </p:spPr>
        <p:txBody>
          <a:bodyPr/>
          <a:lstStyle>
            <a:lvl1pPr>
              <a:defRPr/>
            </a:lvl1pPr>
          </a:lstStyle>
          <a:p>
            <a:endParaRPr lang="es-ES" altLang="es-PE"/>
          </a:p>
        </p:txBody>
      </p:sp>
    </p:spTree>
    <p:extLst>
      <p:ext uri="{BB962C8B-B14F-4D97-AF65-F5344CB8AC3E}">
        <p14:creationId xmlns:p14="http://schemas.microsoft.com/office/powerpoint/2010/main" val="2534678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 id="2147483661" r:id="rId12"/>
    <p:sldLayoutId id="2147483662"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5.xml"/><Relationship Id="rId4" Type="http://schemas.openxmlformats.org/officeDocument/2006/relationships/image" Target="../media/image1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30.w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31.wmf"/><Relationship Id="rId7" Type="http://schemas.openxmlformats.org/officeDocument/2006/relationships/image" Target="../media/image33.w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32.wmf"/><Relationship Id="rId4" Type="http://schemas.openxmlformats.org/officeDocument/2006/relationships/oleObject" Target="../embeddings/oleObject4.bin"/><Relationship Id="rId9" Type="http://schemas.openxmlformats.org/officeDocument/2006/relationships/image" Target="../media/image34.wmf"/></Relationships>
</file>

<file path=ppt/slides/_rels/slide1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7.bin"/><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8.bin"/><Relationship Id="rId1" Type="http://schemas.openxmlformats.org/officeDocument/2006/relationships/slideLayout" Target="../slideLayouts/slideLayout7.xml"/><Relationship Id="rId5" Type="http://schemas.openxmlformats.org/officeDocument/2006/relationships/image" Target="../media/image45.wmf"/><Relationship Id="rId4" Type="http://schemas.openxmlformats.org/officeDocument/2006/relationships/oleObject" Target="../embeddings/oleObject9.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48.wmf"/><Relationship Id="rId5" Type="http://schemas.openxmlformats.org/officeDocument/2006/relationships/oleObject" Target="../embeddings/oleObject11.bin"/><Relationship Id="rId4" Type="http://schemas.openxmlformats.org/officeDocument/2006/relationships/image" Target="../media/image47.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13.bin"/><Relationship Id="rId1" Type="http://schemas.openxmlformats.org/officeDocument/2006/relationships/slideLayout" Target="../slideLayouts/slideLayout7.xml"/><Relationship Id="rId5" Type="http://schemas.openxmlformats.org/officeDocument/2006/relationships/image" Target="../media/image51.wmf"/><Relationship Id="rId4" Type="http://schemas.openxmlformats.org/officeDocument/2006/relationships/oleObject" Target="../embeddings/oleObject14.bin"/></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5" Type="http://schemas.microsoft.com/office/2007/relationships/hdphoto" Target="../media/hdphoto8.wdp"/><Relationship Id="rId4" Type="http://schemas.openxmlformats.org/officeDocument/2006/relationships/image" Target="../media/image6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p:nvPr/>
        </p:nvSpPr>
        <p:spPr>
          <a:xfrm>
            <a:off x="3911420" y="3067812"/>
            <a:ext cx="5477181" cy="787145"/>
          </a:xfrm>
          <a:prstGeom prst="rect">
            <a:avLst/>
          </a:prstGeom>
        </p:spPr>
        <p:txBody>
          <a:bodyPr wrap="square" lIns="0" tIns="9503" rIns="0" bIns="0" rtlCol="0">
            <a:noAutofit/>
          </a:bodyPr>
          <a:lstStyle/>
          <a:p>
            <a:pPr>
              <a:lnSpc>
                <a:spcPts val="1300"/>
              </a:lnSpc>
            </a:pPr>
            <a:endParaRPr lang="es-PE" sz="1300" noProof="0" dirty="0"/>
          </a:p>
          <a:p>
            <a:pPr>
              <a:lnSpc>
                <a:spcPct val="95825"/>
              </a:lnSpc>
            </a:pPr>
            <a:r>
              <a:rPr lang="es-PE" sz="2400" b="1" noProof="0" dirty="0">
                <a:solidFill>
                  <a:srgbClr val="006FC0"/>
                </a:solidFill>
                <a:latin typeface="Arial"/>
                <a:cs typeface="Arial"/>
              </a:rPr>
              <a:t>O:</a:t>
            </a:r>
            <a:endParaRPr lang="es-PE" sz="2400" noProof="0" dirty="0">
              <a:latin typeface="Arial"/>
              <a:cs typeface="Arial"/>
            </a:endParaRPr>
          </a:p>
        </p:txBody>
      </p:sp>
      <p:sp>
        <p:nvSpPr>
          <p:cNvPr id="8" name="object 8"/>
          <p:cNvSpPr/>
          <p:nvPr/>
        </p:nvSpPr>
        <p:spPr>
          <a:xfrm>
            <a:off x="4572" y="0"/>
            <a:ext cx="12182856" cy="6858000"/>
          </a:xfrm>
          <a:prstGeom prst="rect">
            <a:avLst/>
          </a:prstGeom>
          <a:blipFill>
            <a:blip r:embed="rId2" cstate="print"/>
            <a:stretch>
              <a:fillRect/>
            </a:stretch>
          </a:blipFill>
        </p:spPr>
        <p:txBody>
          <a:bodyPr wrap="square" lIns="0" tIns="0" rIns="0" bIns="0" rtlCol="0">
            <a:noAutofit/>
          </a:bodyPr>
          <a:lstStyle/>
          <a:p>
            <a:endParaRPr lang="es-PE" noProof="0" dirty="0"/>
          </a:p>
        </p:txBody>
      </p:sp>
      <p:sp>
        <p:nvSpPr>
          <p:cNvPr id="7" name="object 7"/>
          <p:cNvSpPr txBox="1"/>
          <p:nvPr/>
        </p:nvSpPr>
        <p:spPr>
          <a:xfrm>
            <a:off x="1839849" y="1015362"/>
            <a:ext cx="8544596" cy="493973"/>
          </a:xfrm>
          <a:prstGeom prst="rect">
            <a:avLst/>
          </a:prstGeom>
        </p:spPr>
        <p:txBody>
          <a:bodyPr wrap="square" lIns="0" tIns="26574" rIns="0" bIns="0" rtlCol="0">
            <a:noAutofit/>
          </a:bodyPr>
          <a:lstStyle/>
          <a:p>
            <a:pPr marL="3403511" marR="3434872" algn="ctr">
              <a:lnSpc>
                <a:spcPts val="4185"/>
              </a:lnSpc>
            </a:pPr>
            <a:r>
              <a:rPr lang="es-PE" sz="4000" b="1" spc="-28" noProof="0" dirty="0">
                <a:solidFill>
                  <a:schemeClr val="accent2">
                    <a:lumMod val="75000"/>
                  </a:schemeClr>
                </a:solidFill>
                <a:latin typeface="Arial"/>
                <a:cs typeface="Arial"/>
              </a:rPr>
              <a:t>TEMA:</a:t>
            </a:r>
            <a:endParaRPr lang="es-PE" sz="3600" noProof="0" dirty="0">
              <a:solidFill>
                <a:schemeClr val="accent2">
                  <a:lumMod val="75000"/>
                </a:schemeClr>
              </a:solidFill>
              <a:latin typeface="Arial"/>
              <a:cs typeface="Arial"/>
            </a:endParaRPr>
          </a:p>
        </p:txBody>
      </p:sp>
      <p:sp>
        <p:nvSpPr>
          <p:cNvPr id="6" name="object 6"/>
          <p:cNvSpPr txBox="1"/>
          <p:nvPr/>
        </p:nvSpPr>
        <p:spPr>
          <a:xfrm>
            <a:off x="2513457" y="1509335"/>
            <a:ext cx="6851319" cy="1029378"/>
          </a:xfrm>
          <a:prstGeom prst="rect">
            <a:avLst/>
          </a:prstGeom>
        </p:spPr>
        <p:txBody>
          <a:bodyPr wrap="square" lIns="0" tIns="24003" rIns="0" bIns="0" rtlCol="0">
            <a:noAutofit/>
          </a:bodyPr>
          <a:lstStyle/>
          <a:p>
            <a:pPr marL="12700" algn="ctr">
              <a:lnSpc>
                <a:spcPts val="3779"/>
              </a:lnSpc>
            </a:pPr>
            <a:endParaRPr lang="es-PE" sz="4000" b="1" spc="0" noProof="0" dirty="0">
              <a:solidFill>
                <a:srgbClr val="890000"/>
              </a:solidFill>
              <a:latin typeface="Arial"/>
              <a:cs typeface="Arial"/>
            </a:endParaRPr>
          </a:p>
          <a:p>
            <a:pPr marL="12700" algn="ctr">
              <a:lnSpc>
                <a:spcPts val="3779"/>
              </a:lnSpc>
            </a:pPr>
            <a:r>
              <a:rPr lang="es-PE" sz="4000" b="1" spc="0" noProof="0" dirty="0">
                <a:solidFill>
                  <a:srgbClr val="890000"/>
                </a:solidFill>
                <a:latin typeface="Arial"/>
                <a:cs typeface="Arial"/>
              </a:rPr>
              <a:t>Instrumentación industrial</a:t>
            </a:r>
            <a:endParaRPr lang="es-PE" sz="4000" noProof="0" dirty="0">
              <a:latin typeface="Arial"/>
              <a:cs typeface="Arial"/>
            </a:endParaRPr>
          </a:p>
        </p:txBody>
      </p:sp>
      <p:sp>
        <p:nvSpPr>
          <p:cNvPr id="4" name="object 4"/>
          <p:cNvSpPr txBox="1"/>
          <p:nvPr/>
        </p:nvSpPr>
        <p:spPr>
          <a:xfrm>
            <a:off x="4324350" y="3227630"/>
            <a:ext cx="4882963" cy="380796"/>
          </a:xfrm>
          <a:prstGeom prst="rect">
            <a:avLst/>
          </a:prstGeom>
        </p:spPr>
        <p:txBody>
          <a:bodyPr wrap="square" lIns="0" tIns="18796" rIns="0" bIns="0" rtlCol="0">
            <a:noAutofit/>
          </a:bodyPr>
          <a:lstStyle/>
          <a:p>
            <a:pPr marL="12700">
              <a:lnSpc>
                <a:spcPts val="2960"/>
              </a:lnSpc>
            </a:pPr>
            <a:r>
              <a:rPr lang="es-PE" sz="2800" b="1" spc="-2" noProof="0" dirty="0">
                <a:solidFill>
                  <a:srgbClr val="006FC0"/>
                </a:solidFill>
                <a:latin typeface="Arial"/>
                <a:cs typeface="Arial"/>
              </a:rPr>
              <a:t>Instrumentación Industrial</a:t>
            </a:r>
            <a:endParaRPr lang="es-PE" sz="2800" noProof="0" dirty="0">
              <a:latin typeface="Arial"/>
              <a:cs typeface="Arial"/>
            </a:endParaRPr>
          </a:p>
        </p:txBody>
      </p:sp>
      <p:sp>
        <p:nvSpPr>
          <p:cNvPr id="3" name="object 3"/>
          <p:cNvSpPr txBox="1"/>
          <p:nvPr/>
        </p:nvSpPr>
        <p:spPr>
          <a:xfrm>
            <a:off x="3036188" y="3268383"/>
            <a:ext cx="1231011" cy="330504"/>
          </a:xfrm>
          <a:prstGeom prst="rect">
            <a:avLst/>
          </a:prstGeom>
        </p:spPr>
        <p:txBody>
          <a:bodyPr wrap="square" lIns="0" tIns="16224" rIns="0" bIns="0" rtlCol="0">
            <a:noAutofit/>
          </a:bodyPr>
          <a:lstStyle/>
          <a:p>
            <a:pPr marL="12700">
              <a:lnSpc>
                <a:spcPts val="2555"/>
              </a:lnSpc>
            </a:pPr>
            <a:r>
              <a:rPr lang="es-PE" sz="2400" b="1" spc="-1" noProof="0" dirty="0">
                <a:solidFill>
                  <a:srgbClr val="006FC0"/>
                </a:solidFill>
                <a:latin typeface="Arial"/>
                <a:cs typeface="Arial"/>
              </a:rPr>
              <a:t>CURSO:</a:t>
            </a:r>
            <a:endParaRPr lang="es-PE" sz="2400" noProof="0" dirty="0">
              <a:latin typeface="Arial"/>
              <a:cs typeface="Arial"/>
            </a:endParaRPr>
          </a:p>
        </p:txBody>
      </p:sp>
      <p:sp>
        <p:nvSpPr>
          <p:cNvPr id="2" name="object 2"/>
          <p:cNvSpPr txBox="1"/>
          <p:nvPr/>
        </p:nvSpPr>
        <p:spPr>
          <a:xfrm>
            <a:off x="3961257" y="4129682"/>
            <a:ext cx="4496943" cy="280212"/>
          </a:xfrm>
          <a:prstGeom prst="rect">
            <a:avLst/>
          </a:prstGeom>
        </p:spPr>
        <p:txBody>
          <a:bodyPr wrap="square" lIns="0" tIns="13652" rIns="0" bIns="0" rtlCol="0">
            <a:noAutofit/>
          </a:bodyPr>
          <a:lstStyle/>
          <a:p>
            <a:pPr marL="12700" algn="ctr">
              <a:lnSpc>
                <a:spcPts val="2150"/>
              </a:lnSpc>
            </a:pPr>
            <a:r>
              <a:rPr lang="es-PE" sz="2000" b="1" spc="-3" noProof="0" dirty="0">
                <a:solidFill>
                  <a:srgbClr val="001F5F"/>
                </a:solidFill>
                <a:latin typeface="Arial"/>
                <a:cs typeface="Arial"/>
              </a:rPr>
              <a:t>Docente: </a:t>
            </a:r>
            <a:r>
              <a:rPr lang="es-PE" sz="2000" b="1" spc="-3" noProof="0" dirty="0" err="1">
                <a:solidFill>
                  <a:srgbClr val="001F5F"/>
                </a:solidFill>
                <a:latin typeface="Arial"/>
                <a:cs typeface="Arial"/>
              </a:rPr>
              <a:t>Mag</a:t>
            </a:r>
            <a:r>
              <a:rPr lang="es-PE" sz="2000" b="1" spc="-3" noProof="0" dirty="0">
                <a:solidFill>
                  <a:srgbClr val="001F5F"/>
                </a:solidFill>
                <a:latin typeface="Arial"/>
                <a:cs typeface="Arial"/>
              </a:rPr>
              <a:t>. Ing. Anibal Sanchez J</a:t>
            </a:r>
            <a:endParaRPr lang="es-PE" sz="1600" noProof="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A5A17EF-579F-41E4-D3DA-245672D86F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600200" y="1484925"/>
            <a:ext cx="8431352" cy="4744172"/>
          </a:xfrm>
          <a:prstGeom prst="rect">
            <a:avLst/>
          </a:prstGeom>
          <a:noFill/>
          <a:extLst>
            <a:ext uri="{909E8E84-426E-40DD-AFC4-6F175D3DCCD1}">
              <a14:hiddenFill xmlns:a14="http://schemas.microsoft.com/office/drawing/2010/main">
                <a:solidFill>
                  <a:srgbClr val="FFFFFF"/>
                </a:solidFill>
              </a14:hiddenFill>
            </a:ext>
          </a:extLst>
        </p:spPr>
      </p:pic>
      <p:sp>
        <p:nvSpPr>
          <p:cNvPr id="5" name="Título 4">
            <a:extLst>
              <a:ext uri="{FF2B5EF4-FFF2-40B4-BE49-F238E27FC236}">
                <a16:creationId xmlns:a16="http://schemas.microsoft.com/office/drawing/2014/main" id="{722B8F3E-15D8-7FE7-4F2C-250D06FA9737}"/>
              </a:ext>
            </a:extLst>
          </p:cNvPr>
          <p:cNvSpPr>
            <a:spLocks noGrp="1"/>
          </p:cNvSpPr>
          <p:nvPr>
            <p:ph type="title"/>
          </p:nvPr>
        </p:nvSpPr>
        <p:spPr/>
        <p:txBody>
          <a:bodyPr>
            <a:normAutofit/>
          </a:bodyPr>
          <a:lstStyle/>
          <a:p>
            <a:r>
              <a:rPr lang="es-PE" dirty="0"/>
              <a:t>¿Qué se puede apreciar en la imagen?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B91FD-A474-054A-F6C7-3BB31961173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698C4AF-262A-0692-EAD2-6E95B2C14913}"/>
              </a:ext>
            </a:extLst>
          </p:cNvPr>
          <p:cNvPicPr>
            <a:picLocks noChangeAspect="1"/>
          </p:cNvPicPr>
          <p:nvPr/>
        </p:nvPicPr>
        <p:blipFill>
          <a:blip r:embed="rId2"/>
          <a:stretch>
            <a:fillRect/>
          </a:stretch>
        </p:blipFill>
        <p:spPr>
          <a:xfrm>
            <a:off x="5996178" y="1320755"/>
            <a:ext cx="5300472" cy="4886325"/>
          </a:xfrm>
          <a:prstGeom prst="rect">
            <a:avLst/>
          </a:prstGeom>
        </p:spPr>
      </p:pic>
      <p:pic>
        <p:nvPicPr>
          <p:cNvPr id="2050" name="Picture 2" descr="Servicios de Mantenimiento de Plantas Industriales">
            <a:extLst>
              <a:ext uri="{FF2B5EF4-FFF2-40B4-BE49-F238E27FC236}">
                <a16:creationId xmlns:a16="http://schemas.microsoft.com/office/drawing/2014/main" id="{0ACFBF3F-5646-828F-A1D7-20D18001A3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171"/>
          <a:stretch>
            <a:fillRect/>
          </a:stretch>
        </p:blipFill>
        <p:spPr bwMode="auto">
          <a:xfrm>
            <a:off x="455575" y="1320754"/>
            <a:ext cx="5300472" cy="4886325"/>
          </a:xfrm>
          <a:prstGeom prst="rect">
            <a:avLst/>
          </a:prstGeom>
          <a:noFill/>
          <a:extLst>
            <a:ext uri="{909E8E84-426E-40DD-AFC4-6F175D3DCCD1}">
              <a14:hiddenFill xmlns:a14="http://schemas.microsoft.com/office/drawing/2010/main">
                <a:solidFill>
                  <a:srgbClr val="FFFFFF"/>
                </a:solidFill>
              </a14:hiddenFill>
            </a:ext>
          </a:extLst>
        </p:spPr>
      </p:pic>
      <p:sp>
        <p:nvSpPr>
          <p:cNvPr id="5" name="Título 4">
            <a:extLst>
              <a:ext uri="{FF2B5EF4-FFF2-40B4-BE49-F238E27FC236}">
                <a16:creationId xmlns:a16="http://schemas.microsoft.com/office/drawing/2014/main" id="{E093E36E-3AEE-0239-39E9-D5DD96FC0999}"/>
              </a:ext>
            </a:extLst>
          </p:cNvPr>
          <p:cNvSpPr>
            <a:spLocks noGrp="1"/>
          </p:cNvSpPr>
          <p:nvPr>
            <p:ph type="title"/>
          </p:nvPr>
        </p:nvSpPr>
        <p:spPr/>
        <p:txBody>
          <a:bodyPr>
            <a:normAutofit/>
          </a:bodyPr>
          <a:lstStyle/>
          <a:p>
            <a:r>
              <a:rPr lang="es-PE" dirty="0"/>
              <a:t>¿Qué se puede apreciar en la imagen?</a:t>
            </a:r>
          </a:p>
        </p:txBody>
      </p:sp>
    </p:spTree>
    <p:extLst>
      <p:ext uri="{BB962C8B-B14F-4D97-AF65-F5344CB8AC3E}">
        <p14:creationId xmlns:p14="http://schemas.microsoft.com/office/powerpoint/2010/main" val="4187679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877011" y="896588"/>
            <a:ext cx="3809644" cy="432307"/>
          </a:xfrm>
          <a:prstGeom prst="rect">
            <a:avLst/>
          </a:prstGeom>
        </p:spPr>
        <p:txBody>
          <a:bodyPr wrap="square" lIns="0" tIns="21431" rIns="0" bIns="0" rtlCol="0">
            <a:noAutofit/>
          </a:bodyPr>
          <a:lstStyle/>
          <a:p>
            <a:pPr marL="12700">
              <a:lnSpc>
                <a:spcPts val="3375"/>
              </a:lnSpc>
            </a:pPr>
            <a:r>
              <a:rPr sz="3200" b="1" spc="-2" dirty="0">
                <a:solidFill>
                  <a:srgbClr val="C00000"/>
                </a:solidFill>
                <a:latin typeface="Arial"/>
                <a:cs typeface="Arial"/>
              </a:rPr>
              <a:t>Logro de la sesión:</a:t>
            </a:r>
            <a:endParaRPr sz="3200" dirty="0">
              <a:latin typeface="Arial"/>
              <a:cs typeface="Arial"/>
            </a:endParaRPr>
          </a:p>
        </p:txBody>
      </p:sp>
      <p:sp>
        <p:nvSpPr>
          <p:cNvPr id="11" name="object 11"/>
          <p:cNvSpPr txBox="1"/>
          <p:nvPr/>
        </p:nvSpPr>
        <p:spPr>
          <a:xfrm>
            <a:off x="910844" y="1796510"/>
            <a:ext cx="9985756" cy="3689891"/>
          </a:xfrm>
          <a:prstGeom prst="rect">
            <a:avLst/>
          </a:prstGeom>
        </p:spPr>
        <p:txBody>
          <a:bodyPr wrap="square" lIns="0" tIns="16224" rIns="0" bIns="0" rtlCol="0">
            <a:noAutofit/>
          </a:bodyPr>
          <a:lstStyle/>
          <a:p>
            <a:r>
              <a:rPr lang="es-PE" sz="2400" dirty="0"/>
              <a:t>Al finalizar la sesión, el estudiante será capaz de:</a:t>
            </a:r>
          </a:p>
          <a:p>
            <a:pPr marL="342900" indent="-342900">
              <a:buFont typeface="Arial" panose="020B0604020202020204" pitchFamily="34" charset="0"/>
              <a:buChar char="•"/>
            </a:pPr>
            <a:r>
              <a:rPr lang="es-PE" sz="2400" dirty="0"/>
              <a:t>Identificar los </a:t>
            </a:r>
            <a:r>
              <a:rPr lang="es-PE" sz="2400" b="1" dirty="0"/>
              <a:t>componentes esenciales</a:t>
            </a:r>
            <a:r>
              <a:rPr lang="es-PE" sz="2400" dirty="0"/>
              <a:t> de un sistema de instrumentación industrial.</a:t>
            </a:r>
          </a:p>
          <a:p>
            <a:pPr marL="342900" indent="-342900">
              <a:buFont typeface="Arial" panose="020B0604020202020204" pitchFamily="34" charset="0"/>
              <a:buChar char="•"/>
            </a:pPr>
            <a:r>
              <a:rPr lang="es-PE" sz="2400" dirty="0"/>
              <a:t>Diferenciar entre </a:t>
            </a:r>
            <a:r>
              <a:rPr lang="es-PE" sz="2400" b="1" dirty="0"/>
              <a:t>sensor</a:t>
            </a:r>
            <a:r>
              <a:rPr lang="es-PE" sz="2400" dirty="0"/>
              <a:t>, </a:t>
            </a:r>
            <a:r>
              <a:rPr lang="es-PE" sz="2400" b="1" dirty="0"/>
              <a:t>transductor</a:t>
            </a:r>
            <a:r>
              <a:rPr lang="es-PE" sz="2400" dirty="0"/>
              <a:t> y </a:t>
            </a:r>
            <a:r>
              <a:rPr lang="es-PE" sz="2400" b="1" dirty="0"/>
              <a:t>elemento final de control</a:t>
            </a:r>
            <a:r>
              <a:rPr lang="es-PE" sz="2400" dirty="0"/>
              <a:t>.</a:t>
            </a:r>
          </a:p>
          <a:p>
            <a:pPr marL="342900" indent="-342900">
              <a:buFont typeface="Arial" panose="020B0604020202020204" pitchFamily="34" charset="0"/>
              <a:buChar char="•"/>
            </a:pPr>
            <a:r>
              <a:rPr lang="es-PE" sz="2400" dirty="0"/>
              <a:t>Comprender las </a:t>
            </a:r>
            <a:r>
              <a:rPr lang="es-PE" sz="2400" b="1" dirty="0"/>
              <a:t>características estáticas</a:t>
            </a:r>
            <a:r>
              <a:rPr lang="es-PE" sz="2400" dirty="0"/>
              <a:t> y </a:t>
            </a:r>
            <a:r>
              <a:rPr lang="es-PE" sz="2400" b="1" dirty="0"/>
              <a:t>dinámicas</a:t>
            </a:r>
            <a:r>
              <a:rPr lang="es-PE" sz="2400" dirty="0"/>
              <a:t> que determinan el desempeño de un instrumento.</a:t>
            </a:r>
          </a:p>
          <a:p>
            <a:pPr marL="342900" indent="-342900">
              <a:buFont typeface="Arial" panose="020B0604020202020204" pitchFamily="34" charset="0"/>
              <a:buChar char="•"/>
            </a:pPr>
            <a:r>
              <a:rPr lang="es-PE" sz="2400" dirty="0"/>
              <a:t>Reconocer la importancia de la instrumentación para el monitoreo, control y automatización de procesos industriales.</a:t>
            </a:r>
          </a:p>
        </p:txBody>
      </p:sp>
      <p:sp>
        <p:nvSpPr>
          <p:cNvPr id="2" name="object 2"/>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4BF1F-6877-3A0D-AC5B-D826C7B0BA32}"/>
            </a:ext>
          </a:extLst>
        </p:cNvPr>
        <p:cNvGrpSpPr/>
        <p:nvPr/>
      </p:nvGrpSpPr>
      <p:grpSpPr>
        <a:xfrm>
          <a:off x="0" y="0"/>
          <a:ext cx="0" cy="0"/>
          <a:chOff x="0" y="0"/>
          <a:chExt cx="0" cy="0"/>
        </a:xfrm>
      </p:grpSpPr>
      <p:sp>
        <p:nvSpPr>
          <p:cNvPr id="13" name="object 13">
            <a:extLst>
              <a:ext uri="{FF2B5EF4-FFF2-40B4-BE49-F238E27FC236}">
                <a16:creationId xmlns:a16="http://schemas.microsoft.com/office/drawing/2014/main" id="{5062AE42-FE31-9644-27AC-F82C456C4691}"/>
              </a:ext>
            </a:extLst>
          </p:cNvPr>
          <p:cNvSpPr txBox="1"/>
          <p:nvPr/>
        </p:nvSpPr>
        <p:spPr>
          <a:xfrm>
            <a:off x="877011" y="896588"/>
            <a:ext cx="3809644" cy="432307"/>
          </a:xfrm>
          <a:prstGeom prst="rect">
            <a:avLst/>
          </a:prstGeom>
        </p:spPr>
        <p:txBody>
          <a:bodyPr wrap="square" lIns="0" tIns="21431" rIns="0" bIns="0" rtlCol="0">
            <a:noAutofit/>
          </a:bodyPr>
          <a:lstStyle/>
          <a:p>
            <a:pPr marL="12700">
              <a:lnSpc>
                <a:spcPts val="3375"/>
              </a:lnSpc>
            </a:pPr>
            <a:r>
              <a:rPr lang="es-PE" sz="3200" b="1" spc="-2" dirty="0">
                <a:solidFill>
                  <a:srgbClr val="C00000"/>
                </a:solidFill>
                <a:latin typeface="Arial"/>
                <a:cs typeface="Arial"/>
              </a:rPr>
              <a:t>Utilidad:</a:t>
            </a:r>
            <a:endParaRPr sz="3200" dirty="0">
              <a:latin typeface="Arial"/>
              <a:cs typeface="Arial"/>
            </a:endParaRPr>
          </a:p>
        </p:txBody>
      </p:sp>
      <p:sp>
        <p:nvSpPr>
          <p:cNvPr id="11" name="object 11">
            <a:extLst>
              <a:ext uri="{FF2B5EF4-FFF2-40B4-BE49-F238E27FC236}">
                <a16:creationId xmlns:a16="http://schemas.microsoft.com/office/drawing/2014/main" id="{3BE41496-3563-8A1A-C259-3A3F63718717}"/>
              </a:ext>
            </a:extLst>
          </p:cNvPr>
          <p:cNvSpPr txBox="1"/>
          <p:nvPr/>
        </p:nvSpPr>
        <p:spPr>
          <a:xfrm>
            <a:off x="910845" y="1421463"/>
            <a:ext cx="9844860" cy="2596925"/>
          </a:xfrm>
          <a:prstGeom prst="rect">
            <a:avLst/>
          </a:prstGeom>
        </p:spPr>
        <p:txBody>
          <a:bodyPr wrap="square" lIns="0" tIns="16224" rIns="0" bIns="0" rtlCol="0">
            <a:noAutofit/>
          </a:bodyPr>
          <a:lstStyle/>
          <a:p>
            <a:r>
              <a:rPr lang="es-PE" sz="2400" dirty="0"/>
              <a:t>En las carreras de </a:t>
            </a:r>
            <a:r>
              <a:rPr lang="es-PE" sz="2400" b="1" dirty="0"/>
              <a:t>Ingeniería Mecatrónica</a:t>
            </a:r>
            <a:r>
              <a:rPr lang="es-PE" sz="2400" dirty="0"/>
              <a:t> e </a:t>
            </a:r>
            <a:r>
              <a:rPr lang="es-PE" sz="2400" b="1" dirty="0"/>
              <a:t>Ingeniería Electrónica</a:t>
            </a:r>
            <a:r>
              <a:rPr lang="es-PE" sz="2400" dirty="0"/>
              <a:t>, la instrumentación es la base para:</a:t>
            </a:r>
          </a:p>
          <a:p>
            <a:pPr marL="342900" indent="-342900">
              <a:buFont typeface="Arial" panose="020B0604020202020204" pitchFamily="34" charset="0"/>
              <a:buChar char="•"/>
            </a:pPr>
            <a:r>
              <a:rPr lang="es-PE" sz="2400" dirty="0"/>
              <a:t>Diseñar y mantener sistemas de control automático confiables.</a:t>
            </a:r>
          </a:p>
          <a:p>
            <a:pPr marL="342900" indent="-342900">
              <a:buFont typeface="Arial" panose="020B0604020202020204" pitchFamily="34" charset="0"/>
              <a:buChar char="•"/>
            </a:pPr>
            <a:r>
              <a:rPr lang="es-PE" sz="2400" dirty="0"/>
              <a:t>Seleccionar y calibrar sensores y actuadores adecuados.</a:t>
            </a:r>
          </a:p>
          <a:p>
            <a:pPr marL="342900" indent="-342900">
              <a:buFont typeface="Arial" panose="020B0604020202020204" pitchFamily="34" charset="0"/>
              <a:buChar char="•"/>
            </a:pPr>
            <a:r>
              <a:rPr lang="es-PE" sz="2400" dirty="0"/>
              <a:t>Optimizar procesos industriales, mejorando calidad, eficiencia y seguridad.</a:t>
            </a:r>
          </a:p>
          <a:p>
            <a:pPr marL="342900" indent="-342900">
              <a:buFont typeface="Arial" panose="020B0604020202020204" pitchFamily="34" charset="0"/>
              <a:buChar char="•"/>
            </a:pPr>
            <a:r>
              <a:rPr lang="es-PE" sz="2400" dirty="0"/>
              <a:t>Integrar mediciones precisas a sistemas de control como PLC, </a:t>
            </a:r>
            <a:r>
              <a:rPr lang="es-PE" sz="2400" dirty="0" err="1"/>
              <a:t>SCADA</a:t>
            </a:r>
            <a:r>
              <a:rPr lang="es-PE" sz="2400" dirty="0"/>
              <a:t> o microcontroladores.</a:t>
            </a:r>
          </a:p>
          <a:p>
            <a:pPr marL="24306" marR="45765">
              <a:lnSpc>
                <a:spcPts val="2555"/>
              </a:lnSpc>
            </a:pPr>
            <a:endParaRPr lang="es-ES" sz="2400" dirty="0">
              <a:latin typeface="Arial"/>
              <a:cs typeface="Arial"/>
            </a:endParaRPr>
          </a:p>
        </p:txBody>
      </p:sp>
      <p:sp>
        <p:nvSpPr>
          <p:cNvPr id="7" name="object 7">
            <a:extLst>
              <a:ext uri="{FF2B5EF4-FFF2-40B4-BE49-F238E27FC236}">
                <a16:creationId xmlns:a16="http://schemas.microsoft.com/office/drawing/2014/main" id="{EF494609-6139-5349-232C-2FAB2B066D16}"/>
              </a:ext>
            </a:extLst>
          </p:cNvPr>
          <p:cNvSpPr txBox="1"/>
          <p:nvPr/>
        </p:nvSpPr>
        <p:spPr>
          <a:xfrm>
            <a:off x="2718638" y="4154455"/>
            <a:ext cx="5835497" cy="721868"/>
          </a:xfrm>
          <a:prstGeom prst="rect">
            <a:avLst/>
          </a:prstGeom>
        </p:spPr>
        <p:txBody>
          <a:bodyPr wrap="square" lIns="0" tIns="16224" rIns="0" bIns="0" rtlCol="0">
            <a:noAutofit/>
          </a:bodyPr>
          <a:lstStyle/>
          <a:p>
            <a:pPr marL="12700">
              <a:lnSpc>
                <a:spcPts val="2555"/>
              </a:lnSpc>
            </a:pPr>
            <a:endParaRPr sz="2400" dirty="0">
              <a:latin typeface="Arial"/>
              <a:cs typeface="Arial"/>
            </a:endParaRPr>
          </a:p>
        </p:txBody>
      </p:sp>
      <p:sp>
        <p:nvSpPr>
          <p:cNvPr id="6" name="object 6">
            <a:extLst>
              <a:ext uri="{FF2B5EF4-FFF2-40B4-BE49-F238E27FC236}">
                <a16:creationId xmlns:a16="http://schemas.microsoft.com/office/drawing/2014/main" id="{227DEBAA-1CD2-4291-F98F-435D5775935A}"/>
              </a:ext>
            </a:extLst>
          </p:cNvPr>
          <p:cNvSpPr txBox="1"/>
          <p:nvPr/>
        </p:nvSpPr>
        <p:spPr>
          <a:xfrm>
            <a:off x="8592250" y="4154455"/>
            <a:ext cx="630428" cy="330200"/>
          </a:xfrm>
          <a:prstGeom prst="rect">
            <a:avLst/>
          </a:prstGeom>
        </p:spPr>
        <p:txBody>
          <a:bodyPr wrap="square" lIns="0" tIns="16224" rIns="0" bIns="0" rtlCol="0">
            <a:noAutofit/>
          </a:bodyPr>
          <a:lstStyle/>
          <a:p>
            <a:pPr marL="12700">
              <a:lnSpc>
                <a:spcPts val="2555"/>
              </a:lnSpc>
            </a:pPr>
            <a:endParaRPr sz="2400" dirty="0">
              <a:latin typeface="Arial"/>
              <a:cs typeface="Arial"/>
            </a:endParaRPr>
          </a:p>
        </p:txBody>
      </p:sp>
      <p:sp>
        <p:nvSpPr>
          <p:cNvPr id="4" name="object 4">
            <a:extLst>
              <a:ext uri="{FF2B5EF4-FFF2-40B4-BE49-F238E27FC236}">
                <a16:creationId xmlns:a16="http://schemas.microsoft.com/office/drawing/2014/main" id="{C3D0698A-1161-C777-8227-DFFF00F5E98F}"/>
              </a:ext>
            </a:extLst>
          </p:cNvPr>
          <p:cNvSpPr txBox="1"/>
          <p:nvPr/>
        </p:nvSpPr>
        <p:spPr>
          <a:xfrm>
            <a:off x="9635464" y="4154455"/>
            <a:ext cx="1120241" cy="330200"/>
          </a:xfrm>
          <a:prstGeom prst="rect">
            <a:avLst/>
          </a:prstGeom>
        </p:spPr>
        <p:txBody>
          <a:bodyPr wrap="square" lIns="0" tIns="16224" rIns="0" bIns="0" rtlCol="0">
            <a:noAutofit/>
          </a:bodyPr>
          <a:lstStyle/>
          <a:p>
            <a:pPr marL="12700">
              <a:lnSpc>
                <a:spcPts val="2555"/>
              </a:lnSpc>
            </a:pPr>
            <a:endParaRPr sz="2400" dirty="0">
              <a:latin typeface="Arial"/>
              <a:cs typeface="Arial"/>
            </a:endParaRPr>
          </a:p>
        </p:txBody>
      </p:sp>
      <p:sp>
        <p:nvSpPr>
          <p:cNvPr id="2" name="object 2">
            <a:extLst>
              <a:ext uri="{FF2B5EF4-FFF2-40B4-BE49-F238E27FC236}">
                <a16:creationId xmlns:a16="http://schemas.microsoft.com/office/drawing/2014/main" id="{5484000A-DD76-1049-66D0-CFDD54D9B3E2}"/>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pic>
        <p:nvPicPr>
          <p:cNvPr id="1026" name="Picture 2" descr="ANÁLISIS PROFUNDO: LAS MARCAS LÍDERES EN ROBÓTICA INDUSTRIAL Y SU IMPACTO  EN DIVERSOS SECTORES - Eurobots News">
            <a:extLst>
              <a:ext uri="{FF2B5EF4-FFF2-40B4-BE49-F238E27FC236}">
                <a16:creationId xmlns:a16="http://schemas.microsoft.com/office/drawing/2014/main" id="{FE0772CD-9DFE-803F-990E-8B13211D1E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261" y="4061888"/>
            <a:ext cx="4343400" cy="17158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w corporate Headquarters, Munich | Press | Company | Siemens">
            <a:extLst>
              <a:ext uri="{FF2B5EF4-FFF2-40B4-BE49-F238E27FC236}">
                <a16:creationId xmlns:a16="http://schemas.microsoft.com/office/drawing/2014/main" id="{8B051197-0DE1-398C-27E6-A2C1D2448A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18924" y="4018388"/>
            <a:ext cx="2316318" cy="15442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oticias locales de América del Sur y Central">
            <a:extLst>
              <a:ext uri="{FF2B5EF4-FFF2-40B4-BE49-F238E27FC236}">
                <a16:creationId xmlns:a16="http://schemas.microsoft.com/office/drawing/2014/main" id="{7B25184B-F53E-DAA0-AEBC-F75A0D0F136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07464" y="4018389"/>
            <a:ext cx="2761564" cy="1546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4607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23BD-9F55-9473-17A0-3C9DA3B820D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1CBFAF7-9344-3FE0-318B-76744F67AA87}"/>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
        <p:nvSpPr>
          <p:cNvPr id="16" name="object 13">
            <a:extLst>
              <a:ext uri="{FF2B5EF4-FFF2-40B4-BE49-F238E27FC236}">
                <a16:creationId xmlns:a16="http://schemas.microsoft.com/office/drawing/2014/main" id="{F366A6A9-930F-94EB-E541-E70513791A21}"/>
              </a:ext>
            </a:extLst>
          </p:cNvPr>
          <p:cNvSpPr txBox="1"/>
          <p:nvPr/>
        </p:nvSpPr>
        <p:spPr>
          <a:xfrm>
            <a:off x="1220100" y="1953425"/>
            <a:ext cx="8119745" cy="2110067"/>
          </a:xfrm>
          <a:prstGeom prst="rect">
            <a:avLst/>
          </a:prstGeom>
        </p:spPr>
        <p:txBody>
          <a:bodyPr wrap="square" lIns="0" tIns="16224" rIns="0" bIns="0" rtlCol="0">
            <a:noAutofit/>
          </a:bodyPr>
          <a:lstStyle/>
          <a:p>
            <a:pPr marL="355600" indent="-342900">
              <a:lnSpc>
                <a:spcPct val="95825"/>
              </a:lnSpc>
              <a:spcBef>
                <a:spcPts val="1434"/>
              </a:spcBef>
              <a:buFont typeface="Arial" panose="020B0604020202020204" pitchFamily="34" charset="0"/>
              <a:buChar char="•"/>
            </a:pPr>
            <a:r>
              <a:rPr lang="es-PE" sz="2400" dirty="0">
                <a:latin typeface="Arial"/>
                <a:cs typeface="Arial"/>
              </a:rPr>
              <a:t>Electrónica.</a:t>
            </a:r>
          </a:p>
          <a:p>
            <a:pPr marL="355600" indent="-342900">
              <a:lnSpc>
                <a:spcPct val="95825"/>
              </a:lnSpc>
              <a:spcBef>
                <a:spcPts val="1434"/>
              </a:spcBef>
              <a:buFont typeface="Arial" panose="020B0604020202020204" pitchFamily="34" charset="0"/>
              <a:buChar char="•"/>
            </a:pPr>
            <a:r>
              <a:rPr lang="es-PE" sz="2400" dirty="0">
                <a:latin typeface="Arial"/>
                <a:cs typeface="Arial"/>
              </a:rPr>
              <a:t>Mecánica.</a:t>
            </a:r>
          </a:p>
          <a:p>
            <a:pPr marL="355600" indent="-342900">
              <a:lnSpc>
                <a:spcPct val="95825"/>
              </a:lnSpc>
              <a:spcBef>
                <a:spcPts val="1434"/>
              </a:spcBef>
              <a:buFont typeface="Arial" panose="020B0604020202020204" pitchFamily="34" charset="0"/>
              <a:buChar char="•"/>
            </a:pPr>
            <a:r>
              <a:rPr lang="es-PE" sz="2400" dirty="0">
                <a:latin typeface="Arial"/>
                <a:cs typeface="Arial"/>
              </a:rPr>
              <a:t>Física.</a:t>
            </a:r>
          </a:p>
          <a:p>
            <a:pPr marL="355600" indent="-342900">
              <a:lnSpc>
                <a:spcPct val="95825"/>
              </a:lnSpc>
              <a:spcBef>
                <a:spcPts val="1434"/>
              </a:spcBef>
              <a:buFont typeface="Arial" panose="020B0604020202020204" pitchFamily="34" charset="0"/>
              <a:buChar char="•"/>
            </a:pPr>
            <a:r>
              <a:rPr lang="es-PE" sz="2400" dirty="0">
                <a:latin typeface="Arial"/>
                <a:cs typeface="Arial"/>
              </a:rPr>
              <a:t>Análisis Matemático </a:t>
            </a:r>
          </a:p>
          <a:p>
            <a:pPr marL="12700">
              <a:lnSpc>
                <a:spcPct val="95825"/>
              </a:lnSpc>
              <a:spcBef>
                <a:spcPts val="1434"/>
              </a:spcBef>
            </a:pPr>
            <a:endParaRPr sz="2400" dirty="0">
              <a:latin typeface="Arial"/>
              <a:cs typeface="Arial"/>
            </a:endParaRPr>
          </a:p>
        </p:txBody>
      </p:sp>
      <p:sp>
        <p:nvSpPr>
          <p:cNvPr id="3" name="Título 2">
            <a:extLst>
              <a:ext uri="{FF2B5EF4-FFF2-40B4-BE49-F238E27FC236}">
                <a16:creationId xmlns:a16="http://schemas.microsoft.com/office/drawing/2014/main" id="{8C2230DB-FC29-047C-EA0A-13671E24841D}"/>
              </a:ext>
            </a:extLst>
          </p:cNvPr>
          <p:cNvSpPr>
            <a:spLocks noGrp="1"/>
          </p:cNvSpPr>
          <p:nvPr>
            <p:ph type="title"/>
          </p:nvPr>
        </p:nvSpPr>
        <p:spPr/>
        <p:txBody>
          <a:bodyPr/>
          <a:lstStyle/>
          <a:p>
            <a:r>
              <a:rPr lang="es-PE" dirty="0"/>
              <a:t>Saberes Previos:</a:t>
            </a:r>
          </a:p>
        </p:txBody>
      </p:sp>
    </p:spTree>
    <p:extLst>
      <p:ext uri="{BB962C8B-B14F-4D97-AF65-F5344CB8AC3E}">
        <p14:creationId xmlns:p14="http://schemas.microsoft.com/office/powerpoint/2010/main" val="2579873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
        <p:nvSpPr>
          <p:cNvPr id="11" name="Título 10">
            <a:extLst>
              <a:ext uri="{FF2B5EF4-FFF2-40B4-BE49-F238E27FC236}">
                <a16:creationId xmlns:a16="http://schemas.microsoft.com/office/drawing/2014/main" id="{1EA0BD83-9646-CBDA-65E2-9AC7CF2863F3}"/>
              </a:ext>
            </a:extLst>
          </p:cNvPr>
          <p:cNvSpPr>
            <a:spLocks noGrp="1"/>
          </p:cNvSpPr>
          <p:nvPr>
            <p:ph type="title"/>
          </p:nvPr>
        </p:nvSpPr>
        <p:spPr/>
        <p:txBody>
          <a:bodyPr/>
          <a:lstStyle/>
          <a:p>
            <a:r>
              <a:rPr lang="es-PE" b="1" dirty="0"/>
              <a:t>Temas:</a:t>
            </a:r>
          </a:p>
        </p:txBody>
      </p:sp>
      <p:sp>
        <p:nvSpPr>
          <p:cNvPr id="13" name="Marcador de contenido 12">
            <a:extLst>
              <a:ext uri="{FF2B5EF4-FFF2-40B4-BE49-F238E27FC236}">
                <a16:creationId xmlns:a16="http://schemas.microsoft.com/office/drawing/2014/main" id="{6E2F94FA-9EA7-A718-8BB9-0917FF920302}"/>
              </a:ext>
            </a:extLst>
          </p:cNvPr>
          <p:cNvSpPr>
            <a:spLocks noGrp="1"/>
          </p:cNvSpPr>
          <p:nvPr>
            <p:ph idx="1"/>
          </p:nvPr>
        </p:nvSpPr>
        <p:spPr/>
        <p:txBody>
          <a:bodyPr/>
          <a:lstStyle/>
          <a:p>
            <a:pPr marL="355600" indent="-342900">
              <a:lnSpc>
                <a:spcPct val="150000"/>
              </a:lnSpc>
            </a:pPr>
            <a:r>
              <a:rPr lang="es-PE" dirty="0">
                <a:latin typeface="Arial"/>
                <a:cs typeface="Arial"/>
              </a:rPr>
              <a:t>Instrumentación industrial</a:t>
            </a:r>
          </a:p>
          <a:p>
            <a:pPr marL="355600" indent="-342900">
              <a:lnSpc>
                <a:spcPct val="150000"/>
              </a:lnSpc>
            </a:pPr>
            <a:r>
              <a:rPr lang="es-PE" dirty="0">
                <a:latin typeface="Arial"/>
                <a:cs typeface="Arial"/>
              </a:rPr>
              <a:t>Componentes de un sistema de instrumentación</a:t>
            </a:r>
          </a:p>
          <a:p>
            <a:pPr marL="355600" indent="-342900">
              <a:lnSpc>
                <a:spcPct val="150000"/>
              </a:lnSpc>
            </a:pPr>
            <a:r>
              <a:rPr lang="es-PE" dirty="0">
                <a:latin typeface="Arial"/>
                <a:cs typeface="Arial"/>
              </a:rPr>
              <a:t>Sensor, transductor, elemento final de control,</a:t>
            </a:r>
          </a:p>
          <a:p>
            <a:pPr marL="355600" indent="-342900">
              <a:lnSpc>
                <a:spcPct val="150000"/>
              </a:lnSpc>
            </a:pPr>
            <a:r>
              <a:rPr lang="es-PE" dirty="0">
                <a:latin typeface="Arial"/>
                <a:cs typeface="Arial"/>
              </a:rPr>
              <a:t>características estáticas y dinámicas</a:t>
            </a:r>
          </a:p>
          <a:p>
            <a:endParaRPr lang="es-P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051356" y="494887"/>
            <a:ext cx="6828901" cy="432307"/>
          </a:xfrm>
          <a:prstGeom prst="rect">
            <a:avLst/>
          </a:prstGeom>
        </p:spPr>
        <p:txBody>
          <a:bodyPr wrap="square" lIns="0" tIns="21431" rIns="0" bIns="0" rtlCol="0">
            <a:noAutofit/>
          </a:bodyPr>
          <a:lstStyle/>
          <a:p>
            <a:pPr marL="12700">
              <a:lnSpc>
                <a:spcPts val="3375"/>
              </a:lnSpc>
            </a:pPr>
            <a:r>
              <a:rPr lang="es-PE" sz="3200" b="1" spc="-4" dirty="0">
                <a:solidFill>
                  <a:srgbClr val="C00000"/>
                </a:solidFill>
                <a:latin typeface="Arial"/>
                <a:cs typeface="Arial"/>
              </a:rPr>
              <a:t>INSTRUMENTACIÓN INDUSTRIAL</a:t>
            </a:r>
            <a:endParaRPr lang="es-PE" sz="3200" dirty="0">
              <a:latin typeface="Arial"/>
              <a:cs typeface="Arial"/>
            </a:endParaRPr>
          </a:p>
        </p:txBody>
      </p:sp>
      <p:sp>
        <p:nvSpPr>
          <p:cNvPr id="3" name="object 3"/>
          <p:cNvSpPr txBox="1"/>
          <p:nvPr/>
        </p:nvSpPr>
        <p:spPr>
          <a:xfrm>
            <a:off x="1051356" y="1559636"/>
            <a:ext cx="10187739" cy="4328921"/>
          </a:xfrm>
          <a:prstGeom prst="rect">
            <a:avLst/>
          </a:prstGeom>
        </p:spPr>
        <p:txBody>
          <a:bodyPr wrap="square" lIns="0" tIns="14922" rIns="0" bIns="0" rtlCol="0">
            <a:noAutofit/>
          </a:bodyPr>
          <a:lstStyle/>
          <a:p>
            <a:pPr marL="12700" marR="5439">
              <a:lnSpc>
                <a:spcPts val="2350"/>
              </a:lnSpc>
            </a:pPr>
            <a:r>
              <a:rPr lang="es-PE" sz="2400" dirty="0">
                <a:latin typeface="Arial" panose="020B0604020202020204" pitchFamily="34" charset="0"/>
                <a:cs typeface="Arial" panose="020B0604020202020204" pitchFamily="34" charset="0"/>
              </a:rPr>
              <a:t>Según </a:t>
            </a:r>
            <a:r>
              <a:rPr lang="es-PE" sz="2400" b="1" dirty="0">
                <a:latin typeface="Arial" panose="020B0604020202020204" pitchFamily="34" charset="0"/>
                <a:cs typeface="Arial" panose="020B0604020202020204" pitchFamily="34" charset="0"/>
              </a:rPr>
              <a:t>Creus Solé</a:t>
            </a:r>
            <a:r>
              <a:rPr lang="es-PE" sz="2400" dirty="0">
                <a:latin typeface="Arial" panose="020B0604020202020204" pitchFamily="34" charset="0"/>
                <a:cs typeface="Arial" panose="020B0604020202020204" pitchFamily="34" charset="0"/>
              </a:rPr>
              <a:t>, es el conjunto de dispositivos y técnicas utilizadas para </a:t>
            </a:r>
            <a:r>
              <a:rPr lang="es-PE" sz="2400" b="1" dirty="0">
                <a:latin typeface="Arial" panose="020B0604020202020204" pitchFamily="34" charset="0"/>
                <a:cs typeface="Arial" panose="020B0604020202020204" pitchFamily="34" charset="0"/>
              </a:rPr>
              <a:t>medir, transmitir, indicar, registrar y controlar</a:t>
            </a:r>
            <a:r>
              <a:rPr lang="es-PE" sz="2400" dirty="0">
                <a:latin typeface="Arial" panose="020B0604020202020204" pitchFamily="34" charset="0"/>
                <a:cs typeface="Arial" panose="020B0604020202020204" pitchFamily="34" charset="0"/>
              </a:rPr>
              <a:t> variables físicas o químicas en procesos industriales, como temperatura, presión, flujo, nivel o velocidad.</a:t>
            </a:r>
            <a:endParaRPr lang="es-PE" sz="2200" dirty="0">
              <a:latin typeface="Arial" panose="020B0604020202020204" pitchFamily="34" charset="0"/>
              <a:cs typeface="Arial" panose="020B0604020202020204" pitchFamily="34" charset="0"/>
            </a:endParaRPr>
          </a:p>
        </p:txBody>
      </p:sp>
      <p:sp>
        <p:nvSpPr>
          <p:cNvPr id="2" name="object 2"/>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grpSp>
        <p:nvGrpSpPr>
          <p:cNvPr id="5" name="72 Grupo">
            <a:extLst>
              <a:ext uri="{FF2B5EF4-FFF2-40B4-BE49-F238E27FC236}">
                <a16:creationId xmlns:a16="http://schemas.microsoft.com/office/drawing/2014/main" id="{A243D60A-FCC0-4055-44BC-F06AFC36503D}"/>
              </a:ext>
            </a:extLst>
          </p:cNvPr>
          <p:cNvGrpSpPr>
            <a:grpSpLocks/>
          </p:cNvGrpSpPr>
          <p:nvPr/>
        </p:nvGrpSpPr>
        <p:grpSpPr bwMode="auto">
          <a:xfrm>
            <a:off x="1476375" y="2694864"/>
            <a:ext cx="4000500" cy="2857500"/>
            <a:chOff x="1121737" y="2214554"/>
            <a:chExt cx="6553854" cy="3986790"/>
          </a:xfrm>
        </p:grpSpPr>
        <p:sp>
          <p:nvSpPr>
            <p:cNvPr id="7" name="41 Disco magnético">
              <a:extLst>
                <a:ext uri="{FF2B5EF4-FFF2-40B4-BE49-F238E27FC236}">
                  <a16:creationId xmlns:a16="http://schemas.microsoft.com/office/drawing/2014/main" id="{783A816C-09D4-0C73-42BB-4AF265819F16}"/>
                </a:ext>
              </a:extLst>
            </p:cNvPr>
            <p:cNvSpPr/>
            <p:nvPr/>
          </p:nvSpPr>
          <p:spPr>
            <a:xfrm>
              <a:off x="3072289" y="2214554"/>
              <a:ext cx="1856925" cy="2144007"/>
            </a:xfrm>
            <a:prstGeom prst="flowChartMagneticDisk">
              <a:avLst/>
            </a:prstGeom>
            <a:blipFill>
              <a:blip r:embed="rId2" cstate="print"/>
              <a:tile tx="0" ty="0" sx="100000" sy="100000" flip="none" algn="tl"/>
            </a:blip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sz="1200"/>
            </a:p>
          </p:txBody>
        </p:sp>
        <p:pic>
          <p:nvPicPr>
            <p:cNvPr id="8" name="Picture 31" descr="http://www.copromatic.cl/images/cat/transmisores.jpg">
              <a:extLst>
                <a:ext uri="{FF2B5EF4-FFF2-40B4-BE49-F238E27FC236}">
                  <a16:creationId xmlns:a16="http://schemas.microsoft.com/office/drawing/2014/main" id="{855C6A88-F0AB-33D8-83BE-56807C58D9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56" y="3429000"/>
              <a:ext cx="714380" cy="71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44 Conector recto de flecha">
              <a:extLst>
                <a:ext uri="{FF2B5EF4-FFF2-40B4-BE49-F238E27FC236}">
                  <a16:creationId xmlns:a16="http://schemas.microsoft.com/office/drawing/2014/main" id="{A47BA0B9-CEF4-1940-FF3E-242DF8C68610}"/>
                </a:ext>
              </a:extLst>
            </p:cNvPr>
            <p:cNvCxnSpPr/>
            <p:nvPr/>
          </p:nvCxnSpPr>
          <p:spPr>
            <a:xfrm rot="10800000">
              <a:off x="2429906" y="3999750"/>
              <a:ext cx="642383" cy="2214"/>
            </a:xfrm>
            <a:prstGeom prst="straightConnector1">
              <a:avLst/>
            </a:prstGeom>
            <a:ln w="57150">
              <a:solidFill>
                <a:srgbClr val="000066"/>
              </a:solidFill>
              <a:tailEnd type="arrow"/>
            </a:ln>
          </p:spPr>
          <p:style>
            <a:lnRef idx="1">
              <a:schemeClr val="accent1"/>
            </a:lnRef>
            <a:fillRef idx="0">
              <a:schemeClr val="accent1"/>
            </a:fillRef>
            <a:effectRef idx="0">
              <a:schemeClr val="accent1"/>
            </a:effectRef>
            <a:fontRef idx="minor">
              <a:schemeClr val="tx1"/>
            </a:fontRef>
          </p:style>
        </p:cxnSp>
        <p:sp>
          <p:nvSpPr>
            <p:cNvPr id="10" name="47 Rectángulo">
              <a:extLst>
                <a:ext uri="{FF2B5EF4-FFF2-40B4-BE49-F238E27FC236}">
                  <a16:creationId xmlns:a16="http://schemas.microsoft.com/office/drawing/2014/main" id="{54AC49E8-E8A4-EDAC-FF7B-7B4FD1E790C3}"/>
                </a:ext>
              </a:extLst>
            </p:cNvPr>
            <p:cNvSpPr>
              <a:spLocks noChangeArrowheads="1"/>
            </p:cNvSpPr>
            <p:nvPr/>
          </p:nvSpPr>
          <p:spPr bwMode="auto">
            <a:xfrm>
              <a:off x="1247880" y="2989766"/>
              <a:ext cx="1874380" cy="429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ES_tradnl" altLang="es-PE" sz="1200">
                  <a:solidFill>
                    <a:schemeClr val="accent2"/>
                  </a:solidFill>
                </a:rPr>
                <a:t>Mide el Nivel</a:t>
              </a:r>
              <a:endParaRPr lang="es-ES" altLang="es-PE" sz="1200"/>
            </a:p>
          </p:txBody>
        </p:sp>
        <p:sp>
          <p:nvSpPr>
            <p:cNvPr id="11" name="48 Rectángulo">
              <a:extLst>
                <a:ext uri="{FF2B5EF4-FFF2-40B4-BE49-F238E27FC236}">
                  <a16:creationId xmlns:a16="http://schemas.microsoft.com/office/drawing/2014/main" id="{DFEDEC91-DD95-2B3F-B55D-EEF030C1E5CD}"/>
                </a:ext>
              </a:extLst>
            </p:cNvPr>
            <p:cNvSpPr>
              <a:spLocks noChangeArrowheads="1"/>
            </p:cNvSpPr>
            <p:nvPr/>
          </p:nvSpPr>
          <p:spPr bwMode="auto">
            <a:xfrm>
              <a:off x="3571868" y="3643313"/>
              <a:ext cx="1213053" cy="429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ES_tradnl" altLang="es-PE" sz="1200">
                  <a:solidFill>
                    <a:schemeClr val="accent2"/>
                  </a:solidFill>
                </a:rPr>
                <a:t>Tanque</a:t>
              </a:r>
              <a:endParaRPr lang="es-ES" altLang="es-PE" sz="1200"/>
            </a:p>
          </p:txBody>
        </p:sp>
        <p:pic>
          <p:nvPicPr>
            <p:cNvPr id="12" name="Picture 33" descr="http://www.quima.com/web/Banjo%20catalogo/MEV200.jpg">
              <a:extLst>
                <a:ext uri="{FF2B5EF4-FFF2-40B4-BE49-F238E27FC236}">
                  <a16:creationId xmlns:a16="http://schemas.microsoft.com/office/drawing/2014/main" id="{29A862AD-0771-DA54-B806-6E945C1FEF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29256" y="3857628"/>
              <a:ext cx="714380" cy="8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50 Conector recto de flecha">
              <a:extLst>
                <a:ext uri="{FF2B5EF4-FFF2-40B4-BE49-F238E27FC236}">
                  <a16:creationId xmlns:a16="http://schemas.microsoft.com/office/drawing/2014/main" id="{EF9B2DEF-22EF-2061-831C-A2D98772EBBF}"/>
                </a:ext>
              </a:extLst>
            </p:cNvPr>
            <p:cNvCxnSpPr/>
            <p:nvPr/>
          </p:nvCxnSpPr>
          <p:spPr>
            <a:xfrm>
              <a:off x="4929214" y="3928874"/>
              <a:ext cx="561759" cy="560365"/>
            </a:xfrm>
            <a:prstGeom prst="straightConnector1">
              <a:avLst/>
            </a:prstGeom>
            <a:ln w="57150">
              <a:solidFill>
                <a:srgbClr val="000066"/>
              </a:solidFill>
              <a:tailEnd type="arrow"/>
            </a:ln>
          </p:spPr>
          <p:style>
            <a:lnRef idx="1">
              <a:schemeClr val="accent1"/>
            </a:lnRef>
            <a:fillRef idx="0">
              <a:schemeClr val="accent1"/>
            </a:fillRef>
            <a:effectRef idx="0">
              <a:schemeClr val="accent1"/>
            </a:effectRef>
            <a:fontRef idx="minor">
              <a:schemeClr val="tx1"/>
            </a:fontRef>
          </p:style>
        </p:cxnSp>
        <p:cxnSp>
          <p:nvCxnSpPr>
            <p:cNvPr id="14" name="53 Conector recto de flecha">
              <a:extLst>
                <a:ext uri="{FF2B5EF4-FFF2-40B4-BE49-F238E27FC236}">
                  <a16:creationId xmlns:a16="http://schemas.microsoft.com/office/drawing/2014/main" id="{B6EC2F00-62E4-D617-BACD-195FE4C86CCC}"/>
                </a:ext>
              </a:extLst>
            </p:cNvPr>
            <p:cNvCxnSpPr/>
            <p:nvPr/>
          </p:nvCxnSpPr>
          <p:spPr>
            <a:xfrm flipV="1">
              <a:off x="5930497" y="4573404"/>
              <a:ext cx="847840" cy="11075"/>
            </a:xfrm>
            <a:prstGeom prst="straightConnector1">
              <a:avLst/>
            </a:prstGeom>
            <a:ln w="57150">
              <a:solidFill>
                <a:srgbClr val="000066"/>
              </a:solidFill>
              <a:tailEnd type="arrow"/>
            </a:ln>
          </p:spPr>
          <p:style>
            <a:lnRef idx="1">
              <a:schemeClr val="accent1"/>
            </a:lnRef>
            <a:fillRef idx="0">
              <a:schemeClr val="accent1"/>
            </a:fillRef>
            <a:effectRef idx="0">
              <a:schemeClr val="accent1"/>
            </a:effectRef>
            <a:fontRef idx="minor">
              <a:schemeClr val="tx1"/>
            </a:fontRef>
          </p:style>
        </p:cxnSp>
        <p:sp>
          <p:nvSpPr>
            <p:cNvPr id="15" name="56 Rectángulo">
              <a:extLst>
                <a:ext uri="{FF2B5EF4-FFF2-40B4-BE49-F238E27FC236}">
                  <a16:creationId xmlns:a16="http://schemas.microsoft.com/office/drawing/2014/main" id="{2ED34E29-41BB-7864-7CDA-E7206C90DD6F}"/>
                </a:ext>
              </a:extLst>
            </p:cNvPr>
            <p:cNvSpPr>
              <a:spLocks noChangeArrowheads="1"/>
            </p:cNvSpPr>
            <p:nvPr/>
          </p:nvSpPr>
          <p:spPr bwMode="auto">
            <a:xfrm>
              <a:off x="5214941" y="3429000"/>
              <a:ext cx="1860227" cy="429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ES_tradnl" altLang="es-PE" sz="1200">
                  <a:solidFill>
                    <a:schemeClr val="accent2"/>
                  </a:solidFill>
                </a:rPr>
                <a:t>Abre Válvula</a:t>
              </a:r>
              <a:endParaRPr lang="es-ES" altLang="es-PE" sz="1200"/>
            </a:p>
          </p:txBody>
        </p:sp>
        <p:sp>
          <p:nvSpPr>
            <p:cNvPr id="16" name="57 Rectángulo">
              <a:extLst>
                <a:ext uri="{FF2B5EF4-FFF2-40B4-BE49-F238E27FC236}">
                  <a16:creationId xmlns:a16="http://schemas.microsoft.com/office/drawing/2014/main" id="{C0F2A6E1-1ED0-0006-5AA1-9DC16B3342A5}"/>
                </a:ext>
              </a:extLst>
            </p:cNvPr>
            <p:cNvSpPr>
              <a:spLocks noChangeArrowheads="1"/>
            </p:cNvSpPr>
            <p:nvPr/>
          </p:nvSpPr>
          <p:spPr bwMode="auto">
            <a:xfrm>
              <a:off x="5410599" y="4983168"/>
              <a:ext cx="2264992" cy="429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ES_tradnl" altLang="es-PE" sz="1200">
                  <a:solidFill>
                    <a:schemeClr val="accent2"/>
                  </a:solidFill>
                </a:rPr>
                <a:t>Salida de Fluido</a:t>
              </a:r>
              <a:endParaRPr lang="es-ES" altLang="es-PE" sz="1200"/>
            </a:p>
          </p:txBody>
        </p:sp>
        <p:pic>
          <p:nvPicPr>
            <p:cNvPr id="17" name="Picture 35" descr="http://www.interempresas.net/FotosArtProductos/P14700.jpg">
              <a:extLst>
                <a:ext uri="{FF2B5EF4-FFF2-40B4-BE49-F238E27FC236}">
                  <a16:creationId xmlns:a16="http://schemas.microsoft.com/office/drawing/2014/main" id="{15C1D81F-C95D-E808-3B65-E9281229ADC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86116" y="5000636"/>
              <a:ext cx="1357322" cy="1200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59 Conector recto de flecha">
              <a:extLst>
                <a:ext uri="{FF2B5EF4-FFF2-40B4-BE49-F238E27FC236}">
                  <a16:creationId xmlns:a16="http://schemas.microsoft.com/office/drawing/2014/main" id="{0DB2CC4D-EC8F-6700-D40F-C2D4B79DE045}"/>
                </a:ext>
              </a:extLst>
            </p:cNvPr>
            <p:cNvCxnSpPr/>
            <p:nvPr/>
          </p:nvCxnSpPr>
          <p:spPr>
            <a:xfrm rot="16200000" flipH="1">
              <a:off x="2021100" y="4336662"/>
              <a:ext cx="1457393" cy="1071503"/>
            </a:xfrm>
            <a:prstGeom prst="straightConnector1">
              <a:avLst/>
            </a:prstGeom>
            <a:ln w="57150">
              <a:solidFill>
                <a:srgbClr val="000066"/>
              </a:solidFill>
              <a:tailEnd type="arrow"/>
            </a:ln>
          </p:spPr>
          <p:style>
            <a:lnRef idx="1">
              <a:schemeClr val="accent1"/>
            </a:lnRef>
            <a:fillRef idx="0">
              <a:schemeClr val="accent1"/>
            </a:fillRef>
            <a:effectRef idx="0">
              <a:schemeClr val="accent1"/>
            </a:effectRef>
            <a:fontRef idx="minor">
              <a:schemeClr val="tx1"/>
            </a:fontRef>
          </p:style>
        </p:cxnSp>
        <p:sp>
          <p:nvSpPr>
            <p:cNvPr id="19" name="62 Rectángulo">
              <a:extLst>
                <a:ext uri="{FF2B5EF4-FFF2-40B4-BE49-F238E27FC236}">
                  <a16:creationId xmlns:a16="http://schemas.microsoft.com/office/drawing/2014/main" id="{CE9FC01B-F8BD-5A18-4AA4-3028C48A4974}"/>
                </a:ext>
              </a:extLst>
            </p:cNvPr>
            <p:cNvSpPr>
              <a:spLocks noChangeArrowheads="1"/>
            </p:cNvSpPr>
            <p:nvPr/>
          </p:nvSpPr>
          <p:spPr bwMode="auto">
            <a:xfrm>
              <a:off x="1121737" y="5647635"/>
              <a:ext cx="2143280" cy="429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ES_tradnl" altLang="es-PE" sz="1200">
                  <a:solidFill>
                    <a:schemeClr val="accent2"/>
                  </a:solidFill>
                </a:rPr>
                <a:t>Regula el Nivel</a:t>
              </a:r>
            </a:p>
          </p:txBody>
        </p:sp>
        <p:cxnSp>
          <p:nvCxnSpPr>
            <p:cNvPr id="20" name="63 Conector recto de flecha">
              <a:extLst>
                <a:ext uri="{FF2B5EF4-FFF2-40B4-BE49-F238E27FC236}">
                  <a16:creationId xmlns:a16="http://schemas.microsoft.com/office/drawing/2014/main" id="{1B0043A3-4E01-A396-8168-8291B812583F}"/>
                </a:ext>
              </a:extLst>
            </p:cNvPr>
            <p:cNvCxnSpPr/>
            <p:nvPr/>
          </p:nvCxnSpPr>
          <p:spPr>
            <a:xfrm flipV="1">
              <a:off x="4643133" y="4748381"/>
              <a:ext cx="1144324" cy="852729"/>
            </a:xfrm>
            <a:prstGeom prst="straightConnector1">
              <a:avLst/>
            </a:prstGeom>
            <a:ln w="57150">
              <a:solidFill>
                <a:srgbClr val="000066"/>
              </a:solidFill>
              <a:tailEnd type="arrow"/>
            </a:ln>
          </p:spPr>
          <p:style>
            <a:lnRef idx="1">
              <a:schemeClr val="accent1"/>
            </a:lnRef>
            <a:fillRef idx="0">
              <a:schemeClr val="accent1"/>
            </a:fillRef>
            <a:effectRef idx="0">
              <a:schemeClr val="accent1"/>
            </a:effectRef>
            <a:fontRef idx="minor">
              <a:schemeClr val="tx1"/>
            </a:fontRef>
          </p:style>
        </p:cxnSp>
        <p:cxnSp>
          <p:nvCxnSpPr>
            <p:cNvPr id="21" name="71 Conector recto">
              <a:extLst>
                <a:ext uri="{FF2B5EF4-FFF2-40B4-BE49-F238E27FC236}">
                  <a16:creationId xmlns:a16="http://schemas.microsoft.com/office/drawing/2014/main" id="{571741F9-E0F6-505B-D801-EB0BA1448365}"/>
                </a:ext>
              </a:extLst>
            </p:cNvPr>
            <p:cNvCxnSpPr/>
            <p:nvPr/>
          </p:nvCxnSpPr>
          <p:spPr>
            <a:xfrm rot="10800000" flipH="1">
              <a:off x="3142508" y="3286558"/>
              <a:ext cx="1859527" cy="2214"/>
            </a:xfrm>
            <a:prstGeom prst="line">
              <a:avLst/>
            </a:prstGeom>
            <a:ln w="38100">
              <a:solidFill>
                <a:schemeClr val="tx1"/>
              </a:solidFill>
              <a:prstDash val="dash"/>
            </a:ln>
          </p:spPr>
          <p:style>
            <a:lnRef idx="1">
              <a:schemeClr val="dk1"/>
            </a:lnRef>
            <a:fillRef idx="0">
              <a:schemeClr val="dk1"/>
            </a:fillRef>
            <a:effectRef idx="0">
              <a:schemeClr val="dk1"/>
            </a:effectRef>
            <a:fontRef idx="minor">
              <a:schemeClr val="tx1"/>
            </a:fontRef>
          </p:style>
        </p:cxnSp>
      </p:grpSp>
      <p:grpSp>
        <p:nvGrpSpPr>
          <p:cNvPr id="22" name="Group 36">
            <a:extLst>
              <a:ext uri="{FF2B5EF4-FFF2-40B4-BE49-F238E27FC236}">
                <a16:creationId xmlns:a16="http://schemas.microsoft.com/office/drawing/2014/main" id="{7BE9246E-8D1A-D5BB-6A0D-4DB2116C1681}"/>
              </a:ext>
            </a:extLst>
          </p:cNvPr>
          <p:cNvGrpSpPr>
            <a:grpSpLocks/>
          </p:cNvGrpSpPr>
          <p:nvPr/>
        </p:nvGrpSpPr>
        <p:grpSpPr bwMode="auto">
          <a:xfrm>
            <a:off x="5334000" y="3266364"/>
            <a:ext cx="4570412" cy="2032000"/>
            <a:chOff x="158" y="1706"/>
            <a:chExt cx="5444" cy="2489"/>
          </a:xfrm>
        </p:grpSpPr>
        <p:sp>
          <p:nvSpPr>
            <p:cNvPr id="23" name="Line 10">
              <a:extLst>
                <a:ext uri="{FF2B5EF4-FFF2-40B4-BE49-F238E27FC236}">
                  <a16:creationId xmlns:a16="http://schemas.microsoft.com/office/drawing/2014/main" id="{BDD0618A-7467-74FE-CD9F-82EDBAC25F65}"/>
                </a:ext>
              </a:extLst>
            </p:cNvPr>
            <p:cNvSpPr>
              <a:spLocks noChangeShapeType="1"/>
            </p:cNvSpPr>
            <p:nvPr/>
          </p:nvSpPr>
          <p:spPr bwMode="auto">
            <a:xfrm>
              <a:off x="4331" y="2341"/>
              <a:ext cx="907"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24" name="Rectangle 12">
              <a:extLst>
                <a:ext uri="{FF2B5EF4-FFF2-40B4-BE49-F238E27FC236}">
                  <a16:creationId xmlns:a16="http://schemas.microsoft.com/office/drawing/2014/main" id="{823B3D8E-4C64-08F9-1D9D-A22C3F24FDE5}"/>
                </a:ext>
              </a:extLst>
            </p:cNvPr>
            <p:cNvSpPr>
              <a:spLocks noChangeArrowheads="1"/>
            </p:cNvSpPr>
            <p:nvPr/>
          </p:nvSpPr>
          <p:spPr bwMode="auto">
            <a:xfrm>
              <a:off x="2425" y="2114"/>
              <a:ext cx="817" cy="453"/>
            </a:xfrm>
            <a:prstGeom prst="rect">
              <a:avLst/>
            </a:prstGeom>
            <a:gradFill rotWithShape="1">
              <a:gsLst>
                <a:gs pos="0">
                  <a:srgbClr val="000080"/>
                </a:gs>
                <a:gs pos="100000">
                  <a:srgbClr val="000080">
                    <a:gamma/>
                    <a:shade val="46275"/>
                    <a:invGamma/>
                  </a:srgbClr>
                </a:gs>
              </a:gsLst>
              <a:lin ang="2700000" scaled="1"/>
            </a:gradFill>
            <a:ln w="9525">
              <a:solidFill>
                <a:schemeClr val="tx1"/>
              </a:solidFill>
              <a:miter lim="800000"/>
              <a:headEnd/>
              <a:tailEnd/>
            </a:ln>
            <a:effectLst/>
          </p:spPr>
          <p:txBody>
            <a:bodyPr wrap="none" anchor="ctr"/>
            <a:lstStyle/>
            <a:p>
              <a:pPr algn="ctr">
                <a:defRPr/>
              </a:pPr>
              <a:r>
                <a:rPr lang="es-MX" sz="1000" b="1" dirty="0">
                  <a:solidFill>
                    <a:schemeClr val="bg1"/>
                  </a:solidFill>
                  <a:effectLst>
                    <a:outerShdw blurRad="38100" dist="38100" dir="2700000" algn="tl">
                      <a:srgbClr val="000000"/>
                    </a:outerShdw>
                  </a:effectLst>
                  <a:latin typeface="Arial" charset="0"/>
                </a:rPr>
                <a:t>Acelerador</a:t>
              </a:r>
              <a:endParaRPr lang="es-ES" sz="1000" b="1" dirty="0">
                <a:solidFill>
                  <a:schemeClr val="bg1"/>
                </a:solidFill>
                <a:effectLst>
                  <a:outerShdw blurRad="38100" dist="38100" dir="2700000" algn="tl">
                    <a:srgbClr val="000000"/>
                  </a:outerShdw>
                </a:effectLst>
                <a:latin typeface="Arial" charset="0"/>
              </a:endParaRPr>
            </a:p>
          </p:txBody>
        </p:sp>
        <p:sp>
          <p:nvSpPr>
            <p:cNvPr id="25" name="Line 14">
              <a:extLst>
                <a:ext uri="{FF2B5EF4-FFF2-40B4-BE49-F238E27FC236}">
                  <a16:creationId xmlns:a16="http://schemas.microsoft.com/office/drawing/2014/main" id="{D5D3639A-8333-FD93-B616-5E0443475FB3}"/>
                </a:ext>
              </a:extLst>
            </p:cNvPr>
            <p:cNvSpPr>
              <a:spLocks noChangeShapeType="1"/>
            </p:cNvSpPr>
            <p:nvPr/>
          </p:nvSpPr>
          <p:spPr bwMode="auto">
            <a:xfrm>
              <a:off x="2064" y="2340"/>
              <a:ext cx="362"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26" name="Line 15">
              <a:extLst>
                <a:ext uri="{FF2B5EF4-FFF2-40B4-BE49-F238E27FC236}">
                  <a16:creationId xmlns:a16="http://schemas.microsoft.com/office/drawing/2014/main" id="{69D8A000-98F6-DC6B-33A1-D58C81F61876}"/>
                </a:ext>
              </a:extLst>
            </p:cNvPr>
            <p:cNvSpPr>
              <a:spLocks noChangeShapeType="1"/>
            </p:cNvSpPr>
            <p:nvPr/>
          </p:nvSpPr>
          <p:spPr bwMode="auto">
            <a:xfrm>
              <a:off x="3243" y="2340"/>
              <a:ext cx="227" cy="1"/>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27" name="Line 16">
              <a:extLst>
                <a:ext uri="{FF2B5EF4-FFF2-40B4-BE49-F238E27FC236}">
                  <a16:creationId xmlns:a16="http://schemas.microsoft.com/office/drawing/2014/main" id="{F53E3F64-0838-89A1-18A2-2E8D725EF4C2}"/>
                </a:ext>
              </a:extLst>
            </p:cNvPr>
            <p:cNvSpPr>
              <a:spLocks noChangeShapeType="1"/>
            </p:cNvSpPr>
            <p:nvPr/>
          </p:nvSpPr>
          <p:spPr bwMode="auto">
            <a:xfrm>
              <a:off x="4649" y="2340"/>
              <a:ext cx="0" cy="1134"/>
            </a:xfrm>
            <a:prstGeom prst="line">
              <a:avLst/>
            </a:prstGeom>
            <a:noFill/>
            <a:ln w="38100">
              <a:solidFill>
                <a:srgbClr val="8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28" name="Line 17">
              <a:extLst>
                <a:ext uri="{FF2B5EF4-FFF2-40B4-BE49-F238E27FC236}">
                  <a16:creationId xmlns:a16="http://schemas.microsoft.com/office/drawing/2014/main" id="{96E02411-ABAC-60A7-1FEB-696237B9F9CE}"/>
                </a:ext>
              </a:extLst>
            </p:cNvPr>
            <p:cNvSpPr>
              <a:spLocks noChangeShapeType="1"/>
            </p:cNvSpPr>
            <p:nvPr/>
          </p:nvSpPr>
          <p:spPr bwMode="auto">
            <a:xfrm flipH="1">
              <a:off x="3696" y="3474"/>
              <a:ext cx="953"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29" name="Line 18">
              <a:extLst>
                <a:ext uri="{FF2B5EF4-FFF2-40B4-BE49-F238E27FC236}">
                  <a16:creationId xmlns:a16="http://schemas.microsoft.com/office/drawing/2014/main" id="{A3523C87-85CE-AB40-67C1-8DC92AC05125}"/>
                </a:ext>
              </a:extLst>
            </p:cNvPr>
            <p:cNvSpPr>
              <a:spLocks noChangeShapeType="1"/>
            </p:cNvSpPr>
            <p:nvPr/>
          </p:nvSpPr>
          <p:spPr bwMode="auto">
            <a:xfrm flipH="1" flipV="1">
              <a:off x="930" y="3474"/>
              <a:ext cx="1950" cy="1"/>
            </a:xfrm>
            <a:prstGeom prst="line">
              <a:avLst/>
            </a:prstGeom>
            <a:noFill/>
            <a:ln w="38100">
              <a:solidFill>
                <a:srgbClr val="8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30" name="Line 19">
              <a:extLst>
                <a:ext uri="{FF2B5EF4-FFF2-40B4-BE49-F238E27FC236}">
                  <a16:creationId xmlns:a16="http://schemas.microsoft.com/office/drawing/2014/main" id="{74BAAC75-30CF-CF9D-8805-7591AD992B29}"/>
                </a:ext>
              </a:extLst>
            </p:cNvPr>
            <p:cNvSpPr>
              <a:spLocks noChangeShapeType="1"/>
            </p:cNvSpPr>
            <p:nvPr/>
          </p:nvSpPr>
          <p:spPr bwMode="auto">
            <a:xfrm>
              <a:off x="522" y="2340"/>
              <a:ext cx="634" cy="1"/>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1" name="Line 20">
              <a:extLst>
                <a:ext uri="{FF2B5EF4-FFF2-40B4-BE49-F238E27FC236}">
                  <a16:creationId xmlns:a16="http://schemas.microsoft.com/office/drawing/2014/main" id="{DC5681B7-95E0-3692-747B-952F4BAE17F2}"/>
                </a:ext>
              </a:extLst>
            </p:cNvPr>
            <p:cNvSpPr>
              <a:spLocks noChangeShapeType="1"/>
            </p:cNvSpPr>
            <p:nvPr/>
          </p:nvSpPr>
          <p:spPr bwMode="auto">
            <a:xfrm flipV="1">
              <a:off x="930" y="2340"/>
              <a:ext cx="0" cy="1134"/>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32" name="Oval 21">
              <a:extLst>
                <a:ext uri="{FF2B5EF4-FFF2-40B4-BE49-F238E27FC236}">
                  <a16:creationId xmlns:a16="http://schemas.microsoft.com/office/drawing/2014/main" id="{75F4A4D7-E446-D3F5-77B7-C562080D3F0C}"/>
                </a:ext>
              </a:extLst>
            </p:cNvPr>
            <p:cNvSpPr>
              <a:spLocks noChangeArrowheads="1"/>
            </p:cNvSpPr>
            <p:nvPr/>
          </p:nvSpPr>
          <p:spPr bwMode="auto">
            <a:xfrm>
              <a:off x="4649" y="1797"/>
              <a:ext cx="953" cy="454"/>
            </a:xfrm>
            <a:prstGeom prst="ellipse">
              <a:avLst/>
            </a:prstGeom>
            <a:gradFill rotWithShape="1">
              <a:gsLst>
                <a:gs pos="0">
                  <a:srgbClr val="800000"/>
                </a:gs>
                <a:gs pos="100000">
                  <a:srgbClr val="566869"/>
                </a:gs>
              </a:gsLst>
              <a:lin ang="5400000" scaled="1"/>
            </a:gradFill>
            <a:ln w="9525">
              <a:solidFill>
                <a:schemeClr val="tx1"/>
              </a:solidFill>
              <a:round/>
              <a:headEnd/>
              <a:tailEnd/>
            </a:ln>
          </p:spPr>
          <p:txBody>
            <a:bodyPr wrap="none" anchor="ct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es-MX" altLang="es-PE" sz="1000" b="1">
                  <a:solidFill>
                    <a:schemeClr val="bg1"/>
                  </a:solidFill>
                </a:rPr>
                <a:t>Velocidad</a:t>
              </a:r>
            </a:p>
            <a:p>
              <a:pPr algn="ctr" eaLnBrk="1" hangingPunct="1"/>
              <a:r>
                <a:rPr lang="es-MX" altLang="es-PE" sz="1000" b="1">
                  <a:solidFill>
                    <a:schemeClr val="bg1"/>
                  </a:solidFill>
                </a:rPr>
                <a:t>Real</a:t>
              </a:r>
              <a:endParaRPr lang="es-ES" altLang="es-PE" sz="1000" b="1">
                <a:solidFill>
                  <a:schemeClr val="bg1"/>
                </a:solidFill>
              </a:endParaRPr>
            </a:p>
          </p:txBody>
        </p:sp>
        <p:sp>
          <p:nvSpPr>
            <p:cNvPr id="33" name="Oval 22">
              <a:extLst>
                <a:ext uri="{FF2B5EF4-FFF2-40B4-BE49-F238E27FC236}">
                  <a16:creationId xmlns:a16="http://schemas.microsoft.com/office/drawing/2014/main" id="{BE2F7594-8AC2-8110-25C5-E3AE3716789C}"/>
                </a:ext>
              </a:extLst>
            </p:cNvPr>
            <p:cNvSpPr>
              <a:spLocks noChangeArrowheads="1"/>
            </p:cNvSpPr>
            <p:nvPr/>
          </p:nvSpPr>
          <p:spPr bwMode="auto">
            <a:xfrm>
              <a:off x="158" y="1796"/>
              <a:ext cx="953" cy="454"/>
            </a:xfrm>
            <a:prstGeom prst="ellipse">
              <a:avLst/>
            </a:prstGeom>
            <a:gradFill rotWithShape="1">
              <a:gsLst>
                <a:gs pos="0">
                  <a:srgbClr val="990000"/>
                </a:gs>
                <a:gs pos="100000">
                  <a:schemeClr val="bg2"/>
                </a:gs>
              </a:gsLst>
              <a:lin ang="5400000" scaled="1"/>
            </a:gradFill>
            <a:ln w="9525">
              <a:solidFill>
                <a:schemeClr val="tx1"/>
              </a:solidFill>
              <a:round/>
              <a:headEnd/>
              <a:tailEnd/>
            </a:ln>
          </p:spPr>
          <p:txBody>
            <a:bodyPr wrap="none" anchor="ct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r>
                <a:rPr lang="es-MX" altLang="es-PE" sz="1000" b="1">
                  <a:solidFill>
                    <a:schemeClr val="bg1"/>
                  </a:solidFill>
                </a:rPr>
                <a:t>Velocidad</a:t>
              </a:r>
            </a:p>
            <a:p>
              <a:pPr algn="ctr" eaLnBrk="1" hangingPunct="1"/>
              <a:r>
                <a:rPr lang="es-MX" altLang="es-PE" sz="1000" b="1">
                  <a:solidFill>
                    <a:schemeClr val="bg1"/>
                  </a:solidFill>
                </a:rPr>
                <a:t>Deseada</a:t>
              </a:r>
              <a:endParaRPr lang="es-ES" altLang="es-PE" sz="1000" b="1">
                <a:solidFill>
                  <a:schemeClr val="bg1"/>
                </a:solidFill>
              </a:endParaRPr>
            </a:p>
          </p:txBody>
        </p:sp>
        <p:pic>
          <p:nvPicPr>
            <p:cNvPr id="34" name="Picture 27" descr="velocimetro1">
              <a:extLst>
                <a:ext uri="{FF2B5EF4-FFF2-40B4-BE49-F238E27FC236}">
                  <a16:creationId xmlns:a16="http://schemas.microsoft.com/office/drawing/2014/main" id="{A9EDD338-2718-7E75-F716-44232C48400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80" y="3022"/>
              <a:ext cx="809" cy="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Rectangle 28">
              <a:extLst>
                <a:ext uri="{FF2B5EF4-FFF2-40B4-BE49-F238E27FC236}">
                  <a16:creationId xmlns:a16="http://schemas.microsoft.com/office/drawing/2014/main" id="{D18FCC7F-C89D-159D-E9F3-211354A7E8AE}"/>
                </a:ext>
              </a:extLst>
            </p:cNvPr>
            <p:cNvSpPr>
              <a:spLocks noChangeArrowheads="1"/>
            </p:cNvSpPr>
            <p:nvPr/>
          </p:nvSpPr>
          <p:spPr bwMode="auto">
            <a:xfrm>
              <a:off x="2881" y="3893"/>
              <a:ext cx="814"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MX" altLang="es-PE" sz="1000" b="1"/>
                <a:t>Medidor</a:t>
              </a:r>
              <a:endParaRPr lang="es-ES" altLang="es-PE" sz="1000" b="1"/>
            </a:p>
          </p:txBody>
        </p:sp>
        <p:pic>
          <p:nvPicPr>
            <p:cNvPr id="36" name="Picture 30" descr="EjCadEnerg">
              <a:extLst>
                <a:ext uri="{FF2B5EF4-FFF2-40B4-BE49-F238E27FC236}">
                  <a16:creationId xmlns:a16="http://schemas.microsoft.com/office/drawing/2014/main" id="{E6EBBFD6-4FB5-1063-52EB-4FD5DE7AAE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70" y="2024"/>
              <a:ext cx="861" cy="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ectangle 31">
              <a:extLst>
                <a:ext uri="{FF2B5EF4-FFF2-40B4-BE49-F238E27FC236}">
                  <a16:creationId xmlns:a16="http://schemas.microsoft.com/office/drawing/2014/main" id="{890B510F-3A87-2CF2-41F4-F21EE1A72FCA}"/>
                </a:ext>
              </a:extLst>
            </p:cNvPr>
            <p:cNvSpPr>
              <a:spLocks noChangeArrowheads="1"/>
            </p:cNvSpPr>
            <p:nvPr/>
          </p:nvSpPr>
          <p:spPr bwMode="auto">
            <a:xfrm>
              <a:off x="3424" y="1706"/>
              <a:ext cx="854"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MX" altLang="es-PE" sz="1000" b="1"/>
                <a:t>Vehículo</a:t>
              </a:r>
              <a:endParaRPr lang="es-ES" altLang="es-PE" sz="1000" b="1"/>
            </a:p>
          </p:txBody>
        </p:sp>
        <p:pic>
          <p:nvPicPr>
            <p:cNvPr id="38" name="Picture 33" descr="piloto">
              <a:extLst>
                <a:ext uri="{FF2B5EF4-FFF2-40B4-BE49-F238E27FC236}">
                  <a16:creationId xmlns:a16="http://schemas.microsoft.com/office/drawing/2014/main" id="{8C68A785-C2FA-69A5-8864-338BE1ABC4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6" y="2024"/>
              <a:ext cx="908"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Rectangle 34">
              <a:extLst>
                <a:ext uri="{FF2B5EF4-FFF2-40B4-BE49-F238E27FC236}">
                  <a16:creationId xmlns:a16="http://schemas.microsoft.com/office/drawing/2014/main" id="{DF40B206-DE91-A99F-BCD0-A7AB80C18D45}"/>
                </a:ext>
              </a:extLst>
            </p:cNvPr>
            <p:cNvSpPr>
              <a:spLocks noChangeArrowheads="1"/>
            </p:cNvSpPr>
            <p:nvPr/>
          </p:nvSpPr>
          <p:spPr bwMode="auto">
            <a:xfrm>
              <a:off x="1156" y="1752"/>
              <a:ext cx="993"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MX" altLang="es-PE" sz="1000" b="1"/>
                <a:t>Conductor</a:t>
              </a:r>
              <a:endParaRPr lang="es-ES" altLang="es-PE" sz="1000" b="1"/>
            </a:p>
          </p:txBody>
        </p:sp>
        <p:sp>
          <p:nvSpPr>
            <p:cNvPr id="40" name="Rectangle 35">
              <a:extLst>
                <a:ext uri="{FF2B5EF4-FFF2-40B4-BE49-F238E27FC236}">
                  <a16:creationId xmlns:a16="http://schemas.microsoft.com/office/drawing/2014/main" id="{0FAE96C6-B6D0-AF28-0EF9-C3CB05CAB433}"/>
                </a:ext>
              </a:extLst>
            </p:cNvPr>
            <p:cNvSpPr>
              <a:spLocks noChangeArrowheads="1"/>
            </p:cNvSpPr>
            <p:nvPr/>
          </p:nvSpPr>
          <p:spPr bwMode="auto">
            <a:xfrm>
              <a:off x="2370" y="1706"/>
              <a:ext cx="728"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MX" altLang="es-PE" sz="1000" b="1"/>
                <a:t>Acción</a:t>
              </a:r>
              <a:endParaRPr lang="es-ES" altLang="es-PE" sz="1000" b="1"/>
            </a:p>
          </p:txBody>
        </p:sp>
      </p:grpSp>
      <p:sp>
        <p:nvSpPr>
          <p:cNvPr id="41" name="38 Rectángulo">
            <a:extLst>
              <a:ext uri="{FF2B5EF4-FFF2-40B4-BE49-F238E27FC236}">
                <a16:creationId xmlns:a16="http://schemas.microsoft.com/office/drawing/2014/main" id="{2261550C-3BE1-024C-BC20-CC1BA98988E2}"/>
              </a:ext>
            </a:extLst>
          </p:cNvPr>
          <p:cNvSpPr>
            <a:spLocks noChangeArrowheads="1"/>
          </p:cNvSpPr>
          <p:nvPr/>
        </p:nvSpPr>
        <p:spPr bwMode="auto">
          <a:xfrm>
            <a:off x="1619250" y="5623801"/>
            <a:ext cx="31337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ES_tradnl" altLang="es-PE" b="1">
                <a:solidFill>
                  <a:schemeClr val="accent2"/>
                </a:solidFill>
              </a:rPr>
              <a:t>Control de Nivel en un Tanque</a:t>
            </a:r>
            <a:endParaRPr lang="es-ES" altLang="es-PE"/>
          </a:p>
        </p:txBody>
      </p:sp>
      <p:sp>
        <p:nvSpPr>
          <p:cNvPr id="42" name="39 Rectángulo">
            <a:extLst>
              <a:ext uri="{FF2B5EF4-FFF2-40B4-BE49-F238E27FC236}">
                <a16:creationId xmlns:a16="http://schemas.microsoft.com/office/drawing/2014/main" id="{BCD69676-2758-3928-51D5-8599D08591E2}"/>
              </a:ext>
            </a:extLst>
          </p:cNvPr>
          <p:cNvSpPr>
            <a:spLocks noChangeArrowheads="1"/>
          </p:cNvSpPr>
          <p:nvPr/>
        </p:nvSpPr>
        <p:spPr bwMode="auto">
          <a:xfrm>
            <a:off x="5834062" y="5623801"/>
            <a:ext cx="3730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defRPr>
            </a:lvl1pPr>
            <a:lvl2pPr marL="742950" indent="-285750" eaLnBrk="0" hangingPunct="0">
              <a:defRPr sz="1600">
                <a:solidFill>
                  <a:schemeClr val="tx1"/>
                </a:solidFill>
                <a:latin typeface="Arial" panose="020B0604020202020204" pitchFamily="34" charset="0"/>
              </a:defRPr>
            </a:lvl2pPr>
            <a:lvl3pPr marL="1143000" indent="-228600" eaLnBrk="0" hangingPunct="0">
              <a:defRPr sz="1600">
                <a:solidFill>
                  <a:schemeClr val="tx1"/>
                </a:solidFill>
                <a:latin typeface="Arial" panose="020B0604020202020204" pitchFamily="34" charset="0"/>
              </a:defRPr>
            </a:lvl3pPr>
            <a:lvl4pPr marL="1600200" indent="-228600" eaLnBrk="0" hangingPunct="0">
              <a:defRPr sz="1600">
                <a:solidFill>
                  <a:schemeClr val="tx1"/>
                </a:solidFill>
                <a:latin typeface="Arial" panose="020B0604020202020204" pitchFamily="34" charset="0"/>
              </a:defRPr>
            </a:lvl4pPr>
            <a:lvl5pPr marL="2057400" indent="-228600" eaLnBrk="0" hangingPunct="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s-ES_tradnl" altLang="es-PE" b="1">
                <a:solidFill>
                  <a:schemeClr val="accent2"/>
                </a:solidFill>
              </a:rPr>
              <a:t>Control de Velocidad en un Vehículo</a:t>
            </a:r>
            <a:endParaRPr lang="es-ES" altLang="es-P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AEF47-8D98-E8BA-560C-9E7DA9D3FF9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FEB32C3-9A5C-C205-412D-E9AAF7A42E18}"/>
              </a:ext>
            </a:extLst>
          </p:cNvPr>
          <p:cNvSpPr txBox="1"/>
          <p:nvPr/>
        </p:nvSpPr>
        <p:spPr>
          <a:xfrm>
            <a:off x="1371600" y="304800"/>
            <a:ext cx="10187739" cy="4328921"/>
          </a:xfrm>
          <a:prstGeom prst="rect">
            <a:avLst/>
          </a:prstGeom>
        </p:spPr>
        <p:txBody>
          <a:bodyPr wrap="square" lIns="0" tIns="14922" rIns="0" bIns="0" rtlCol="0">
            <a:noAutofit/>
          </a:bodyPr>
          <a:lstStyle/>
          <a:p>
            <a:endParaRPr lang="es-PE" sz="2400" dirty="0"/>
          </a:p>
        </p:txBody>
      </p:sp>
      <p:sp>
        <p:nvSpPr>
          <p:cNvPr id="2" name="object 2">
            <a:extLst>
              <a:ext uri="{FF2B5EF4-FFF2-40B4-BE49-F238E27FC236}">
                <a16:creationId xmlns:a16="http://schemas.microsoft.com/office/drawing/2014/main" id="{DF8B2B90-1AC8-5273-D1D0-1AEF3DD3ED69}"/>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
        <p:nvSpPr>
          <p:cNvPr id="5" name="Título 4">
            <a:extLst>
              <a:ext uri="{FF2B5EF4-FFF2-40B4-BE49-F238E27FC236}">
                <a16:creationId xmlns:a16="http://schemas.microsoft.com/office/drawing/2014/main" id="{025353A1-F9D4-DC33-7B9C-36F62952EC5A}"/>
              </a:ext>
            </a:extLst>
          </p:cNvPr>
          <p:cNvSpPr>
            <a:spLocks noGrp="1"/>
          </p:cNvSpPr>
          <p:nvPr>
            <p:ph type="title"/>
          </p:nvPr>
        </p:nvSpPr>
        <p:spPr/>
        <p:txBody>
          <a:bodyPr>
            <a:noAutofit/>
          </a:bodyPr>
          <a:lstStyle/>
          <a:p>
            <a:r>
              <a:rPr lang="es-PE" sz="3000" b="1" spc="-4" dirty="0">
                <a:latin typeface="Arial"/>
                <a:cs typeface="Arial"/>
              </a:rPr>
              <a:t>Componentes de un sistema de instrumentación</a:t>
            </a:r>
            <a:endParaRPr lang="es-PE" sz="3000" dirty="0"/>
          </a:p>
        </p:txBody>
      </p:sp>
      <p:sp>
        <p:nvSpPr>
          <p:cNvPr id="6" name="Marcador de contenido 5">
            <a:extLst>
              <a:ext uri="{FF2B5EF4-FFF2-40B4-BE49-F238E27FC236}">
                <a16:creationId xmlns:a16="http://schemas.microsoft.com/office/drawing/2014/main" id="{0B2B96FE-9AB6-0046-FCBE-2050E5076F3F}"/>
              </a:ext>
            </a:extLst>
          </p:cNvPr>
          <p:cNvSpPr>
            <a:spLocks noGrp="1"/>
          </p:cNvSpPr>
          <p:nvPr>
            <p:ph idx="1"/>
          </p:nvPr>
        </p:nvSpPr>
        <p:spPr/>
        <p:txBody>
          <a:bodyPr>
            <a:normAutofit fontScale="92500" lnSpcReduction="10000"/>
          </a:bodyPr>
          <a:lstStyle/>
          <a:p>
            <a:pPr marL="0" indent="0">
              <a:buNone/>
            </a:pPr>
            <a:r>
              <a:rPr lang="es-PE" sz="2600" dirty="0"/>
              <a:t>Un sistema típico consta de:</a:t>
            </a:r>
          </a:p>
          <a:p>
            <a:pPr marL="457200" indent="-457200">
              <a:buFont typeface="+mj-lt"/>
              <a:buAutoNum type="arabicPeriod"/>
            </a:pPr>
            <a:r>
              <a:rPr lang="es-PE" sz="2600" b="1" dirty="0"/>
              <a:t>Sensor</a:t>
            </a:r>
            <a:r>
              <a:rPr lang="es-PE" sz="2600" dirty="0"/>
              <a:t> → Detecta una variable física (ej. temperatura).</a:t>
            </a:r>
          </a:p>
          <a:p>
            <a:pPr marL="457200" indent="-457200">
              <a:buFont typeface="+mj-lt"/>
              <a:buAutoNum type="arabicPeriod"/>
            </a:pPr>
            <a:r>
              <a:rPr lang="es-PE" sz="2600" b="1" dirty="0"/>
              <a:t>Transductor</a:t>
            </a:r>
            <a:r>
              <a:rPr lang="es-PE" sz="2600" dirty="0"/>
              <a:t> → Convierte la magnitud detectada en una señal eléctrica, neumática o digital.</a:t>
            </a:r>
          </a:p>
          <a:p>
            <a:pPr marL="457200" indent="-457200">
              <a:buFont typeface="+mj-lt"/>
              <a:buAutoNum type="arabicPeriod"/>
            </a:pPr>
            <a:r>
              <a:rPr lang="es-PE" sz="2600" b="1" dirty="0"/>
              <a:t>Transmisor</a:t>
            </a:r>
            <a:r>
              <a:rPr lang="es-PE" sz="2600" dirty="0"/>
              <a:t> → Envía la señal a distancia en un formato estándar (ej. 4–20 mA).</a:t>
            </a:r>
          </a:p>
          <a:p>
            <a:pPr marL="457200" indent="-457200">
              <a:buFont typeface="+mj-lt"/>
              <a:buAutoNum type="arabicPeriod"/>
            </a:pPr>
            <a:r>
              <a:rPr lang="es-PE" sz="2600" b="1" dirty="0"/>
              <a:t>Unidad de acondicionamiento de señal</a:t>
            </a:r>
            <a:r>
              <a:rPr lang="es-PE" sz="2600" dirty="0"/>
              <a:t> → Filtra, amplifica o adapta la señal.</a:t>
            </a:r>
          </a:p>
          <a:p>
            <a:pPr marL="457200" indent="-457200">
              <a:buFont typeface="+mj-lt"/>
              <a:buAutoNum type="arabicPeriod"/>
            </a:pPr>
            <a:r>
              <a:rPr lang="es-PE" sz="2600" b="1" dirty="0"/>
              <a:t>Controlador</a:t>
            </a:r>
            <a:r>
              <a:rPr lang="es-PE" sz="2600" dirty="0"/>
              <a:t> → Compara el valor medido con un valor de referencia y decide la acción correctiva.</a:t>
            </a:r>
          </a:p>
          <a:p>
            <a:pPr marL="457200" indent="-457200">
              <a:buFont typeface="+mj-lt"/>
              <a:buAutoNum type="arabicPeriod"/>
            </a:pPr>
            <a:r>
              <a:rPr lang="es-PE" sz="2600" b="1" dirty="0"/>
              <a:t>Elemento final de control</a:t>
            </a:r>
            <a:r>
              <a:rPr lang="es-PE" sz="2600" dirty="0"/>
              <a:t> → Dispositivo que ejecuta la acción física sobre el proceso (ej. válvula, motor).</a:t>
            </a:r>
          </a:p>
          <a:p>
            <a:endParaRPr lang="es-PE" dirty="0"/>
          </a:p>
        </p:txBody>
      </p:sp>
    </p:spTree>
    <p:extLst>
      <p:ext uri="{BB962C8B-B14F-4D97-AF65-F5344CB8AC3E}">
        <p14:creationId xmlns:p14="http://schemas.microsoft.com/office/powerpoint/2010/main" val="3888133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9A4F-3637-B84C-D8A0-CD864C5DB01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B845720-411F-43DB-41AA-58023E169FFB}"/>
              </a:ext>
            </a:extLst>
          </p:cNvPr>
          <p:cNvSpPr txBox="1"/>
          <p:nvPr/>
        </p:nvSpPr>
        <p:spPr>
          <a:xfrm>
            <a:off x="1371600" y="304800"/>
            <a:ext cx="10187739" cy="4328921"/>
          </a:xfrm>
          <a:prstGeom prst="rect">
            <a:avLst/>
          </a:prstGeom>
        </p:spPr>
        <p:txBody>
          <a:bodyPr wrap="square" lIns="0" tIns="14922" rIns="0" bIns="0" rtlCol="0">
            <a:noAutofit/>
          </a:bodyPr>
          <a:lstStyle/>
          <a:p>
            <a:endParaRPr lang="es-PE" sz="2400" dirty="0"/>
          </a:p>
        </p:txBody>
      </p:sp>
      <p:sp>
        <p:nvSpPr>
          <p:cNvPr id="2" name="object 2">
            <a:extLst>
              <a:ext uri="{FF2B5EF4-FFF2-40B4-BE49-F238E27FC236}">
                <a16:creationId xmlns:a16="http://schemas.microsoft.com/office/drawing/2014/main" id="{D924A27C-CDB0-7ECD-7E9B-2AB66590FE82}"/>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
        <p:nvSpPr>
          <p:cNvPr id="5" name="Título 4">
            <a:extLst>
              <a:ext uri="{FF2B5EF4-FFF2-40B4-BE49-F238E27FC236}">
                <a16:creationId xmlns:a16="http://schemas.microsoft.com/office/drawing/2014/main" id="{80A77068-73F8-BCB4-3400-FC8A5E329B76}"/>
              </a:ext>
            </a:extLst>
          </p:cNvPr>
          <p:cNvSpPr>
            <a:spLocks noGrp="1"/>
          </p:cNvSpPr>
          <p:nvPr>
            <p:ph type="title"/>
          </p:nvPr>
        </p:nvSpPr>
        <p:spPr/>
        <p:txBody>
          <a:bodyPr>
            <a:noAutofit/>
          </a:bodyPr>
          <a:lstStyle/>
          <a:p>
            <a:r>
              <a:rPr lang="es-PE" sz="3000" b="1" spc="-4" dirty="0">
                <a:latin typeface="Arial"/>
                <a:cs typeface="Arial"/>
              </a:rPr>
              <a:t>Componentes de un sistema de instrumentación</a:t>
            </a:r>
            <a:endParaRPr lang="es-PE" sz="3000" dirty="0"/>
          </a:p>
        </p:txBody>
      </p:sp>
      <p:sp>
        <p:nvSpPr>
          <p:cNvPr id="6" name="Marcador de contenido 5">
            <a:extLst>
              <a:ext uri="{FF2B5EF4-FFF2-40B4-BE49-F238E27FC236}">
                <a16:creationId xmlns:a16="http://schemas.microsoft.com/office/drawing/2014/main" id="{2F258112-E1D3-9640-C502-60FA8738E0FE}"/>
              </a:ext>
            </a:extLst>
          </p:cNvPr>
          <p:cNvSpPr>
            <a:spLocks noGrp="1"/>
          </p:cNvSpPr>
          <p:nvPr>
            <p:ph idx="1"/>
          </p:nvPr>
        </p:nvSpPr>
        <p:spPr/>
        <p:txBody>
          <a:bodyPr>
            <a:normAutofit fontScale="92500" lnSpcReduction="10000"/>
          </a:bodyPr>
          <a:lstStyle/>
          <a:p>
            <a:pPr marL="0" indent="0">
              <a:buNone/>
            </a:pPr>
            <a:r>
              <a:rPr lang="es-PE" sz="2600" dirty="0"/>
              <a:t>Un sistema típico consta de:</a:t>
            </a:r>
          </a:p>
          <a:p>
            <a:pPr marL="457200" indent="-457200">
              <a:buFont typeface="+mj-lt"/>
              <a:buAutoNum type="arabicPeriod"/>
            </a:pPr>
            <a:r>
              <a:rPr lang="es-PE" sz="2600" b="1" dirty="0"/>
              <a:t>Sensor</a:t>
            </a:r>
            <a:r>
              <a:rPr lang="es-PE" sz="2600" dirty="0"/>
              <a:t> → Detecta una variable física (ej. temperatura).</a:t>
            </a:r>
          </a:p>
          <a:p>
            <a:pPr marL="457200" indent="-457200">
              <a:buFont typeface="+mj-lt"/>
              <a:buAutoNum type="arabicPeriod"/>
            </a:pPr>
            <a:r>
              <a:rPr lang="es-PE" sz="2600" b="1" dirty="0"/>
              <a:t>Transductor</a:t>
            </a:r>
            <a:r>
              <a:rPr lang="es-PE" sz="2600" dirty="0"/>
              <a:t> → Convierte la magnitud detectada en una señal eléctrica, neumática o digital.</a:t>
            </a:r>
          </a:p>
          <a:p>
            <a:pPr marL="457200" indent="-457200">
              <a:buFont typeface="+mj-lt"/>
              <a:buAutoNum type="arabicPeriod"/>
            </a:pPr>
            <a:r>
              <a:rPr lang="es-PE" sz="2600" b="1" dirty="0"/>
              <a:t>Transmisor</a:t>
            </a:r>
            <a:r>
              <a:rPr lang="es-PE" sz="2600" dirty="0"/>
              <a:t> → Envía la señal a distancia en un formato estándar (ej. 4–20 mA).</a:t>
            </a:r>
          </a:p>
          <a:p>
            <a:pPr marL="457200" indent="-457200">
              <a:buFont typeface="+mj-lt"/>
              <a:buAutoNum type="arabicPeriod"/>
            </a:pPr>
            <a:r>
              <a:rPr lang="es-PE" sz="2600" b="1" dirty="0"/>
              <a:t>Unidad de acondicionamiento de señal</a:t>
            </a:r>
            <a:r>
              <a:rPr lang="es-PE" sz="2600" dirty="0"/>
              <a:t> → Filtra, amplifica o adapta la señal.</a:t>
            </a:r>
          </a:p>
          <a:p>
            <a:pPr marL="457200" indent="-457200">
              <a:buFont typeface="+mj-lt"/>
              <a:buAutoNum type="arabicPeriod"/>
            </a:pPr>
            <a:r>
              <a:rPr lang="es-PE" sz="2600" b="1" dirty="0"/>
              <a:t>Controlador</a:t>
            </a:r>
            <a:r>
              <a:rPr lang="es-PE" sz="2600" dirty="0"/>
              <a:t> → Compara el valor medido con un valor de referencia y decide la acción correctiva.</a:t>
            </a:r>
          </a:p>
          <a:p>
            <a:pPr marL="457200" indent="-457200">
              <a:buFont typeface="+mj-lt"/>
              <a:buAutoNum type="arabicPeriod"/>
            </a:pPr>
            <a:r>
              <a:rPr lang="es-PE" sz="2600" b="1" dirty="0"/>
              <a:t>Elemento final de control</a:t>
            </a:r>
            <a:r>
              <a:rPr lang="es-PE" sz="2600" dirty="0"/>
              <a:t> → Dispositivo que ejecuta la acción física sobre el proceso (ej. válvula, motor).</a:t>
            </a:r>
          </a:p>
          <a:p>
            <a:endParaRPr lang="es-PE" dirty="0"/>
          </a:p>
        </p:txBody>
      </p:sp>
    </p:spTree>
    <p:extLst>
      <p:ext uri="{BB962C8B-B14F-4D97-AF65-F5344CB8AC3E}">
        <p14:creationId xmlns:p14="http://schemas.microsoft.com/office/powerpoint/2010/main" val="213992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652FE-9151-641D-D5CA-4151E7B58A2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3398C0E-8B00-95DA-A490-9664AA075190}"/>
              </a:ext>
            </a:extLst>
          </p:cNvPr>
          <p:cNvSpPr txBox="1"/>
          <p:nvPr/>
        </p:nvSpPr>
        <p:spPr>
          <a:xfrm>
            <a:off x="1371600" y="304800"/>
            <a:ext cx="10187739" cy="4328921"/>
          </a:xfrm>
          <a:prstGeom prst="rect">
            <a:avLst/>
          </a:prstGeom>
        </p:spPr>
        <p:txBody>
          <a:bodyPr wrap="square" lIns="0" tIns="14922" rIns="0" bIns="0" rtlCol="0">
            <a:noAutofit/>
          </a:bodyPr>
          <a:lstStyle/>
          <a:p>
            <a:endParaRPr lang="es-PE" sz="2400" dirty="0"/>
          </a:p>
        </p:txBody>
      </p:sp>
      <p:sp>
        <p:nvSpPr>
          <p:cNvPr id="2" name="object 2">
            <a:extLst>
              <a:ext uri="{FF2B5EF4-FFF2-40B4-BE49-F238E27FC236}">
                <a16:creationId xmlns:a16="http://schemas.microsoft.com/office/drawing/2014/main" id="{CF897FF6-D099-A557-C8ED-0278A4490ABF}"/>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
        <p:nvSpPr>
          <p:cNvPr id="5" name="Título 4">
            <a:extLst>
              <a:ext uri="{FF2B5EF4-FFF2-40B4-BE49-F238E27FC236}">
                <a16:creationId xmlns:a16="http://schemas.microsoft.com/office/drawing/2014/main" id="{CA679FA9-BBAC-F21D-4689-70B846474D12}"/>
              </a:ext>
            </a:extLst>
          </p:cNvPr>
          <p:cNvSpPr>
            <a:spLocks noGrp="1"/>
          </p:cNvSpPr>
          <p:nvPr>
            <p:ph type="title"/>
          </p:nvPr>
        </p:nvSpPr>
        <p:spPr/>
        <p:txBody>
          <a:bodyPr>
            <a:noAutofit/>
          </a:bodyPr>
          <a:lstStyle/>
          <a:p>
            <a:r>
              <a:rPr lang="es-PE" sz="3000" b="1" spc="-4" dirty="0">
                <a:latin typeface="Arial"/>
                <a:cs typeface="Arial"/>
              </a:rPr>
              <a:t>Componentes de un sistema de instrumentación</a:t>
            </a:r>
            <a:endParaRPr lang="es-PE" sz="3000" dirty="0"/>
          </a:p>
        </p:txBody>
      </p:sp>
      <p:pic>
        <p:nvPicPr>
          <p:cNvPr id="4" name="Imagen 3">
            <a:extLst>
              <a:ext uri="{FF2B5EF4-FFF2-40B4-BE49-F238E27FC236}">
                <a16:creationId xmlns:a16="http://schemas.microsoft.com/office/drawing/2014/main" id="{0618D940-6CD4-3E81-9E73-529A3969071C}"/>
              </a:ext>
            </a:extLst>
          </p:cNvPr>
          <p:cNvPicPr>
            <a:picLocks noChangeAspect="1"/>
          </p:cNvPicPr>
          <p:nvPr/>
        </p:nvPicPr>
        <p:blipFill>
          <a:blip r:embed="rId2"/>
          <a:stretch>
            <a:fillRect/>
          </a:stretch>
        </p:blipFill>
        <p:spPr>
          <a:xfrm>
            <a:off x="-1" y="1787717"/>
            <a:ext cx="11436103" cy="4328921"/>
          </a:xfrm>
          <a:prstGeom prst="rect">
            <a:avLst/>
          </a:prstGeom>
        </p:spPr>
      </p:pic>
      <p:sp>
        <p:nvSpPr>
          <p:cNvPr id="6" name="Marcador de contenido 5">
            <a:extLst>
              <a:ext uri="{FF2B5EF4-FFF2-40B4-BE49-F238E27FC236}">
                <a16:creationId xmlns:a16="http://schemas.microsoft.com/office/drawing/2014/main" id="{D539A19F-383F-D15A-DF14-3248F0075E2E}"/>
              </a:ext>
            </a:extLst>
          </p:cNvPr>
          <p:cNvSpPr>
            <a:spLocks noGrp="1"/>
          </p:cNvSpPr>
          <p:nvPr>
            <p:ph idx="1"/>
          </p:nvPr>
        </p:nvSpPr>
        <p:spPr>
          <a:xfrm>
            <a:off x="755898" y="3733800"/>
            <a:ext cx="4730502" cy="2382838"/>
          </a:xfrm>
        </p:spPr>
        <p:txBody>
          <a:bodyPr>
            <a:normAutofit fontScale="70000" lnSpcReduction="20000"/>
          </a:bodyPr>
          <a:lstStyle/>
          <a:p>
            <a:pPr marL="0" indent="0">
              <a:buNone/>
            </a:pPr>
            <a:r>
              <a:rPr lang="es-PE" sz="2600" dirty="0"/>
              <a:t>Un sistema típico consta de:</a:t>
            </a:r>
          </a:p>
          <a:p>
            <a:pPr marL="457200" indent="-457200">
              <a:buFont typeface="+mj-lt"/>
              <a:buAutoNum type="arabicPeriod"/>
            </a:pPr>
            <a:r>
              <a:rPr lang="es-PE" sz="2600" b="1" dirty="0"/>
              <a:t>Sensor</a:t>
            </a:r>
            <a:r>
              <a:rPr lang="es-PE" sz="2600" dirty="0"/>
              <a:t> →</a:t>
            </a:r>
          </a:p>
          <a:p>
            <a:pPr marL="457200" indent="-457200">
              <a:buFont typeface="+mj-lt"/>
              <a:buAutoNum type="arabicPeriod"/>
            </a:pPr>
            <a:r>
              <a:rPr lang="es-PE" sz="2600" b="1" dirty="0"/>
              <a:t>Transductor</a:t>
            </a:r>
            <a:r>
              <a:rPr lang="es-PE" sz="2600" dirty="0"/>
              <a:t> →</a:t>
            </a:r>
          </a:p>
          <a:p>
            <a:pPr marL="457200" indent="-457200">
              <a:buFont typeface="+mj-lt"/>
              <a:buAutoNum type="arabicPeriod"/>
            </a:pPr>
            <a:r>
              <a:rPr lang="es-PE" sz="2600" b="1" dirty="0"/>
              <a:t>Transmisor</a:t>
            </a:r>
            <a:r>
              <a:rPr lang="es-PE" sz="2600" dirty="0"/>
              <a:t> →</a:t>
            </a:r>
          </a:p>
          <a:p>
            <a:pPr marL="457200" indent="-457200">
              <a:buFont typeface="+mj-lt"/>
              <a:buAutoNum type="arabicPeriod"/>
            </a:pPr>
            <a:r>
              <a:rPr lang="es-PE" sz="2600" b="1" dirty="0"/>
              <a:t>Unidad de acondicionamiento de señal</a:t>
            </a:r>
            <a:r>
              <a:rPr lang="es-PE" sz="2600" dirty="0"/>
              <a:t> →</a:t>
            </a:r>
          </a:p>
          <a:p>
            <a:pPr marL="457200" indent="-457200">
              <a:buFont typeface="+mj-lt"/>
              <a:buAutoNum type="arabicPeriod"/>
            </a:pPr>
            <a:r>
              <a:rPr lang="es-PE" sz="2600" b="1" dirty="0"/>
              <a:t>Controlador</a:t>
            </a:r>
            <a:r>
              <a:rPr lang="es-PE" sz="2600" dirty="0"/>
              <a:t> → </a:t>
            </a:r>
          </a:p>
          <a:p>
            <a:pPr marL="457200" indent="-457200">
              <a:buFont typeface="+mj-lt"/>
              <a:buAutoNum type="arabicPeriod"/>
            </a:pPr>
            <a:r>
              <a:rPr lang="es-PE" sz="2600" b="1" dirty="0"/>
              <a:t>Elemento final de control</a:t>
            </a:r>
            <a:r>
              <a:rPr lang="es-PE" sz="2600" dirty="0"/>
              <a:t> →</a:t>
            </a:r>
            <a:endParaRPr lang="es-PE" dirty="0"/>
          </a:p>
        </p:txBody>
      </p:sp>
    </p:spTree>
    <p:extLst>
      <p:ext uri="{BB962C8B-B14F-4D97-AF65-F5344CB8AC3E}">
        <p14:creationId xmlns:p14="http://schemas.microsoft.com/office/powerpoint/2010/main" val="3135787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7A2D3-B0CD-FC2D-964F-D91A3AC3815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B1C0A4C-9D1F-E3B6-256E-0C0CDB1E3FFC}"/>
              </a:ext>
            </a:extLst>
          </p:cNvPr>
          <p:cNvSpPr txBox="1"/>
          <p:nvPr/>
        </p:nvSpPr>
        <p:spPr>
          <a:xfrm>
            <a:off x="1051356" y="494887"/>
            <a:ext cx="6828901" cy="432307"/>
          </a:xfrm>
          <a:prstGeom prst="rect">
            <a:avLst/>
          </a:prstGeom>
        </p:spPr>
        <p:txBody>
          <a:bodyPr wrap="square" lIns="0" tIns="21431" rIns="0" bIns="0" rtlCol="0">
            <a:noAutofit/>
          </a:bodyPr>
          <a:lstStyle/>
          <a:p>
            <a:pPr marL="12700">
              <a:lnSpc>
                <a:spcPts val="3375"/>
              </a:lnSpc>
            </a:pPr>
            <a:r>
              <a:rPr lang="es-PE" sz="3200" b="1" spc="-4" dirty="0">
                <a:solidFill>
                  <a:srgbClr val="C00000"/>
                </a:solidFill>
                <a:latin typeface="Arial"/>
                <a:cs typeface="Arial"/>
              </a:rPr>
              <a:t>Sensor</a:t>
            </a:r>
            <a:endParaRPr lang="es-PE" sz="3200" dirty="0">
              <a:latin typeface="Arial"/>
              <a:cs typeface="Arial"/>
            </a:endParaRPr>
          </a:p>
        </p:txBody>
      </p:sp>
      <p:sp>
        <p:nvSpPr>
          <p:cNvPr id="3" name="object 3">
            <a:extLst>
              <a:ext uri="{FF2B5EF4-FFF2-40B4-BE49-F238E27FC236}">
                <a16:creationId xmlns:a16="http://schemas.microsoft.com/office/drawing/2014/main" id="{4F34878D-A098-5F92-C340-A10E41E4F591}"/>
              </a:ext>
            </a:extLst>
          </p:cNvPr>
          <p:cNvSpPr txBox="1"/>
          <p:nvPr/>
        </p:nvSpPr>
        <p:spPr>
          <a:xfrm>
            <a:off x="1051356" y="1559636"/>
            <a:ext cx="10187739" cy="4328921"/>
          </a:xfrm>
          <a:prstGeom prst="rect">
            <a:avLst/>
          </a:prstGeom>
        </p:spPr>
        <p:txBody>
          <a:bodyPr wrap="square" lIns="0" tIns="14922" rIns="0" bIns="0" rtlCol="0">
            <a:noAutofit/>
          </a:bodyPr>
          <a:lstStyle/>
          <a:p>
            <a:r>
              <a:rPr lang="es-PE" sz="2400" dirty="0"/>
              <a:t>Elemento que </a:t>
            </a:r>
            <a:r>
              <a:rPr lang="es-PE" sz="2400" b="1" dirty="0"/>
              <a:t>detecta un fenómeno físico</a:t>
            </a:r>
            <a:r>
              <a:rPr lang="es-PE" sz="2400" dirty="0"/>
              <a:t> y lo transforma en una señal entendible.</a:t>
            </a:r>
          </a:p>
          <a:p>
            <a:r>
              <a:rPr lang="es-PE" sz="2400" dirty="0"/>
              <a:t>Ejemplo: Un </a:t>
            </a:r>
            <a:r>
              <a:rPr lang="es-PE" sz="2400" b="1" dirty="0"/>
              <a:t>termopar</a:t>
            </a:r>
            <a:r>
              <a:rPr lang="es-PE" sz="2400" dirty="0"/>
              <a:t> detecta temperatura y genera una diferencia de potencial proporcional.</a:t>
            </a:r>
          </a:p>
        </p:txBody>
      </p:sp>
      <p:sp>
        <p:nvSpPr>
          <p:cNvPr id="2" name="object 2">
            <a:extLst>
              <a:ext uri="{FF2B5EF4-FFF2-40B4-BE49-F238E27FC236}">
                <a16:creationId xmlns:a16="http://schemas.microsoft.com/office/drawing/2014/main" id="{80C36E42-99DA-43D3-9B9F-A3CB56C8E058}"/>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pic>
        <p:nvPicPr>
          <p:cNvPr id="3078" name="Picture 6" descr="3.2 Sensores">
            <a:extLst>
              <a:ext uri="{FF2B5EF4-FFF2-40B4-BE49-F238E27FC236}">
                <a16:creationId xmlns:a16="http://schemas.microsoft.com/office/drawing/2014/main" id="{18E1D4C9-16BE-A7B2-611A-525740B1B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3124200"/>
            <a:ext cx="5400675" cy="3031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631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39267-EB25-9FE0-30E6-5D7286292C0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A7E389B-0A15-191A-8C2B-796B7F568AFC}"/>
              </a:ext>
            </a:extLst>
          </p:cNvPr>
          <p:cNvSpPr txBox="1"/>
          <p:nvPr/>
        </p:nvSpPr>
        <p:spPr>
          <a:xfrm>
            <a:off x="1051356" y="494887"/>
            <a:ext cx="6828901" cy="432307"/>
          </a:xfrm>
          <a:prstGeom prst="rect">
            <a:avLst/>
          </a:prstGeom>
        </p:spPr>
        <p:txBody>
          <a:bodyPr wrap="square" lIns="0" tIns="21431" rIns="0" bIns="0" rtlCol="0">
            <a:noAutofit/>
          </a:bodyPr>
          <a:lstStyle/>
          <a:p>
            <a:pPr marL="12700">
              <a:lnSpc>
                <a:spcPts val="3375"/>
              </a:lnSpc>
            </a:pPr>
            <a:r>
              <a:rPr lang="es-PE" sz="3200" b="1" spc="-4" dirty="0">
                <a:solidFill>
                  <a:srgbClr val="C00000"/>
                </a:solidFill>
                <a:latin typeface="Arial"/>
                <a:cs typeface="Arial"/>
              </a:rPr>
              <a:t>Transductor</a:t>
            </a:r>
            <a:endParaRPr lang="es-PE" sz="3200" dirty="0">
              <a:latin typeface="Arial"/>
              <a:cs typeface="Arial"/>
            </a:endParaRPr>
          </a:p>
        </p:txBody>
      </p:sp>
      <p:sp>
        <p:nvSpPr>
          <p:cNvPr id="3" name="object 3">
            <a:extLst>
              <a:ext uri="{FF2B5EF4-FFF2-40B4-BE49-F238E27FC236}">
                <a16:creationId xmlns:a16="http://schemas.microsoft.com/office/drawing/2014/main" id="{0EE6A554-ACC6-ADB5-1A3B-DC3E6BFA132E}"/>
              </a:ext>
            </a:extLst>
          </p:cNvPr>
          <p:cNvSpPr txBox="1"/>
          <p:nvPr/>
        </p:nvSpPr>
        <p:spPr>
          <a:xfrm>
            <a:off x="1051356" y="1559636"/>
            <a:ext cx="10187739" cy="4328921"/>
          </a:xfrm>
          <a:prstGeom prst="rect">
            <a:avLst/>
          </a:prstGeom>
        </p:spPr>
        <p:txBody>
          <a:bodyPr wrap="square" lIns="0" tIns="14922" rIns="0" bIns="0" rtlCol="0">
            <a:noAutofit/>
          </a:bodyPr>
          <a:lstStyle/>
          <a:p>
            <a:r>
              <a:rPr lang="es-PE" sz="2400" dirty="0"/>
              <a:t>Dispositivo que </a:t>
            </a:r>
            <a:r>
              <a:rPr lang="es-PE" sz="2400" b="1" dirty="0"/>
              <a:t>convierte una forma de energía en otra</a:t>
            </a:r>
            <a:r>
              <a:rPr lang="es-PE" sz="2400" dirty="0"/>
              <a:t>.</a:t>
            </a:r>
            <a:br>
              <a:rPr lang="es-PE" sz="2400" dirty="0"/>
            </a:br>
            <a:r>
              <a:rPr lang="es-PE" sz="2400" dirty="0"/>
              <a:t>Todo sensor es un transductor, pero no todo transductor es un sensor.</a:t>
            </a:r>
          </a:p>
          <a:p>
            <a:r>
              <a:rPr lang="es-PE" sz="2400" dirty="0"/>
              <a:t>Ejemplo: Un </a:t>
            </a:r>
            <a:r>
              <a:rPr lang="es-PE" sz="2400" b="1" dirty="0" err="1"/>
              <a:t>strain</a:t>
            </a:r>
            <a:r>
              <a:rPr lang="es-PE" sz="2400" b="1" dirty="0"/>
              <a:t> gauge</a:t>
            </a:r>
            <a:r>
              <a:rPr lang="es-PE" sz="2400" dirty="0"/>
              <a:t> convierte deformación mecánica en variación de resistencia eléctrica.</a:t>
            </a:r>
          </a:p>
        </p:txBody>
      </p:sp>
      <p:sp>
        <p:nvSpPr>
          <p:cNvPr id="2" name="object 2">
            <a:extLst>
              <a:ext uri="{FF2B5EF4-FFF2-40B4-BE49-F238E27FC236}">
                <a16:creationId xmlns:a16="http://schemas.microsoft.com/office/drawing/2014/main" id="{957AFB58-EB7F-C044-BD6A-65963B5F0513}"/>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pic>
        <p:nvPicPr>
          <p:cNvPr id="6" name="Imagen 5">
            <a:extLst>
              <a:ext uri="{FF2B5EF4-FFF2-40B4-BE49-F238E27FC236}">
                <a16:creationId xmlns:a16="http://schemas.microsoft.com/office/drawing/2014/main" id="{E205891F-AF8D-40FA-7B71-5E01D7A41E03}"/>
              </a:ext>
            </a:extLst>
          </p:cNvPr>
          <p:cNvPicPr>
            <a:picLocks noChangeAspect="1"/>
          </p:cNvPicPr>
          <p:nvPr/>
        </p:nvPicPr>
        <p:blipFill>
          <a:blip r:embed="rId3"/>
          <a:srcRect t="27104"/>
          <a:stretch>
            <a:fillRect/>
          </a:stretch>
        </p:blipFill>
        <p:spPr>
          <a:xfrm>
            <a:off x="1524000" y="3278707"/>
            <a:ext cx="7598900" cy="2609850"/>
          </a:xfrm>
          <a:prstGeom prst="rect">
            <a:avLst/>
          </a:prstGeom>
        </p:spPr>
      </p:pic>
    </p:spTree>
    <p:extLst>
      <p:ext uri="{BB962C8B-B14F-4D97-AF65-F5344CB8AC3E}">
        <p14:creationId xmlns:p14="http://schemas.microsoft.com/office/powerpoint/2010/main" val="451640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4D85E0C0-C477-3D0D-CA87-1EDDA643BF4A}"/>
              </a:ext>
            </a:extLst>
          </p:cNvPr>
          <p:cNvSpPr>
            <a:spLocks noGrp="1" noChangeArrowheads="1"/>
          </p:cNvSpPr>
          <p:nvPr>
            <p:ph type="title"/>
          </p:nvPr>
        </p:nvSpPr>
        <p:spPr/>
        <p:txBody>
          <a:bodyPr/>
          <a:lstStyle/>
          <a:p>
            <a:r>
              <a:rPr lang="es-ES" altLang="es-PE" sz="4000"/>
              <a:t>SENSORES Y TRANSDUCTORES</a:t>
            </a:r>
          </a:p>
        </p:txBody>
      </p:sp>
      <p:sp>
        <p:nvSpPr>
          <p:cNvPr id="177155" name="Rectangle 3">
            <a:extLst>
              <a:ext uri="{FF2B5EF4-FFF2-40B4-BE49-F238E27FC236}">
                <a16:creationId xmlns:a16="http://schemas.microsoft.com/office/drawing/2014/main" id="{7F157C83-095D-32E4-AB47-45D2F20911C5}"/>
              </a:ext>
            </a:extLst>
          </p:cNvPr>
          <p:cNvSpPr>
            <a:spLocks noGrp="1" noChangeArrowheads="1"/>
          </p:cNvSpPr>
          <p:nvPr>
            <p:ph idx="1"/>
          </p:nvPr>
        </p:nvSpPr>
        <p:spPr/>
        <p:txBody>
          <a:bodyPr>
            <a:normAutofit lnSpcReduction="10000"/>
          </a:bodyPr>
          <a:lstStyle/>
          <a:p>
            <a:pPr>
              <a:lnSpc>
                <a:spcPct val="80000"/>
              </a:lnSpc>
            </a:pPr>
            <a:r>
              <a:rPr lang="es-ES" altLang="es-PE" sz="2400" b="1" dirty="0">
                <a:solidFill>
                  <a:srgbClr val="FF0000"/>
                </a:solidFill>
              </a:rPr>
              <a:t>Sensores de posición, distancia y desplazamiento</a:t>
            </a:r>
          </a:p>
          <a:p>
            <a:pPr lvl="1">
              <a:lnSpc>
                <a:spcPct val="80000"/>
              </a:lnSpc>
            </a:pPr>
            <a:r>
              <a:rPr lang="es-ES" altLang="es-PE" sz="2400" b="1" dirty="0"/>
              <a:t>Medida de grandes distancias: radar</a:t>
            </a:r>
          </a:p>
          <a:p>
            <a:pPr lvl="1">
              <a:lnSpc>
                <a:spcPct val="80000"/>
              </a:lnSpc>
            </a:pPr>
            <a:r>
              <a:rPr lang="es-ES" altLang="es-PE" sz="2400" b="1" dirty="0"/>
              <a:t>Medida de distancias cortas: ultrasonidos</a:t>
            </a:r>
          </a:p>
          <a:p>
            <a:pPr lvl="1">
              <a:lnSpc>
                <a:spcPct val="80000"/>
              </a:lnSpc>
            </a:pPr>
            <a:r>
              <a:rPr lang="es-ES" altLang="es-PE" sz="2400" b="1" dirty="0"/>
              <a:t>Medida de pequeños desplazamientos:</a:t>
            </a:r>
          </a:p>
          <a:p>
            <a:pPr lvl="2">
              <a:lnSpc>
                <a:spcPct val="80000"/>
              </a:lnSpc>
            </a:pPr>
            <a:r>
              <a:rPr lang="es-ES_tradnl" altLang="es-PE" dirty="0"/>
              <a:t>Sensores de tipo resistivo:</a:t>
            </a:r>
          </a:p>
          <a:p>
            <a:pPr lvl="3">
              <a:lnSpc>
                <a:spcPct val="80000"/>
              </a:lnSpc>
            </a:pPr>
            <a:r>
              <a:rPr lang="es-ES" altLang="es-PE" dirty="0"/>
              <a:t>Potenciómetro</a:t>
            </a:r>
          </a:p>
          <a:p>
            <a:pPr lvl="3">
              <a:lnSpc>
                <a:spcPct val="80000"/>
              </a:lnSpc>
            </a:pPr>
            <a:r>
              <a:rPr lang="es-ES" altLang="es-PE" dirty="0"/>
              <a:t>Galgas extensiométricas</a:t>
            </a:r>
            <a:endParaRPr lang="es-ES_tradnl" altLang="es-PE" dirty="0"/>
          </a:p>
          <a:p>
            <a:pPr lvl="2">
              <a:lnSpc>
                <a:spcPct val="80000"/>
              </a:lnSpc>
            </a:pPr>
            <a:r>
              <a:rPr lang="es-ES_tradnl" altLang="es-PE" dirty="0"/>
              <a:t>Sensores de tipo inductivo</a:t>
            </a:r>
          </a:p>
          <a:p>
            <a:pPr lvl="2">
              <a:lnSpc>
                <a:spcPct val="80000"/>
              </a:lnSpc>
            </a:pPr>
            <a:r>
              <a:rPr lang="es-ES_tradnl" altLang="es-PE" dirty="0"/>
              <a:t>Sensores de tipo capacitivo </a:t>
            </a:r>
          </a:p>
          <a:p>
            <a:pPr lvl="1">
              <a:lnSpc>
                <a:spcPct val="80000"/>
              </a:lnSpc>
            </a:pPr>
            <a:r>
              <a:rPr lang="es-ES" altLang="es-PE" sz="2400" b="1" dirty="0"/>
              <a:t>Medida de ángulos</a:t>
            </a:r>
          </a:p>
          <a:p>
            <a:pPr lvl="2">
              <a:lnSpc>
                <a:spcPct val="80000"/>
              </a:lnSpc>
            </a:pPr>
            <a:r>
              <a:rPr lang="es-ES_tradnl" altLang="es-PE" dirty="0"/>
              <a:t>Sensores inductivos: resolver</a:t>
            </a:r>
          </a:p>
          <a:p>
            <a:pPr lvl="2">
              <a:lnSpc>
                <a:spcPct val="80000"/>
              </a:lnSpc>
            </a:pPr>
            <a:r>
              <a:rPr lang="es-ES_tradnl" altLang="es-PE" dirty="0"/>
              <a:t>Sensores digitales:</a:t>
            </a:r>
          </a:p>
          <a:p>
            <a:pPr lvl="3">
              <a:lnSpc>
                <a:spcPct val="80000"/>
              </a:lnSpc>
            </a:pPr>
            <a:r>
              <a:rPr lang="es-ES_tradnl" altLang="es-PE" dirty="0"/>
              <a:t>Codificadores incrementales</a:t>
            </a:r>
          </a:p>
          <a:p>
            <a:pPr lvl="3">
              <a:lnSpc>
                <a:spcPct val="80000"/>
              </a:lnSpc>
            </a:pPr>
            <a:r>
              <a:rPr lang="es-ES_tradnl" altLang="es-PE" dirty="0"/>
              <a:t>Codificadores absolutos </a:t>
            </a:r>
            <a:endParaRPr lang="es-ES" altLang="es-PE" dirty="0"/>
          </a:p>
        </p:txBody>
      </p:sp>
      <p:sp>
        <p:nvSpPr>
          <p:cNvPr id="2" name="Marcador de número de diapositiva 4">
            <a:extLst>
              <a:ext uri="{FF2B5EF4-FFF2-40B4-BE49-F238E27FC236}">
                <a16:creationId xmlns:a16="http://schemas.microsoft.com/office/drawing/2014/main" id="{7FBB0307-97AF-1859-1420-2BF9CD73A88C}"/>
              </a:ext>
            </a:extLst>
          </p:cNvPr>
          <p:cNvSpPr>
            <a:spLocks noGrp="1"/>
          </p:cNvSpPr>
          <p:nvPr>
            <p:ph type="sldNum" sz="quarter" idx="4294967295"/>
          </p:nvPr>
        </p:nvSpPr>
        <p:spPr>
          <a:xfrm>
            <a:off x="0" y="0"/>
            <a:ext cx="0" cy="0"/>
          </a:xfrm>
        </p:spPr>
        <p:txBody>
          <a:bodyPr/>
          <a:lstStyle/>
          <a:p>
            <a:fld id="{C941EE0C-17BE-4EFC-B6C7-1A3ACC7F16BA}" type="slidenum">
              <a:rPr lang="es-ES" altLang="es-PE"/>
              <a:pPr/>
              <a:t>14</a:t>
            </a:fld>
            <a:endParaRPr lang="es-ES" altLang="es-P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E1DF366A-EF5A-8775-95A2-CC294E514427}"/>
              </a:ext>
            </a:extLst>
          </p:cNvPr>
          <p:cNvSpPr>
            <a:spLocks noGrp="1" noChangeArrowheads="1"/>
          </p:cNvSpPr>
          <p:nvPr>
            <p:ph type="title"/>
          </p:nvPr>
        </p:nvSpPr>
        <p:spPr/>
        <p:txBody>
          <a:bodyPr/>
          <a:lstStyle/>
          <a:p>
            <a:r>
              <a:rPr lang="es-ES" altLang="es-PE" sz="4000"/>
              <a:t>SENSORES Y TRANSDUCTORES</a:t>
            </a:r>
          </a:p>
        </p:txBody>
      </p:sp>
      <p:sp>
        <p:nvSpPr>
          <p:cNvPr id="178179" name="Rectangle 3">
            <a:extLst>
              <a:ext uri="{FF2B5EF4-FFF2-40B4-BE49-F238E27FC236}">
                <a16:creationId xmlns:a16="http://schemas.microsoft.com/office/drawing/2014/main" id="{43DFF96F-0E73-D9F2-A439-E39601F8BBD8}"/>
              </a:ext>
            </a:extLst>
          </p:cNvPr>
          <p:cNvSpPr>
            <a:spLocks noGrp="1" noChangeArrowheads="1"/>
          </p:cNvSpPr>
          <p:nvPr>
            <p:ph idx="1"/>
          </p:nvPr>
        </p:nvSpPr>
        <p:spPr/>
        <p:txBody>
          <a:bodyPr/>
          <a:lstStyle/>
          <a:p>
            <a:pPr>
              <a:lnSpc>
                <a:spcPct val="80000"/>
              </a:lnSpc>
            </a:pPr>
            <a:r>
              <a:rPr lang="es-ES" altLang="es-PE" sz="2800" b="1" dirty="0"/>
              <a:t>Medida de grandes distancias: radar</a:t>
            </a:r>
          </a:p>
          <a:p>
            <a:r>
              <a:rPr lang="es-ES" altLang="es-PE" sz="1800" b="1" dirty="0"/>
              <a:t>Miden señales a distancias entre 100 metros y 10 Kilómetros.</a:t>
            </a:r>
          </a:p>
          <a:p>
            <a:r>
              <a:rPr lang="es-ES" altLang="es-PE" sz="1800" b="1" dirty="0"/>
              <a:t>El radar es básicamente un transmisor de radiaciones electromagnéticas a frecuencia muy elevada (5-20KHz) generadas por un oscilador modular a impulsos.</a:t>
            </a:r>
          </a:p>
          <a:p>
            <a:r>
              <a:rPr lang="es-ES" altLang="es-PE" sz="1800" b="1" dirty="0"/>
              <a:t>Estas radiaciones son emitidas por una antena y un receptor amplifica los ecos recibidos del objeto cuya distancia se desea medir.</a:t>
            </a:r>
          </a:p>
          <a:p>
            <a:r>
              <a:rPr lang="es-ES" altLang="es-PE" sz="1800" b="1" dirty="0"/>
              <a:t>Esta distancia se puede calcular como:</a:t>
            </a:r>
          </a:p>
          <a:p>
            <a:endParaRPr lang="es-ES" altLang="es-PE" sz="1800" b="1" dirty="0"/>
          </a:p>
          <a:p>
            <a:endParaRPr lang="es-ES" altLang="es-PE" sz="1800" b="1" dirty="0"/>
          </a:p>
          <a:p>
            <a:endParaRPr lang="es-ES" altLang="es-PE" sz="1800" b="1" dirty="0"/>
          </a:p>
          <a:p>
            <a:endParaRPr lang="es-ES" altLang="es-PE" sz="1800" b="1" dirty="0"/>
          </a:p>
          <a:p>
            <a:r>
              <a:rPr lang="es-ES" altLang="es-PE" sz="1800" b="1" dirty="0"/>
              <a:t>El tiempo es de ida y vuelta, por tanto hay que dividirlo entre dos.</a:t>
            </a:r>
          </a:p>
        </p:txBody>
      </p:sp>
      <p:sp>
        <p:nvSpPr>
          <p:cNvPr id="2" name="Marcador de número de diapositiva 4">
            <a:extLst>
              <a:ext uri="{FF2B5EF4-FFF2-40B4-BE49-F238E27FC236}">
                <a16:creationId xmlns:a16="http://schemas.microsoft.com/office/drawing/2014/main" id="{446CE432-FE44-0B96-635D-34FF840AEF39}"/>
              </a:ext>
            </a:extLst>
          </p:cNvPr>
          <p:cNvSpPr>
            <a:spLocks noGrp="1"/>
          </p:cNvSpPr>
          <p:nvPr>
            <p:ph type="sldNum" sz="quarter" idx="4294967295"/>
          </p:nvPr>
        </p:nvSpPr>
        <p:spPr>
          <a:xfrm>
            <a:off x="0" y="0"/>
            <a:ext cx="0" cy="0"/>
          </a:xfrm>
        </p:spPr>
        <p:txBody>
          <a:bodyPr/>
          <a:lstStyle/>
          <a:p>
            <a:fld id="{88B378BC-D60F-4DC9-8AEA-3DE91A3A2140}" type="slidenum">
              <a:rPr lang="es-ES" altLang="es-PE"/>
              <a:pPr/>
              <a:t>15</a:t>
            </a:fld>
            <a:endParaRPr lang="es-ES" altLang="es-PE"/>
          </a:p>
        </p:txBody>
      </p:sp>
      <p:sp>
        <p:nvSpPr>
          <p:cNvPr id="178181" name="Rectangle 5">
            <a:extLst>
              <a:ext uri="{FF2B5EF4-FFF2-40B4-BE49-F238E27FC236}">
                <a16:creationId xmlns:a16="http://schemas.microsoft.com/office/drawing/2014/main" id="{EF45D7ED-39FC-F52F-BE05-D9CA7DCCD6F5}"/>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78180" name="Object 4">
            <a:extLst>
              <a:ext uri="{FF2B5EF4-FFF2-40B4-BE49-F238E27FC236}">
                <a16:creationId xmlns:a16="http://schemas.microsoft.com/office/drawing/2014/main" id="{3089F92B-8A99-183B-9AF1-06E1109F60E9}"/>
              </a:ext>
            </a:extLst>
          </p:cNvPr>
          <p:cNvGraphicFramePr>
            <a:graphicFrameLocks noChangeAspect="1"/>
          </p:cNvGraphicFramePr>
          <p:nvPr>
            <p:extLst>
              <p:ext uri="{D42A27DB-BD31-4B8C-83A1-F6EECF244321}">
                <p14:modId xmlns:p14="http://schemas.microsoft.com/office/powerpoint/2010/main" val="2509711452"/>
              </p:ext>
            </p:extLst>
          </p:nvPr>
        </p:nvGraphicFramePr>
        <p:xfrm>
          <a:off x="2209800" y="4038600"/>
          <a:ext cx="1439862" cy="968375"/>
        </p:xfrm>
        <a:graphic>
          <a:graphicData uri="http://schemas.openxmlformats.org/presentationml/2006/ole">
            <mc:AlternateContent xmlns:mc="http://schemas.openxmlformats.org/markup-compatibility/2006">
              <mc:Choice xmlns:v="urn:schemas-microsoft-com:vml" Requires="v">
                <p:oleObj name="Ecuación" r:id="rId2" imgW="583947" imgH="393529" progId="Equation.3">
                  <p:embed/>
                </p:oleObj>
              </mc:Choice>
              <mc:Fallback>
                <p:oleObj name="Ecuación" r:id="rId2" imgW="583947" imgH="393529" progId="Equation.3">
                  <p:embed/>
                  <p:pic>
                    <p:nvPicPr>
                      <p:cNvPr id="178180" name="Object 4">
                        <a:extLst>
                          <a:ext uri="{FF2B5EF4-FFF2-40B4-BE49-F238E27FC236}">
                            <a16:creationId xmlns:a16="http://schemas.microsoft.com/office/drawing/2014/main" id="{3089F92B-8A99-183B-9AF1-06E1109F6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4038600"/>
                        <a:ext cx="1439862"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8183" name="Rectangle 7">
            <a:extLst>
              <a:ext uri="{FF2B5EF4-FFF2-40B4-BE49-F238E27FC236}">
                <a16:creationId xmlns:a16="http://schemas.microsoft.com/office/drawing/2014/main" id="{10E203D9-CF19-957C-AF76-8B8E68EFDEE5}"/>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78182" name="Object 6">
            <a:extLst>
              <a:ext uri="{FF2B5EF4-FFF2-40B4-BE49-F238E27FC236}">
                <a16:creationId xmlns:a16="http://schemas.microsoft.com/office/drawing/2014/main" id="{0463DC3D-D1FA-DF10-9756-DF992A75468C}"/>
              </a:ext>
            </a:extLst>
          </p:cNvPr>
          <p:cNvGraphicFramePr>
            <a:graphicFrameLocks noChangeAspect="1"/>
          </p:cNvGraphicFramePr>
          <p:nvPr>
            <p:extLst>
              <p:ext uri="{D42A27DB-BD31-4B8C-83A1-F6EECF244321}">
                <p14:modId xmlns:p14="http://schemas.microsoft.com/office/powerpoint/2010/main" val="1107067383"/>
              </p:ext>
            </p:extLst>
          </p:nvPr>
        </p:nvGraphicFramePr>
        <p:xfrm>
          <a:off x="4275931" y="4156074"/>
          <a:ext cx="6372225" cy="733425"/>
        </p:xfrm>
        <a:graphic>
          <a:graphicData uri="http://schemas.openxmlformats.org/presentationml/2006/ole">
            <mc:AlternateContent xmlns:mc="http://schemas.openxmlformats.org/markup-compatibility/2006">
              <mc:Choice xmlns:v="urn:schemas-microsoft-com:vml" Requires="v">
                <p:oleObj name="Ecuación" r:id="rId4" imgW="5715000" imgH="660400" progId="Equation.3">
                  <p:embed/>
                </p:oleObj>
              </mc:Choice>
              <mc:Fallback>
                <p:oleObj name="Ecuación" r:id="rId4" imgW="5715000" imgH="660400" progId="Equation.3">
                  <p:embed/>
                  <p:pic>
                    <p:nvPicPr>
                      <p:cNvPr id="178182" name="Object 6">
                        <a:extLst>
                          <a:ext uri="{FF2B5EF4-FFF2-40B4-BE49-F238E27FC236}">
                            <a16:creationId xmlns:a16="http://schemas.microsoft.com/office/drawing/2014/main" id="{0463DC3D-D1FA-DF10-9756-DF992A7546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5931" y="4156074"/>
                        <a:ext cx="6372225"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C6FC4F68-A577-05C0-EBA5-FDAA867178FC}"/>
              </a:ext>
            </a:extLst>
          </p:cNvPr>
          <p:cNvSpPr>
            <a:spLocks noGrp="1" noChangeArrowheads="1"/>
          </p:cNvSpPr>
          <p:nvPr>
            <p:ph type="title"/>
          </p:nvPr>
        </p:nvSpPr>
        <p:spPr/>
        <p:txBody>
          <a:bodyPr/>
          <a:lstStyle/>
          <a:p>
            <a:r>
              <a:rPr lang="es-ES" altLang="es-PE" sz="4000"/>
              <a:t>SENSORES Y TRANSDUCTORES</a:t>
            </a:r>
          </a:p>
        </p:txBody>
      </p:sp>
      <p:sp>
        <p:nvSpPr>
          <p:cNvPr id="179203" name="Rectangle 3">
            <a:extLst>
              <a:ext uri="{FF2B5EF4-FFF2-40B4-BE49-F238E27FC236}">
                <a16:creationId xmlns:a16="http://schemas.microsoft.com/office/drawing/2014/main" id="{0C8F5A60-14E5-93E4-4E7F-058BF6899FE6}"/>
              </a:ext>
            </a:extLst>
          </p:cNvPr>
          <p:cNvSpPr>
            <a:spLocks noGrp="1" noChangeArrowheads="1"/>
          </p:cNvSpPr>
          <p:nvPr>
            <p:ph idx="1"/>
          </p:nvPr>
        </p:nvSpPr>
        <p:spPr/>
        <p:txBody>
          <a:bodyPr/>
          <a:lstStyle/>
          <a:p>
            <a:pPr>
              <a:lnSpc>
                <a:spcPct val="80000"/>
              </a:lnSpc>
            </a:pPr>
            <a:r>
              <a:rPr lang="es-ES" altLang="es-PE" sz="2800" b="1" dirty="0"/>
              <a:t>Medida de distancias cortas: ultrasonidos</a:t>
            </a:r>
          </a:p>
          <a:p>
            <a:pPr lvl="1">
              <a:lnSpc>
                <a:spcPct val="80000"/>
              </a:lnSpc>
            </a:pPr>
            <a:r>
              <a:rPr lang="es-ES" altLang="es-PE" sz="2400" dirty="0"/>
              <a:t>Sensores que miden distancias entre 1 centímetro y 10 metros</a:t>
            </a:r>
            <a:r>
              <a:rPr lang="es-ES_tradnl" altLang="es-PE" dirty="0"/>
              <a:t> </a:t>
            </a:r>
          </a:p>
          <a:p>
            <a:pPr lvl="1">
              <a:lnSpc>
                <a:spcPct val="80000"/>
              </a:lnSpc>
            </a:pPr>
            <a:endParaRPr lang="es-ES" altLang="es-PE" dirty="0"/>
          </a:p>
          <a:p>
            <a:pPr lvl="1">
              <a:lnSpc>
                <a:spcPct val="80000"/>
              </a:lnSpc>
            </a:pPr>
            <a:endParaRPr lang="es-ES" altLang="es-PE" dirty="0"/>
          </a:p>
          <a:p>
            <a:pPr lvl="1">
              <a:lnSpc>
                <a:spcPct val="80000"/>
              </a:lnSpc>
            </a:pPr>
            <a:endParaRPr lang="es-ES" altLang="es-PE" dirty="0"/>
          </a:p>
          <a:p>
            <a:pPr lvl="1">
              <a:lnSpc>
                <a:spcPct val="80000"/>
              </a:lnSpc>
            </a:pPr>
            <a:endParaRPr lang="es-ES" altLang="es-PE" dirty="0"/>
          </a:p>
          <a:p>
            <a:pPr lvl="1">
              <a:lnSpc>
                <a:spcPct val="80000"/>
              </a:lnSpc>
            </a:pPr>
            <a:endParaRPr lang="es-ES" altLang="es-PE" dirty="0"/>
          </a:p>
          <a:p>
            <a:pPr lvl="1">
              <a:lnSpc>
                <a:spcPct val="80000"/>
              </a:lnSpc>
              <a:buFont typeface="Wingdings" panose="05000000000000000000" pitchFamily="2" charset="2"/>
              <a:buNone/>
            </a:pPr>
            <a:endParaRPr lang="es-ES" altLang="es-PE" dirty="0"/>
          </a:p>
          <a:p>
            <a:pPr lvl="1">
              <a:lnSpc>
                <a:spcPct val="80000"/>
              </a:lnSpc>
            </a:pPr>
            <a:r>
              <a:rPr lang="es-ES" altLang="es-PE" sz="2400" dirty="0"/>
              <a:t>Los ultrasonidos son radiaciones mecánicas de frecuencia superior a las audibles (20KHz). Toda radiación, al incidir sobre un objeto, en parte se refleja, en parte se transmite y en parte es absorbida.</a:t>
            </a:r>
          </a:p>
        </p:txBody>
      </p:sp>
      <p:sp>
        <p:nvSpPr>
          <p:cNvPr id="2" name="Marcador de número de diapositiva 4">
            <a:extLst>
              <a:ext uri="{FF2B5EF4-FFF2-40B4-BE49-F238E27FC236}">
                <a16:creationId xmlns:a16="http://schemas.microsoft.com/office/drawing/2014/main" id="{71AA055F-7DE7-D2E3-E6FC-B4C001871DD2}"/>
              </a:ext>
            </a:extLst>
          </p:cNvPr>
          <p:cNvSpPr>
            <a:spLocks noGrp="1"/>
          </p:cNvSpPr>
          <p:nvPr>
            <p:ph type="sldNum" sz="quarter" idx="4294967295"/>
          </p:nvPr>
        </p:nvSpPr>
        <p:spPr>
          <a:xfrm>
            <a:off x="0" y="0"/>
            <a:ext cx="0" cy="0"/>
          </a:xfrm>
        </p:spPr>
        <p:txBody>
          <a:bodyPr/>
          <a:lstStyle/>
          <a:p>
            <a:fld id="{3E13C0C9-13AC-461B-B97E-C240F72F673D}" type="slidenum">
              <a:rPr lang="es-ES" altLang="es-PE"/>
              <a:pPr/>
              <a:t>16</a:t>
            </a:fld>
            <a:endParaRPr lang="es-ES" altLang="es-PE"/>
          </a:p>
        </p:txBody>
      </p:sp>
      <p:sp>
        <p:nvSpPr>
          <p:cNvPr id="179205" name="Rectangle 5">
            <a:extLst>
              <a:ext uri="{FF2B5EF4-FFF2-40B4-BE49-F238E27FC236}">
                <a16:creationId xmlns:a16="http://schemas.microsoft.com/office/drawing/2014/main" id="{43C6CF48-5CA0-B1D1-972A-FEAFE4A30D48}"/>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pSp>
        <p:nvGrpSpPr>
          <p:cNvPr id="179206" name="Group 6">
            <a:extLst>
              <a:ext uri="{FF2B5EF4-FFF2-40B4-BE49-F238E27FC236}">
                <a16:creationId xmlns:a16="http://schemas.microsoft.com/office/drawing/2014/main" id="{9F109FAB-7935-EBB9-78B7-8C6F0E585680}"/>
              </a:ext>
            </a:extLst>
          </p:cNvPr>
          <p:cNvGrpSpPr>
            <a:grpSpLocks/>
          </p:cNvGrpSpPr>
          <p:nvPr/>
        </p:nvGrpSpPr>
        <p:grpSpPr bwMode="auto">
          <a:xfrm>
            <a:off x="3733800" y="2241657"/>
            <a:ext cx="6408738" cy="2160587"/>
            <a:chOff x="3501" y="1418"/>
            <a:chExt cx="7200" cy="2700"/>
          </a:xfrm>
        </p:grpSpPr>
        <p:grpSp>
          <p:nvGrpSpPr>
            <p:cNvPr id="179207" name="Group 7">
              <a:extLst>
                <a:ext uri="{FF2B5EF4-FFF2-40B4-BE49-F238E27FC236}">
                  <a16:creationId xmlns:a16="http://schemas.microsoft.com/office/drawing/2014/main" id="{3234CB6F-9B98-7E64-8D81-E83263AF5E7F}"/>
                </a:ext>
              </a:extLst>
            </p:cNvPr>
            <p:cNvGrpSpPr>
              <a:grpSpLocks/>
            </p:cNvGrpSpPr>
            <p:nvPr/>
          </p:nvGrpSpPr>
          <p:grpSpPr bwMode="auto">
            <a:xfrm flipH="1">
              <a:off x="3501" y="1598"/>
              <a:ext cx="480" cy="540"/>
              <a:chOff x="2181" y="1778"/>
              <a:chExt cx="480" cy="540"/>
            </a:xfrm>
          </p:grpSpPr>
          <p:sp>
            <p:nvSpPr>
              <p:cNvPr id="179208" name="Rectangle 8">
                <a:extLst>
                  <a:ext uri="{FF2B5EF4-FFF2-40B4-BE49-F238E27FC236}">
                    <a16:creationId xmlns:a16="http://schemas.microsoft.com/office/drawing/2014/main" id="{18291E3C-9801-D957-356F-69827F9D99C1}"/>
                  </a:ext>
                </a:extLst>
              </p:cNvPr>
              <p:cNvSpPr>
                <a:spLocks noChangeArrowheads="1"/>
              </p:cNvSpPr>
              <p:nvPr/>
            </p:nvSpPr>
            <p:spPr bwMode="auto">
              <a:xfrm>
                <a:off x="2181" y="1958"/>
                <a:ext cx="240" cy="180"/>
              </a:xfrm>
              <a:prstGeom prst="rect">
                <a:avLst/>
              </a:prstGeom>
              <a:solidFill>
                <a:srgbClr val="FFFFFF"/>
              </a:solidFill>
              <a:ln w="9525">
                <a:solidFill>
                  <a:srgbClr val="000000"/>
                </a:solidFill>
                <a:miter lim="800000"/>
                <a:headEnd/>
                <a:tailEnd/>
              </a:ln>
            </p:spPr>
            <p:txBody>
              <a:bodyPr/>
              <a:lstStyle/>
              <a:p>
                <a:endParaRPr lang="es-PE"/>
              </a:p>
            </p:txBody>
          </p:sp>
          <p:sp>
            <p:nvSpPr>
              <p:cNvPr id="179209" name="Line 9">
                <a:extLst>
                  <a:ext uri="{FF2B5EF4-FFF2-40B4-BE49-F238E27FC236}">
                    <a16:creationId xmlns:a16="http://schemas.microsoft.com/office/drawing/2014/main" id="{0A0ECBF8-DFA2-51D8-6BC5-1B0E9245F516}"/>
                  </a:ext>
                </a:extLst>
              </p:cNvPr>
              <p:cNvSpPr>
                <a:spLocks noChangeShapeType="1"/>
              </p:cNvSpPr>
              <p:nvPr/>
            </p:nvSpPr>
            <p:spPr bwMode="auto">
              <a:xfrm flipV="1">
                <a:off x="2421" y="1778"/>
                <a:ext cx="24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10" name="Line 10">
                <a:extLst>
                  <a:ext uri="{FF2B5EF4-FFF2-40B4-BE49-F238E27FC236}">
                    <a16:creationId xmlns:a16="http://schemas.microsoft.com/office/drawing/2014/main" id="{F24C5341-392C-3A67-88C4-50E82E656784}"/>
                  </a:ext>
                </a:extLst>
              </p:cNvPr>
              <p:cNvSpPr>
                <a:spLocks noChangeShapeType="1"/>
              </p:cNvSpPr>
              <p:nvPr/>
            </p:nvSpPr>
            <p:spPr bwMode="auto">
              <a:xfrm>
                <a:off x="2421" y="2138"/>
                <a:ext cx="24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11" name="Line 11">
                <a:extLst>
                  <a:ext uri="{FF2B5EF4-FFF2-40B4-BE49-F238E27FC236}">
                    <a16:creationId xmlns:a16="http://schemas.microsoft.com/office/drawing/2014/main" id="{13F4F66E-601C-D0D6-08A9-F5BFBCBB6E0B}"/>
                  </a:ext>
                </a:extLst>
              </p:cNvPr>
              <p:cNvSpPr>
                <a:spLocks noChangeShapeType="1"/>
              </p:cNvSpPr>
              <p:nvPr/>
            </p:nvSpPr>
            <p:spPr bwMode="auto">
              <a:xfrm>
                <a:off x="2661" y="1778"/>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grpSp>
        <p:grpSp>
          <p:nvGrpSpPr>
            <p:cNvPr id="179212" name="Group 12">
              <a:extLst>
                <a:ext uri="{FF2B5EF4-FFF2-40B4-BE49-F238E27FC236}">
                  <a16:creationId xmlns:a16="http://schemas.microsoft.com/office/drawing/2014/main" id="{500800EB-9811-40E8-5EA5-838F1082120A}"/>
                </a:ext>
              </a:extLst>
            </p:cNvPr>
            <p:cNvGrpSpPr>
              <a:grpSpLocks/>
            </p:cNvGrpSpPr>
            <p:nvPr/>
          </p:nvGrpSpPr>
          <p:grpSpPr bwMode="auto">
            <a:xfrm flipH="1">
              <a:off x="3501" y="2678"/>
              <a:ext cx="480" cy="540"/>
              <a:chOff x="2181" y="1778"/>
              <a:chExt cx="480" cy="540"/>
            </a:xfrm>
          </p:grpSpPr>
          <p:sp>
            <p:nvSpPr>
              <p:cNvPr id="179213" name="Rectangle 13">
                <a:extLst>
                  <a:ext uri="{FF2B5EF4-FFF2-40B4-BE49-F238E27FC236}">
                    <a16:creationId xmlns:a16="http://schemas.microsoft.com/office/drawing/2014/main" id="{68F55078-C842-E673-EDF2-F7015E3FB292}"/>
                  </a:ext>
                </a:extLst>
              </p:cNvPr>
              <p:cNvSpPr>
                <a:spLocks noChangeArrowheads="1"/>
              </p:cNvSpPr>
              <p:nvPr/>
            </p:nvSpPr>
            <p:spPr bwMode="auto">
              <a:xfrm>
                <a:off x="2181" y="1958"/>
                <a:ext cx="240" cy="180"/>
              </a:xfrm>
              <a:prstGeom prst="rect">
                <a:avLst/>
              </a:prstGeom>
              <a:solidFill>
                <a:srgbClr val="FFFFFF"/>
              </a:solidFill>
              <a:ln w="9525">
                <a:solidFill>
                  <a:srgbClr val="000000"/>
                </a:solidFill>
                <a:miter lim="800000"/>
                <a:headEnd/>
                <a:tailEnd/>
              </a:ln>
            </p:spPr>
            <p:txBody>
              <a:bodyPr/>
              <a:lstStyle/>
              <a:p>
                <a:endParaRPr lang="es-PE"/>
              </a:p>
            </p:txBody>
          </p:sp>
          <p:sp>
            <p:nvSpPr>
              <p:cNvPr id="179214" name="Line 14">
                <a:extLst>
                  <a:ext uri="{FF2B5EF4-FFF2-40B4-BE49-F238E27FC236}">
                    <a16:creationId xmlns:a16="http://schemas.microsoft.com/office/drawing/2014/main" id="{C3C9F5BD-AC9E-6F80-7EE5-69716FE4D23C}"/>
                  </a:ext>
                </a:extLst>
              </p:cNvPr>
              <p:cNvSpPr>
                <a:spLocks noChangeShapeType="1"/>
              </p:cNvSpPr>
              <p:nvPr/>
            </p:nvSpPr>
            <p:spPr bwMode="auto">
              <a:xfrm flipV="1">
                <a:off x="2421" y="1778"/>
                <a:ext cx="24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15" name="Line 15">
                <a:extLst>
                  <a:ext uri="{FF2B5EF4-FFF2-40B4-BE49-F238E27FC236}">
                    <a16:creationId xmlns:a16="http://schemas.microsoft.com/office/drawing/2014/main" id="{AB60C2EC-AFE3-AEF0-5CCA-7323B662C4A5}"/>
                  </a:ext>
                </a:extLst>
              </p:cNvPr>
              <p:cNvSpPr>
                <a:spLocks noChangeShapeType="1"/>
              </p:cNvSpPr>
              <p:nvPr/>
            </p:nvSpPr>
            <p:spPr bwMode="auto">
              <a:xfrm>
                <a:off x="2421" y="2138"/>
                <a:ext cx="24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16" name="Line 16">
                <a:extLst>
                  <a:ext uri="{FF2B5EF4-FFF2-40B4-BE49-F238E27FC236}">
                    <a16:creationId xmlns:a16="http://schemas.microsoft.com/office/drawing/2014/main" id="{CFB17B63-2AFF-179A-DE43-1C81C86882BA}"/>
                  </a:ext>
                </a:extLst>
              </p:cNvPr>
              <p:cNvSpPr>
                <a:spLocks noChangeShapeType="1"/>
              </p:cNvSpPr>
              <p:nvPr/>
            </p:nvSpPr>
            <p:spPr bwMode="auto">
              <a:xfrm>
                <a:off x="2661" y="1778"/>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grpSp>
        <p:sp>
          <p:nvSpPr>
            <p:cNvPr id="179217" name="Text Box 17">
              <a:extLst>
                <a:ext uri="{FF2B5EF4-FFF2-40B4-BE49-F238E27FC236}">
                  <a16:creationId xmlns:a16="http://schemas.microsoft.com/office/drawing/2014/main" id="{B5567BD8-ADBB-B486-2C2B-A09BA98368A8}"/>
                </a:ext>
              </a:extLst>
            </p:cNvPr>
            <p:cNvSpPr txBox="1">
              <a:spLocks noChangeArrowheads="1"/>
            </p:cNvSpPr>
            <p:nvPr/>
          </p:nvSpPr>
          <p:spPr bwMode="auto">
            <a:xfrm>
              <a:off x="4341" y="1418"/>
              <a:ext cx="1440" cy="720"/>
            </a:xfrm>
            <a:prstGeom prst="rect">
              <a:avLst/>
            </a:prstGeom>
            <a:solidFill>
              <a:srgbClr val="FFFFFF"/>
            </a:solidFill>
            <a:ln w="9525">
              <a:solidFill>
                <a:srgbClr val="000000"/>
              </a:solidFill>
              <a:miter lim="800000"/>
              <a:headEnd/>
              <a:tailEnd/>
            </a:ln>
          </p:spPr>
          <p:txBody>
            <a:bodyPr/>
            <a:lstStyle/>
            <a:p>
              <a:r>
                <a:rPr lang="es-ES_tradnl" altLang="es-PE" sz="1200"/>
                <a:t>Transmisor</a:t>
              </a:r>
              <a:endParaRPr lang="es-ES_tradnl" altLang="es-PE"/>
            </a:p>
          </p:txBody>
        </p:sp>
        <p:sp>
          <p:nvSpPr>
            <p:cNvPr id="179218" name="Text Box 18">
              <a:extLst>
                <a:ext uri="{FF2B5EF4-FFF2-40B4-BE49-F238E27FC236}">
                  <a16:creationId xmlns:a16="http://schemas.microsoft.com/office/drawing/2014/main" id="{85023E44-746B-9CFE-1BFB-5CF0AD0ADC65}"/>
                </a:ext>
              </a:extLst>
            </p:cNvPr>
            <p:cNvSpPr txBox="1">
              <a:spLocks noChangeArrowheads="1"/>
            </p:cNvSpPr>
            <p:nvPr/>
          </p:nvSpPr>
          <p:spPr bwMode="auto">
            <a:xfrm>
              <a:off x="4341" y="2678"/>
              <a:ext cx="1440" cy="720"/>
            </a:xfrm>
            <a:prstGeom prst="rect">
              <a:avLst/>
            </a:prstGeom>
            <a:solidFill>
              <a:srgbClr val="FFFFFF"/>
            </a:solidFill>
            <a:ln w="9525">
              <a:solidFill>
                <a:srgbClr val="000000"/>
              </a:solidFill>
              <a:miter lim="800000"/>
              <a:headEnd/>
              <a:tailEnd/>
            </a:ln>
          </p:spPr>
          <p:txBody>
            <a:bodyPr/>
            <a:lstStyle/>
            <a:p>
              <a:r>
                <a:rPr lang="es-ES_tradnl" altLang="es-PE" sz="1200"/>
                <a:t>Receptor</a:t>
              </a:r>
              <a:endParaRPr lang="es-ES_tradnl" altLang="es-PE"/>
            </a:p>
          </p:txBody>
        </p:sp>
        <p:sp>
          <p:nvSpPr>
            <p:cNvPr id="179219" name="Text Box 19">
              <a:extLst>
                <a:ext uri="{FF2B5EF4-FFF2-40B4-BE49-F238E27FC236}">
                  <a16:creationId xmlns:a16="http://schemas.microsoft.com/office/drawing/2014/main" id="{09C8CBE6-DA67-91CA-2CF2-94CEF9E67459}"/>
                </a:ext>
              </a:extLst>
            </p:cNvPr>
            <p:cNvSpPr txBox="1">
              <a:spLocks noChangeArrowheads="1"/>
            </p:cNvSpPr>
            <p:nvPr/>
          </p:nvSpPr>
          <p:spPr bwMode="auto">
            <a:xfrm>
              <a:off x="6261" y="1418"/>
              <a:ext cx="1440" cy="720"/>
            </a:xfrm>
            <a:prstGeom prst="rect">
              <a:avLst/>
            </a:prstGeom>
            <a:solidFill>
              <a:srgbClr val="FFFFFF"/>
            </a:solidFill>
            <a:ln w="9525">
              <a:solidFill>
                <a:srgbClr val="000000"/>
              </a:solidFill>
              <a:miter lim="800000"/>
              <a:headEnd/>
              <a:tailEnd/>
            </a:ln>
          </p:spPr>
          <p:txBody>
            <a:bodyPr/>
            <a:lstStyle/>
            <a:p>
              <a:r>
                <a:rPr lang="es-ES_tradnl" altLang="es-PE" sz="1200"/>
                <a:t>Generador de pulsos</a:t>
              </a:r>
              <a:endParaRPr lang="es-ES_tradnl" altLang="es-PE"/>
            </a:p>
          </p:txBody>
        </p:sp>
        <p:sp>
          <p:nvSpPr>
            <p:cNvPr id="179220" name="Text Box 20">
              <a:extLst>
                <a:ext uri="{FF2B5EF4-FFF2-40B4-BE49-F238E27FC236}">
                  <a16:creationId xmlns:a16="http://schemas.microsoft.com/office/drawing/2014/main" id="{A61E84D3-DFBC-21F9-00E1-E747AA1D1DD1}"/>
                </a:ext>
              </a:extLst>
            </p:cNvPr>
            <p:cNvSpPr txBox="1">
              <a:spLocks noChangeArrowheads="1"/>
            </p:cNvSpPr>
            <p:nvPr/>
          </p:nvSpPr>
          <p:spPr bwMode="auto">
            <a:xfrm>
              <a:off x="6261" y="2678"/>
              <a:ext cx="1440" cy="720"/>
            </a:xfrm>
            <a:prstGeom prst="rect">
              <a:avLst/>
            </a:prstGeom>
            <a:solidFill>
              <a:srgbClr val="FFFFFF"/>
            </a:solidFill>
            <a:ln w="9525">
              <a:solidFill>
                <a:srgbClr val="000000"/>
              </a:solidFill>
              <a:miter lim="800000"/>
              <a:headEnd/>
              <a:tailEnd/>
            </a:ln>
          </p:spPr>
          <p:txBody>
            <a:bodyPr/>
            <a:lstStyle/>
            <a:p>
              <a:r>
                <a:rPr lang="es-ES_tradnl" altLang="es-PE" sz="1200"/>
                <a:t>Detector</a:t>
              </a:r>
              <a:endParaRPr lang="es-ES_tradnl" altLang="es-PE"/>
            </a:p>
          </p:txBody>
        </p:sp>
        <p:sp>
          <p:nvSpPr>
            <p:cNvPr id="179221" name="Text Box 21">
              <a:extLst>
                <a:ext uri="{FF2B5EF4-FFF2-40B4-BE49-F238E27FC236}">
                  <a16:creationId xmlns:a16="http://schemas.microsoft.com/office/drawing/2014/main" id="{8293286B-30F6-D0AD-E32C-67C478FF8E46}"/>
                </a:ext>
              </a:extLst>
            </p:cNvPr>
            <p:cNvSpPr txBox="1">
              <a:spLocks noChangeArrowheads="1"/>
            </p:cNvSpPr>
            <p:nvPr/>
          </p:nvSpPr>
          <p:spPr bwMode="auto">
            <a:xfrm>
              <a:off x="9741" y="1418"/>
              <a:ext cx="600" cy="1080"/>
            </a:xfrm>
            <a:prstGeom prst="rect">
              <a:avLst/>
            </a:prstGeom>
            <a:solidFill>
              <a:srgbClr val="FFFFFF"/>
            </a:solidFill>
            <a:ln w="9525">
              <a:solidFill>
                <a:srgbClr val="000000"/>
              </a:solidFill>
              <a:miter lim="800000"/>
              <a:headEnd/>
              <a:tailEnd/>
            </a:ln>
          </p:spPr>
          <p:txBody>
            <a:bodyPr/>
            <a:lstStyle/>
            <a:p>
              <a:r>
                <a:rPr lang="es-ES_tradnl" altLang="es-PE" sz="1200"/>
                <a:t>Contador</a:t>
              </a:r>
              <a:endParaRPr lang="es-ES_tradnl" altLang="es-PE"/>
            </a:p>
          </p:txBody>
        </p:sp>
        <p:sp>
          <p:nvSpPr>
            <p:cNvPr id="179222" name="Rectangle 22">
              <a:extLst>
                <a:ext uri="{FF2B5EF4-FFF2-40B4-BE49-F238E27FC236}">
                  <a16:creationId xmlns:a16="http://schemas.microsoft.com/office/drawing/2014/main" id="{FC54AC00-84E6-06D5-B7E6-8FBA6B35D99A}"/>
                </a:ext>
              </a:extLst>
            </p:cNvPr>
            <p:cNvSpPr>
              <a:spLocks noChangeArrowheads="1"/>
            </p:cNvSpPr>
            <p:nvPr/>
          </p:nvSpPr>
          <p:spPr bwMode="auto">
            <a:xfrm>
              <a:off x="8181" y="1418"/>
              <a:ext cx="720" cy="720"/>
            </a:xfrm>
            <a:prstGeom prst="rect">
              <a:avLst/>
            </a:prstGeom>
            <a:solidFill>
              <a:srgbClr val="FFFFFF"/>
            </a:solidFill>
            <a:ln w="9525">
              <a:solidFill>
                <a:srgbClr val="000000"/>
              </a:solidFill>
              <a:miter lim="800000"/>
              <a:headEnd/>
              <a:tailEnd/>
            </a:ln>
          </p:spPr>
          <p:txBody>
            <a:bodyPr/>
            <a:lstStyle/>
            <a:p>
              <a:endParaRPr lang="es-PE"/>
            </a:p>
          </p:txBody>
        </p:sp>
        <p:sp>
          <p:nvSpPr>
            <p:cNvPr id="179223" name="Oval 23">
              <a:extLst>
                <a:ext uri="{FF2B5EF4-FFF2-40B4-BE49-F238E27FC236}">
                  <a16:creationId xmlns:a16="http://schemas.microsoft.com/office/drawing/2014/main" id="{79C433A0-1256-B826-3C2E-86F555FE9042}"/>
                </a:ext>
              </a:extLst>
            </p:cNvPr>
            <p:cNvSpPr>
              <a:spLocks noChangeArrowheads="1"/>
            </p:cNvSpPr>
            <p:nvPr/>
          </p:nvSpPr>
          <p:spPr bwMode="auto">
            <a:xfrm>
              <a:off x="8301" y="1478"/>
              <a:ext cx="480" cy="540"/>
            </a:xfrm>
            <a:prstGeom prst="ellipse">
              <a:avLst/>
            </a:prstGeom>
            <a:solidFill>
              <a:srgbClr val="FFFFFF"/>
            </a:solidFill>
            <a:ln w="9525">
              <a:solidFill>
                <a:srgbClr val="000000"/>
              </a:solidFill>
              <a:round/>
              <a:headEnd/>
              <a:tailEnd/>
            </a:ln>
          </p:spPr>
          <p:txBody>
            <a:bodyPr/>
            <a:lstStyle/>
            <a:p>
              <a:endParaRPr lang="es-PE"/>
            </a:p>
          </p:txBody>
        </p:sp>
        <p:sp>
          <p:nvSpPr>
            <p:cNvPr id="179224" name="Line 24">
              <a:extLst>
                <a:ext uri="{FF2B5EF4-FFF2-40B4-BE49-F238E27FC236}">
                  <a16:creationId xmlns:a16="http://schemas.microsoft.com/office/drawing/2014/main" id="{ADB41D46-E72A-125D-ABCC-DDA283756BAB}"/>
                </a:ext>
              </a:extLst>
            </p:cNvPr>
            <p:cNvSpPr>
              <a:spLocks noChangeShapeType="1"/>
            </p:cNvSpPr>
            <p:nvPr/>
          </p:nvSpPr>
          <p:spPr bwMode="auto">
            <a:xfrm>
              <a:off x="8301" y="1778"/>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25" name="Line 25">
              <a:extLst>
                <a:ext uri="{FF2B5EF4-FFF2-40B4-BE49-F238E27FC236}">
                  <a16:creationId xmlns:a16="http://schemas.microsoft.com/office/drawing/2014/main" id="{10FD4D37-88DE-D680-EDB8-6D08EFF3007C}"/>
                </a:ext>
              </a:extLst>
            </p:cNvPr>
            <p:cNvSpPr>
              <a:spLocks noChangeShapeType="1"/>
            </p:cNvSpPr>
            <p:nvPr/>
          </p:nvSpPr>
          <p:spPr bwMode="auto">
            <a:xfrm flipV="1">
              <a:off x="8421" y="1598"/>
              <a:ext cx="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26" name="Line 26">
              <a:extLst>
                <a:ext uri="{FF2B5EF4-FFF2-40B4-BE49-F238E27FC236}">
                  <a16:creationId xmlns:a16="http://schemas.microsoft.com/office/drawing/2014/main" id="{94F241B1-DA5D-5CB5-DCC9-B050776BE4DE}"/>
                </a:ext>
              </a:extLst>
            </p:cNvPr>
            <p:cNvSpPr>
              <a:spLocks noChangeShapeType="1"/>
            </p:cNvSpPr>
            <p:nvPr/>
          </p:nvSpPr>
          <p:spPr bwMode="auto">
            <a:xfrm>
              <a:off x="8421" y="1598"/>
              <a:ext cx="2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27" name="Line 27">
              <a:extLst>
                <a:ext uri="{FF2B5EF4-FFF2-40B4-BE49-F238E27FC236}">
                  <a16:creationId xmlns:a16="http://schemas.microsoft.com/office/drawing/2014/main" id="{F67653F7-4C59-8318-F201-DDF34BDCD120}"/>
                </a:ext>
              </a:extLst>
            </p:cNvPr>
            <p:cNvSpPr>
              <a:spLocks noChangeShapeType="1"/>
            </p:cNvSpPr>
            <p:nvPr/>
          </p:nvSpPr>
          <p:spPr bwMode="auto">
            <a:xfrm>
              <a:off x="8661" y="1598"/>
              <a:ext cx="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28" name="Line 28">
              <a:extLst>
                <a:ext uri="{FF2B5EF4-FFF2-40B4-BE49-F238E27FC236}">
                  <a16:creationId xmlns:a16="http://schemas.microsoft.com/office/drawing/2014/main" id="{D43D9D35-5991-A55E-46C6-DB4045B271CE}"/>
                </a:ext>
              </a:extLst>
            </p:cNvPr>
            <p:cNvSpPr>
              <a:spLocks noChangeShapeType="1"/>
            </p:cNvSpPr>
            <p:nvPr/>
          </p:nvSpPr>
          <p:spPr bwMode="auto">
            <a:xfrm>
              <a:off x="8661" y="1778"/>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29" name="Rectangle 29">
              <a:extLst>
                <a:ext uri="{FF2B5EF4-FFF2-40B4-BE49-F238E27FC236}">
                  <a16:creationId xmlns:a16="http://schemas.microsoft.com/office/drawing/2014/main" id="{6431987C-8A13-1F0A-1D5D-74E9EE85FD4D}"/>
                </a:ext>
              </a:extLst>
            </p:cNvPr>
            <p:cNvSpPr>
              <a:spLocks noChangeArrowheads="1"/>
            </p:cNvSpPr>
            <p:nvPr/>
          </p:nvSpPr>
          <p:spPr bwMode="auto">
            <a:xfrm>
              <a:off x="8181" y="2318"/>
              <a:ext cx="720" cy="1260"/>
            </a:xfrm>
            <a:prstGeom prst="rect">
              <a:avLst/>
            </a:prstGeom>
            <a:solidFill>
              <a:srgbClr val="FFFFFF"/>
            </a:solidFill>
            <a:ln w="9525">
              <a:solidFill>
                <a:srgbClr val="000000"/>
              </a:solidFill>
              <a:miter lim="800000"/>
              <a:headEnd/>
              <a:tailEnd/>
            </a:ln>
          </p:spPr>
          <p:txBody>
            <a:bodyPr/>
            <a:lstStyle/>
            <a:p>
              <a:endParaRPr lang="es-PE"/>
            </a:p>
          </p:txBody>
        </p:sp>
        <p:sp>
          <p:nvSpPr>
            <p:cNvPr id="179230" name="Text Box 30">
              <a:extLst>
                <a:ext uri="{FF2B5EF4-FFF2-40B4-BE49-F238E27FC236}">
                  <a16:creationId xmlns:a16="http://schemas.microsoft.com/office/drawing/2014/main" id="{155FBCFD-AC4C-3E5D-5085-E8644B08DB7C}"/>
                </a:ext>
              </a:extLst>
            </p:cNvPr>
            <p:cNvSpPr txBox="1">
              <a:spLocks noChangeArrowheads="1"/>
            </p:cNvSpPr>
            <p:nvPr/>
          </p:nvSpPr>
          <p:spPr bwMode="auto">
            <a:xfrm>
              <a:off x="8106" y="239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_tradnl" altLang="es-PE" sz="1200"/>
                <a:t>S</a:t>
              </a:r>
              <a:endParaRPr lang="es-ES_tradnl" altLang="es-PE"/>
            </a:p>
          </p:txBody>
        </p:sp>
        <p:sp>
          <p:nvSpPr>
            <p:cNvPr id="179231" name="Text Box 31">
              <a:extLst>
                <a:ext uri="{FF2B5EF4-FFF2-40B4-BE49-F238E27FC236}">
                  <a16:creationId xmlns:a16="http://schemas.microsoft.com/office/drawing/2014/main" id="{C5811C93-FB51-0D6E-57F3-7EBF53052C6F}"/>
                </a:ext>
              </a:extLst>
            </p:cNvPr>
            <p:cNvSpPr txBox="1">
              <a:spLocks noChangeArrowheads="1"/>
            </p:cNvSpPr>
            <p:nvPr/>
          </p:nvSpPr>
          <p:spPr bwMode="auto">
            <a:xfrm>
              <a:off x="8091" y="2963"/>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_tradnl" altLang="es-PE" sz="1200"/>
                <a:t>R</a:t>
              </a:r>
              <a:endParaRPr lang="es-ES_tradnl" altLang="es-PE"/>
            </a:p>
          </p:txBody>
        </p:sp>
        <p:sp>
          <p:nvSpPr>
            <p:cNvPr id="179232" name="Text Box 32">
              <a:extLst>
                <a:ext uri="{FF2B5EF4-FFF2-40B4-BE49-F238E27FC236}">
                  <a16:creationId xmlns:a16="http://schemas.microsoft.com/office/drawing/2014/main" id="{2D8D822D-536A-EE62-667A-1301DE468780}"/>
                </a:ext>
              </a:extLst>
            </p:cNvPr>
            <p:cNvSpPr txBox="1">
              <a:spLocks noChangeArrowheads="1"/>
            </p:cNvSpPr>
            <p:nvPr/>
          </p:nvSpPr>
          <p:spPr bwMode="auto">
            <a:xfrm>
              <a:off x="8541" y="2378"/>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_tradnl" altLang="es-PE" sz="1200"/>
                <a:t>Q</a:t>
              </a:r>
              <a:endParaRPr lang="es-ES_tradnl" altLang="es-PE"/>
            </a:p>
          </p:txBody>
        </p:sp>
        <p:grpSp>
          <p:nvGrpSpPr>
            <p:cNvPr id="179233" name="Group 33">
              <a:extLst>
                <a:ext uri="{FF2B5EF4-FFF2-40B4-BE49-F238E27FC236}">
                  <a16:creationId xmlns:a16="http://schemas.microsoft.com/office/drawing/2014/main" id="{2954C13B-FD2B-CA32-739D-CD12BCFC540E}"/>
                </a:ext>
              </a:extLst>
            </p:cNvPr>
            <p:cNvGrpSpPr>
              <a:grpSpLocks/>
            </p:cNvGrpSpPr>
            <p:nvPr/>
          </p:nvGrpSpPr>
          <p:grpSpPr bwMode="auto">
            <a:xfrm>
              <a:off x="9261" y="1958"/>
              <a:ext cx="280" cy="570"/>
              <a:chOff x="9261" y="1598"/>
              <a:chExt cx="280" cy="570"/>
            </a:xfrm>
          </p:grpSpPr>
          <p:sp>
            <p:nvSpPr>
              <p:cNvPr id="179234" name="Freeform 34">
                <a:extLst>
                  <a:ext uri="{FF2B5EF4-FFF2-40B4-BE49-F238E27FC236}">
                    <a16:creationId xmlns:a16="http://schemas.microsoft.com/office/drawing/2014/main" id="{5E4B166C-53D5-259D-E7BF-B21E0DBC7C3A}"/>
                  </a:ext>
                </a:extLst>
              </p:cNvPr>
              <p:cNvSpPr>
                <a:spLocks/>
              </p:cNvSpPr>
              <p:nvPr/>
            </p:nvSpPr>
            <p:spPr bwMode="auto">
              <a:xfrm>
                <a:off x="9261" y="1598"/>
                <a:ext cx="280" cy="570"/>
              </a:xfrm>
              <a:custGeom>
                <a:avLst/>
                <a:gdLst>
                  <a:gd name="T0" fmla="*/ 0 w 280"/>
                  <a:gd name="T1" fmla="*/ 0 h 570"/>
                  <a:gd name="T2" fmla="*/ 240 w 280"/>
                  <a:gd name="T3" fmla="*/ 180 h 570"/>
                  <a:gd name="T4" fmla="*/ 240 w 280"/>
                  <a:gd name="T5" fmla="*/ 360 h 570"/>
                  <a:gd name="T6" fmla="*/ 120 w 280"/>
                  <a:gd name="T7" fmla="*/ 540 h 570"/>
                  <a:gd name="T8" fmla="*/ 0 w 280"/>
                  <a:gd name="T9" fmla="*/ 540 h 570"/>
                </a:gdLst>
                <a:ahLst/>
                <a:cxnLst>
                  <a:cxn ang="0">
                    <a:pos x="T0" y="T1"/>
                  </a:cxn>
                  <a:cxn ang="0">
                    <a:pos x="T2" y="T3"/>
                  </a:cxn>
                  <a:cxn ang="0">
                    <a:pos x="T4" y="T5"/>
                  </a:cxn>
                  <a:cxn ang="0">
                    <a:pos x="T6" y="T7"/>
                  </a:cxn>
                  <a:cxn ang="0">
                    <a:pos x="T8" y="T9"/>
                  </a:cxn>
                </a:cxnLst>
                <a:rect l="0" t="0" r="r" b="b"/>
                <a:pathLst>
                  <a:path w="280" h="570">
                    <a:moveTo>
                      <a:pt x="0" y="0"/>
                    </a:moveTo>
                    <a:cubicBezTo>
                      <a:pt x="100" y="60"/>
                      <a:pt x="200" y="120"/>
                      <a:pt x="240" y="180"/>
                    </a:cubicBezTo>
                    <a:cubicBezTo>
                      <a:pt x="280" y="240"/>
                      <a:pt x="260" y="300"/>
                      <a:pt x="240" y="360"/>
                    </a:cubicBezTo>
                    <a:cubicBezTo>
                      <a:pt x="220" y="420"/>
                      <a:pt x="160" y="510"/>
                      <a:pt x="120" y="540"/>
                    </a:cubicBezTo>
                    <a:cubicBezTo>
                      <a:pt x="80" y="570"/>
                      <a:pt x="40" y="555"/>
                      <a:pt x="0" y="54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s-PE"/>
              </a:p>
            </p:txBody>
          </p:sp>
          <p:sp>
            <p:nvSpPr>
              <p:cNvPr id="179235" name="Line 35">
                <a:extLst>
                  <a:ext uri="{FF2B5EF4-FFF2-40B4-BE49-F238E27FC236}">
                    <a16:creationId xmlns:a16="http://schemas.microsoft.com/office/drawing/2014/main" id="{79E8E1F6-FA15-2184-A866-5C7AFFE2CCF3}"/>
                  </a:ext>
                </a:extLst>
              </p:cNvPr>
              <p:cNvSpPr>
                <a:spLocks noChangeShapeType="1"/>
              </p:cNvSpPr>
              <p:nvPr/>
            </p:nvSpPr>
            <p:spPr bwMode="auto">
              <a:xfrm>
                <a:off x="9261" y="1598"/>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grpSp>
        <p:sp>
          <p:nvSpPr>
            <p:cNvPr id="179236" name="Line 36">
              <a:extLst>
                <a:ext uri="{FF2B5EF4-FFF2-40B4-BE49-F238E27FC236}">
                  <a16:creationId xmlns:a16="http://schemas.microsoft.com/office/drawing/2014/main" id="{CCB803B3-F521-83BF-0BCB-00AB598F464C}"/>
                </a:ext>
              </a:extLst>
            </p:cNvPr>
            <p:cNvSpPr>
              <a:spLocks noChangeShapeType="1"/>
            </p:cNvSpPr>
            <p:nvPr/>
          </p:nvSpPr>
          <p:spPr bwMode="auto">
            <a:xfrm>
              <a:off x="3981" y="1853"/>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37" name="Line 37">
              <a:extLst>
                <a:ext uri="{FF2B5EF4-FFF2-40B4-BE49-F238E27FC236}">
                  <a16:creationId xmlns:a16="http://schemas.microsoft.com/office/drawing/2014/main" id="{B20AD1C5-8E9C-D24B-070C-207414E55CE2}"/>
                </a:ext>
              </a:extLst>
            </p:cNvPr>
            <p:cNvSpPr>
              <a:spLocks noChangeShapeType="1"/>
            </p:cNvSpPr>
            <p:nvPr/>
          </p:nvSpPr>
          <p:spPr bwMode="auto">
            <a:xfrm>
              <a:off x="3981" y="2933"/>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38" name="Line 38">
              <a:extLst>
                <a:ext uri="{FF2B5EF4-FFF2-40B4-BE49-F238E27FC236}">
                  <a16:creationId xmlns:a16="http://schemas.microsoft.com/office/drawing/2014/main" id="{2FDC1B14-3599-5974-879F-7C28A6F28325}"/>
                </a:ext>
              </a:extLst>
            </p:cNvPr>
            <p:cNvSpPr>
              <a:spLocks noChangeShapeType="1"/>
            </p:cNvSpPr>
            <p:nvPr/>
          </p:nvSpPr>
          <p:spPr bwMode="auto">
            <a:xfrm>
              <a:off x="5781" y="1793"/>
              <a:ext cx="480"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s-PE"/>
            </a:p>
          </p:txBody>
        </p:sp>
        <p:sp>
          <p:nvSpPr>
            <p:cNvPr id="179239" name="Line 39">
              <a:extLst>
                <a:ext uri="{FF2B5EF4-FFF2-40B4-BE49-F238E27FC236}">
                  <a16:creationId xmlns:a16="http://schemas.microsoft.com/office/drawing/2014/main" id="{D2904707-2EAF-5B28-96C0-42B6E74FCDF8}"/>
                </a:ext>
              </a:extLst>
            </p:cNvPr>
            <p:cNvSpPr>
              <a:spLocks noChangeShapeType="1"/>
            </p:cNvSpPr>
            <p:nvPr/>
          </p:nvSpPr>
          <p:spPr bwMode="auto">
            <a:xfrm>
              <a:off x="5781" y="2948"/>
              <a:ext cx="4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40" name="Line 40">
              <a:extLst>
                <a:ext uri="{FF2B5EF4-FFF2-40B4-BE49-F238E27FC236}">
                  <a16:creationId xmlns:a16="http://schemas.microsoft.com/office/drawing/2014/main" id="{508EDEDD-4CF4-32C5-D8A9-66D61EC82D26}"/>
                </a:ext>
              </a:extLst>
            </p:cNvPr>
            <p:cNvSpPr>
              <a:spLocks noChangeShapeType="1"/>
            </p:cNvSpPr>
            <p:nvPr/>
          </p:nvSpPr>
          <p:spPr bwMode="auto">
            <a:xfrm>
              <a:off x="7701" y="3188"/>
              <a:ext cx="4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79241" name="Line 41">
              <a:extLst>
                <a:ext uri="{FF2B5EF4-FFF2-40B4-BE49-F238E27FC236}">
                  <a16:creationId xmlns:a16="http://schemas.microsoft.com/office/drawing/2014/main" id="{E91D83D6-7435-77C2-7053-0DC183EDF4DC}"/>
                </a:ext>
              </a:extLst>
            </p:cNvPr>
            <p:cNvSpPr>
              <a:spLocks noChangeShapeType="1"/>
            </p:cNvSpPr>
            <p:nvPr/>
          </p:nvSpPr>
          <p:spPr bwMode="auto">
            <a:xfrm>
              <a:off x="6021" y="1793"/>
              <a:ext cx="0" cy="7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42" name="Line 42">
              <a:extLst>
                <a:ext uri="{FF2B5EF4-FFF2-40B4-BE49-F238E27FC236}">
                  <a16:creationId xmlns:a16="http://schemas.microsoft.com/office/drawing/2014/main" id="{A6517C77-9FEA-9BC3-DE88-8A48C68F897F}"/>
                </a:ext>
              </a:extLst>
            </p:cNvPr>
            <p:cNvSpPr>
              <a:spLocks noChangeShapeType="1"/>
            </p:cNvSpPr>
            <p:nvPr/>
          </p:nvSpPr>
          <p:spPr bwMode="auto">
            <a:xfrm>
              <a:off x="6021" y="2528"/>
              <a:ext cx="21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79243" name="Line 43">
              <a:extLst>
                <a:ext uri="{FF2B5EF4-FFF2-40B4-BE49-F238E27FC236}">
                  <a16:creationId xmlns:a16="http://schemas.microsoft.com/office/drawing/2014/main" id="{BAEB8FBB-44FA-A564-D39E-35DFE5E6BEEE}"/>
                </a:ext>
              </a:extLst>
            </p:cNvPr>
            <p:cNvSpPr>
              <a:spLocks noChangeShapeType="1"/>
            </p:cNvSpPr>
            <p:nvPr/>
          </p:nvSpPr>
          <p:spPr bwMode="auto">
            <a:xfrm>
              <a:off x="8901" y="1778"/>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44" name="Line 44">
              <a:extLst>
                <a:ext uri="{FF2B5EF4-FFF2-40B4-BE49-F238E27FC236}">
                  <a16:creationId xmlns:a16="http://schemas.microsoft.com/office/drawing/2014/main" id="{1FEBE23E-3171-D27B-2F6F-B4E1EC8B26D5}"/>
                </a:ext>
              </a:extLst>
            </p:cNvPr>
            <p:cNvSpPr>
              <a:spLocks noChangeShapeType="1"/>
            </p:cNvSpPr>
            <p:nvPr/>
          </p:nvSpPr>
          <p:spPr bwMode="auto">
            <a:xfrm>
              <a:off x="9021" y="1778"/>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45" name="Line 45">
              <a:extLst>
                <a:ext uri="{FF2B5EF4-FFF2-40B4-BE49-F238E27FC236}">
                  <a16:creationId xmlns:a16="http://schemas.microsoft.com/office/drawing/2014/main" id="{DBCD1BFC-F989-B582-816F-49107AE06BE0}"/>
                </a:ext>
              </a:extLst>
            </p:cNvPr>
            <p:cNvSpPr>
              <a:spLocks noChangeShapeType="1"/>
            </p:cNvSpPr>
            <p:nvPr/>
          </p:nvSpPr>
          <p:spPr bwMode="auto">
            <a:xfrm>
              <a:off x="9021" y="2138"/>
              <a:ext cx="2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79246" name="Line 46">
              <a:extLst>
                <a:ext uri="{FF2B5EF4-FFF2-40B4-BE49-F238E27FC236}">
                  <a16:creationId xmlns:a16="http://schemas.microsoft.com/office/drawing/2014/main" id="{53CDBC17-A1F0-21E1-99EE-C7573903CA5A}"/>
                </a:ext>
              </a:extLst>
            </p:cNvPr>
            <p:cNvSpPr>
              <a:spLocks noChangeShapeType="1"/>
            </p:cNvSpPr>
            <p:nvPr/>
          </p:nvSpPr>
          <p:spPr bwMode="auto">
            <a:xfrm>
              <a:off x="8901" y="2498"/>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47" name="Line 47">
              <a:extLst>
                <a:ext uri="{FF2B5EF4-FFF2-40B4-BE49-F238E27FC236}">
                  <a16:creationId xmlns:a16="http://schemas.microsoft.com/office/drawing/2014/main" id="{427AD80A-A071-C8CE-DFB5-B9A8FEDCCADF}"/>
                </a:ext>
              </a:extLst>
            </p:cNvPr>
            <p:cNvSpPr>
              <a:spLocks noChangeShapeType="1"/>
            </p:cNvSpPr>
            <p:nvPr/>
          </p:nvSpPr>
          <p:spPr bwMode="auto">
            <a:xfrm>
              <a:off x="9021" y="2318"/>
              <a:ext cx="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48" name="Line 48">
              <a:extLst>
                <a:ext uri="{FF2B5EF4-FFF2-40B4-BE49-F238E27FC236}">
                  <a16:creationId xmlns:a16="http://schemas.microsoft.com/office/drawing/2014/main" id="{C0978215-B933-0716-3CEF-3A06177328D9}"/>
                </a:ext>
              </a:extLst>
            </p:cNvPr>
            <p:cNvSpPr>
              <a:spLocks noChangeShapeType="1"/>
            </p:cNvSpPr>
            <p:nvPr/>
          </p:nvSpPr>
          <p:spPr bwMode="auto">
            <a:xfrm>
              <a:off x="9021" y="2318"/>
              <a:ext cx="2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79249" name="Line 49">
              <a:extLst>
                <a:ext uri="{FF2B5EF4-FFF2-40B4-BE49-F238E27FC236}">
                  <a16:creationId xmlns:a16="http://schemas.microsoft.com/office/drawing/2014/main" id="{A2D44E45-2FDA-8ABF-AD6E-033229721B0C}"/>
                </a:ext>
              </a:extLst>
            </p:cNvPr>
            <p:cNvSpPr>
              <a:spLocks noChangeShapeType="1"/>
            </p:cNvSpPr>
            <p:nvPr/>
          </p:nvSpPr>
          <p:spPr bwMode="auto">
            <a:xfrm>
              <a:off x="9501" y="2213"/>
              <a:ext cx="2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79250" name="AutoShape 50">
              <a:extLst>
                <a:ext uri="{FF2B5EF4-FFF2-40B4-BE49-F238E27FC236}">
                  <a16:creationId xmlns:a16="http://schemas.microsoft.com/office/drawing/2014/main" id="{80E4E003-3093-98B6-A57F-4449CA9BCD32}"/>
                </a:ext>
              </a:extLst>
            </p:cNvPr>
            <p:cNvSpPr>
              <a:spLocks noChangeArrowheads="1"/>
            </p:cNvSpPr>
            <p:nvPr/>
          </p:nvSpPr>
          <p:spPr bwMode="auto">
            <a:xfrm>
              <a:off x="9936" y="2498"/>
              <a:ext cx="240" cy="540"/>
            </a:xfrm>
            <a:prstGeom prst="downArrow">
              <a:avLst>
                <a:gd name="adj1" fmla="val 50000"/>
                <a:gd name="adj2" fmla="val 56250"/>
              </a:avLst>
            </a:prstGeom>
            <a:solidFill>
              <a:srgbClr val="FFFFFF"/>
            </a:solidFill>
            <a:ln w="9525">
              <a:solidFill>
                <a:srgbClr val="000000"/>
              </a:solidFill>
              <a:miter lim="800000"/>
              <a:headEnd/>
              <a:tailEnd/>
            </a:ln>
          </p:spPr>
          <p:txBody>
            <a:bodyPr/>
            <a:lstStyle/>
            <a:p>
              <a:endParaRPr lang="es-PE"/>
            </a:p>
          </p:txBody>
        </p:sp>
        <p:sp>
          <p:nvSpPr>
            <p:cNvPr id="179251" name="Rectangle 51">
              <a:extLst>
                <a:ext uri="{FF2B5EF4-FFF2-40B4-BE49-F238E27FC236}">
                  <a16:creationId xmlns:a16="http://schemas.microsoft.com/office/drawing/2014/main" id="{73EA68FC-F5B4-5992-102B-38FA9A450963}"/>
                </a:ext>
              </a:extLst>
            </p:cNvPr>
            <p:cNvSpPr>
              <a:spLocks noChangeArrowheads="1"/>
            </p:cNvSpPr>
            <p:nvPr/>
          </p:nvSpPr>
          <p:spPr bwMode="auto">
            <a:xfrm>
              <a:off x="9621" y="3038"/>
              <a:ext cx="960" cy="720"/>
            </a:xfrm>
            <a:prstGeom prst="rect">
              <a:avLst/>
            </a:prstGeom>
            <a:solidFill>
              <a:srgbClr val="FFFFFF"/>
            </a:solidFill>
            <a:ln w="9525">
              <a:solidFill>
                <a:srgbClr val="000000"/>
              </a:solidFill>
              <a:miter lim="800000"/>
              <a:headEnd/>
              <a:tailEnd/>
            </a:ln>
          </p:spPr>
          <p:txBody>
            <a:bodyPr/>
            <a:lstStyle/>
            <a:p>
              <a:endParaRPr lang="es-PE"/>
            </a:p>
          </p:txBody>
        </p:sp>
        <p:sp>
          <p:nvSpPr>
            <p:cNvPr id="179252" name="Line 52">
              <a:extLst>
                <a:ext uri="{FF2B5EF4-FFF2-40B4-BE49-F238E27FC236}">
                  <a16:creationId xmlns:a16="http://schemas.microsoft.com/office/drawing/2014/main" id="{36440AE7-957F-6959-ECD1-F25885234025}"/>
                </a:ext>
              </a:extLst>
            </p:cNvPr>
            <p:cNvSpPr>
              <a:spLocks noChangeShapeType="1"/>
            </p:cNvSpPr>
            <p:nvPr/>
          </p:nvSpPr>
          <p:spPr bwMode="auto">
            <a:xfrm>
              <a:off x="9741" y="3188"/>
              <a:ext cx="0" cy="36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es-PE"/>
            </a:p>
          </p:txBody>
        </p:sp>
        <p:sp>
          <p:nvSpPr>
            <p:cNvPr id="179253" name="Line 53">
              <a:extLst>
                <a:ext uri="{FF2B5EF4-FFF2-40B4-BE49-F238E27FC236}">
                  <a16:creationId xmlns:a16="http://schemas.microsoft.com/office/drawing/2014/main" id="{D5E11DB1-B099-3BC6-4A38-E7C893B0D3BC}"/>
                </a:ext>
              </a:extLst>
            </p:cNvPr>
            <p:cNvSpPr>
              <a:spLocks noChangeShapeType="1"/>
            </p:cNvSpPr>
            <p:nvPr/>
          </p:nvSpPr>
          <p:spPr bwMode="auto">
            <a:xfrm>
              <a:off x="9981" y="3188"/>
              <a:ext cx="0" cy="36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es-PE"/>
            </a:p>
          </p:txBody>
        </p:sp>
        <p:sp>
          <p:nvSpPr>
            <p:cNvPr id="179254" name="Line 54">
              <a:extLst>
                <a:ext uri="{FF2B5EF4-FFF2-40B4-BE49-F238E27FC236}">
                  <a16:creationId xmlns:a16="http://schemas.microsoft.com/office/drawing/2014/main" id="{5B07D67C-84CA-3CB5-993A-D73EC75FA8E8}"/>
                </a:ext>
              </a:extLst>
            </p:cNvPr>
            <p:cNvSpPr>
              <a:spLocks noChangeShapeType="1"/>
            </p:cNvSpPr>
            <p:nvPr/>
          </p:nvSpPr>
          <p:spPr bwMode="auto">
            <a:xfrm>
              <a:off x="10161" y="3173"/>
              <a:ext cx="0" cy="36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es-PE"/>
            </a:p>
          </p:txBody>
        </p:sp>
        <p:sp>
          <p:nvSpPr>
            <p:cNvPr id="179255" name="Line 55">
              <a:extLst>
                <a:ext uri="{FF2B5EF4-FFF2-40B4-BE49-F238E27FC236}">
                  <a16:creationId xmlns:a16="http://schemas.microsoft.com/office/drawing/2014/main" id="{C10FA062-4C1C-194E-2298-E14D5EC4B349}"/>
                </a:ext>
              </a:extLst>
            </p:cNvPr>
            <p:cNvSpPr>
              <a:spLocks noChangeShapeType="1"/>
            </p:cNvSpPr>
            <p:nvPr/>
          </p:nvSpPr>
          <p:spPr bwMode="auto">
            <a:xfrm>
              <a:off x="10386" y="3173"/>
              <a:ext cx="0" cy="36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es-PE"/>
            </a:p>
          </p:txBody>
        </p:sp>
        <p:sp>
          <p:nvSpPr>
            <p:cNvPr id="179256" name="Line 56">
              <a:extLst>
                <a:ext uri="{FF2B5EF4-FFF2-40B4-BE49-F238E27FC236}">
                  <a16:creationId xmlns:a16="http://schemas.microsoft.com/office/drawing/2014/main" id="{2DA1B14B-3C47-2CC3-E1A4-2903117AE18C}"/>
                </a:ext>
              </a:extLst>
            </p:cNvPr>
            <p:cNvSpPr>
              <a:spLocks noChangeShapeType="1"/>
            </p:cNvSpPr>
            <p:nvPr/>
          </p:nvSpPr>
          <p:spPr bwMode="auto">
            <a:xfrm>
              <a:off x="9801" y="3188"/>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57" name="Line 57">
              <a:extLst>
                <a:ext uri="{FF2B5EF4-FFF2-40B4-BE49-F238E27FC236}">
                  <a16:creationId xmlns:a16="http://schemas.microsoft.com/office/drawing/2014/main" id="{7432AF1B-9636-0131-B728-880D2FFF0269}"/>
                </a:ext>
              </a:extLst>
            </p:cNvPr>
            <p:cNvSpPr>
              <a:spLocks noChangeShapeType="1"/>
            </p:cNvSpPr>
            <p:nvPr/>
          </p:nvSpPr>
          <p:spPr bwMode="auto">
            <a:xfrm>
              <a:off x="9786" y="3383"/>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58" name="Line 58">
              <a:extLst>
                <a:ext uri="{FF2B5EF4-FFF2-40B4-BE49-F238E27FC236}">
                  <a16:creationId xmlns:a16="http://schemas.microsoft.com/office/drawing/2014/main" id="{DE60A52C-D95F-9AA5-568E-704831D09AEB}"/>
                </a:ext>
              </a:extLst>
            </p:cNvPr>
            <p:cNvSpPr>
              <a:spLocks noChangeShapeType="1"/>
            </p:cNvSpPr>
            <p:nvPr/>
          </p:nvSpPr>
          <p:spPr bwMode="auto">
            <a:xfrm>
              <a:off x="9801" y="3563"/>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59" name="Line 59">
              <a:extLst>
                <a:ext uri="{FF2B5EF4-FFF2-40B4-BE49-F238E27FC236}">
                  <a16:creationId xmlns:a16="http://schemas.microsoft.com/office/drawing/2014/main" id="{01133003-9A5A-ACDA-552F-9FDE9542FFD9}"/>
                </a:ext>
              </a:extLst>
            </p:cNvPr>
            <p:cNvSpPr>
              <a:spLocks noChangeShapeType="1"/>
            </p:cNvSpPr>
            <p:nvPr/>
          </p:nvSpPr>
          <p:spPr bwMode="auto">
            <a:xfrm>
              <a:off x="10221" y="3578"/>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60" name="Line 60">
              <a:extLst>
                <a:ext uri="{FF2B5EF4-FFF2-40B4-BE49-F238E27FC236}">
                  <a16:creationId xmlns:a16="http://schemas.microsoft.com/office/drawing/2014/main" id="{492079B7-BCB3-E838-C705-DC56164AD1E8}"/>
                </a:ext>
              </a:extLst>
            </p:cNvPr>
            <p:cNvSpPr>
              <a:spLocks noChangeShapeType="1"/>
            </p:cNvSpPr>
            <p:nvPr/>
          </p:nvSpPr>
          <p:spPr bwMode="auto">
            <a:xfrm>
              <a:off x="10221" y="3188"/>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61" name="Line 61">
              <a:extLst>
                <a:ext uri="{FF2B5EF4-FFF2-40B4-BE49-F238E27FC236}">
                  <a16:creationId xmlns:a16="http://schemas.microsoft.com/office/drawing/2014/main" id="{21930272-5BA2-6DDD-0812-E98D60BCA9E7}"/>
                </a:ext>
              </a:extLst>
            </p:cNvPr>
            <p:cNvSpPr>
              <a:spLocks noChangeShapeType="1"/>
            </p:cNvSpPr>
            <p:nvPr/>
          </p:nvSpPr>
          <p:spPr bwMode="auto">
            <a:xfrm>
              <a:off x="10206" y="3368"/>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79262" name="Text Box 62">
              <a:extLst>
                <a:ext uri="{FF2B5EF4-FFF2-40B4-BE49-F238E27FC236}">
                  <a16:creationId xmlns:a16="http://schemas.microsoft.com/office/drawing/2014/main" id="{2594343D-4E90-1C3C-2467-289637F8623F}"/>
                </a:ext>
              </a:extLst>
            </p:cNvPr>
            <p:cNvSpPr txBox="1">
              <a:spLocks noChangeArrowheads="1"/>
            </p:cNvSpPr>
            <p:nvPr/>
          </p:nvSpPr>
          <p:spPr bwMode="auto">
            <a:xfrm>
              <a:off x="9501" y="3758"/>
              <a:ext cx="12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_tradnl" altLang="es-PE" sz="1200"/>
                <a:t>Display</a:t>
              </a:r>
              <a:endParaRPr lang="es-ES_tradnl" altLang="es-PE"/>
            </a:p>
          </p:txBody>
        </p:sp>
      </p:grpSp>
      <p:grpSp>
        <p:nvGrpSpPr>
          <p:cNvPr id="179263" name="Group 63">
            <a:extLst>
              <a:ext uri="{FF2B5EF4-FFF2-40B4-BE49-F238E27FC236}">
                <a16:creationId xmlns:a16="http://schemas.microsoft.com/office/drawing/2014/main" id="{C77A3014-92A2-2E63-0CB3-C73FDDC24FA7}"/>
              </a:ext>
            </a:extLst>
          </p:cNvPr>
          <p:cNvGrpSpPr>
            <a:grpSpLocks/>
          </p:cNvGrpSpPr>
          <p:nvPr/>
        </p:nvGrpSpPr>
        <p:grpSpPr bwMode="auto">
          <a:xfrm>
            <a:off x="1694172" y="2289670"/>
            <a:ext cx="1439862" cy="1800225"/>
            <a:chOff x="1701" y="5278"/>
            <a:chExt cx="1340" cy="1620"/>
          </a:xfrm>
        </p:grpSpPr>
        <p:sp>
          <p:nvSpPr>
            <p:cNvPr id="179264" name="Freeform 64">
              <a:extLst>
                <a:ext uri="{FF2B5EF4-FFF2-40B4-BE49-F238E27FC236}">
                  <a16:creationId xmlns:a16="http://schemas.microsoft.com/office/drawing/2014/main" id="{CDA3B53A-49A9-2D20-0E83-EDD427CD7AEF}"/>
                </a:ext>
              </a:extLst>
            </p:cNvPr>
            <p:cNvSpPr>
              <a:spLocks/>
            </p:cNvSpPr>
            <p:nvPr/>
          </p:nvSpPr>
          <p:spPr bwMode="auto">
            <a:xfrm>
              <a:off x="1701" y="5278"/>
              <a:ext cx="780" cy="1560"/>
            </a:xfrm>
            <a:custGeom>
              <a:avLst/>
              <a:gdLst>
                <a:gd name="T0" fmla="*/ 280 w 780"/>
                <a:gd name="T1" fmla="*/ 60 h 1560"/>
                <a:gd name="T2" fmla="*/ 160 w 780"/>
                <a:gd name="T3" fmla="*/ 240 h 1560"/>
                <a:gd name="T4" fmla="*/ 160 w 780"/>
                <a:gd name="T5" fmla="*/ 600 h 1560"/>
                <a:gd name="T6" fmla="*/ 40 w 780"/>
                <a:gd name="T7" fmla="*/ 780 h 1560"/>
                <a:gd name="T8" fmla="*/ 40 w 780"/>
                <a:gd name="T9" fmla="*/ 1140 h 1560"/>
                <a:gd name="T10" fmla="*/ 280 w 780"/>
                <a:gd name="T11" fmla="*/ 1500 h 1560"/>
                <a:gd name="T12" fmla="*/ 520 w 780"/>
                <a:gd name="T13" fmla="*/ 1500 h 1560"/>
                <a:gd name="T14" fmla="*/ 640 w 780"/>
                <a:gd name="T15" fmla="*/ 1500 h 1560"/>
                <a:gd name="T16" fmla="*/ 640 w 780"/>
                <a:gd name="T17" fmla="*/ 1140 h 1560"/>
                <a:gd name="T18" fmla="*/ 760 w 780"/>
                <a:gd name="T19" fmla="*/ 780 h 1560"/>
                <a:gd name="T20" fmla="*/ 640 w 780"/>
                <a:gd name="T21" fmla="*/ 420 h 1560"/>
                <a:gd name="T22" fmla="*/ 760 w 780"/>
                <a:gd name="T23" fmla="*/ 60 h 1560"/>
                <a:gd name="T24" fmla="*/ 520 w 780"/>
                <a:gd name="T25" fmla="*/ 60 h 1560"/>
                <a:gd name="T26" fmla="*/ 280 w 780"/>
                <a:gd name="T27" fmla="*/ 60 h 1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80" h="1560">
                  <a:moveTo>
                    <a:pt x="280" y="60"/>
                  </a:moveTo>
                  <a:cubicBezTo>
                    <a:pt x="220" y="90"/>
                    <a:pt x="180" y="150"/>
                    <a:pt x="160" y="240"/>
                  </a:cubicBezTo>
                  <a:cubicBezTo>
                    <a:pt x="140" y="330"/>
                    <a:pt x="180" y="510"/>
                    <a:pt x="160" y="600"/>
                  </a:cubicBezTo>
                  <a:cubicBezTo>
                    <a:pt x="140" y="690"/>
                    <a:pt x="60" y="690"/>
                    <a:pt x="40" y="780"/>
                  </a:cubicBezTo>
                  <a:cubicBezTo>
                    <a:pt x="20" y="870"/>
                    <a:pt x="0" y="1020"/>
                    <a:pt x="40" y="1140"/>
                  </a:cubicBezTo>
                  <a:cubicBezTo>
                    <a:pt x="80" y="1260"/>
                    <a:pt x="200" y="1440"/>
                    <a:pt x="280" y="1500"/>
                  </a:cubicBezTo>
                  <a:cubicBezTo>
                    <a:pt x="360" y="1560"/>
                    <a:pt x="460" y="1500"/>
                    <a:pt x="520" y="1500"/>
                  </a:cubicBezTo>
                  <a:cubicBezTo>
                    <a:pt x="580" y="1500"/>
                    <a:pt x="620" y="1560"/>
                    <a:pt x="640" y="1500"/>
                  </a:cubicBezTo>
                  <a:cubicBezTo>
                    <a:pt x="660" y="1440"/>
                    <a:pt x="620" y="1260"/>
                    <a:pt x="640" y="1140"/>
                  </a:cubicBezTo>
                  <a:cubicBezTo>
                    <a:pt x="660" y="1020"/>
                    <a:pt x="760" y="900"/>
                    <a:pt x="760" y="780"/>
                  </a:cubicBezTo>
                  <a:cubicBezTo>
                    <a:pt x="760" y="660"/>
                    <a:pt x="640" y="540"/>
                    <a:pt x="640" y="420"/>
                  </a:cubicBezTo>
                  <a:cubicBezTo>
                    <a:pt x="640" y="300"/>
                    <a:pt x="780" y="120"/>
                    <a:pt x="760" y="60"/>
                  </a:cubicBezTo>
                  <a:cubicBezTo>
                    <a:pt x="740" y="0"/>
                    <a:pt x="600" y="60"/>
                    <a:pt x="520" y="60"/>
                  </a:cubicBezTo>
                  <a:cubicBezTo>
                    <a:pt x="440" y="60"/>
                    <a:pt x="340" y="30"/>
                    <a:pt x="280" y="60"/>
                  </a:cubicBezTo>
                  <a:close/>
                </a:path>
              </a:pathLst>
            </a:custGeom>
            <a:solidFill>
              <a:srgbClr val="FFFFFF"/>
            </a:solidFill>
            <a:ln w="9525">
              <a:solidFill>
                <a:srgbClr val="000000"/>
              </a:solidFill>
              <a:round/>
              <a:headEnd/>
              <a:tailEnd/>
            </a:ln>
          </p:spPr>
          <p:txBody>
            <a:bodyPr/>
            <a:lstStyle/>
            <a:p>
              <a:endParaRPr lang="es-PE"/>
            </a:p>
          </p:txBody>
        </p:sp>
        <p:sp>
          <p:nvSpPr>
            <p:cNvPr id="179265" name="Text Box 65">
              <a:extLst>
                <a:ext uri="{FF2B5EF4-FFF2-40B4-BE49-F238E27FC236}">
                  <a16:creationId xmlns:a16="http://schemas.microsoft.com/office/drawing/2014/main" id="{32A60C4D-401B-52D8-7B79-FBFB8709B36E}"/>
                </a:ext>
              </a:extLst>
            </p:cNvPr>
            <p:cNvSpPr txBox="1">
              <a:spLocks noChangeArrowheads="1"/>
            </p:cNvSpPr>
            <p:nvPr/>
          </p:nvSpPr>
          <p:spPr bwMode="auto">
            <a:xfrm>
              <a:off x="1821" y="5608"/>
              <a:ext cx="600"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_tradnl" altLang="es-PE" sz="1200"/>
                <a:t>Objeto</a:t>
              </a:r>
              <a:endParaRPr lang="es-ES_tradnl" altLang="es-PE"/>
            </a:p>
          </p:txBody>
        </p:sp>
        <p:sp>
          <p:nvSpPr>
            <p:cNvPr id="179266" name="Freeform 66">
              <a:extLst>
                <a:ext uri="{FF2B5EF4-FFF2-40B4-BE49-F238E27FC236}">
                  <a16:creationId xmlns:a16="http://schemas.microsoft.com/office/drawing/2014/main" id="{52B5E887-1AC8-5C34-631B-BF584B35C157}"/>
                </a:ext>
              </a:extLst>
            </p:cNvPr>
            <p:cNvSpPr>
              <a:spLocks/>
            </p:cNvSpPr>
            <p:nvPr/>
          </p:nvSpPr>
          <p:spPr bwMode="auto">
            <a:xfrm>
              <a:off x="2881" y="5278"/>
              <a:ext cx="140" cy="540"/>
            </a:xfrm>
            <a:custGeom>
              <a:avLst/>
              <a:gdLst>
                <a:gd name="T0" fmla="*/ 140 w 140"/>
                <a:gd name="T1" fmla="*/ 0 h 540"/>
                <a:gd name="T2" fmla="*/ 20 w 140"/>
                <a:gd name="T3" fmla="*/ 180 h 540"/>
                <a:gd name="T4" fmla="*/ 20 w 140"/>
                <a:gd name="T5" fmla="*/ 360 h 540"/>
                <a:gd name="T6" fmla="*/ 140 w 140"/>
                <a:gd name="T7" fmla="*/ 540 h 540"/>
              </a:gdLst>
              <a:ahLst/>
              <a:cxnLst>
                <a:cxn ang="0">
                  <a:pos x="T0" y="T1"/>
                </a:cxn>
                <a:cxn ang="0">
                  <a:pos x="T2" y="T3"/>
                </a:cxn>
                <a:cxn ang="0">
                  <a:pos x="T4" y="T5"/>
                </a:cxn>
                <a:cxn ang="0">
                  <a:pos x="T6" y="T7"/>
                </a:cxn>
              </a:cxnLst>
              <a:rect l="0" t="0" r="r" b="b"/>
              <a:pathLst>
                <a:path w="140" h="540">
                  <a:moveTo>
                    <a:pt x="140" y="0"/>
                  </a:moveTo>
                  <a:cubicBezTo>
                    <a:pt x="90" y="60"/>
                    <a:pt x="40" y="120"/>
                    <a:pt x="20" y="180"/>
                  </a:cubicBezTo>
                  <a:cubicBezTo>
                    <a:pt x="0" y="240"/>
                    <a:pt x="0" y="300"/>
                    <a:pt x="20" y="360"/>
                  </a:cubicBezTo>
                  <a:cubicBezTo>
                    <a:pt x="40" y="420"/>
                    <a:pt x="120" y="510"/>
                    <a:pt x="140" y="54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s-PE"/>
            </a:p>
          </p:txBody>
        </p:sp>
        <p:sp>
          <p:nvSpPr>
            <p:cNvPr id="179267" name="Freeform 67">
              <a:extLst>
                <a:ext uri="{FF2B5EF4-FFF2-40B4-BE49-F238E27FC236}">
                  <a16:creationId xmlns:a16="http://schemas.microsoft.com/office/drawing/2014/main" id="{803725E8-9A73-59B4-06A8-F5930BD117A8}"/>
                </a:ext>
              </a:extLst>
            </p:cNvPr>
            <p:cNvSpPr>
              <a:spLocks/>
            </p:cNvSpPr>
            <p:nvPr/>
          </p:nvSpPr>
          <p:spPr bwMode="auto">
            <a:xfrm>
              <a:off x="2661" y="5278"/>
              <a:ext cx="140" cy="540"/>
            </a:xfrm>
            <a:custGeom>
              <a:avLst/>
              <a:gdLst>
                <a:gd name="T0" fmla="*/ 140 w 140"/>
                <a:gd name="T1" fmla="*/ 0 h 540"/>
                <a:gd name="T2" fmla="*/ 20 w 140"/>
                <a:gd name="T3" fmla="*/ 180 h 540"/>
                <a:gd name="T4" fmla="*/ 20 w 140"/>
                <a:gd name="T5" fmla="*/ 360 h 540"/>
                <a:gd name="T6" fmla="*/ 140 w 140"/>
                <a:gd name="T7" fmla="*/ 540 h 540"/>
              </a:gdLst>
              <a:ahLst/>
              <a:cxnLst>
                <a:cxn ang="0">
                  <a:pos x="T0" y="T1"/>
                </a:cxn>
                <a:cxn ang="0">
                  <a:pos x="T2" y="T3"/>
                </a:cxn>
                <a:cxn ang="0">
                  <a:pos x="T4" y="T5"/>
                </a:cxn>
                <a:cxn ang="0">
                  <a:pos x="T6" y="T7"/>
                </a:cxn>
              </a:cxnLst>
              <a:rect l="0" t="0" r="r" b="b"/>
              <a:pathLst>
                <a:path w="140" h="540">
                  <a:moveTo>
                    <a:pt x="140" y="0"/>
                  </a:moveTo>
                  <a:cubicBezTo>
                    <a:pt x="90" y="60"/>
                    <a:pt x="40" y="120"/>
                    <a:pt x="20" y="180"/>
                  </a:cubicBezTo>
                  <a:cubicBezTo>
                    <a:pt x="0" y="240"/>
                    <a:pt x="0" y="300"/>
                    <a:pt x="20" y="360"/>
                  </a:cubicBezTo>
                  <a:cubicBezTo>
                    <a:pt x="40" y="420"/>
                    <a:pt x="120" y="510"/>
                    <a:pt x="140" y="54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s-PE"/>
            </a:p>
          </p:txBody>
        </p:sp>
        <p:sp>
          <p:nvSpPr>
            <p:cNvPr id="179268" name="Freeform 68">
              <a:extLst>
                <a:ext uri="{FF2B5EF4-FFF2-40B4-BE49-F238E27FC236}">
                  <a16:creationId xmlns:a16="http://schemas.microsoft.com/office/drawing/2014/main" id="{2C287E65-EBD3-022B-F1DE-245672258046}"/>
                </a:ext>
              </a:extLst>
            </p:cNvPr>
            <p:cNvSpPr>
              <a:spLocks/>
            </p:cNvSpPr>
            <p:nvPr/>
          </p:nvSpPr>
          <p:spPr bwMode="auto">
            <a:xfrm flipH="1">
              <a:off x="2901" y="6358"/>
              <a:ext cx="140" cy="540"/>
            </a:xfrm>
            <a:custGeom>
              <a:avLst/>
              <a:gdLst>
                <a:gd name="T0" fmla="*/ 140 w 140"/>
                <a:gd name="T1" fmla="*/ 0 h 540"/>
                <a:gd name="T2" fmla="*/ 20 w 140"/>
                <a:gd name="T3" fmla="*/ 180 h 540"/>
                <a:gd name="T4" fmla="*/ 20 w 140"/>
                <a:gd name="T5" fmla="*/ 360 h 540"/>
                <a:gd name="T6" fmla="*/ 140 w 140"/>
                <a:gd name="T7" fmla="*/ 540 h 540"/>
              </a:gdLst>
              <a:ahLst/>
              <a:cxnLst>
                <a:cxn ang="0">
                  <a:pos x="T0" y="T1"/>
                </a:cxn>
                <a:cxn ang="0">
                  <a:pos x="T2" y="T3"/>
                </a:cxn>
                <a:cxn ang="0">
                  <a:pos x="T4" y="T5"/>
                </a:cxn>
                <a:cxn ang="0">
                  <a:pos x="T6" y="T7"/>
                </a:cxn>
              </a:cxnLst>
              <a:rect l="0" t="0" r="r" b="b"/>
              <a:pathLst>
                <a:path w="140" h="540">
                  <a:moveTo>
                    <a:pt x="140" y="0"/>
                  </a:moveTo>
                  <a:cubicBezTo>
                    <a:pt x="90" y="60"/>
                    <a:pt x="40" y="120"/>
                    <a:pt x="20" y="180"/>
                  </a:cubicBezTo>
                  <a:cubicBezTo>
                    <a:pt x="0" y="240"/>
                    <a:pt x="0" y="300"/>
                    <a:pt x="20" y="360"/>
                  </a:cubicBezTo>
                  <a:cubicBezTo>
                    <a:pt x="40" y="420"/>
                    <a:pt x="120" y="510"/>
                    <a:pt x="140" y="54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s-PE"/>
            </a:p>
          </p:txBody>
        </p:sp>
        <p:sp>
          <p:nvSpPr>
            <p:cNvPr id="179269" name="Freeform 69">
              <a:extLst>
                <a:ext uri="{FF2B5EF4-FFF2-40B4-BE49-F238E27FC236}">
                  <a16:creationId xmlns:a16="http://schemas.microsoft.com/office/drawing/2014/main" id="{A06707E5-5B12-B75E-5911-7777217BD8E9}"/>
                </a:ext>
              </a:extLst>
            </p:cNvPr>
            <p:cNvSpPr>
              <a:spLocks/>
            </p:cNvSpPr>
            <p:nvPr/>
          </p:nvSpPr>
          <p:spPr bwMode="auto">
            <a:xfrm flipH="1">
              <a:off x="2661" y="6358"/>
              <a:ext cx="140" cy="540"/>
            </a:xfrm>
            <a:custGeom>
              <a:avLst/>
              <a:gdLst>
                <a:gd name="T0" fmla="*/ 140 w 140"/>
                <a:gd name="T1" fmla="*/ 0 h 540"/>
                <a:gd name="T2" fmla="*/ 20 w 140"/>
                <a:gd name="T3" fmla="*/ 180 h 540"/>
                <a:gd name="T4" fmla="*/ 20 w 140"/>
                <a:gd name="T5" fmla="*/ 360 h 540"/>
                <a:gd name="T6" fmla="*/ 140 w 140"/>
                <a:gd name="T7" fmla="*/ 540 h 540"/>
              </a:gdLst>
              <a:ahLst/>
              <a:cxnLst>
                <a:cxn ang="0">
                  <a:pos x="T0" y="T1"/>
                </a:cxn>
                <a:cxn ang="0">
                  <a:pos x="T2" y="T3"/>
                </a:cxn>
                <a:cxn ang="0">
                  <a:pos x="T4" y="T5"/>
                </a:cxn>
                <a:cxn ang="0">
                  <a:pos x="T6" y="T7"/>
                </a:cxn>
              </a:cxnLst>
              <a:rect l="0" t="0" r="r" b="b"/>
              <a:pathLst>
                <a:path w="140" h="540">
                  <a:moveTo>
                    <a:pt x="140" y="0"/>
                  </a:moveTo>
                  <a:cubicBezTo>
                    <a:pt x="90" y="60"/>
                    <a:pt x="40" y="120"/>
                    <a:pt x="20" y="180"/>
                  </a:cubicBezTo>
                  <a:cubicBezTo>
                    <a:pt x="0" y="240"/>
                    <a:pt x="0" y="300"/>
                    <a:pt x="20" y="360"/>
                  </a:cubicBezTo>
                  <a:cubicBezTo>
                    <a:pt x="40" y="420"/>
                    <a:pt x="120" y="510"/>
                    <a:pt x="140" y="54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s-PE"/>
            </a:p>
          </p:txBody>
        </p:sp>
      </p:grpSp>
      <p:sp>
        <p:nvSpPr>
          <p:cNvPr id="179271" name="Rectangle 71">
            <a:extLst>
              <a:ext uri="{FF2B5EF4-FFF2-40B4-BE49-F238E27FC236}">
                <a16:creationId xmlns:a16="http://schemas.microsoft.com/office/drawing/2014/main" id="{97A47EBA-84A5-5DBF-F818-FC0F9F6288BB}"/>
              </a:ext>
            </a:extLst>
          </p:cNvPr>
          <p:cNvSpPr>
            <a:spLocks noChangeArrowheads="1"/>
          </p:cNvSpPr>
          <p:nvPr/>
        </p:nvSpPr>
        <p:spPr bwMode="auto">
          <a:xfrm>
            <a:off x="1524001" y="26871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17446AA1-AF36-C967-0F4D-F259CB8E7C2C}"/>
              </a:ext>
            </a:extLst>
          </p:cNvPr>
          <p:cNvSpPr>
            <a:spLocks noGrp="1" noChangeArrowheads="1"/>
          </p:cNvSpPr>
          <p:nvPr>
            <p:ph type="title"/>
          </p:nvPr>
        </p:nvSpPr>
        <p:spPr/>
        <p:txBody>
          <a:bodyPr/>
          <a:lstStyle/>
          <a:p>
            <a:r>
              <a:rPr lang="es-ES" altLang="es-PE" sz="4000"/>
              <a:t>SENSORES Y TRANSDUCTORES</a:t>
            </a:r>
          </a:p>
        </p:txBody>
      </p:sp>
      <p:sp>
        <p:nvSpPr>
          <p:cNvPr id="180227" name="Rectangle 3">
            <a:extLst>
              <a:ext uri="{FF2B5EF4-FFF2-40B4-BE49-F238E27FC236}">
                <a16:creationId xmlns:a16="http://schemas.microsoft.com/office/drawing/2014/main" id="{79D6864B-3E10-F97B-220F-74CB4A0D035C}"/>
              </a:ext>
            </a:extLst>
          </p:cNvPr>
          <p:cNvSpPr>
            <a:spLocks noGrp="1" noChangeArrowheads="1"/>
          </p:cNvSpPr>
          <p:nvPr>
            <p:ph idx="1"/>
          </p:nvPr>
        </p:nvSpPr>
        <p:spPr/>
        <p:txBody>
          <a:bodyPr/>
          <a:lstStyle/>
          <a:p>
            <a:pPr>
              <a:lnSpc>
                <a:spcPct val="80000"/>
              </a:lnSpc>
            </a:pPr>
            <a:r>
              <a:rPr lang="es-ES" altLang="es-PE" sz="2800" b="1"/>
              <a:t>Medida de pequeños desplazamientos:</a:t>
            </a:r>
          </a:p>
          <a:p>
            <a:pPr>
              <a:lnSpc>
                <a:spcPct val="80000"/>
              </a:lnSpc>
              <a:buFont typeface="Wingdings" panose="05000000000000000000" pitchFamily="2" charset="2"/>
              <a:buNone/>
            </a:pPr>
            <a:endParaRPr lang="es-ES" altLang="es-PE" sz="2800" b="1"/>
          </a:p>
          <a:p>
            <a:pPr lvl="2">
              <a:lnSpc>
                <a:spcPct val="80000"/>
              </a:lnSpc>
            </a:pPr>
            <a:r>
              <a:rPr lang="es-ES_tradnl" altLang="es-PE" sz="2800"/>
              <a:t>Sensores de tipo resistivo:</a:t>
            </a:r>
          </a:p>
          <a:p>
            <a:pPr lvl="3">
              <a:lnSpc>
                <a:spcPct val="80000"/>
              </a:lnSpc>
            </a:pPr>
            <a:r>
              <a:rPr lang="es-ES" altLang="es-PE" sz="2800"/>
              <a:t>Potenciómetro</a:t>
            </a:r>
          </a:p>
          <a:p>
            <a:pPr lvl="3">
              <a:lnSpc>
                <a:spcPct val="80000"/>
              </a:lnSpc>
            </a:pPr>
            <a:r>
              <a:rPr lang="es-ES" altLang="es-PE" sz="2800"/>
              <a:t>Galgas extensiométricas</a:t>
            </a:r>
          </a:p>
          <a:p>
            <a:pPr lvl="3">
              <a:lnSpc>
                <a:spcPct val="80000"/>
              </a:lnSpc>
              <a:buFont typeface="Wingdings" panose="05000000000000000000" pitchFamily="2" charset="2"/>
              <a:buNone/>
            </a:pPr>
            <a:endParaRPr lang="es-ES_tradnl" altLang="es-PE" sz="2800"/>
          </a:p>
          <a:p>
            <a:pPr lvl="2">
              <a:lnSpc>
                <a:spcPct val="80000"/>
              </a:lnSpc>
            </a:pPr>
            <a:r>
              <a:rPr lang="es-ES_tradnl" altLang="es-PE" sz="2800"/>
              <a:t>Sensores de tipo inductivo</a:t>
            </a:r>
          </a:p>
          <a:p>
            <a:pPr lvl="2">
              <a:lnSpc>
                <a:spcPct val="80000"/>
              </a:lnSpc>
              <a:buFont typeface="Wingdings" panose="05000000000000000000" pitchFamily="2" charset="2"/>
              <a:buNone/>
            </a:pPr>
            <a:endParaRPr lang="es-ES_tradnl" altLang="es-PE" sz="2800"/>
          </a:p>
          <a:p>
            <a:pPr lvl="2">
              <a:lnSpc>
                <a:spcPct val="80000"/>
              </a:lnSpc>
            </a:pPr>
            <a:r>
              <a:rPr lang="es-ES_tradnl" altLang="es-PE" sz="2800"/>
              <a:t>Sensores de tipo capacitivo </a:t>
            </a:r>
          </a:p>
        </p:txBody>
      </p:sp>
      <p:sp>
        <p:nvSpPr>
          <p:cNvPr id="2" name="Marcador de número de diapositiva 4">
            <a:extLst>
              <a:ext uri="{FF2B5EF4-FFF2-40B4-BE49-F238E27FC236}">
                <a16:creationId xmlns:a16="http://schemas.microsoft.com/office/drawing/2014/main" id="{2BA890C1-9B59-FA5E-C60F-3CE009404A4E}"/>
              </a:ext>
            </a:extLst>
          </p:cNvPr>
          <p:cNvSpPr>
            <a:spLocks noGrp="1"/>
          </p:cNvSpPr>
          <p:nvPr>
            <p:ph type="sldNum" sz="quarter" idx="4294967295"/>
          </p:nvPr>
        </p:nvSpPr>
        <p:spPr>
          <a:xfrm>
            <a:off x="0" y="0"/>
            <a:ext cx="0" cy="0"/>
          </a:xfrm>
        </p:spPr>
        <p:txBody>
          <a:bodyPr/>
          <a:lstStyle/>
          <a:p>
            <a:fld id="{ECC151A0-670E-4493-BF53-88330EBE53FD}" type="slidenum">
              <a:rPr lang="es-ES" altLang="es-PE"/>
              <a:pPr/>
              <a:t>17</a:t>
            </a:fld>
            <a:endParaRPr lang="es-ES" altLang="es-P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E7E65603-B727-BE9F-31C7-F508AF1507AB}"/>
              </a:ext>
            </a:extLst>
          </p:cNvPr>
          <p:cNvSpPr>
            <a:spLocks noGrp="1" noChangeArrowheads="1"/>
          </p:cNvSpPr>
          <p:nvPr>
            <p:ph type="title"/>
          </p:nvPr>
        </p:nvSpPr>
        <p:spPr/>
        <p:txBody>
          <a:bodyPr/>
          <a:lstStyle/>
          <a:p>
            <a:r>
              <a:rPr lang="es-ES" altLang="es-PE" sz="3600"/>
              <a:t>Medida de pequeños desplazamientos</a:t>
            </a:r>
          </a:p>
        </p:txBody>
      </p:sp>
      <p:sp>
        <p:nvSpPr>
          <p:cNvPr id="182275" name="Rectangle 3">
            <a:extLst>
              <a:ext uri="{FF2B5EF4-FFF2-40B4-BE49-F238E27FC236}">
                <a16:creationId xmlns:a16="http://schemas.microsoft.com/office/drawing/2014/main" id="{37E3D6CE-1C9C-DA44-F36E-8A3BC3E1801C}"/>
              </a:ext>
            </a:extLst>
          </p:cNvPr>
          <p:cNvSpPr>
            <a:spLocks noGrp="1" noChangeArrowheads="1"/>
          </p:cNvSpPr>
          <p:nvPr>
            <p:ph idx="1"/>
          </p:nvPr>
        </p:nvSpPr>
        <p:spPr/>
        <p:txBody>
          <a:bodyPr/>
          <a:lstStyle/>
          <a:p>
            <a:pPr>
              <a:lnSpc>
                <a:spcPct val="80000"/>
              </a:lnSpc>
            </a:pPr>
            <a:r>
              <a:rPr lang="es-ES_tradnl" altLang="es-PE" sz="3600"/>
              <a:t>Sensores de tipo resistivo:</a:t>
            </a:r>
          </a:p>
          <a:p>
            <a:pPr lvl="1">
              <a:lnSpc>
                <a:spcPct val="80000"/>
              </a:lnSpc>
            </a:pPr>
            <a:r>
              <a:rPr lang="es-ES" altLang="es-PE" sz="3200"/>
              <a:t>Potenciómetro:</a:t>
            </a:r>
          </a:p>
          <a:p>
            <a:pPr lvl="1">
              <a:lnSpc>
                <a:spcPct val="80000"/>
              </a:lnSpc>
            </a:pPr>
            <a:endParaRPr lang="es-ES" altLang="es-PE" sz="3200"/>
          </a:p>
          <a:p>
            <a:pPr lvl="1">
              <a:lnSpc>
                <a:spcPct val="80000"/>
              </a:lnSpc>
            </a:pPr>
            <a:endParaRPr lang="es-ES" altLang="es-PE" sz="3200"/>
          </a:p>
          <a:p>
            <a:pPr lvl="1">
              <a:lnSpc>
                <a:spcPct val="80000"/>
              </a:lnSpc>
            </a:pPr>
            <a:endParaRPr lang="es-ES" altLang="es-PE" sz="3200"/>
          </a:p>
          <a:p>
            <a:pPr lvl="1">
              <a:lnSpc>
                <a:spcPct val="80000"/>
              </a:lnSpc>
            </a:pPr>
            <a:endParaRPr lang="es-ES" altLang="es-PE" sz="3200"/>
          </a:p>
          <a:p>
            <a:pPr lvl="1">
              <a:lnSpc>
                <a:spcPct val="80000"/>
              </a:lnSpc>
            </a:pPr>
            <a:r>
              <a:rPr lang="es-ES" altLang="es-PE" sz="3200"/>
              <a:t>Galgas extensiométricas:</a:t>
            </a:r>
            <a:endParaRPr lang="es-ES_tradnl" altLang="es-PE" sz="3200"/>
          </a:p>
          <a:p>
            <a:pPr lvl="3">
              <a:lnSpc>
                <a:spcPct val="80000"/>
              </a:lnSpc>
              <a:buFont typeface="Wingdings" panose="05000000000000000000" pitchFamily="2" charset="2"/>
              <a:buNone/>
            </a:pPr>
            <a:endParaRPr lang="es-ES" altLang="es-PE" sz="2800"/>
          </a:p>
          <a:p>
            <a:pPr lvl="3">
              <a:lnSpc>
                <a:spcPct val="80000"/>
              </a:lnSpc>
              <a:buFont typeface="Wingdings" panose="05000000000000000000" pitchFamily="2" charset="2"/>
              <a:buNone/>
            </a:pPr>
            <a:endParaRPr lang="es-ES" altLang="es-PE" sz="2800"/>
          </a:p>
          <a:p>
            <a:pPr lvl="3">
              <a:lnSpc>
                <a:spcPct val="80000"/>
              </a:lnSpc>
              <a:buFont typeface="Wingdings" panose="05000000000000000000" pitchFamily="2" charset="2"/>
              <a:buNone/>
            </a:pPr>
            <a:endParaRPr lang="es-ES" altLang="es-PE" sz="2800"/>
          </a:p>
          <a:p>
            <a:pPr lvl="3">
              <a:lnSpc>
                <a:spcPct val="80000"/>
              </a:lnSpc>
              <a:buFont typeface="Wingdings" panose="05000000000000000000" pitchFamily="2" charset="2"/>
              <a:buNone/>
            </a:pPr>
            <a:endParaRPr lang="es-ES" altLang="es-PE" sz="2800"/>
          </a:p>
          <a:p>
            <a:pPr lvl="3">
              <a:lnSpc>
                <a:spcPct val="80000"/>
              </a:lnSpc>
              <a:buFont typeface="Wingdings" panose="05000000000000000000" pitchFamily="2" charset="2"/>
              <a:buNone/>
            </a:pPr>
            <a:endParaRPr lang="es-ES" altLang="es-PE" sz="2800"/>
          </a:p>
          <a:p>
            <a:pPr lvl="3">
              <a:lnSpc>
                <a:spcPct val="80000"/>
              </a:lnSpc>
              <a:buFont typeface="Wingdings" panose="05000000000000000000" pitchFamily="2" charset="2"/>
              <a:buNone/>
            </a:pPr>
            <a:endParaRPr lang="es-ES" altLang="es-PE" sz="2800"/>
          </a:p>
          <a:p>
            <a:pPr lvl="3">
              <a:lnSpc>
                <a:spcPct val="80000"/>
              </a:lnSpc>
              <a:buFont typeface="Wingdings" panose="05000000000000000000" pitchFamily="2" charset="2"/>
              <a:buNone/>
            </a:pPr>
            <a:endParaRPr lang="es-ES" altLang="es-PE" sz="2800"/>
          </a:p>
          <a:p>
            <a:pPr lvl="3">
              <a:lnSpc>
                <a:spcPct val="80000"/>
              </a:lnSpc>
              <a:buFont typeface="Wingdings" panose="05000000000000000000" pitchFamily="2" charset="2"/>
              <a:buNone/>
            </a:pPr>
            <a:endParaRPr lang="es-ES" altLang="es-PE" sz="2800"/>
          </a:p>
          <a:p>
            <a:pPr lvl="3">
              <a:lnSpc>
                <a:spcPct val="80000"/>
              </a:lnSpc>
              <a:buFont typeface="Wingdings" panose="05000000000000000000" pitchFamily="2" charset="2"/>
              <a:buNone/>
            </a:pPr>
            <a:endParaRPr lang="es-ES_tradnl" altLang="es-PE" sz="2800"/>
          </a:p>
        </p:txBody>
      </p:sp>
      <p:sp>
        <p:nvSpPr>
          <p:cNvPr id="2" name="Marcador de número de diapositiva 4">
            <a:extLst>
              <a:ext uri="{FF2B5EF4-FFF2-40B4-BE49-F238E27FC236}">
                <a16:creationId xmlns:a16="http://schemas.microsoft.com/office/drawing/2014/main" id="{390A0E4B-7E7F-4A46-42C8-21486B8E164C}"/>
              </a:ext>
            </a:extLst>
          </p:cNvPr>
          <p:cNvSpPr>
            <a:spLocks noGrp="1"/>
          </p:cNvSpPr>
          <p:nvPr>
            <p:ph type="sldNum" sz="quarter" idx="4294967295"/>
          </p:nvPr>
        </p:nvSpPr>
        <p:spPr>
          <a:xfrm>
            <a:off x="0" y="0"/>
            <a:ext cx="0" cy="0"/>
          </a:xfrm>
        </p:spPr>
        <p:txBody>
          <a:bodyPr/>
          <a:lstStyle/>
          <a:p>
            <a:fld id="{A9188CF2-F807-4596-8C47-BFFBF9C9AA2B}" type="slidenum">
              <a:rPr lang="es-ES" altLang="es-PE"/>
              <a:pPr/>
              <a:t>18</a:t>
            </a:fld>
            <a:endParaRPr lang="es-ES" altLang="es-PE"/>
          </a:p>
        </p:txBody>
      </p:sp>
      <p:grpSp>
        <p:nvGrpSpPr>
          <p:cNvPr id="182276" name="Group 4">
            <a:extLst>
              <a:ext uri="{FF2B5EF4-FFF2-40B4-BE49-F238E27FC236}">
                <a16:creationId xmlns:a16="http://schemas.microsoft.com/office/drawing/2014/main" id="{F5816215-58D1-7D4D-98B0-A284DB681D05}"/>
              </a:ext>
            </a:extLst>
          </p:cNvPr>
          <p:cNvGrpSpPr>
            <a:grpSpLocks/>
          </p:cNvGrpSpPr>
          <p:nvPr/>
        </p:nvGrpSpPr>
        <p:grpSpPr bwMode="auto">
          <a:xfrm>
            <a:off x="2711450" y="2781301"/>
            <a:ext cx="2160588" cy="1368425"/>
            <a:chOff x="2421" y="12548"/>
            <a:chExt cx="2760" cy="1290"/>
          </a:xfrm>
        </p:grpSpPr>
        <p:sp>
          <p:nvSpPr>
            <p:cNvPr id="182277" name="Rectangle 5">
              <a:extLst>
                <a:ext uri="{FF2B5EF4-FFF2-40B4-BE49-F238E27FC236}">
                  <a16:creationId xmlns:a16="http://schemas.microsoft.com/office/drawing/2014/main" id="{089E6C3E-C249-63E4-29FA-0D943DD6BF51}"/>
                </a:ext>
              </a:extLst>
            </p:cNvPr>
            <p:cNvSpPr>
              <a:spLocks noChangeArrowheads="1"/>
            </p:cNvSpPr>
            <p:nvPr/>
          </p:nvSpPr>
          <p:spPr bwMode="auto">
            <a:xfrm>
              <a:off x="3141" y="13298"/>
              <a:ext cx="1320" cy="180"/>
            </a:xfrm>
            <a:prstGeom prst="rect">
              <a:avLst/>
            </a:prstGeom>
            <a:solidFill>
              <a:srgbClr val="FFFFFF"/>
            </a:solidFill>
            <a:ln w="9525">
              <a:solidFill>
                <a:srgbClr val="000000"/>
              </a:solidFill>
              <a:miter lim="800000"/>
              <a:headEnd/>
              <a:tailEnd/>
            </a:ln>
          </p:spPr>
          <p:txBody>
            <a:bodyPr/>
            <a:lstStyle/>
            <a:p>
              <a:endParaRPr lang="es-PE"/>
            </a:p>
          </p:txBody>
        </p:sp>
        <p:sp>
          <p:nvSpPr>
            <p:cNvPr id="182278" name="Line 6">
              <a:extLst>
                <a:ext uri="{FF2B5EF4-FFF2-40B4-BE49-F238E27FC236}">
                  <a16:creationId xmlns:a16="http://schemas.microsoft.com/office/drawing/2014/main" id="{B50A970D-B440-2E87-D340-BCAA0D48EC03}"/>
                </a:ext>
              </a:extLst>
            </p:cNvPr>
            <p:cNvSpPr>
              <a:spLocks noChangeShapeType="1"/>
            </p:cNvSpPr>
            <p:nvPr/>
          </p:nvSpPr>
          <p:spPr bwMode="auto">
            <a:xfrm>
              <a:off x="2421" y="13388"/>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82279" name="Line 7">
              <a:extLst>
                <a:ext uri="{FF2B5EF4-FFF2-40B4-BE49-F238E27FC236}">
                  <a16:creationId xmlns:a16="http://schemas.microsoft.com/office/drawing/2014/main" id="{E7A6F7B4-CA86-CA12-5AED-B95C55FBA3C7}"/>
                </a:ext>
              </a:extLst>
            </p:cNvPr>
            <p:cNvSpPr>
              <a:spLocks noChangeShapeType="1"/>
            </p:cNvSpPr>
            <p:nvPr/>
          </p:nvSpPr>
          <p:spPr bwMode="auto">
            <a:xfrm>
              <a:off x="4461" y="13388"/>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82280" name="Line 8">
              <a:extLst>
                <a:ext uri="{FF2B5EF4-FFF2-40B4-BE49-F238E27FC236}">
                  <a16:creationId xmlns:a16="http://schemas.microsoft.com/office/drawing/2014/main" id="{AACF7CC1-AF80-9169-D902-1B1F6C69002F}"/>
                </a:ext>
              </a:extLst>
            </p:cNvPr>
            <p:cNvSpPr>
              <a:spLocks noChangeShapeType="1"/>
            </p:cNvSpPr>
            <p:nvPr/>
          </p:nvSpPr>
          <p:spPr bwMode="auto">
            <a:xfrm>
              <a:off x="3861" y="12938"/>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82281" name="Line 9">
              <a:extLst>
                <a:ext uri="{FF2B5EF4-FFF2-40B4-BE49-F238E27FC236}">
                  <a16:creationId xmlns:a16="http://schemas.microsoft.com/office/drawing/2014/main" id="{CC3145B0-3CAB-1761-1EA2-65A8E6847014}"/>
                </a:ext>
              </a:extLst>
            </p:cNvPr>
            <p:cNvSpPr>
              <a:spLocks noChangeShapeType="1"/>
            </p:cNvSpPr>
            <p:nvPr/>
          </p:nvSpPr>
          <p:spPr bwMode="auto">
            <a:xfrm>
              <a:off x="3141" y="13658"/>
              <a:ext cx="132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82282" name="Text Box 10">
              <a:extLst>
                <a:ext uri="{FF2B5EF4-FFF2-40B4-BE49-F238E27FC236}">
                  <a16:creationId xmlns:a16="http://schemas.microsoft.com/office/drawing/2014/main" id="{DAD9C099-8DC6-98B4-4BC3-DEE46BBD9516}"/>
                </a:ext>
              </a:extLst>
            </p:cNvPr>
            <p:cNvSpPr txBox="1">
              <a:spLocks noChangeArrowheads="1"/>
            </p:cNvSpPr>
            <p:nvPr/>
          </p:nvSpPr>
          <p:spPr bwMode="auto">
            <a:xfrm>
              <a:off x="3621" y="13478"/>
              <a:ext cx="48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s-ES_tradnl" altLang="es-PE" sz="1200"/>
                <a:t>l</a:t>
              </a:r>
              <a:endParaRPr lang="es-ES_tradnl" altLang="es-PE"/>
            </a:p>
          </p:txBody>
        </p:sp>
        <p:sp>
          <p:nvSpPr>
            <p:cNvPr id="182283" name="Line 11">
              <a:extLst>
                <a:ext uri="{FF2B5EF4-FFF2-40B4-BE49-F238E27FC236}">
                  <a16:creationId xmlns:a16="http://schemas.microsoft.com/office/drawing/2014/main" id="{45CACA00-7F3A-428D-8AB3-3D6F74F9014D}"/>
                </a:ext>
              </a:extLst>
            </p:cNvPr>
            <p:cNvSpPr>
              <a:spLocks noChangeShapeType="1"/>
            </p:cNvSpPr>
            <p:nvPr/>
          </p:nvSpPr>
          <p:spPr bwMode="auto">
            <a:xfrm>
              <a:off x="3141" y="13118"/>
              <a:ext cx="72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82284" name="Text Box 12">
              <a:extLst>
                <a:ext uri="{FF2B5EF4-FFF2-40B4-BE49-F238E27FC236}">
                  <a16:creationId xmlns:a16="http://schemas.microsoft.com/office/drawing/2014/main" id="{44E7FC05-054F-A96D-0D2B-B6B8DA8895DA}"/>
                </a:ext>
              </a:extLst>
            </p:cNvPr>
            <p:cNvSpPr txBox="1">
              <a:spLocks noChangeArrowheads="1"/>
            </p:cNvSpPr>
            <p:nvPr/>
          </p:nvSpPr>
          <p:spPr bwMode="auto">
            <a:xfrm>
              <a:off x="3321" y="12743"/>
              <a:ext cx="360" cy="3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s-ES_tradnl" altLang="es-PE" sz="1200"/>
                <a:t>x</a:t>
              </a:r>
              <a:endParaRPr lang="es-ES_tradnl" altLang="es-PE"/>
            </a:p>
          </p:txBody>
        </p:sp>
        <p:sp>
          <p:nvSpPr>
            <p:cNvPr id="182285" name="Line 13">
              <a:extLst>
                <a:ext uri="{FF2B5EF4-FFF2-40B4-BE49-F238E27FC236}">
                  <a16:creationId xmlns:a16="http://schemas.microsoft.com/office/drawing/2014/main" id="{D3A11A2B-CCF8-7A09-975C-2B4E9E3A5A79}"/>
                </a:ext>
              </a:extLst>
            </p:cNvPr>
            <p:cNvSpPr>
              <a:spLocks noChangeShapeType="1"/>
            </p:cNvSpPr>
            <p:nvPr/>
          </p:nvSpPr>
          <p:spPr bwMode="auto">
            <a:xfrm>
              <a:off x="3861" y="13118"/>
              <a:ext cx="60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82286" name="Text Box 14">
              <a:extLst>
                <a:ext uri="{FF2B5EF4-FFF2-40B4-BE49-F238E27FC236}">
                  <a16:creationId xmlns:a16="http://schemas.microsoft.com/office/drawing/2014/main" id="{8AEDE01D-9630-A00B-B780-266352BBE480}"/>
                </a:ext>
              </a:extLst>
            </p:cNvPr>
            <p:cNvSpPr txBox="1">
              <a:spLocks noChangeArrowheads="1"/>
            </p:cNvSpPr>
            <p:nvPr/>
          </p:nvSpPr>
          <p:spPr bwMode="auto">
            <a:xfrm>
              <a:off x="3981" y="12548"/>
              <a:ext cx="360" cy="5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s-ES_tradnl" altLang="es-PE" sz="1200"/>
                <a:t>R</a:t>
              </a:r>
              <a:endParaRPr lang="es-ES_tradnl" altLang="es-PE"/>
            </a:p>
          </p:txBody>
        </p:sp>
      </p:grpSp>
      <p:sp>
        <p:nvSpPr>
          <p:cNvPr id="182288" name="Rectangle 16">
            <a:extLst>
              <a:ext uri="{FF2B5EF4-FFF2-40B4-BE49-F238E27FC236}">
                <a16:creationId xmlns:a16="http://schemas.microsoft.com/office/drawing/2014/main" id="{24C95347-6224-4395-321F-E79A4A250AB3}"/>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82287" name="Object 15">
            <a:extLst>
              <a:ext uri="{FF2B5EF4-FFF2-40B4-BE49-F238E27FC236}">
                <a16:creationId xmlns:a16="http://schemas.microsoft.com/office/drawing/2014/main" id="{0198351B-C369-564B-318C-BDF215E8D3E5}"/>
              </a:ext>
            </a:extLst>
          </p:cNvPr>
          <p:cNvGraphicFramePr>
            <a:graphicFrameLocks noChangeAspect="1"/>
          </p:cNvGraphicFramePr>
          <p:nvPr/>
        </p:nvGraphicFramePr>
        <p:xfrm>
          <a:off x="5808664" y="1989139"/>
          <a:ext cx="3455987" cy="879475"/>
        </p:xfrm>
        <a:graphic>
          <a:graphicData uri="http://schemas.openxmlformats.org/presentationml/2006/ole">
            <mc:AlternateContent xmlns:mc="http://schemas.openxmlformats.org/markup-compatibility/2006">
              <mc:Choice xmlns:v="urn:schemas-microsoft-com:vml" Requires="v">
                <p:oleObj name="Ecuación" r:id="rId2" imgW="1536033" imgH="393529" progId="Equation.3">
                  <p:embed/>
                </p:oleObj>
              </mc:Choice>
              <mc:Fallback>
                <p:oleObj name="Ecuación" r:id="rId2" imgW="1536033" imgH="393529" progId="Equation.3">
                  <p:embed/>
                  <p:pic>
                    <p:nvPicPr>
                      <p:cNvPr id="182287" name="Object 15">
                        <a:extLst>
                          <a:ext uri="{FF2B5EF4-FFF2-40B4-BE49-F238E27FC236}">
                            <a16:creationId xmlns:a16="http://schemas.microsoft.com/office/drawing/2014/main" id="{0198351B-C369-564B-318C-BDF215E8D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8664" y="1989139"/>
                        <a:ext cx="3455987" cy="87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2290" name="Rectangle 18">
            <a:extLst>
              <a:ext uri="{FF2B5EF4-FFF2-40B4-BE49-F238E27FC236}">
                <a16:creationId xmlns:a16="http://schemas.microsoft.com/office/drawing/2014/main" id="{DDBB15B0-9DF2-25DD-71F4-DF7551340BF4}"/>
              </a:ext>
            </a:extLst>
          </p:cNvPr>
          <p:cNvSpPr>
            <a:spLocks noChangeArrowheads="1"/>
          </p:cNvSpPr>
          <p:nvPr/>
        </p:nvSpPr>
        <p:spPr bwMode="auto">
          <a:xfrm>
            <a:off x="1524001" y="26871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82289" name="Object 17">
            <a:extLst>
              <a:ext uri="{FF2B5EF4-FFF2-40B4-BE49-F238E27FC236}">
                <a16:creationId xmlns:a16="http://schemas.microsoft.com/office/drawing/2014/main" id="{598BAE39-0DF7-8EB7-918F-F2DB019E4115}"/>
              </a:ext>
            </a:extLst>
          </p:cNvPr>
          <p:cNvGraphicFramePr>
            <a:graphicFrameLocks noChangeAspect="1"/>
          </p:cNvGraphicFramePr>
          <p:nvPr/>
        </p:nvGraphicFramePr>
        <p:xfrm>
          <a:off x="5448301" y="2924176"/>
          <a:ext cx="4824413" cy="1393825"/>
        </p:xfrm>
        <a:graphic>
          <a:graphicData uri="http://schemas.openxmlformats.org/presentationml/2006/ole">
            <mc:AlternateContent xmlns:mc="http://schemas.openxmlformats.org/markup-compatibility/2006">
              <mc:Choice xmlns:v="urn:schemas-microsoft-com:vml" Requires="v">
                <p:oleObj name="Ecuación" r:id="rId4" imgW="3860800" imgH="1117600" progId="Equation.3">
                  <p:embed/>
                </p:oleObj>
              </mc:Choice>
              <mc:Fallback>
                <p:oleObj name="Ecuación" r:id="rId4" imgW="3860800" imgH="1117600" progId="Equation.3">
                  <p:embed/>
                  <p:pic>
                    <p:nvPicPr>
                      <p:cNvPr id="182289" name="Object 17">
                        <a:extLst>
                          <a:ext uri="{FF2B5EF4-FFF2-40B4-BE49-F238E27FC236}">
                            <a16:creationId xmlns:a16="http://schemas.microsoft.com/office/drawing/2014/main" id="{598BAE39-0DF7-8EB7-918F-F2DB019E41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8301" y="2924176"/>
                        <a:ext cx="4824413" cy="1393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2292" name="Rectangle 20">
            <a:extLst>
              <a:ext uri="{FF2B5EF4-FFF2-40B4-BE49-F238E27FC236}">
                <a16:creationId xmlns:a16="http://schemas.microsoft.com/office/drawing/2014/main" id="{798EA6A2-7A41-7E44-A4C3-141400D95763}"/>
              </a:ext>
            </a:extLst>
          </p:cNvPr>
          <p:cNvSpPr>
            <a:spLocks noChangeArrowheads="1"/>
          </p:cNvSpPr>
          <p:nvPr/>
        </p:nvSpPr>
        <p:spPr bwMode="auto">
          <a:xfrm>
            <a:off x="1524001" y="3315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82291" name="Object 19">
            <a:extLst>
              <a:ext uri="{FF2B5EF4-FFF2-40B4-BE49-F238E27FC236}">
                <a16:creationId xmlns:a16="http://schemas.microsoft.com/office/drawing/2014/main" id="{5639600E-8733-CFE5-C415-C3111CF2449C}"/>
              </a:ext>
            </a:extLst>
          </p:cNvPr>
          <p:cNvGraphicFramePr>
            <a:graphicFrameLocks noChangeAspect="1"/>
          </p:cNvGraphicFramePr>
          <p:nvPr/>
        </p:nvGraphicFramePr>
        <p:xfrm>
          <a:off x="2782888" y="5157789"/>
          <a:ext cx="1657350" cy="1150937"/>
        </p:xfrm>
        <a:graphic>
          <a:graphicData uri="http://schemas.openxmlformats.org/presentationml/2006/ole">
            <mc:AlternateContent xmlns:mc="http://schemas.openxmlformats.org/markup-compatibility/2006">
              <mc:Choice xmlns:v="urn:schemas-microsoft-com:vml" Requires="v">
                <p:oleObj name="Ecuación" r:id="rId6" imgW="558558" imgH="393529" progId="Equation.3">
                  <p:embed/>
                </p:oleObj>
              </mc:Choice>
              <mc:Fallback>
                <p:oleObj name="Ecuación" r:id="rId6" imgW="558558" imgH="393529" progId="Equation.3">
                  <p:embed/>
                  <p:pic>
                    <p:nvPicPr>
                      <p:cNvPr id="182291" name="Object 19">
                        <a:extLst>
                          <a:ext uri="{FF2B5EF4-FFF2-40B4-BE49-F238E27FC236}">
                            <a16:creationId xmlns:a16="http://schemas.microsoft.com/office/drawing/2014/main" id="{5639600E-8733-CFE5-C415-C3111CF244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82888" y="5157789"/>
                        <a:ext cx="1657350" cy="1150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2294" name="Rectangle 22">
            <a:extLst>
              <a:ext uri="{FF2B5EF4-FFF2-40B4-BE49-F238E27FC236}">
                <a16:creationId xmlns:a16="http://schemas.microsoft.com/office/drawing/2014/main" id="{BE0231D1-93E9-1287-FC40-9504D647BF1C}"/>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82293" name="Object 21">
            <a:extLst>
              <a:ext uri="{FF2B5EF4-FFF2-40B4-BE49-F238E27FC236}">
                <a16:creationId xmlns:a16="http://schemas.microsoft.com/office/drawing/2014/main" id="{F5F5CA54-613E-407D-F7EE-98236A14ACE7}"/>
              </a:ext>
            </a:extLst>
          </p:cNvPr>
          <p:cNvGraphicFramePr>
            <a:graphicFrameLocks noChangeAspect="1"/>
          </p:cNvGraphicFramePr>
          <p:nvPr/>
        </p:nvGraphicFramePr>
        <p:xfrm>
          <a:off x="5448300" y="5084764"/>
          <a:ext cx="2376488" cy="1373187"/>
        </p:xfrm>
        <a:graphic>
          <a:graphicData uri="http://schemas.openxmlformats.org/presentationml/2006/ole">
            <mc:AlternateContent xmlns:mc="http://schemas.openxmlformats.org/markup-compatibility/2006">
              <mc:Choice xmlns:v="urn:schemas-microsoft-com:vml" Requires="v">
                <p:oleObj name="Ecuación" r:id="rId8" imgW="1536700" imgH="889000" progId="Equation.3">
                  <p:embed/>
                </p:oleObj>
              </mc:Choice>
              <mc:Fallback>
                <p:oleObj name="Ecuación" r:id="rId8" imgW="1536700" imgH="889000" progId="Equation.3">
                  <p:embed/>
                  <p:pic>
                    <p:nvPicPr>
                      <p:cNvPr id="182293" name="Object 21">
                        <a:extLst>
                          <a:ext uri="{FF2B5EF4-FFF2-40B4-BE49-F238E27FC236}">
                            <a16:creationId xmlns:a16="http://schemas.microsoft.com/office/drawing/2014/main" id="{F5F5CA54-613E-407D-F7EE-98236A14ACE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48300" y="5084764"/>
                        <a:ext cx="2376488" cy="1373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4" name="Rectangle 24">
            <a:extLst>
              <a:ext uri="{FF2B5EF4-FFF2-40B4-BE49-F238E27FC236}">
                <a16:creationId xmlns:a16="http://schemas.microsoft.com/office/drawing/2014/main" id="{C753F5EE-F73E-561E-DDFF-808AFBD30250}"/>
              </a:ext>
            </a:extLst>
          </p:cNvPr>
          <p:cNvSpPr>
            <a:spLocks noGrp="1" noChangeArrowheads="1"/>
          </p:cNvSpPr>
          <p:nvPr>
            <p:ph type="title"/>
          </p:nvPr>
        </p:nvSpPr>
        <p:spPr>
          <a:noFill/>
          <a:ln/>
        </p:spPr>
        <p:txBody>
          <a:bodyPr/>
          <a:lstStyle/>
          <a:p>
            <a:r>
              <a:rPr lang="es-ES" altLang="es-PE" sz="3600"/>
              <a:t>Medida de pequeños desplazamientos</a:t>
            </a:r>
          </a:p>
        </p:txBody>
      </p:sp>
      <p:graphicFrame>
        <p:nvGraphicFramePr>
          <p:cNvPr id="184341" name="Object 21">
            <a:extLst>
              <a:ext uri="{FF2B5EF4-FFF2-40B4-BE49-F238E27FC236}">
                <a16:creationId xmlns:a16="http://schemas.microsoft.com/office/drawing/2014/main" id="{B8DDEA09-3C6A-9DB9-BA86-1137234887B1}"/>
              </a:ext>
            </a:extLst>
          </p:cNvPr>
          <p:cNvGraphicFramePr>
            <a:graphicFrameLocks noGrp="1" noChangeAspect="1"/>
          </p:cNvGraphicFramePr>
          <p:nvPr>
            <p:ph idx="1"/>
            <p:extLst>
              <p:ext uri="{D42A27DB-BD31-4B8C-83A1-F6EECF244321}">
                <p14:modId xmlns:p14="http://schemas.microsoft.com/office/powerpoint/2010/main" val="305858271"/>
              </p:ext>
            </p:extLst>
          </p:nvPr>
        </p:nvGraphicFramePr>
        <p:xfrm>
          <a:off x="9001125" y="4579938"/>
          <a:ext cx="190500" cy="190500"/>
        </p:xfrm>
        <a:graphic>
          <a:graphicData uri="http://schemas.openxmlformats.org/presentationml/2006/ole">
            <mc:AlternateContent xmlns:mc="http://schemas.openxmlformats.org/markup-compatibility/2006">
              <mc:Choice xmlns:v="urn:schemas-microsoft-com:vml" Requires="v">
                <p:oleObj name="Ecuación" r:id="rId2" imgW="190440" imgH="190440" progId="Equation.3">
                  <p:embed/>
                </p:oleObj>
              </mc:Choice>
              <mc:Fallback>
                <p:oleObj name="Ecuación" r:id="rId2" imgW="190440" imgH="190440" progId="Equation.3">
                  <p:embed/>
                  <p:pic>
                    <p:nvPicPr>
                      <p:cNvPr id="184341" name="Object 21">
                        <a:extLst>
                          <a:ext uri="{FF2B5EF4-FFF2-40B4-BE49-F238E27FC236}">
                            <a16:creationId xmlns:a16="http://schemas.microsoft.com/office/drawing/2014/main" id="{B8DDEA09-3C6A-9DB9-BA86-1137234887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25" y="4579938"/>
                        <a:ext cx="190500"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Marcador de número de diapositiva 5">
            <a:extLst>
              <a:ext uri="{FF2B5EF4-FFF2-40B4-BE49-F238E27FC236}">
                <a16:creationId xmlns:a16="http://schemas.microsoft.com/office/drawing/2014/main" id="{8063B629-3862-0F09-0D7F-D2BEE12544EF}"/>
              </a:ext>
            </a:extLst>
          </p:cNvPr>
          <p:cNvSpPr>
            <a:spLocks noGrp="1"/>
          </p:cNvSpPr>
          <p:nvPr>
            <p:ph type="sldNum" sz="quarter" idx="4294967295"/>
          </p:nvPr>
        </p:nvSpPr>
        <p:spPr>
          <a:xfrm>
            <a:off x="9347200" y="6248400"/>
            <a:ext cx="2844800" cy="457200"/>
          </a:xfrm>
        </p:spPr>
        <p:txBody>
          <a:bodyPr/>
          <a:lstStyle/>
          <a:p>
            <a:fld id="{99C9E3BD-DF2C-4EBB-80D1-B56183DA40A4}" type="slidenum">
              <a:rPr lang="es-ES" altLang="es-PE"/>
              <a:pPr/>
              <a:t>19</a:t>
            </a:fld>
            <a:endParaRPr lang="es-ES" altLang="es-PE"/>
          </a:p>
        </p:txBody>
      </p:sp>
      <p:sp>
        <p:nvSpPr>
          <p:cNvPr id="184323" name="Rectangle 3">
            <a:extLst>
              <a:ext uri="{FF2B5EF4-FFF2-40B4-BE49-F238E27FC236}">
                <a16:creationId xmlns:a16="http://schemas.microsoft.com/office/drawing/2014/main" id="{EFE5D8CD-41AD-4806-0737-05EA64151235}"/>
              </a:ext>
            </a:extLst>
          </p:cNvPr>
          <p:cNvSpPr>
            <a:spLocks noGrp="1" noChangeArrowheads="1"/>
          </p:cNvSpPr>
          <p:nvPr>
            <p:ph type="body" sz="half" idx="4294967295"/>
          </p:nvPr>
        </p:nvSpPr>
        <p:spPr>
          <a:xfrm>
            <a:off x="914400" y="1389955"/>
            <a:ext cx="8002588" cy="3886200"/>
          </a:xfrm>
        </p:spPr>
        <p:txBody>
          <a:bodyPr/>
          <a:lstStyle/>
          <a:p>
            <a:pPr>
              <a:lnSpc>
                <a:spcPct val="80000"/>
              </a:lnSpc>
            </a:pPr>
            <a:r>
              <a:rPr lang="es-ES_tradnl" altLang="es-PE" dirty="0"/>
              <a:t>Sensores de tipo capacitivo:</a:t>
            </a:r>
          </a:p>
          <a:p>
            <a:pPr>
              <a:lnSpc>
                <a:spcPct val="80000"/>
              </a:lnSpc>
            </a:pPr>
            <a:endParaRPr lang="es-ES" altLang="es-PE" dirty="0"/>
          </a:p>
          <a:p>
            <a:pPr>
              <a:lnSpc>
                <a:spcPct val="80000"/>
              </a:lnSpc>
            </a:pPr>
            <a:endParaRPr lang="es-ES" altLang="es-PE" dirty="0"/>
          </a:p>
          <a:p>
            <a:pPr>
              <a:lnSpc>
                <a:spcPct val="80000"/>
              </a:lnSpc>
            </a:pPr>
            <a:endParaRPr lang="es-ES" altLang="es-PE" dirty="0"/>
          </a:p>
          <a:p>
            <a:pPr>
              <a:lnSpc>
                <a:spcPct val="80000"/>
              </a:lnSpc>
            </a:pPr>
            <a:endParaRPr lang="es-ES_tradnl" altLang="es-PE" dirty="0"/>
          </a:p>
          <a:p>
            <a:pPr>
              <a:lnSpc>
                <a:spcPct val="80000"/>
              </a:lnSpc>
              <a:buFont typeface="Wingdings" panose="05000000000000000000" pitchFamily="2" charset="2"/>
              <a:buNone/>
            </a:pPr>
            <a:endParaRPr lang="es-ES_tradnl" altLang="es-PE" dirty="0"/>
          </a:p>
          <a:p>
            <a:pPr lvl="2">
              <a:lnSpc>
                <a:spcPct val="80000"/>
              </a:lnSpc>
              <a:buFont typeface="Wingdings" panose="05000000000000000000" pitchFamily="2" charset="2"/>
              <a:buNone/>
            </a:pPr>
            <a:endParaRPr lang="es-ES_tradnl" altLang="es-PE" dirty="0"/>
          </a:p>
          <a:p>
            <a:pPr lvl="2">
              <a:lnSpc>
                <a:spcPct val="80000"/>
              </a:lnSpc>
            </a:pPr>
            <a:endParaRPr lang="es-ES_tradnl" altLang="es-PE" dirty="0"/>
          </a:p>
        </p:txBody>
      </p:sp>
      <p:sp>
        <p:nvSpPr>
          <p:cNvPr id="184325" name="Text Box 5">
            <a:extLst>
              <a:ext uri="{FF2B5EF4-FFF2-40B4-BE49-F238E27FC236}">
                <a16:creationId xmlns:a16="http://schemas.microsoft.com/office/drawing/2014/main" id="{8BDFA91A-32F6-EDB8-5EDE-CC9298F15F6A}"/>
              </a:ext>
            </a:extLst>
          </p:cNvPr>
          <p:cNvSpPr txBox="1">
            <a:spLocks noChangeArrowheads="1"/>
          </p:cNvSpPr>
          <p:nvPr/>
        </p:nvSpPr>
        <p:spPr bwMode="auto">
          <a:xfrm>
            <a:off x="5602289" y="1912158"/>
            <a:ext cx="5109006" cy="3046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PE" sz="2400" dirty="0"/>
              <a:t>Están formado por dos condensadores variables dispuestos físicamente de tal modo que experimentan el mismo cambio pero en sentidos opuestos. Los sensores capacitivos diferenciales se emplean para medir desplazamientos entre 10  y10mm, con valores de capacidad del orden de 1 a 1000pF</a:t>
            </a:r>
            <a:r>
              <a:rPr lang="es-ES_tradnl" altLang="es-PE" sz="2400" dirty="0"/>
              <a:t> </a:t>
            </a:r>
          </a:p>
        </p:txBody>
      </p:sp>
      <p:grpSp>
        <p:nvGrpSpPr>
          <p:cNvPr id="184326" name="Group 6">
            <a:extLst>
              <a:ext uri="{FF2B5EF4-FFF2-40B4-BE49-F238E27FC236}">
                <a16:creationId xmlns:a16="http://schemas.microsoft.com/office/drawing/2014/main" id="{C2E61CC6-9366-D3A5-D0FC-86EDA875B6DA}"/>
              </a:ext>
            </a:extLst>
          </p:cNvPr>
          <p:cNvGrpSpPr>
            <a:grpSpLocks/>
          </p:cNvGrpSpPr>
          <p:nvPr/>
        </p:nvGrpSpPr>
        <p:grpSpPr bwMode="auto">
          <a:xfrm>
            <a:off x="2208213" y="2636839"/>
            <a:ext cx="3600450" cy="2016125"/>
            <a:chOff x="2541" y="8978"/>
            <a:chExt cx="3960" cy="2085"/>
          </a:xfrm>
        </p:grpSpPr>
        <p:sp>
          <p:nvSpPr>
            <p:cNvPr id="184327" name="Oval 7">
              <a:extLst>
                <a:ext uri="{FF2B5EF4-FFF2-40B4-BE49-F238E27FC236}">
                  <a16:creationId xmlns:a16="http://schemas.microsoft.com/office/drawing/2014/main" id="{755604C4-9406-7448-A900-C0359C9C3597}"/>
                </a:ext>
              </a:extLst>
            </p:cNvPr>
            <p:cNvSpPr>
              <a:spLocks noChangeArrowheads="1"/>
            </p:cNvSpPr>
            <p:nvPr/>
          </p:nvSpPr>
          <p:spPr bwMode="auto">
            <a:xfrm>
              <a:off x="3501" y="9338"/>
              <a:ext cx="1680" cy="162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s-PE"/>
            </a:p>
          </p:txBody>
        </p:sp>
        <p:sp>
          <p:nvSpPr>
            <p:cNvPr id="184328" name="Oval 8">
              <a:extLst>
                <a:ext uri="{FF2B5EF4-FFF2-40B4-BE49-F238E27FC236}">
                  <a16:creationId xmlns:a16="http://schemas.microsoft.com/office/drawing/2014/main" id="{FB9C0F74-0954-A0FF-936B-53A7788C54F1}"/>
                </a:ext>
              </a:extLst>
            </p:cNvPr>
            <p:cNvSpPr>
              <a:spLocks noChangeArrowheads="1"/>
            </p:cNvSpPr>
            <p:nvPr/>
          </p:nvSpPr>
          <p:spPr bwMode="auto">
            <a:xfrm>
              <a:off x="3651" y="9443"/>
              <a:ext cx="1680" cy="1620"/>
            </a:xfrm>
            <a:prstGeom prst="ellipse">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s-PE"/>
            </a:p>
          </p:txBody>
        </p:sp>
        <p:sp>
          <p:nvSpPr>
            <p:cNvPr id="184329" name="Rectangle 9">
              <a:extLst>
                <a:ext uri="{FF2B5EF4-FFF2-40B4-BE49-F238E27FC236}">
                  <a16:creationId xmlns:a16="http://schemas.microsoft.com/office/drawing/2014/main" id="{1354DC2C-C8A7-0746-36EF-F1FCA7EA78DC}"/>
                </a:ext>
              </a:extLst>
            </p:cNvPr>
            <p:cNvSpPr>
              <a:spLocks noChangeArrowheads="1"/>
            </p:cNvSpPr>
            <p:nvPr/>
          </p:nvSpPr>
          <p:spPr bwMode="auto">
            <a:xfrm>
              <a:off x="4581" y="9338"/>
              <a:ext cx="120" cy="1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PE"/>
            </a:p>
          </p:txBody>
        </p:sp>
        <p:sp>
          <p:nvSpPr>
            <p:cNvPr id="184330" name="Rectangle 10">
              <a:extLst>
                <a:ext uri="{FF2B5EF4-FFF2-40B4-BE49-F238E27FC236}">
                  <a16:creationId xmlns:a16="http://schemas.microsoft.com/office/drawing/2014/main" id="{F513E0E0-1048-166C-BD41-AE74D063701B}"/>
                </a:ext>
              </a:extLst>
            </p:cNvPr>
            <p:cNvSpPr>
              <a:spLocks noChangeArrowheads="1"/>
            </p:cNvSpPr>
            <p:nvPr/>
          </p:nvSpPr>
          <p:spPr bwMode="auto">
            <a:xfrm>
              <a:off x="3861" y="10778"/>
              <a:ext cx="120" cy="1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PE"/>
            </a:p>
          </p:txBody>
        </p:sp>
        <p:sp>
          <p:nvSpPr>
            <p:cNvPr id="184331" name="Line 11">
              <a:extLst>
                <a:ext uri="{FF2B5EF4-FFF2-40B4-BE49-F238E27FC236}">
                  <a16:creationId xmlns:a16="http://schemas.microsoft.com/office/drawing/2014/main" id="{CFE4BD62-4ADF-4DDF-EEB4-F732C488F475}"/>
                </a:ext>
              </a:extLst>
            </p:cNvPr>
            <p:cNvSpPr>
              <a:spLocks noChangeShapeType="1"/>
            </p:cNvSpPr>
            <p:nvPr/>
          </p:nvSpPr>
          <p:spPr bwMode="auto">
            <a:xfrm flipH="1">
              <a:off x="3861" y="9368"/>
              <a:ext cx="720" cy="14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84332" name="Line 12">
              <a:extLst>
                <a:ext uri="{FF2B5EF4-FFF2-40B4-BE49-F238E27FC236}">
                  <a16:creationId xmlns:a16="http://schemas.microsoft.com/office/drawing/2014/main" id="{60DA694E-77B6-E5B8-D59A-3D874192DB4F}"/>
                </a:ext>
              </a:extLst>
            </p:cNvPr>
            <p:cNvSpPr>
              <a:spLocks noChangeShapeType="1"/>
            </p:cNvSpPr>
            <p:nvPr/>
          </p:nvSpPr>
          <p:spPr bwMode="auto">
            <a:xfrm flipH="1">
              <a:off x="4011" y="9428"/>
              <a:ext cx="720" cy="14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PE"/>
            </a:p>
          </p:txBody>
        </p:sp>
        <p:sp>
          <p:nvSpPr>
            <p:cNvPr id="184333" name="Rectangle 13">
              <a:extLst>
                <a:ext uri="{FF2B5EF4-FFF2-40B4-BE49-F238E27FC236}">
                  <a16:creationId xmlns:a16="http://schemas.microsoft.com/office/drawing/2014/main" id="{23BFEA35-E95C-1469-98DB-20ED5C0FE9F8}"/>
                </a:ext>
              </a:extLst>
            </p:cNvPr>
            <p:cNvSpPr>
              <a:spLocks noChangeArrowheads="1"/>
            </p:cNvSpPr>
            <p:nvPr/>
          </p:nvSpPr>
          <p:spPr bwMode="auto">
            <a:xfrm>
              <a:off x="3741" y="9698"/>
              <a:ext cx="120" cy="1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PE"/>
            </a:p>
          </p:txBody>
        </p:sp>
        <p:sp>
          <p:nvSpPr>
            <p:cNvPr id="184334" name="Rectangle 14">
              <a:extLst>
                <a:ext uri="{FF2B5EF4-FFF2-40B4-BE49-F238E27FC236}">
                  <a16:creationId xmlns:a16="http://schemas.microsoft.com/office/drawing/2014/main" id="{6E9EFD6C-654D-AAAA-F00F-D289FAACA668}"/>
                </a:ext>
              </a:extLst>
            </p:cNvPr>
            <p:cNvSpPr>
              <a:spLocks noChangeArrowheads="1"/>
            </p:cNvSpPr>
            <p:nvPr/>
          </p:nvSpPr>
          <p:spPr bwMode="auto">
            <a:xfrm>
              <a:off x="5151" y="10568"/>
              <a:ext cx="120" cy="1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PE"/>
            </a:p>
          </p:txBody>
        </p:sp>
        <p:sp>
          <p:nvSpPr>
            <p:cNvPr id="184335" name="Line 15">
              <a:extLst>
                <a:ext uri="{FF2B5EF4-FFF2-40B4-BE49-F238E27FC236}">
                  <a16:creationId xmlns:a16="http://schemas.microsoft.com/office/drawing/2014/main" id="{947373A3-6B1D-FDDD-2D33-AAEA21610C7C}"/>
                </a:ext>
              </a:extLst>
            </p:cNvPr>
            <p:cNvSpPr>
              <a:spLocks noChangeShapeType="1"/>
            </p:cNvSpPr>
            <p:nvPr/>
          </p:nvSpPr>
          <p:spPr bwMode="auto">
            <a:xfrm>
              <a:off x="3741" y="9863"/>
              <a:ext cx="1440" cy="9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s-PE"/>
            </a:p>
          </p:txBody>
        </p:sp>
        <p:sp>
          <p:nvSpPr>
            <p:cNvPr id="184336" name="Line 16">
              <a:extLst>
                <a:ext uri="{FF2B5EF4-FFF2-40B4-BE49-F238E27FC236}">
                  <a16:creationId xmlns:a16="http://schemas.microsoft.com/office/drawing/2014/main" id="{022204EC-5C9D-8392-B56C-8C8BF9D3B1D9}"/>
                </a:ext>
              </a:extLst>
            </p:cNvPr>
            <p:cNvSpPr>
              <a:spLocks noChangeShapeType="1"/>
            </p:cNvSpPr>
            <p:nvPr/>
          </p:nvSpPr>
          <p:spPr bwMode="auto">
            <a:xfrm>
              <a:off x="3846" y="9728"/>
              <a:ext cx="1440" cy="9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s-PE"/>
            </a:p>
          </p:txBody>
        </p:sp>
        <p:sp>
          <p:nvSpPr>
            <p:cNvPr id="184337" name="Text Box 17">
              <a:extLst>
                <a:ext uri="{FF2B5EF4-FFF2-40B4-BE49-F238E27FC236}">
                  <a16:creationId xmlns:a16="http://schemas.microsoft.com/office/drawing/2014/main" id="{47B0D2D5-EFF7-1CF1-A1C1-7A1B557283C8}"/>
                </a:ext>
              </a:extLst>
            </p:cNvPr>
            <p:cNvSpPr txBox="1">
              <a:spLocks noChangeArrowheads="1"/>
            </p:cNvSpPr>
            <p:nvPr/>
          </p:nvSpPr>
          <p:spPr bwMode="auto">
            <a:xfrm>
              <a:off x="2541" y="8978"/>
              <a:ext cx="168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_tradnl" altLang="es-PE" sz="1200"/>
                <a:t>Placas móviles</a:t>
              </a:r>
              <a:endParaRPr lang="es-ES_tradnl" altLang="es-PE"/>
            </a:p>
          </p:txBody>
        </p:sp>
        <p:sp>
          <p:nvSpPr>
            <p:cNvPr id="184338" name="Text Box 18">
              <a:extLst>
                <a:ext uri="{FF2B5EF4-FFF2-40B4-BE49-F238E27FC236}">
                  <a16:creationId xmlns:a16="http://schemas.microsoft.com/office/drawing/2014/main" id="{5DA8B791-A658-A050-7EEA-8195EE25E47A}"/>
                </a:ext>
              </a:extLst>
            </p:cNvPr>
            <p:cNvSpPr txBox="1">
              <a:spLocks noChangeArrowheads="1"/>
            </p:cNvSpPr>
            <p:nvPr/>
          </p:nvSpPr>
          <p:spPr bwMode="auto">
            <a:xfrm>
              <a:off x="5421" y="10238"/>
              <a:ext cx="108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_tradnl" altLang="es-PE" sz="1200"/>
                <a:t>Placas</a:t>
              </a:r>
            </a:p>
            <a:p>
              <a:r>
                <a:rPr lang="es-ES_tradnl" altLang="es-PE" sz="1200"/>
                <a:t>fijas</a:t>
              </a:r>
              <a:endParaRPr lang="es-ES_tradnl" altLang="es-PE"/>
            </a:p>
          </p:txBody>
        </p:sp>
        <p:sp>
          <p:nvSpPr>
            <p:cNvPr id="184339" name="Line 19">
              <a:extLst>
                <a:ext uri="{FF2B5EF4-FFF2-40B4-BE49-F238E27FC236}">
                  <a16:creationId xmlns:a16="http://schemas.microsoft.com/office/drawing/2014/main" id="{32549399-6510-DFE3-8EC4-06CBB1F234FC}"/>
                </a:ext>
              </a:extLst>
            </p:cNvPr>
            <p:cNvSpPr>
              <a:spLocks noChangeShapeType="1"/>
            </p:cNvSpPr>
            <p:nvPr/>
          </p:nvSpPr>
          <p:spPr bwMode="auto">
            <a:xfrm>
              <a:off x="3381" y="9338"/>
              <a:ext cx="360" cy="1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sp>
          <p:nvSpPr>
            <p:cNvPr id="184340" name="Line 20">
              <a:extLst>
                <a:ext uri="{FF2B5EF4-FFF2-40B4-BE49-F238E27FC236}">
                  <a16:creationId xmlns:a16="http://schemas.microsoft.com/office/drawing/2014/main" id="{9B80C9FD-E836-B85F-9874-C9F4D451224D}"/>
                </a:ext>
              </a:extLst>
            </p:cNvPr>
            <p:cNvSpPr>
              <a:spLocks noChangeShapeType="1"/>
            </p:cNvSpPr>
            <p:nvPr/>
          </p:nvSpPr>
          <p:spPr bwMode="auto">
            <a:xfrm flipH="1">
              <a:off x="5301" y="10418"/>
              <a:ext cx="2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PE"/>
            </a:p>
          </p:txBody>
        </p:sp>
      </p:grpSp>
      <p:pic>
        <p:nvPicPr>
          <p:cNvPr id="3" name="Picture 2">
            <a:extLst>
              <a:ext uri="{FF2B5EF4-FFF2-40B4-BE49-F238E27FC236}">
                <a16:creationId xmlns:a16="http://schemas.microsoft.com/office/drawing/2014/main" id="{F7125006-FFAF-BE76-5C71-508611B83A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256" y="4155266"/>
            <a:ext cx="2051050" cy="206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1 Título">
            <a:extLst>
              <a:ext uri="{FF2B5EF4-FFF2-40B4-BE49-F238E27FC236}">
                <a16:creationId xmlns:a16="http://schemas.microsoft.com/office/drawing/2014/main" id="{E94FD4F9-3078-F41F-A848-215AD058A6E6}"/>
              </a:ext>
            </a:extLst>
          </p:cNvPr>
          <p:cNvSpPr>
            <a:spLocks noGrp="1"/>
          </p:cNvSpPr>
          <p:nvPr>
            <p:ph type="title"/>
          </p:nvPr>
        </p:nvSpPr>
        <p:spPr/>
        <p:txBody>
          <a:bodyPr/>
          <a:lstStyle/>
          <a:p>
            <a:pPr algn="ctr"/>
            <a:r>
              <a:rPr lang="es-MX" altLang="es-PE"/>
              <a:t>Sensor Capacitivo</a:t>
            </a:r>
          </a:p>
        </p:txBody>
      </p:sp>
      <p:pic>
        <p:nvPicPr>
          <p:cNvPr id="19460" name="6 Marcador de contenido">
            <a:extLst>
              <a:ext uri="{FF2B5EF4-FFF2-40B4-BE49-F238E27FC236}">
                <a16:creationId xmlns:a16="http://schemas.microsoft.com/office/drawing/2014/main" id="{FCBD0D98-6F5D-128E-3F0F-5BBF2E4587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05600" y="2057400"/>
            <a:ext cx="4343400" cy="3752850"/>
          </a:xfrm>
        </p:spPr>
      </p:pic>
      <p:sp>
        <p:nvSpPr>
          <p:cNvPr id="19459" name="3 Marcador de número de diapositiva">
            <a:extLst>
              <a:ext uri="{FF2B5EF4-FFF2-40B4-BE49-F238E27FC236}">
                <a16:creationId xmlns:a16="http://schemas.microsoft.com/office/drawing/2014/main" id="{0DE8FC70-F370-1D8D-6E1C-9BAD3CD9B7D1}"/>
              </a:ext>
            </a:extLst>
          </p:cNvPr>
          <p:cNvSpPr>
            <a:spLocks noGrp="1"/>
          </p:cNvSpPr>
          <p:nvPr>
            <p:ph type="sldNum" sz="quarter" idx="4294967295"/>
          </p:nvPr>
        </p:nvSpPr>
        <p:spPr>
          <a:xfrm>
            <a:off x="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ES" altLang="en-US" dirty="0"/>
          </a:p>
        </p:txBody>
      </p:sp>
      <p:sp>
        <p:nvSpPr>
          <p:cNvPr id="19461" name="7 Rectángulo">
            <a:extLst>
              <a:ext uri="{FF2B5EF4-FFF2-40B4-BE49-F238E27FC236}">
                <a16:creationId xmlns:a16="http://schemas.microsoft.com/office/drawing/2014/main" id="{7229C1C8-D762-DD9F-8665-1247270BFFC8}"/>
              </a:ext>
            </a:extLst>
          </p:cNvPr>
          <p:cNvSpPr>
            <a:spLocks noChangeArrowheads="1"/>
          </p:cNvSpPr>
          <p:nvPr/>
        </p:nvSpPr>
        <p:spPr bwMode="auto">
          <a:xfrm>
            <a:off x="1682750" y="2516189"/>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s-MX" altLang="es-PE"/>
              <a:t>La distancia de actuación en determinados materiales, pueden por ello, regularse mediante el potenciómetro.</a:t>
            </a:r>
          </a:p>
        </p:txBody>
      </p:sp>
      <p:sp>
        <p:nvSpPr>
          <p:cNvPr id="19462" name="8 Rectángulo">
            <a:extLst>
              <a:ext uri="{FF2B5EF4-FFF2-40B4-BE49-F238E27FC236}">
                <a16:creationId xmlns:a16="http://schemas.microsoft.com/office/drawing/2014/main" id="{1DED8C60-8864-DC8E-BBCF-C3E42EA68D60}"/>
              </a:ext>
            </a:extLst>
          </p:cNvPr>
          <p:cNvSpPr>
            <a:spLocks noChangeArrowheads="1"/>
          </p:cNvSpPr>
          <p:nvPr/>
        </p:nvSpPr>
        <p:spPr bwMode="auto">
          <a:xfrm>
            <a:off x="1631951" y="4316413"/>
            <a:ext cx="41751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s-MX" altLang="es-PE"/>
              <a:t>Los detectores capacitivos están construidos en base a un oscilador RC. Debido a la influencia del objeto a detectar, y del cambio de capacitancia</a:t>
            </a:r>
          </a:p>
        </p:txBody>
      </p:sp>
    </p:spTree>
    <p:extLst>
      <p:ext uri="{BB962C8B-B14F-4D97-AF65-F5344CB8AC3E}">
        <p14:creationId xmlns:p14="http://schemas.microsoft.com/office/powerpoint/2010/main" val="1696112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3" name="Rectangle 7">
            <a:extLst>
              <a:ext uri="{FF2B5EF4-FFF2-40B4-BE49-F238E27FC236}">
                <a16:creationId xmlns:a16="http://schemas.microsoft.com/office/drawing/2014/main" id="{F9D38EB6-C7EA-6717-7437-0A9614C67714}"/>
              </a:ext>
            </a:extLst>
          </p:cNvPr>
          <p:cNvSpPr>
            <a:spLocks noGrp="1" noChangeArrowheads="1"/>
          </p:cNvSpPr>
          <p:nvPr>
            <p:ph type="title"/>
          </p:nvPr>
        </p:nvSpPr>
        <p:spPr>
          <a:noFill/>
          <a:ln/>
        </p:spPr>
        <p:txBody>
          <a:bodyPr/>
          <a:lstStyle/>
          <a:p>
            <a:r>
              <a:rPr lang="es-ES" altLang="es-PE" sz="3600"/>
              <a:t>Medida de pequeños desplazamientos</a:t>
            </a:r>
          </a:p>
        </p:txBody>
      </p:sp>
      <p:sp>
        <p:nvSpPr>
          <p:cNvPr id="183299" name="Rectangle 3">
            <a:extLst>
              <a:ext uri="{FF2B5EF4-FFF2-40B4-BE49-F238E27FC236}">
                <a16:creationId xmlns:a16="http://schemas.microsoft.com/office/drawing/2014/main" id="{02FFDA32-BF69-D8D8-410B-69BEF85CCA5B}"/>
              </a:ext>
            </a:extLst>
          </p:cNvPr>
          <p:cNvSpPr>
            <a:spLocks noGrp="1" noChangeArrowheads="1"/>
          </p:cNvSpPr>
          <p:nvPr>
            <p:ph idx="1"/>
          </p:nvPr>
        </p:nvSpPr>
        <p:spPr/>
        <p:txBody>
          <a:bodyPr/>
          <a:lstStyle/>
          <a:p>
            <a:pPr>
              <a:lnSpc>
                <a:spcPct val="80000"/>
              </a:lnSpc>
            </a:pPr>
            <a:r>
              <a:rPr lang="es-ES_tradnl" altLang="es-PE" sz="3600"/>
              <a:t>Sensores de tipo inductivo:</a:t>
            </a:r>
          </a:p>
          <a:p>
            <a:pPr>
              <a:lnSpc>
                <a:spcPct val="80000"/>
              </a:lnSpc>
            </a:pPr>
            <a:endParaRPr lang="es-ES" altLang="es-PE" sz="3600"/>
          </a:p>
          <a:p>
            <a:pPr>
              <a:lnSpc>
                <a:spcPct val="80000"/>
              </a:lnSpc>
            </a:pPr>
            <a:endParaRPr lang="es-ES" altLang="es-PE" sz="3600"/>
          </a:p>
          <a:p>
            <a:pPr>
              <a:lnSpc>
                <a:spcPct val="80000"/>
              </a:lnSpc>
            </a:pPr>
            <a:endParaRPr lang="es-ES" altLang="es-PE" sz="3600"/>
          </a:p>
          <a:p>
            <a:pPr>
              <a:lnSpc>
                <a:spcPct val="80000"/>
              </a:lnSpc>
            </a:pPr>
            <a:endParaRPr lang="es-ES_tradnl" altLang="es-PE" sz="3600"/>
          </a:p>
          <a:p>
            <a:pPr>
              <a:lnSpc>
                <a:spcPct val="80000"/>
              </a:lnSpc>
              <a:buFont typeface="Wingdings" panose="05000000000000000000" pitchFamily="2" charset="2"/>
              <a:buNone/>
            </a:pPr>
            <a:endParaRPr lang="es-ES_tradnl" altLang="es-PE" sz="3600"/>
          </a:p>
          <a:p>
            <a:pPr lvl="2">
              <a:lnSpc>
                <a:spcPct val="80000"/>
              </a:lnSpc>
              <a:buFont typeface="Wingdings" panose="05000000000000000000" pitchFamily="2" charset="2"/>
              <a:buNone/>
            </a:pPr>
            <a:endParaRPr lang="es-ES_tradnl" altLang="es-PE" sz="2800"/>
          </a:p>
          <a:p>
            <a:pPr lvl="2">
              <a:lnSpc>
                <a:spcPct val="80000"/>
              </a:lnSpc>
            </a:pPr>
            <a:endParaRPr lang="es-ES_tradnl" altLang="es-PE" sz="2800"/>
          </a:p>
        </p:txBody>
      </p:sp>
      <p:sp>
        <p:nvSpPr>
          <p:cNvPr id="2" name="Marcador de número de diapositiva 4">
            <a:extLst>
              <a:ext uri="{FF2B5EF4-FFF2-40B4-BE49-F238E27FC236}">
                <a16:creationId xmlns:a16="http://schemas.microsoft.com/office/drawing/2014/main" id="{D88B6A66-3C50-D881-66DA-3727257675C0}"/>
              </a:ext>
            </a:extLst>
          </p:cNvPr>
          <p:cNvSpPr>
            <a:spLocks noGrp="1"/>
          </p:cNvSpPr>
          <p:nvPr>
            <p:ph type="sldNum" sz="quarter" idx="4294967295"/>
          </p:nvPr>
        </p:nvSpPr>
        <p:spPr>
          <a:xfrm>
            <a:off x="0" y="0"/>
            <a:ext cx="0" cy="0"/>
          </a:xfrm>
        </p:spPr>
        <p:txBody>
          <a:bodyPr/>
          <a:lstStyle/>
          <a:p>
            <a:fld id="{B5BBFB95-F20B-4CB6-BFA0-187A342AAE36}" type="slidenum">
              <a:rPr lang="es-ES" altLang="es-PE"/>
              <a:pPr/>
              <a:t>21</a:t>
            </a:fld>
            <a:endParaRPr lang="es-ES" altLang="es-PE"/>
          </a:p>
        </p:txBody>
      </p:sp>
      <p:pic>
        <p:nvPicPr>
          <p:cNvPr id="183300" name="Picture 4">
            <a:extLst>
              <a:ext uri="{FF2B5EF4-FFF2-40B4-BE49-F238E27FC236}">
                <a16:creationId xmlns:a16="http://schemas.microsoft.com/office/drawing/2014/main" id="{E38AC18A-80B4-2F62-48FB-8F4550E678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421" t="36220" r="24902" b="12587"/>
          <a:stretch>
            <a:fillRect/>
          </a:stretch>
        </p:blipFill>
        <p:spPr bwMode="auto">
          <a:xfrm>
            <a:off x="914400" y="1979643"/>
            <a:ext cx="5040312" cy="3744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3301" name="Text Box 5">
            <a:extLst>
              <a:ext uri="{FF2B5EF4-FFF2-40B4-BE49-F238E27FC236}">
                <a16:creationId xmlns:a16="http://schemas.microsoft.com/office/drawing/2014/main" id="{60EAB62C-FD67-E467-4A6D-064F1CE26E0D}"/>
              </a:ext>
            </a:extLst>
          </p:cNvPr>
          <p:cNvSpPr txBox="1">
            <a:spLocks noChangeArrowheads="1"/>
          </p:cNvSpPr>
          <p:nvPr/>
        </p:nvSpPr>
        <p:spPr bwMode="auto">
          <a:xfrm>
            <a:off x="6423027" y="2052625"/>
            <a:ext cx="403542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PE" sz="2400" dirty="0"/>
              <a:t>Consiste en la variación de la inductancia mutua entre un primario y cada uno de los dos secundarios al desplazarse a lo largo de su interior un material ferromagnético, arrastrado por un vástago no ferromagnético, unido a la pieza, cuyo movimiento se desea medir.</a:t>
            </a:r>
            <a:r>
              <a:rPr lang="es-ES_tradnl" altLang="es-PE" sz="2400" dirty="0"/>
              <a:t> </a:t>
            </a:r>
          </a:p>
        </p:txBody>
      </p:sp>
    </p:spTree>
    <p:extLst>
      <p:ext uri="{BB962C8B-B14F-4D97-AF65-F5344CB8AC3E}">
        <p14:creationId xmlns:p14="http://schemas.microsoft.com/office/powerpoint/2010/main" val="3317652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3">
            <a:extLst>
              <a:ext uri="{FF2B5EF4-FFF2-40B4-BE49-F238E27FC236}">
                <a16:creationId xmlns:a16="http://schemas.microsoft.com/office/drawing/2014/main" id="{9102E624-A6F5-BDB0-1BCC-D93E82C6C5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0" y="3860801"/>
            <a:ext cx="2232025" cy="225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3" name="1 Título">
            <a:extLst>
              <a:ext uri="{FF2B5EF4-FFF2-40B4-BE49-F238E27FC236}">
                <a16:creationId xmlns:a16="http://schemas.microsoft.com/office/drawing/2014/main" id="{F698BDB6-2CC3-D2D7-0A4A-44EAC8B38A9E}"/>
              </a:ext>
            </a:extLst>
          </p:cNvPr>
          <p:cNvSpPr>
            <a:spLocks noGrp="1"/>
          </p:cNvSpPr>
          <p:nvPr>
            <p:ph type="title"/>
          </p:nvPr>
        </p:nvSpPr>
        <p:spPr/>
        <p:txBody>
          <a:bodyPr/>
          <a:lstStyle/>
          <a:p>
            <a:pPr algn="ctr"/>
            <a:r>
              <a:rPr lang="es-MX" altLang="es-PE"/>
              <a:t>Sensor Inductivo</a:t>
            </a:r>
          </a:p>
        </p:txBody>
      </p:sp>
      <p:sp>
        <p:nvSpPr>
          <p:cNvPr id="20484" name="2 Marcador de contenido">
            <a:extLst>
              <a:ext uri="{FF2B5EF4-FFF2-40B4-BE49-F238E27FC236}">
                <a16:creationId xmlns:a16="http://schemas.microsoft.com/office/drawing/2014/main" id="{D80520D2-1238-8631-FE0D-C89EF5AF85B1}"/>
              </a:ext>
            </a:extLst>
          </p:cNvPr>
          <p:cNvSpPr>
            <a:spLocks noGrp="1"/>
          </p:cNvSpPr>
          <p:nvPr>
            <p:ph idx="1"/>
          </p:nvPr>
        </p:nvSpPr>
        <p:spPr/>
        <p:txBody>
          <a:bodyPr/>
          <a:lstStyle/>
          <a:p>
            <a:pPr algn="just"/>
            <a:endParaRPr lang="es-MX" altLang="es-PE" sz="2800" dirty="0"/>
          </a:p>
          <a:p>
            <a:pPr algn="just"/>
            <a:r>
              <a:rPr lang="es-MX" altLang="es-PE" sz="2800" dirty="0"/>
              <a:t>Los sensores inductivos de proximidad han sido diseñados para trabajar generando un campo magnético y detectando las pérdidas de corriente de dicho campo generadas al introducirse en él los objetos de detección metálicos y no metálicos.</a:t>
            </a:r>
            <a:endParaRPr lang="es-MX" altLang="es-PE" dirty="0"/>
          </a:p>
        </p:txBody>
      </p:sp>
      <p:sp>
        <p:nvSpPr>
          <p:cNvPr id="20485" name="3 Marcador de número de diapositiva">
            <a:extLst>
              <a:ext uri="{FF2B5EF4-FFF2-40B4-BE49-F238E27FC236}">
                <a16:creationId xmlns:a16="http://schemas.microsoft.com/office/drawing/2014/main" id="{2BAE1634-22B0-3D57-AEAC-78C7F091DE70}"/>
              </a:ext>
            </a:extLst>
          </p:cNvPr>
          <p:cNvSpPr>
            <a:spLocks noGrp="1"/>
          </p:cNvSpPr>
          <p:nvPr>
            <p:ph type="sldNum" sz="quarter" idx="4294967295"/>
          </p:nvPr>
        </p:nvSpPr>
        <p:spPr>
          <a:xfrm>
            <a:off x="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650D3C2-7EA5-4E55-B1AB-83FEB50937D7}" type="slidenum">
              <a:rPr lang="es-ES" altLang="en-US"/>
              <a:pPr eaLnBrk="1" hangingPunct="1"/>
              <a:t>22</a:t>
            </a:fld>
            <a:endParaRPr lang="es-ES" altLang="en-US"/>
          </a:p>
        </p:txBody>
      </p:sp>
    </p:spTree>
    <p:extLst>
      <p:ext uri="{BB962C8B-B14F-4D97-AF65-F5344CB8AC3E}">
        <p14:creationId xmlns:p14="http://schemas.microsoft.com/office/powerpoint/2010/main" val="3481790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3">
            <a:extLst>
              <a:ext uri="{FF2B5EF4-FFF2-40B4-BE49-F238E27FC236}">
                <a16:creationId xmlns:a16="http://schemas.microsoft.com/office/drawing/2014/main" id="{74AF4D41-A7A6-29D5-132C-E2D973BE1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9200" y="4602163"/>
            <a:ext cx="2232025" cy="225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7" name="1 Título">
            <a:extLst>
              <a:ext uri="{FF2B5EF4-FFF2-40B4-BE49-F238E27FC236}">
                <a16:creationId xmlns:a16="http://schemas.microsoft.com/office/drawing/2014/main" id="{E9085857-7CF6-C870-CA2B-B4695FB4C84D}"/>
              </a:ext>
            </a:extLst>
          </p:cNvPr>
          <p:cNvSpPr>
            <a:spLocks noGrp="1"/>
          </p:cNvSpPr>
          <p:nvPr>
            <p:ph type="title"/>
          </p:nvPr>
        </p:nvSpPr>
        <p:spPr/>
        <p:txBody>
          <a:bodyPr/>
          <a:lstStyle/>
          <a:p>
            <a:pPr algn="ctr"/>
            <a:r>
              <a:rPr lang="es-MX" altLang="es-PE" dirty="0"/>
              <a:t>Sensor Inductivo</a:t>
            </a:r>
          </a:p>
        </p:txBody>
      </p:sp>
      <p:sp>
        <p:nvSpPr>
          <p:cNvPr id="10243" name="2 Marcador de contenido">
            <a:extLst>
              <a:ext uri="{FF2B5EF4-FFF2-40B4-BE49-F238E27FC236}">
                <a16:creationId xmlns:a16="http://schemas.microsoft.com/office/drawing/2014/main" id="{C0C9CD91-70E3-98EA-3B4D-76B8438BACB9}"/>
              </a:ext>
            </a:extLst>
          </p:cNvPr>
          <p:cNvSpPr>
            <a:spLocks noGrp="1"/>
          </p:cNvSpPr>
          <p:nvPr>
            <p:ph idx="1"/>
          </p:nvPr>
        </p:nvSpPr>
        <p:spPr/>
        <p:txBody>
          <a:bodyPr>
            <a:normAutofit/>
          </a:bodyPr>
          <a:lstStyle/>
          <a:p>
            <a:pPr algn="just">
              <a:defRPr/>
            </a:pPr>
            <a:r>
              <a:rPr lang="es-MX" dirty="0"/>
              <a:t>El sensor consiste en una bobina con núcleo de ferrita, un oscilador, un sensor de nivel de disparo de la señal y un circuito de salida. Al aproximarse un objeto "metálico" o no metálico, se inducen corrientes de histéresis en el objeto.</a:t>
            </a:r>
          </a:p>
          <a:p>
            <a:pPr algn="just">
              <a:defRPr/>
            </a:pPr>
            <a:endParaRPr lang="es-MX" dirty="0"/>
          </a:p>
          <a:p>
            <a:pPr algn="just">
              <a:defRPr/>
            </a:pPr>
            <a:r>
              <a:rPr lang="es-MX" dirty="0"/>
              <a:t>El funcionamiento es similar al capacitivo; la bobina detecta el objeto cuando se produce un cambio en el campo electromagnético y envía la señal al oscilador, luego se activa el disparador y finalmente al circuito de salida hace la transición entre abierto o cerrado.</a:t>
            </a:r>
          </a:p>
        </p:txBody>
      </p:sp>
      <p:sp>
        <p:nvSpPr>
          <p:cNvPr id="21509" name="3 Marcador de número de diapositiva">
            <a:extLst>
              <a:ext uri="{FF2B5EF4-FFF2-40B4-BE49-F238E27FC236}">
                <a16:creationId xmlns:a16="http://schemas.microsoft.com/office/drawing/2014/main" id="{747B84C0-B356-8FFB-53B3-4C310734E669}"/>
              </a:ext>
            </a:extLst>
          </p:cNvPr>
          <p:cNvSpPr>
            <a:spLocks noGrp="1"/>
          </p:cNvSpPr>
          <p:nvPr>
            <p:ph type="sldNum" sz="quarter" idx="4294967295"/>
          </p:nvPr>
        </p:nvSpPr>
        <p:spPr>
          <a:xfrm>
            <a:off x="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A6B86C-14CF-4647-AA4A-19D1A9C89320}" type="slidenum">
              <a:rPr lang="es-ES" altLang="en-US"/>
              <a:pPr eaLnBrk="1" hangingPunct="1"/>
              <a:t>23</a:t>
            </a:fld>
            <a:endParaRPr lang="es-ES" altLang="en-US"/>
          </a:p>
        </p:txBody>
      </p:sp>
    </p:spTree>
    <p:extLst>
      <p:ext uri="{BB962C8B-B14F-4D97-AF65-F5344CB8AC3E}">
        <p14:creationId xmlns:p14="http://schemas.microsoft.com/office/powerpoint/2010/main" val="1306436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1 Título">
            <a:extLst>
              <a:ext uri="{FF2B5EF4-FFF2-40B4-BE49-F238E27FC236}">
                <a16:creationId xmlns:a16="http://schemas.microsoft.com/office/drawing/2014/main" id="{3222E50D-E514-EC03-84A4-84BDDEA22DE5}"/>
              </a:ext>
            </a:extLst>
          </p:cNvPr>
          <p:cNvSpPr>
            <a:spLocks noGrp="1"/>
          </p:cNvSpPr>
          <p:nvPr>
            <p:ph type="title"/>
          </p:nvPr>
        </p:nvSpPr>
        <p:spPr/>
        <p:txBody>
          <a:bodyPr/>
          <a:lstStyle/>
          <a:p>
            <a:pPr algn="ctr"/>
            <a:r>
              <a:rPr lang="es-MX" altLang="es-PE"/>
              <a:t>Sensor Inductivo</a:t>
            </a:r>
          </a:p>
        </p:txBody>
      </p:sp>
      <p:pic>
        <p:nvPicPr>
          <p:cNvPr id="22531" name="4 Marcador de contenido" descr="Recorte de pantalla">
            <a:extLst>
              <a:ext uri="{FF2B5EF4-FFF2-40B4-BE49-F238E27FC236}">
                <a16:creationId xmlns:a16="http://schemas.microsoft.com/office/drawing/2014/main" id="{40F96593-D4BF-1269-04CC-6F15C2EDE7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48073" y="1828800"/>
            <a:ext cx="4867954" cy="3810532"/>
          </a:xfrm>
        </p:spPr>
      </p:pic>
      <p:sp>
        <p:nvSpPr>
          <p:cNvPr id="22532" name="3 Marcador de número de diapositiva">
            <a:extLst>
              <a:ext uri="{FF2B5EF4-FFF2-40B4-BE49-F238E27FC236}">
                <a16:creationId xmlns:a16="http://schemas.microsoft.com/office/drawing/2014/main" id="{A43078AE-1E56-0325-A531-9883288BDB0D}"/>
              </a:ext>
            </a:extLst>
          </p:cNvPr>
          <p:cNvSpPr>
            <a:spLocks noGrp="1"/>
          </p:cNvSpPr>
          <p:nvPr>
            <p:ph type="sldNum" sz="quarter" idx="4294967295"/>
          </p:nvPr>
        </p:nvSpPr>
        <p:spPr>
          <a:xfrm>
            <a:off x="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9E18D46-8EB9-4C1C-981F-1D012C142A3E}" type="slidenum">
              <a:rPr lang="es-ES" altLang="en-US"/>
              <a:pPr eaLnBrk="1" hangingPunct="1"/>
              <a:t>24</a:t>
            </a:fld>
            <a:endParaRPr lang="es-ES" altLang="en-US"/>
          </a:p>
        </p:txBody>
      </p:sp>
      <p:sp>
        <p:nvSpPr>
          <p:cNvPr id="22533" name="5 Rectángulo">
            <a:extLst>
              <a:ext uri="{FF2B5EF4-FFF2-40B4-BE49-F238E27FC236}">
                <a16:creationId xmlns:a16="http://schemas.microsoft.com/office/drawing/2014/main" id="{28477337-5B42-3DA6-6C5B-042347F18F7F}"/>
              </a:ext>
            </a:extLst>
          </p:cNvPr>
          <p:cNvSpPr>
            <a:spLocks noChangeArrowheads="1"/>
          </p:cNvSpPr>
          <p:nvPr/>
        </p:nvSpPr>
        <p:spPr bwMode="auto">
          <a:xfrm>
            <a:off x="975973" y="2274838"/>
            <a:ext cx="4572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s-MX" altLang="es-PE" sz="2400" dirty="0"/>
              <a:t>El circuito sensor reconoce entonces un cambio específico de amplitud y genera una señal que conmuta la salida de estado sólido o la posición "</a:t>
            </a:r>
            <a:r>
              <a:rPr lang="es-MX" altLang="es-PE" sz="2400" dirty="0" err="1"/>
              <a:t>ON</a:t>
            </a:r>
            <a:r>
              <a:rPr lang="es-MX" altLang="es-PE" sz="2400" dirty="0"/>
              <a:t>" y "OFF".</a:t>
            </a:r>
          </a:p>
        </p:txBody>
      </p:sp>
    </p:spTree>
    <p:extLst>
      <p:ext uri="{BB962C8B-B14F-4D97-AF65-F5344CB8AC3E}">
        <p14:creationId xmlns:p14="http://schemas.microsoft.com/office/powerpoint/2010/main" val="2336019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DDFC7B9C-F785-33DA-FFFF-ECA4D36FB6CE}"/>
              </a:ext>
            </a:extLst>
          </p:cNvPr>
          <p:cNvSpPr>
            <a:spLocks noGrp="1" noChangeArrowheads="1"/>
          </p:cNvSpPr>
          <p:nvPr>
            <p:ph type="title"/>
          </p:nvPr>
        </p:nvSpPr>
        <p:spPr/>
        <p:txBody>
          <a:bodyPr/>
          <a:lstStyle/>
          <a:p>
            <a:r>
              <a:rPr lang="es-ES" altLang="es-PE"/>
              <a:t>Medida de ángulos</a:t>
            </a:r>
          </a:p>
        </p:txBody>
      </p:sp>
      <p:sp>
        <p:nvSpPr>
          <p:cNvPr id="187395" name="Rectangle 3">
            <a:extLst>
              <a:ext uri="{FF2B5EF4-FFF2-40B4-BE49-F238E27FC236}">
                <a16:creationId xmlns:a16="http://schemas.microsoft.com/office/drawing/2014/main" id="{EDD9BB29-8521-A9D6-1A75-37C9C8994894}"/>
              </a:ext>
            </a:extLst>
          </p:cNvPr>
          <p:cNvSpPr>
            <a:spLocks noGrp="1" noChangeArrowheads="1"/>
          </p:cNvSpPr>
          <p:nvPr>
            <p:ph idx="1"/>
          </p:nvPr>
        </p:nvSpPr>
        <p:spPr/>
        <p:txBody>
          <a:bodyPr/>
          <a:lstStyle/>
          <a:p>
            <a:pPr>
              <a:lnSpc>
                <a:spcPct val="80000"/>
              </a:lnSpc>
            </a:pPr>
            <a:r>
              <a:rPr lang="es-ES_tradnl" altLang="es-PE" sz="3600" dirty="0"/>
              <a:t>Sensores inductivos:</a:t>
            </a:r>
          </a:p>
          <a:p>
            <a:pPr marL="0" indent="0">
              <a:lnSpc>
                <a:spcPct val="80000"/>
              </a:lnSpc>
              <a:buNone/>
            </a:pPr>
            <a:r>
              <a:rPr lang="es-ES_tradnl" altLang="es-PE" sz="3600" dirty="0"/>
              <a:t> Resolver</a:t>
            </a:r>
          </a:p>
        </p:txBody>
      </p:sp>
      <p:sp>
        <p:nvSpPr>
          <p:cNvPr id="2" name="Marcador de número de diapositiva 4">
            <a:extLst>
              <a:ext uri="{FF2B5EF4-FFF2-40B4-BE49-F238E27FC236}">
                <a16:creationId xmlns:a16="http://schemas.microsoft.com/office/drawing/2014/main" id="{4ABB07BE-866D-3BC2-5D07-C400F05E7720}"/>
              </a:ext>
            </a:extLst>
          </p:cNvPr>
          <p:cNvSpPr>
            <a:spLocks noGrp="1"/>
          </p:cNvSpPr>
          <p:nvPr>
            <p:ph type="sldNum" sz="quarter" idx="4294967295"/>
          </p:nvPr>
        </p:nvSpPr>
        <p:spPr>
          <a:xfrm>
            <a:off x="0" y="0"/>
            <a:ext cx="0" cy="0"/>
          </a:xfrm>
        </p:spPr>
        <p:txBody>
          <a:bodyPr/>
          <a:lstStyle/>
          <a:p>
            <a:fld id="{DD56337B-E519-47AA-9057-40B2918A8F32}" type="slidenum">
              <a:rPr lang="es-ES" altLang="es-PE"/>
              <a:pPr/>
              <a:t>25</a:t>
            </a:fld>
            <a:endParaRPr lang="es-ES" altLang="es-PE"/>
          </a:p>
        </p:txBody>
      </p:sp>
      <p:pic>
        <p:nvPicPr>
          <p:cNvPr id="187396" name="Picture 4">
            <a:extLst>
              <a:ext uri="{FF2B5EF4-FFF2-40B4-BE49-F238E27FC236}">
                <a16:creationId xmlns:a16="http://schemas.microsoft.com/office/drawing/2014/main" id="{2226334B-D30E-0184-F418-A167737F34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613" y="2492376"/>
            <a:ext cx="5256212" cy="258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397" name="Text Box 5">
            <a:extLst>
              <a:ext uri="{FF2B5EF4-FFF2-40B4-BE49-F238E27FC236}">
                <a16:creationId xmlns:a16="http://schemas.microsoft.com/office/drawing/2014/main" id="{9D62DA67-1B0C-E25C-469F-A01AC3057F77}"/>
              </a:ext>
            </a:extLst>
          </p:cNvPr>
          <p:cNvSpPr txBox="1">
            <a:spLocks noChangeArrowheads="1"/>
          </p:cNvSpPr>
          <p:nvPr/>
        </p:nvSpPr>
        <p:spPr bwMode="auto">
          <a:xfrm>
            <a:off x="914400" y="5157789"/>
            <a:ext cx="10210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s-ES" altLang="es-PE" sz="2400" dirty="0"/>
              <a:t>El giro de la bobina móvil hace que el acoplamiento con las bobinas fijas varíe, consiguiendo que la señal resultante en éstas dependa del seno del ángulo de giro</a:t>
            </a:r>
            <a:r>
              <a:rPr lang="es-ES_tradnl" altLang="es-PE" sz="2400" dirty="0"/>
              <a:t> </a:t>
            </a:r>
          </a:p>
        </p:txBody>
      </p:sp>
      <p:pic>
        <p:nvPicPr>
          <p:cNvPr id="3" name="Picture 3">
            <a:extLst>
              <a:ext uri="{FF2B5EF4-FFF2-40B4-BE49-F238E27FC236}">
                <a16:creationId xmlns:a16="http://schemas.microsoft.com/office/drawing/2014/main" id="{98E9D785-ACC8-0DF8-BADA-927334F9A7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754314"/>
            <a:ext cx="2232025" cy="225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BEA3BDE7-2A96-5EFC-3779-4FE6A0521624}"/>
              </a:ext>
            </a:extLst>
          </p:cNvPr>
          <p:cNvSpPr>
            <a:spLocks noGrp="1" noChangeArrowheads="1"/>
          </p:cNvSpPr>
          <p:nvPr>
            <p:ph type="title"/>
          </p:nvPr>
        </p:nvSpPr>
        <p:spPr/>
        <p:txBody>
          <a:bodyPr/>
          <a:lstStyle/>
          <a:p>
            <a:r>
              <a:rPr lang="es-ES" altLang="es-PE"/>
              <a:t>Medida de ángulos</a:t>
            </a:r>
          </a:p>
        </p:txBody>
      </p:sp>
      <p:sp>
        <p:nvSpPr>
          <p:cNvPr id="188419" name="Rectangle 3">
            <a:extLst>
              <a:ext uri="{FF2B5EF4-FFF2-40B4-BE49-F238E27FC236}">
                <a16:creationId xmlns:a16="http://schemas.microsoft.com/office/drawing/2014/main" id="{1751C7A8-D4A0-7D42-EF92-12EB4D082E7D}"/>
              </a:ext>
            </a:extLst>
          </p:cNvPr>
          <p:cNvSpPr>
            <a:spLocks noGrp="1" noChangeArrowheads="1"/>
          </p:cNvSpPr>
          <p:nvPr>
            <p:ph idx="1"/>
          </p:nvPr>
        </p:nvSpPr>
        <p:spPr/>
        <p:txBody>
          <a:bodyPr/>
          <a:lstStyle/>
          <a:p>
            <a:pPr>
              <a:lnSpc>
                <a:spcPct val="80000"/>
              </a:lnSpc>
            </a:pPr>
            <a:r>
              <a:rPr lang="es-ES_tradnl" altLang="es-PE" sz="3600" dirty="0"/>
              <a:t>Sensores inductivos: resolver</a:t>
            </a:r>
          </a:p>
        </p:txBody>
      </p:sp>
      <p:sp>
        <p:nvSpPr>
          <p:cNvPr id="2" name="Marcador de número de diapositiva 4">
            <a:extLst>
              <a:ext uri="{FF2B5EF4-FFF2-40B4-BE49-F238E27FC236}">
                <a16:creationId xmlns:a16="http://schemas.microsoft.com/office/drawing/2014/main" id="{52CD26CF-9A2B-3C43-1371-9E89D9A1774D}"/>
              </a:ext>
            </a:extLst>
          </p:cNvPr>
          <p:cNvSpPr>
            <a:spLocks noGrp="1"/>
          </p:cNvSpPr>
          <p:nvPr>
            <p:ph type="sldNum" sz="quarter" idx="4294967295"/>
          </p:nvPr>
        </p:nvSpPr>
        <p:spPr>
          <a:xfrm>
            <a:off x="0" y="0"/>
            <a:ext cx="0" cy="0"/>
          </a:xfrm>
        </p:spPr>
        <p:txBody>
          <a:bodyPr/>
          <a:lstStyle/>
          <a:p>
            <a:fld id="{292DB3D5-9103-4352-8F75-DE0FB5365984}" type="slidenum">
              <a:rPr lang="es-ES" altLang="es-PE"/>
              <a:pPr/>
              <a:t>26</a:t>
            </a:fld>
            <a:endParaRPr lang="es-ES" altLang="es-PE"/>
          </a:p>
        </p:txBody>
      </p:sp>
      <p:pic>
        <p:nvPicPr>
          <p:cNvPr id="188422" name="Picture 6">
            <a:extLst>
              <a:ext uri="{FF2B5EF4-FFF2-40B4-BE49-F238E27FC236}">
                <a16:creationId xmlns:a16="http://schemas.microsoft.com/office/drawing/2014/main" id="{25A5AE73-57E3-1AC8-53A6-58874F6EA1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04244"/>
            <a:ext cx="3671888" cy="358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7">
            <a:extLst>
              <a:ext uri="{FF2B5EF4-FFF2-40B4-BE49-F238E27FC236}">
                <a16:creationId xmlns:a16="http://schemas.microsoft.com/office/drawing/2014/main" id="{5351A7E9-32A2-F551-22FC-33DEF51DEE47}"/>
              </a:ext>
            </a:extLst>
          </p:cNvPr>
          <p:cNvSpPr>
            <a:spLocks noChangeArrowheads="1"/>
          </p:cNvSpPr>
          <p:nvPr/>
        </p:nvSpPr>
        <p:spPr bwMode="auto">
          <a:xfrm>
            <a:off x="6600826" y="2474625"/>
            <a:ext cx="421957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s-ES_tradnl" altLang="es-PE" sz="2400" dirty="0"/>
              <a:t>La bobina móvil excitada con tensión V sen(</a:t>
            </a:r>
            <a:r>
              <a:rPr lang="es-ES_tradnl" altLang="es-PE" sz="2400" dirty="0" err="1"/>
              <a:t>wt</a:t>
            </a:r>
            <a:r>
              <a:rPr lang="es-ES_tradnl" altLang="es-PE" sz="2400" dirty="0"/>
              <a:t>) y girada un ángulo Ø induce en las bobinas fijas situadas en cuadratura las siguientes tensiones: </a:t>
            </a:r>
          </a:p>
          <a:p>
            <a:endParaRPr lang="es-ES_tradnl" altLang="es-PE" sz="2400" dirty="0"/>
          </a:p>
          <a:p>
            <a:pPr algn="ctr"/>
            <a:r>
              <a:rPr lang="en-US" altLang="es-PE" sz="2400" dirty="0"/>
              <a:t>V1 = V </a:t>
            </a:r>
            <a:r>
              <a:rPr lang="en-US" altLang="es-PE" sz="2400" dirty="0" err="1"/>
              <a:t>sen</a:t>
            </a:r>
            <a:r>
              <a:rPr lang="en-US" altLang="es-PE" sz="2400" dirty="0"/>
              <a:t>(</a:t>
            </a:r>
            <a:r>
              <a:rPr lang="en-US" altLang="es-PE" sz="2400" dirty="0" err="1"/>
              <a:t>wt</a:t>
            </a:r>
            <a:r>
              <a:rPr lang="en-US" altLang="es-PE" sz="2400" dirty="0"/>
              <a:t>) </a:t>
            </a:r>
            <a:r>
              <a:rPr lang="en-US" altLang="es-PE" sz="2400" dirty="0" err="1"/>
              <a:t>sen</a:t>
            </a:r>
            <a:r>
              <a:rPr lang="en-US" altLang="es-PE" sz="2400" dirty="0"/>
              <a:t> Ø</a:t>
            </a:r>
            <a:br>
              <a:rPr lang="en-US" altLang="es-PE" sz="2400" dirty="0"/>
            </a:br>
            <a:r>
              <a:rPr lang="en-US" altLang="es-PE" sz="2400" dirty="0"/>
              <a:t>V2 = V </a:t>
            </a:r>
            <a:r>
              <a:rPr lang="en-US" altLang="es-PE" sz="2400" dirty="0" err="1"/>
              <a:t>sen</a:t>
            </a:r>
            <a:r>
              <a:rPr lang="en-US" altLang="es-PE" sz="2400" dirty="0"/>
              <a:t>(</a:t>
            </a:r>
            <a:r>
              <a:rPr lang="en-US" altLang="es-PE" sz="2400" dirty="0" err="1"/>
              <a:t>wt</a:t>
            </a:r>
            <a:r>
              <a:rPr lang="en-US" altLang="es-PE" sz="2400" dirty="0"/>
              <a:t>) cos Ø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04BCB32A-6B2D-AD91-4BD4-02ED1CEEBDC1}"/>
              </a:ext>
            </a:extLst>
          </p:cNvPr>
          <p:cNvSpPr>
            <a:spLocks noGrp="1" noChangeArrowheads="1"/>
          </p:cNvSpPr>
          <p:nvPr>
            <p:ph type="title"/>
          </p:nvPr>
        </p:nvSpPr>
        <p:spPr/>
        <p:txBody>
          <a:bodyPr/>
          <a:lstStyle/>
          <a:p>
            <a:r>
              <a:rPr lang="es-ES" altLang="es-PE"/>
              <a:t>Medida de ángulos</a:t>
            </a:r>
          </a:p>
        </p:txBody>
      </p:sp>
      <p:sp>
        <p:nvSpPr>
          <p:cNvPr id="189443" name="Rectangle 3">
            <a:extLst>
              <a:ext uri="{FF2B5EF4-FFF2-40B4-BE49-F238E27FC236}">
                <a16:creationId xmlns:a16="http://schemas.microsoft.com/office/drawing/2014/main" id="{589B4844-80FA-4C9B-C7AD-64DFD820EA23}"/>
              </a:ext>
            </a:extLst>
          </p:cNvPr>
          <p:cNvSpPr>
            <a:spLocks noGrp="1" noChangeArrowheads="1"/>
          </p:cNvSpPr>
          <p:nvPr>
            <p:ph idx="1"/>
          </p:nvPr>
        </p:nvSpPr>
        <p:spPr/>
        <p:txBody>
          <a:bodyPr/>
          <a:lstStyle/>
          <a:p>
            <a:pPr>
              <a:lnSpc>
                <a:spcPct val="80000"/>
              </a:lnSpc>
            </a:pPr>
            <a:r>
              <a:rPr lang="es-ES_tradnl" altLang="es-PE" sz="3600" dirty="0"/>
              <a:t>Sensores digitales:</a:t>
            </a:r>
          </a:p>
          <a:p>
            <a:pPr lvl="3">
              <a:lnSpc>
                <a:spcPct val="80000"/>
              </a:lnSpc>
            </a:pPr>
            <a:r>
              <a:rPr lang="es-ES_tradnl" altLang="es-PE" sz="2800" dirty="0"/>
              <a:t>Codificadores incrementales</a:t>
            </a:r>
          </a:p>
          <a:p>
            <a:pPr lvl="3">
              <a:lnSpc>
                <a:spcPct val="80000"/>
              </a:lnSpc>
            </a:pPr>
            <a:endParaRPr lang="es-ES" altLang="es-PE" sz="2800" dirty="0"/>
          </a:p>
          <a:p>
            <a:pPr lvl="3">
              <a:lnSpc>
                <a:spcPct val="80000"/>
              </a:lnSpc>
            </a:pPr>
            <a:endParaRPr lang="es-ES" altLang="es-PE" sz="2800" dirty="0"/>
          </a:p>
          <a:p>
            <a:pPr lvl="3">
              <a:lnSpc>
                <a:spcPct val="80000"/>
              </a:lnSpc>
            </a:pPr>
            <a:endParaRPr lang="es-ES" altLang="es-PE" sz="2800" dirty="0"/>
          </a:p>
          <a:p>
            <a:pPr lvl="3">
              <a:lnSpc>
                <a:spcPct val="80000"/>
              </a:lnSpc>
            </a:pPr>
            <a:endParaRPr lang="es-ES" altLang="es-PE" sz="2800" dirty="0"/>
          </a:p>
          <a:p>
            <a:pPr lvl="3">
              <a:lnSpc>
                <a:spcPct val="80000"/>
              </a:lnSpc>
            </a:pPr>
            <a:endParaRPr lang="es-ES" altLang="es-PE" sz="2800" dirty="0"/>
          </a:p>
          <a:p>
            <a:pPr lvl="3">
              <a:lnSpc>
                <a:spcPct val="80000"/>
              </a:lnSpc>
              <a:buFont typeface="Wingdings" panose="05000000000000000000" pitchFamily="2" charset="2"/>
              <a:buNone/>
            </a:pPr>
            <a:endParaRPr lang="es-ES_tradnl" altLang="es-PE" sz="2800" dirty="0"/>
          </a:p>
          <a:p>
            <a:pPr lvl="3">
              <a:lnSpc>
                <a:spcPct val="80000"/>
              </a:lnSpc>
            </a:pPr>
            <a:r>
              <a:rPr lang="es-ES_tradnl" altLang="es-PE" sz="2800" dirty="0"/>
              <a:t>Codificadores absolutos:</a:t>
            </a:r>
            <a:endParaRPr lang="es-ES" altLang="es-PE" sz="2800" dirty="0"/>
          </a:p>
        </p:txBody>
      </p:sp>
      <p:sp>
        <p:nvSpPr>
          <p:cNvPr id="2" name="Marcador de número de diapositiva 4">
            <a:extLst>
              <a:ext uri="{FF2B5EF4-FFF2-40B4-BE49-F238E27FC236}">
                <a16:creationId xmlns:a16="http://schemas.microsoft.com/office/drawing/2014/main" id="{6BC7E9DE-CAB0-A00D-60C7-7FDA5451CF98}"/>
              </a:ext>
            </a:extLst>
          </p:cNvPr>
          <p:cNvSpPr>
            <a:spLocks noGrp="1"/>
          </p:cNvSpPr>
          <p:nvPr>
            <p:ph type="sldNum" sz="quarter" idx="4294967295"/>
          </p:nvPr>
        </p:nvSpPr>
        <p:spPr>
          <a:xfrm>
            <a:off x="0" y="0"/>
            <a:ext cx="0" cy="0"/>
          </a:xfrm>
        </p:spPr>
        <p:txBody>
          <a:bodyPr/>
          <a:lstStyle/>
          <a:p>
            <a:fld id="{C86B6996-6FE9-4A67-A08D-1F867A9817A3}" type="slidenum">
              <a:rPr lang="es-ES" altLang="es-PE"/>
              <a:pPr/>
              <a:t>27</a:t>
            </a:fld>
            <a:endParaRPr lang="es-ES" altLang="es-PE"/>
          </a:p>
        </p:txBody>
      </p:sp>
      <p:pic>
        <p:nvPicPr>
          <p:cNvPr id="189503" name="Picture 63">
            <a:extLst>
              <a:ext uri="{FF2B5EF4-FFF2-40B4-BE49-F238E27FC236}">
                <a16:creationId xmlns:a16="http://schemas.microsoft.com/office/drawing/2014/main" id="{EA9EAA83-436E-3049-C529-32861E3D9A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780" t="19487" r="15300" b="23416"/>
          <a:stretch>
            <a:fillRect/>
          </a:stretch>
        </p:blipFill>
        <p:spPr bwMode="auto">
          <a:xfrm>
            <a:off x="6775276" y="2373771"/>
            <a:ext cx="3744913" cy="235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89444" name="Group 4">
            <a:extLst>
              <a:ext uri="{FF2B5EF4-FFF2-40B4-BE49-F238E27FC236}">
                <a16:creationId xmlns:a16="http://schemas.microsoft.com/office/drawing/2014/main" id="{298E1026-031F-B1F5-6FFD-9B483A869144}"/>
              </a:ext>
            </a:extLst>
          </p:cNvPr>
          <p:cNvGrpSpPr>
            <a:grpSpLocks/>
          </p:cNvGrpSpPr>
          <p:nvPr/>
        </p:nvGrpSpPr>
        <p:grpSpPr bwMode="auto">
          <a:xfrm>
            <a:off x="1295400" y="2409821"/>
            <a:ext cx="5905500" cy="2303463"/>
            <a:chOff x="2661" y="4118"/>
            <a:chExt cx="8040" cy="2880"/>
          </a:xfrm>
        </p:grpSpPr>
        <p:grpSp>
          <p:nvGrpSpPr>
            <p:cNvPr id="189445" name="Group 5">
              <a:extLst>
                <a:ext uri="{FF2B5EF4-FFF2-40B4-BE49-F238E27FC236}">
                  <a16:creationId xmlns:a16="http://schemas.microsoft.com/office/drawing/2014/main" id="{B06912E4-E0F5-4C0D-AF3B-62D7C868DF07}"/>
                </a:ext>
              </a:extLst>
            </p:cNvPr>
            <p:cNvGrpSpPr>
              <a:grpSpLocks/>
            </p:cNvGrpSpPr>
            <p:nvPr/>
          </p:nvGrpSpPr>
          <p:grpSpPr bwMode="auto">
            <a:xfrm>
              <a:off x="2661" y="4568"/>
              <a:ext cx="2640" cy="2430"/>
              <a:chOff x="2661" y="4568"/>
              <a:chExt cx="2640" cy="2430"/>
            </a:xfrm>
          </p:grpSpPr>
          <p:sp>
            <p:nvSpPr>
              <p:cNvPr id="189446" name="Oval 6">
                <a:extLst>
                  <a:ext uri="{FF2B5EF4-FFF2-40B4-BE49-F238E27FC236}">
                    <a16:creationId xmlns:a16="http://schemas.microsoft.com/office/drawing/2014/main" id="{4F646D60-37B2-330B-1DF7-47CF63818E87}"/>
                  </a:ext>
                </a:extLst>
              </p:cNvPr>
              <p:cNvSpPr>
                <a:spLocks noChangeArrowheads="1"/>
              </p:cNvSpPr>
              <p:nvPr/>
            </p:nvSpPr>
            <p:spPr bwMode="auto">
              <a:xfrm>
                <a:off x="2946" y="4568"/>
                <a:ext cx="2280" cy="2160"/>
              </a:xfrm>
              <a:prstGeom prst="ellipse">
                <a:avLst/>
              </a:prstGeom>
              <a:solidFill>
                <a:srgbClr val="FFFFFF"/>
              </a:solidFill>
              <a:ln w="9525">
                <a:solidFill>
                  <a:srgbClr val="000000"/>
                </a:solidFill>
                <a:round/>
                <a:headEnd/>
                <a:tailEnd/>
              </a:ln>
            </p:spPr>
            <p:txBody>
              <a:bodyPr/>
              <a:lstStyle/>
              <a:p>
                <a:endParaRPr lang="es-PE"/>
              </a:p>
            </p:txBody>
          </p:sp>
          <p:sp>
            <p:nvSpPr>
              <p:cNvPr id="189447" name="Rectangle 7">
                <a:extLst>
                  <a:ext uri="{FF2B5EF4-FFF2-40B4-BE49-F238E27FC236}">
                    <a16:creationId xmlns:a16="http://schemas.microsoft.com/office/drawing/2014/main" id="{AB7EE029-B3DA-97D5-D0E9-3028047E560A}"/>
                  </a:ext>
                </a:extLst>
              </p:cNvPr>
              <p:cNvSpPr>
                <a:spLocks noChangeArrowheads="1"/>
              </p:cNvSpPr>
              <p:nvPr/>
            </p:nvSpPr>
            <p:spPr bwMode="auto">
              <a:xfrm>
                <a:off x="2661" y="5018"/>
                <a:ext cx="1560" cy="198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PE"/>
              </a:p>
            </p:txBody>
          </p:sp>
          <p:sp>
            <p:nvSpPr>
              <p:cNvPr id="189448" name="Freeform 8">
                <a:extLst>
                  <a:ext uri="{FF2B5EF4-FFF2-40B4-BE49-F238E27FC236}">
                    <a16:creationId xmlns:a16="http://schemas.microsoft.com/office/drawing/2014/main" id="{D9EB0C28-613F-9A30-1E97-E3D83EF18405}"/>
                  </a:ext>
                </a:extLst>
              </p:cNvPr>
              <p:cNvSpPr>
                <a:spLocks/>
              </p:cNvSpPr>
              <p:nvPr/>
            </p:nvSpPr>
            <p:spPr bwMode="auto">
              <a:xfrm>
                <a:off x="3141" y="5018"/>
                <a:ext cx="1080" cy="1620"/>
              </a:xfrm>
              <a:custGeom>
                <a:avLst/>
                <a:gdLst>
                  <a:gd name="T0" fmla="*/ 0 w 1080"/>
                  <a:gd name="T1" fmla="*/ 0 h 1620"/>
                  <a:gd name="T2" fmla="*/ 120 w 1080"/>
                  <a:gd name="T3" fmla="*/ 180 h 1620"/>
                  <a:gd name="T4" fmla="*/ 240 w 1080"/>
                  <a:gd name="T5" fmla="*/ 180 h 1620"/>
                  <a:gd name="T6" fmla="*/ 360 w 1080"/>
                  <a:gd name="T7" fmla="*/ 540 h 1620"/>
                  <a:gd name="T8" fmla="*/ 600 w 1080"/>
                  <a:gd name="T9" fmla="*/ 720 h 1620"/>
                  <a:gd name="T10" fmla="*/ 720 w 1080"/>
                  <a:gd name="T11" fmla="*/ 720 h 1620"/>
                  <a:gd name="T12" fmla="*/ 720 w 1080"/>
                  <a:gd name="T13" fmla="*/ 1080 h 1620"/>
                  <a:gd name="T14" fmla="*/ 840 w 1080"/>
                  <a:gd name="T15" fmla="*/ 1080 h 1620"/>
                  <a:gd name="T16" fmla="*/ 960 w 1080"/>
                  <a:gd name="T17" fmla="*/ 1260 h 1620"/>
                  <a:gd name="T18" fmla="*/ 1080 w 1080"/>
                  <a:gd name="T19" fmla="*/ 1620 h 1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0" h="1620">
                    <a:moveTo>
                      <a:pt x="0" y="0"/>
                    </a:moveTo>
                    <a:cubicBezTo>
                      <a:pt x="40" y="75"/>
                      <a:pt x="80" y="150"/>
                      <a:pt x="120" y="180"/>
                    </a:cubicBezTo>
                    <a:cubicBezTo>
                      <a:pt x="160" y="210"/>
                      <a:pt x="200" y="120"/>
                      <a:pt x="240" y="180"/>
                    </a:cubicBezTo>
                    <a:cubicBezTo>
                      <a:pt x="280" y="240"/>
                      <a:pt x="300" y="450"/>
                      <a:pt x="360" y="540"/>
                    </a:cubicBezTo>
                    <a:cubicBezTo>
                      <a:pt x="420" y="630"/>
                      <a:pt x="540" y="690"/>
                      <a:pt x="600" y="720"/>
                    </a:cubicBezTo>
                    <a:cubicBezTo>
                      <a:pt x="660" y="750"/>
                      <a:pt x="700" y="660"/>
                      <a:pt x="720" y="720"/>
                    </a:cubicBezTo>
                    <a:cubicBezTo>
                      <a:pt x="740" y="780"/>
                      <a:pt x="700" y="1020"/>
                      <a:pt x="720" y="1080"/>
                    </a:cubicBezTo>
                    <a:cubicBezTo>
                      <a:pt x="740" y="1140"/>
                      <a:pt x="800" y="1050"/>
                      <a:pt x="840" y="1080"/>
                    </a:cubicBezTo>
                    <a:cubicBezTo>
                      <a:pt x="880" y="1110"/>
                      <a:pt x="920" y="1170"/>
                      <a:pt x="960" y="1260"/>
                    </a:cubicBezTo>
                    <a:cubicBezTo>
                      <a:pt x="1000" y="1350"/>
                      <a:pt x="1040" y="1485"/>
                      <a:pt x="1080" y="162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s-PE"/>
              </a:p>
            </p:txBody>
          </p:sp>
          <p:sp>
            <p:nvSpPr>
              <p:cNvPr id="189449" name="Rectangle 9">
                <a:extLst>
                  <a:ext uri="{FF2B5EF4-FFF2-40B4-BE49-F238E27FC236}">
                    <a16:creationId xmlns:a16="http://schemas.microsoft.com/office/drawing/2014/main" id="{4A627059-E48D-C3C2-BA4E-942133A5F6BC}"/>
                  </a:ext>
                </a:extLst>
              </p:cNvPr>
              <p:cNvSpPr>
                <a:spLocks noChangeArrowheads="1"/>
              </p:cNvSpPr>
              <p:nvPr/>
            </p:nvSpPr>
            <p:spPr bwMode="auto">
              <a:xfrm rot="20400000" flipH="1">
                <a:off x="3621" y="4763"/>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50" name="Oval 10">
                <a:extLst>
                  <a:ext uri="{FF2B5EF4-FFF2-40B4-BE49-F238E27FC236}">
                    <a16:creationId xmlns:a16="http://schemas.microsoft.com/office/drawing/2014/main" id="{6BAA289E-4539-4CA2-3364-44E11030649F}"/>
                  </a:ext>
                </a:extLst>
              </p:cNvPr>
              <p:cNvSpPr>
                <a:spLocks noChangeArrowheads="1"/>
              </p:cNvSpPr>
              <p:nvPr/>
            </p:nvSpPr>
            <p:spPr bwMode="auto">
              <a:xfrm>
                <a:off x="3951" y="5438"/>
                <a:ext cx="360" cy="36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51" name="Oval 11">
                <a:extLst>
                  <a:ext uri="{FF2B5EF4-FFF2-40B4-BE49-F238E27FC236}">
                    <a16:creationId xmlns:a16="http://schemas.microsoft.com/office/drawing/2014/main" id="{AB07FCBF-E05B-85AF-E47B-3963E69A9AFD}"/>
                  </a:ext>
                </a:extLst>
              </p:cNvPr>
              <p:cNvSpPr>
                <a:spLocks noChangeArrowheads="1"/>
              </p:cNvSpPr>
              <p:nvPr/>
            </p:nvSpPr>
            <p:spPr bwMode="auto">
              <a:xfrm>
                <a:off x="4011" y="5528"/>
                <a:ext cx="240" cy="18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52" name="Rectangle 12">
                <a:extLst>
                  <a:ext uri="{FF2B5EF4-FFF2-40B4-BE49-F238E27FC236}">
                    <a16:creationId xmlns:a16="http://schemas.microsoft.com/office/drawing/2014/main" id="{9ED969C7-DFA5-1EBF-2C8B-00F965907022}"/>
                  </a:ext>
                </a:extLst>
              </p:cNvPr>
              <p:cNvSpPr>
                <a:spLocks noChangeArrowheads="1"/>
              </p:cNvSpPr>
              <p:nvPr/>
            </p:nvSpPr>
            <p:spPr bwMode="auto">
              <a:xfrm rot="20400000" flipH="1">
                <a:off x="4371" y="6353"/>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53" name="Rectangle 13">
                <a:extLst>
                  <a:ext uri="{FF2B5EF4-FFF2-40B4-BE49-F238E27FC236}">
                    <a16:creationId xmlns:a16="http://schemas.microsoft.com/office/drawing/2014/main" id="{025D8E8B-B9BB-69C3-0397-21B845128D59}"/>
                  </a:ext>
                </a:extLst>
              </p:cNvPr>
              <p:cNvSpPr>
                <a:spLocks noChangeArrowheads="1"/>
              </p:cNvSpPr>
              <p:nvPr/>
            </p:nvSpPr>
            <p:spPr bwMode="auto">
              <a:xfrm rot="19800000" flipH="1">
                <a:off x="4581" y="6218"/>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54" name="Rectangle 14">
                <a:extLst>
                  <a:ext uri="{FF2B5EF4-FFF2-40B4-BE49-F238E27FC236}">
                    <a16:creationId xmlns:a16="http://schemas.microsoft.com/office/drawing/2014/main" id="{146BF392-4B27-0B97-FFB3-C166C6F44FAC}"/>
                  </a:ext>
                </a:extLst>
              </p:cNvPr>
              <p:cNvSpPr>
                <a:spLocks noChangeArrowheads="1"/>
              </p:cNvSpPr>
              <p:nvPr/>
            </p:nvSpPr>
            <p:spPr bwMode="auto">
              <a:xfrm rot="21000000" flipH="1">
                <a:off x="3876" y="4703"/>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55" name="Rectangle 15">
                <a:extLst>
                  <a:ext uri="{FF2B5EF4-FFF2-40B4-BE49-F238E27FC236}">
                    <a16:creationId xmlns:a16="http://schemas.microsoft.com/office/drawing/2014/main" id="{52795DA0-C519-7C81-6837-BE15468A3159}"/>
                  </a:ext>
                </a:extLst>
              </p:cNvPr>
              <p:cNvSpPr>
                <a:spLocks noChangeArrowheads="1"/>
              </p:cNvSpPr>
              <p:nvPr/>
            </p:nvSpPr>
            <p:spPr bwMode="auto">
              <a:xfrm>
                <a:off x="4116" y="4688"/>
                <a:ext cx="12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56" name="Rectangle 16">
                <a:extLst>
                  <a:ext uri="{FF2B5EF4-FFF2-40B4-BE49-F238E27FC236}">
                    <a16:creationId xmlns:a16="http://schemas.microsoft.com/office/drawing/2014/main" id="{939F1CF0-310B-D4A7-F90C-3D71A5E0DACA}"/>
                  </a:ext>
                </a:extLst>
              </p:cNvPr>
              <p:cNvSpPr>
                <a:spLocks noChangeArrowheads="1"/>
              </p:cNvSpPr>
              <p:nvPr/>
            </p:nvSpPr>
            <p:spPr bwMode="auto">
              <a:xfrm rot="-21000000">
                <a:off x="4356" y="4748"/>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57" name="Rectangle 17">
                <a:extLst>
                  <a:ext uri="{FF2B5EF4-FFF2-40B4-BE49-F238E27FC236}">
                    <a16:creationId xmlns:a16="http://schemas.microsoft.com/office/drawing/2014/main" id="{5D97826B-33C9-66A5-ACB3-7C0BE8223DCC}"/>
                  </a:ext>
                </a:extLst>
              </p:cNvPr>
              <p:cNvSpPr>
                <a:spLocks noChangeArrowheads="1"/>
              </p:cNvSpPr>
              <p:nvPr/>
            </p:nvSpPr>
            <p:spPr bwMode="auto">
              <a:xfrm rot="1500000">
                <a:off x="4596" y="4883"/>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58" name="Rectangle 18">
                <a:extLst>
                  <a:ext uri="{FF2B5EF4-FFF2-40B4-BE49-F238E27FC236}">
                    <a16:creationId xmlns:a16="http://schemas.microsoft.com/office/drawing/2014/main" id="{8644FFE8-E3F6-CE2B-78E1-3E8CDAA822F9}"/>
                  </a:ext>
                </a:extLst>
              </p:cNvPr>
              <p:cNvSpPr>
                <a:spLocks noChangeArrowheads="1"/>
              </p:cNvSpPr>
              <p:nvPr/>
            </p:nvSpPr>
            <p:spPr bwMode="auto">
              <a:xfrm rot="2700000">
                <a:off x="4776" y="5063"/>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59" name="Rectangle 19">
                <a:extLst>
                  <a:ext uri="{FF2B5EF4-FFF2-40B4-BE49-F238E27FC236}">
                    <a16:creationId xmlns:a16="http://schemas.microsoft.com/office/drawing/2014/main" id="{34144995-5EC7-7391-264B-EC4A70BE999E}"/>
                  </a:ext>
                </a:extLst>
              </p:cNvPr>
              <p:cNvSpPr>
                <a:spLocks noChangeArrowheads="1"/>
              </p:cNvSpPr>
              <p:nvPr/>
            </p:nvSpPr>
            <p:spPr bwMode="auto">
              <a:xfrm rot="4260000">
                <a:off x="4854" y="5303"/>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60" name="Rectangle 20">
                <a:extLst>
                  <a:ext uri="{FF2B5EF4-FFF2-40B4-BE49-F238E27FC236}">
                    <a16:creationId xmlns:a16="http://schemas.microsoft.com/office/drawing/2014/main" id="{19EE1954-29DB-3100-FC63-1C49B373947C}"/>
                  </a:ext>
                </a:extLst>
              </p:cNvPr>
              <p:cNvSpPr>
                <a:spLocks noChangeArrowheads="1"/>
              </p:cNvSpPr>
              <p:nvPr/>
            </p:nvSpPr>
            <p:spPr bwMode="auto">
              <a:xfrm rot="6000000">
                <a:off x="4926" y="5558"/>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61" name="Rectangle 21">
                <a:extLst>
                  <a:ext uri="{FF2B5EF4-FFF2-40B4-BE49-F238E27FC236}">
                    <a16:creationId xmlns:a16="http://schemas.microsoft.com/office/drawing/2014/main" id="{019C521E-18DD-5FD7-5B4B-60E1B2B3D27C}"/>
                  </a:ext>
                </a:extLst>
              </p:cNvPr>
              <p:cNvSpPr>
                <a:spLocks noChangeArrowheads="1"/>
              </p:cNvSpPr>
              <p:nvPr/>
            </p:nvSpPr>
            <p:spPr bwMode="auto">
              <a:xfrm rot="6000000">
                <a:off x="4911" y="5798"/>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62" name="Rectangle 22">
                <a:extLst>
                  <a:ext uri="{FF2B5EF4-FFF2-40B4-BE49-F238E27FC236}">
                    <a16:creationId xmlns:a16="http://schemas.microsoft.com/office/drawing/2014/main" id="{A5DA87DE-162E-3845-5170-D0B480A4BB3A}"/>
                  </a:ext>
                </a:extLst>
              </p:cNvPr>
              <p:cNvSpPr>
                <a:spLocks noChangeArrowheads="1"/>
              </p:cNvSpPr>
              <p:nvPr/>
            </p:nvSpPr>
            <p:spPr bwMode="auto">
              <a:xfrm rot="7800000">
                <a:off x="4791" y="6038"/>
                <a:ext cx="120" cy="180"/>
              </a:xfrm>
              <a:prstGeom prst="rect">
                <a:avLst/>
              </a:prstGeom>
              <a:solidFill>
                <a:srgbClr val="FFFFFF"/>
              </a:solidFill>
              <a:ln w="9525">
                <a:solidFill>
                  <a:srgbClr val="000000"/>
                </a:solidFill>
                <a:miter lim="800000"/>
                <a:headEnd/>
                <a:tailEnd/>
              </a:ln>
            </p:spPr>
            <p:txBody>
              <a:bodyPr/>
              <a:lstStyle/>
              <a:p>
                <a:endParaRPr lang="es-PE"/>
              </a:p>
            </p:txBody>
          </p:sp>
          <p:sp>
            <p:nvSpPr>
              <p:cNvPr id="189463" name="Line 23">
                <a:extLst>
                  <a:ext uri="{FF2B5EF4-FFF2-40B4-BE49-F238E27FC236}">
                    <a16:creationId xmlns:a16="http://schemas.microsoft.com/office/drawing/2014/main" id="{C24D95C6-25FE-2511-60ED-D4559A0EF6E6}"/>
                  </a:ext>
                </a:extLst>
              </p:cNvPr>
              <p:cNvSpPr>
                <a:spLocks noChangeShapeType="1"/>
              </p:cNvSpPr>
              <p:nvPr/>
            </p:nvSpPr>
            <p:spPr bwMode="auto">
              <a:xfrm>
                <a:off x="4701" y="537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64" name="Line 24">
                <a:extLst>
                  <a:ext uri="{FF2B5EF4-FFF2-40B4-BE49-F238E27FC236}">
                    <a16:creationId xmlns:a16="http://schemas.microsoft.com/office/drawing/2014/main" id="{191E0F4C-7305-0B74-92D1-38AD2C560791}"/>
                  </a:ext>
                </a:extLst>
              </p:cNvPr>
              <p:cNvSpPr>
                <a:spLocks noChangeShapeType="1"/>
              </p:cNvSpPr>
              <p:nvPr/>
            </p:nvSpPr>
            <p:spPr bwMode="auto">
              <a:xfrm flipV="1">
                <a:off x="4701" y="5198"/>
                <a:ext cx="36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65" name="Line 25">
                <a:extLst>
                  <a:ext uri="{FF2B5EF4-FFF2-40B4-BE49-F238E27FC236}">
                    <a16:creationId xmlns:a16="http://schemas.microsoft.com/office/drawing/2014/main" id="{E3EE76E9-1640-1C91-8AA4-E88F1C47FB35}"/>
                  </a:ext>
                </a:extLst>
              </p:cNvPr>
              <p:cNvSpPr>
                <a:spLocks noChangeShapeType="1"/>
              </p:cNvSpPr>
              <p:nvPr/>
            </p:nvSpPr>
            <p:spPr bwMode="auto">
              <a:xfrm flipV="1">
                <a:off x="4821" y="5378"/>
                <a:ext cx="36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66" name="Line 26">
                <a:extLst>
                  <a:ext uri="{FF2B5EF4-FFF2-40B4-BE49-F238E27FC236}">
                    <a16:creationId xmlns:a16="http://schemas.microsoft.com/office/drawing/2014/main" id="{CA97BC28-B387-9BA4-BE0A-DA4C7AAB39A0}"/>
                  </a:ext>
                </a:extLst>
              </p:cNvPr>
              <p:cNvSpPr>
                <a:spLocks noChangeShapeType="1"/>
              </p:cNvSpPr>
              <p:nvPr/>
            </p:nvSpPr>
            <p:spPr bwMode="auto">
              <a:xfrm flipV="1">
                <a:off x="5181" y="519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67" name="Line 27">
                <a:extLst>
                  <a:ext uri="{FF2B5EF4-FFF2-40B4-BE49-F238E27FC236}">
                    <a16:creationId xmlns:a16="http://schemas.microsoft.com/office/drawing/2014/main" id="{D5B465E4-6202-3EAE-90D6-810B80BB4D40}"/>
                  </a:ext>
                </a:extLst>
              </p:cNvPr>
              <p:cNvSpPr>
                <a:spLocks noChangeShapeType="1"/>
              </p:cNvSpPr>
              <p:nvPr/>
            </p:nvSpPr>
            <p:spPr bwMode="auto">
              <a:xfrm flipV="1">
                <a:off x="5061" y="501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sp>
          <p:nvSpPr>
            <p:cNvPr id="189468" name="Rectangle 28">
              <a:extLst>
                <a:ext uri="{FF2B5EF4-FFF2-40B4-BE49-F238E27FC236}">
                  <a16:creationId xmlns:a16="http://schemas.microsoft.com/office/drawing/2014/main" id="{948026BD-B820-04F4-BF8B-4FB180F38953}"/>
                </a:ext>
              </a:extLst>
            </p:cNvPr>
            <p:cNvSpPr>
              <a:spLocks noChangeArrowheads="1"/>
            </p:cNvSpPr>
            <p:nvPr/>
          </p:nvSpPr>
          <p:spPr bwMode="auto">
            <a:xfrm>
              <a:off x="6861" y="4478"/>
              <a:ext cx="360" cy="216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69" name="Rectangle 29">
              <a:extLst>
                <a:ext uri="{FF2B5EF4-FFF2-40B4-BE49-F238E27FC236}">
                  <a16:creationId xmlns:a16="http://schemas.microsoft.com/office/drawing/2014/main" id="{25B714F9-485B-9383-033D-F9BF83E64617}"/>
                </a:ext>
              </a:extLst>
            </p:cNvPr>
            <p:cNvSpPr>
              <a:spLocks noChangeArrowheads="1"/>
            </p:cNvSpPr>
            <p:nvPr/>
          </p:nvSpPr>
          <p:spPr bwMode="auto">
            <a:xfrm>
              <a:off x="6921" y="4538"/>
              <a:ext cx="24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70" name="Rectangle 30">
              <a:extLst>
                <a:ext uri="{FF2B5EF4-FFF2-40B4-BE49-F238E27FC236}">
                  <a16:creationId xmlns:a16="http://schemas.microsoft.com/office/drawing/2014/main" id="{DB52DF64-B83D-1EF9-33AB-DAA52BAF5A87}"/>
                </a:ext>
              </a:extLst>
            </p:cNvPr>
            <p:cNvSpPr>
              <a:spLocks noChangeArrowheads="1"/>
            </p:cNvSpPr>
            <p:nvPr/>
          </p:nvSpPr>
          <p:spPr bwMode="auto">
            <a:xfrm>
              <a:off x="6936" y="4778"/>
              <a:ext cx="24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71" name="Rectangle 31">
              <a:extLst>
                <a:ext uri="{FF2B5EF4-FFF2-40B4-BE49-F238E27FC236}">
                  <a16:creationId xmlns:a16="http://schemas.microsoft.com/office/drawing/2014/main" id="{E7FD9152-6EBD-1743-4E63-42CAFA2A6D2D}"/>
                </a:ext>
              </a:extLst>
            </p:cNvPr>
            <p:cNvSpPr>
              <a:spLocks noChangeArrowheads="1"/>
            </p:cNvSpPr>
            <p:nvPr/>
          </p:nvSpPr>
          <p:spPr bwMode="auto">
            <a:xfrm>
              <a:off x="6921" y="5018"/>
              <a:ext cx="24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72" name="Rectangle 32">
              <a:extLst>
                <a:ext uri="{FF2B5EF4-FFF2-40B4-BE49-F238E27FC236}">
                  <a16:creationId xmlns:a16="http://schemas.microsoft.com/office/drawing/2014/main" id="{33C9C8BE-4488-D2A6-34A9-46DE81CD980F}"/>
                </a:ext>
              </a:extLst>
            </p:cNvPr>
            <p:cNvSpPr>
              <a:spLocks noChangeArrowheads="1"/>
            </p:cNvSpPr>
            <p:nvPr/>
          </p:nvSpPr>
          <p:spPr bwMode="auto">
            <a:xfrm>
              <a:off x="6921" y="5258"/>
              <a:ext cx="24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73" name="Rectangle 33">
              <a:extLst>
                <a:ext uri="{FF2B5EF4-FFF2-40B4-BE49-F238E27FC236}">
                  <a16:creationId xmlns:a16="http://schemas.microsoft.com/office/drawing/2014/main" id="{1BE045FB-15C0-B8FE-D7AF-3CA781F2ADED}"/>
                </a:ext>
              </a:extLst>
            </p:cNvPr>
            <p:cNvSpPr>
              <a:spLocks noChangeArrowheads="1"/>
            </p:cNvSpPr>
            <p:nvPr/>
          </p:nvSpPr>
          <p:spPr bwMode="auto">
            <a:xfrm>
              <a:off x="6921" y="5498"/>
              <a:ext cx="24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74" name="Rectangle 34">
              <a:extLst>
                <a:ext uri="{FF2B5EF4-FFF2-40B4-BE49-F238E27FC236}">
                  <a16:creationId xmlns:a16="http://schemas.microsoft.com/office/drawing/2014/main" id="{1C22B7BF-81EF-DB63-D484-DE4A3A254385}"/>
                </a:ext>
              </a:extLst>
            </p:cNvPr>
            <p:cNvSpPr>
              <a:spLocks noChangeArrowheads="1"/>
            </p:cNvSpPr>
            <p:nvPr/>
          </p:nvSpPr>
          <p:spPr bwMode="auto">
            <a:xfrm>
              <a:off x="6921" y="5753"/>
              <a:ext cx="24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75" name="Rectangle 35">
              <a:extLst>
                <a:ext uri="{FF2B5EF4-FFF2-40B4-BE49-F238E27FC236}">
                  <a16:creationId xmlns:a16="http://schemas.microsoft.com/office/drawing/2014/main" id="{9A81EF6A-C71B-94C7-2D19-1A1211C2D71D}"/>
                </a:ext>
              </a:extLst>
            </p:cNvPr>
            <p:cNvSpPr>
              <a:spLocks noChangeArrowheads="1"/>
            </p:cNvSpPr>
            <p:nvPr/>
          </p:nvSpPr>
          <p:spPr bwMode="auto">
            <a:xfrm>
              <a:off x="6921" y="6023"/>
              <a:ext cx="24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76" name="Rectangle 36">
              <a:extLst>
                <a:ext uri="{FF2B5EF4-FFF2-40B4-BE49-F238E27FC236}">
                  <a16:creationId xmlns:a16="http://schemas.microsoft.com/office/drawing/2014/main" id="{86AF147A-FF51-EA6B-2307-5BA002887C7D}"/>
                </a:ext>
              </a:extLst>
            </p:cNvPr>
            <p:cNvSpPr>
              <a:spLocks noChangeArrowheads="1"/>
            </p:cNvSpPr>
            <p:nvPr/>
          </p:nvSpPr>
          <p:spPr bwMode="auto">
            <a:xfrm>
              <a:off x="6921" y="6308"/>
              <a:ext cx="24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77" name="Text Box 37">
              <a:extLst>
                <a:ext uri="{FF2B5EF4-FFF2-40B4-BE49-F238E27FC236}">
                  <a16:creationId xmlns:a16="http://schemas.microsoft.com/office/drawing/2014/main" id="{34FE8B23-E442-8030-DC1B-76CB13E00B05}"/>
                </a:ext>
              </a:extLst>
            </p:cNvPr>
            <p:cNvSpPr txBox="1">
              <a:spLocks noChangeArrowheads="1"/>
            </p:cNvSpPr>
            <p:nvPr/>
          </p:nvSpPr>
          <p:spPr bwMode="auto">
            <a:xfrm>
              <a:off x="5061" y="4118"/>
              <a:ext cx="1680"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Sectores equidistantes</a:t>
              </a:r>
              <a:endParaRPr lang="es-ES_tradnl" altLang="es-PE"/>
            </a:p>
          </p:txBody>
        </p:sp>
        <p:sp>
          <p:nvSpPr>
            <p:cNvPr id="189478" name="Line 38">
              <a:extLst>
                <a:ext uri="{FF2B5EF4-FFF2-40B4-BE49-F238E27FC236}">
                  <a16:creationId xmlns:a16="http://schemas.microsoft.com/office/drawing/2014/main" id="{28F7B844-0640-550F-48D6-ACF7C91C467A}"/>
                </a:ext>
              </a:extLst>
            </p:cNvPr>
            <p:cNvSpPr>
              <a:spLocks noChangeShapeType="1"/>
            </p:cNvSpPr>
            <p:nvPr/>
          </p:nvSpPr>
          <p:spPr bwMode="auto">
            <a:xfrm flipH="1">
              <a:off x="4701" y="4478"/>
              <a:ext cx="360" cy="36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79" name="Line 39">
              <a:extLst>
                <a:ext uri="{FF2B5EF4-FFF2-40B4-BE49-F238E27FC236}">
                  <a16:creationId xmlns:a16="http://schemas.microsoft.com/office/drawing/2014/main" id="{977B2B13-6F4E-A717-3556-7131CF1069C3}"/>
                </a:ext>
              </a:extLst>
            </p:cNvPr>
            <p:cNvSpPr>
              <a:spLocks noChangeShapeType="1"/>
            </p:cNvSpPr>
            <p:nvPr/>
          </p:nvSpPr>
          <p:spPr bwMode="auto">
            <a:xfrm flipH="1">
              <a:off x="4461" y="4478"/>
              <a:ext cx="600" cy="36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80" name="Line 40">
              <a:extLst>
                <a:ext uri="{FF2B5EF4-FFF2-40B4-BE49-F238E27FC236}">
                  <a16:creationId xmlns:a16="http://schemas.microsoft.com/office/drawing/2014/main" id="{5C06C34E-B6FE-80A6-CD5D-85C654699C62}"/>
                </a:ext>
              </a:extLst>
            </p:cNvPr>
            <p:cNvSpPr>
              <a:spLocks noChangeShapeType="1"/>
            </p:cNvSpPr>
            <p:nvPr/>
          </p:nvSpPr>
          <p:spPr bwMode="auto">
            <a:xfrm>
              <a:off x="6141" y="4298"/>
              <a:ext cx="840" cy="36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81" name="Line 41">
              <a:extLst>
                <a:ext uri="{FF2B5EF4-FFF2-40B4-BE49-F238E27FC236}">
                  <a16:creationId xmlns:a16="http://schemas.microsoft.com/office/drawing/2014/main" id="{90D4173D-0630-F585-A5A3-547FD28435EE}"/>
                </a:ext>
              </a:extLst>
            </p:cNvPr>
            <p:cNvSpPr>
              <a:spLocks noChangeShapeType="1"/>
            </p:cNvSpPr>
            <p:nvPr/>
          </p:nvSpPr>
          <p:spPr bwMode="auto">
            <a:xfrm>
              <a:off x="6141" y="4298"/>
              <a:ext cx="840" cy="54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82" name="Rectangle 42">
              <a:extLst>
                <a:ext uri="{FF2B5EF4-FFF2-40B4-BE49-F238E27FC236}">
                  <a16:creationId xmlns:a16="http://schemas.microsoft.com/office/drawing/2014/main" id="{B03561FF-0DA9-DE2C-E7EB-FBEFBE59B274}"/>
                </a:ext>
              </a:extLst>
            </p:cNvPr>
            <p:cNvSpPr>
              <a:spLocks noChangeArrowheads="1"/>
            </p:cNvSpPr>
            <p:nvPr/>
          </p:nvSpPr>
          <p:spPr bwMode="auto">
            <a:xfrm>
              <a:off x="6861" y="5198"/>
              <a:ext cx="360" cy="720"/>
            </a:xfrm>
            <a:prstGeom prst="rect">
              <a:avLst/>
            </a:prstGeom>
            <a:noFill/>
            <a:ln w="28575" algn="ctr">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83" name="Oval 43">
              <a:extLst>
                <a:ext uri="{FF2B5EF4-FFF2-40B4-BE49-F238E27FC236}">
                  <a16:creationId xmlns:a16="http://schemas.microsoft.com/office/drawing/2014/main" id="{CAF577A2-3D82-0B49-0EA2-8790691F29BF}"/>
                </a:ext>
              </a:extLst>
            </p:cNvPr>
            <p:cNvSpPr>
              <a:spLocks noChangeArrowheads="1"/>
            </p:cNvSpPr>
            <p:nvPr/>
          </p:nvSpPr>
          <p:spPr bwMode="auto">
            <a:xfrm>
              <a:off x="6861" y="5483"/>
              <a:ext cx="360" cy="180"/>
            </a:xfrm>
            <a:prstGeom prst="ellipse">
              <a:avLst/>
            </a:prstGeom>
            <a:noFill/>
            <a:ln w="28575" algn="ctr">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84" name="Oval 44">
              <a:extLst>
                <a:ext uri="{FF2B5EF4-FFF2-40B4-BE49-F238E27FC236}">
                  <a16:creationId xmlns:a16="http://schemas.microsoft.com/office/drawing/2014/main" id="{BB7AEDC2-1090-CEB0-7BDF-F91D5CE91570}"/>
                </a:ext>
              </a:extLst>
            </p:cNvPr>
            <p:cNvSpPr>
              <a:spLocks noChangeArrowheads="1"/>
            </p:cNvSpPr>
            <p:nvPr/>
          </p:nvSpPr>
          <p:spPr bwMode="auto">
            <a:xfrm>
              <a:off x="4761" y="5288"/>
              <a:ext cx="360" cy="180"/>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85" name="Text Box 45">
              <a:extLst>
                <a:ext uri="{FF2B5EF4-FFF2-40B4-BE49-F238E27FC236}">
                  <a16:creationId xmlns:a16="http://schemas.microsoft.com/office/drawing/2014/main" id="{494112D1-C56D-9439-8EC0-E830F93873AD}"/>
                </a:ext>
              </a:extLst>
            </p:cNvPr>
            <p:cNvSpPr txBox="1">
              <a:spLocks noChangeArrowheads="1"/>
            </p:cNvSpPr>
            <p:nvPr/>
          </p:nvSpPr>
          <p:spPr bwMode="auto">
            <a:xfrm>
              <a:off x="5421" y="4823"/>
              <a:ext cx="1320" cy="10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Cabezal de lectura fijo</a:t>
              </a:r>
              <a:endParaRPr lang="es-ES_tradnl" altLang="es-PE"/>
            </a:p>
          </p:txBody>
        </p:sp>
        <p:sp>
          <p:nvSpPr>
            <p:cNvPr id="189486" name="Line 46">
              <a:extLst>
                <a:ext uri="{FF2B5EF4-FFF2-40B4-BE49-F238E27FC236}">
                  <a16:creationId xmlns:a16="http://schemas.microsoft.com/office/drawing/2014/main" id="{AC84D925-B6A5-F63C-4AFF-77B5445DDBAC}"/>
                </a:ext>
              </a:extLst>
            </p:cNvPr>
            <p:cNvSpPr>
              <a:spLocks noChangeShapeType="1"/>
            </p:cNvSpPr>
            <p:nvPr/>
          </p:nvSpPr>
          <p:spPr bwMode="auto">
            <a:xfrm flipH="1">
              <a:off x="5181" y="5198"/>
              <a:ext cx="48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87" name="Line 47">
              <a:extLst>
                <a:ext uri="{FF2B5EF4-FFF2-40B4-BE49-F238E27FC236}">
                  <a16:creationId xmlns:a16="http://schemas.microsoft.com/office/drawing/2014/main" id="{1C1678A7-B7D9-EC65-F2A9-F2B2B9B9FB76}"/>
                </a:ext>
              </a:extLst>
            </p:cNvPr>
            <p:cNvSpPr>
              <a:spLocks noChangeShapeType="1"/>
            </p:cNvSpPr>
            <p:nvPr/>
          </p:nvSpPr>
          <p:spPr bwMode="auto">
            <a:xfrm>
              <a:off x="6501" y="5198"/>
              <a:ext cx="360" cy="36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88" name="Text Box 48">
              <a:extLst>
                <a:ext uri="{FF2B5EF4-FFF2-40B4-BE49-F238E27FC236}">
                  <a16:creationId xmlns:a16="http://schemas.microsoft.com/office/drawing/2014/main" id="{63814243-DF02-10D4-90C0-2B87EC52CE8F}"/>
                </a:ext>
              </a:extLst>
            </p:cNvPr>
            <p:cNvSpPr txBox="1">
              <a:spLocks noChangeArrowheads="1"/>
            </p:cNvSpPr>
            <p:nvPr/>
          </p:nvSpPr>
          <p:spPr bwMode="auto">
            <a:xfrm>
              <a:off x="5421" y="5918"/>
              <a:ext cx="108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Disco</a:t>
              </a:r>
              <a:endParaRPr lang="es-ES_tradnl" altLang="es-PE"/>
            </a:p>
          </p:txBody>
        </p:sp>
        <p:sp>
          <p:nvSpPr>
            <p:cNvPr id="189489" name="Text Box 49">
              <a:extLst>
                <a:ext uri="{FF2B5EF4-FFF2-40B4-BE49-F238E27FC236}">
                  <a16:creationId xmlns:a16="http://schemas.microsoft.com/office/drawing/2014/main" id="{3C1CA82F-521A-BC9B-5873-7F9F21577F29}"/>
                </a:ext>
              </a:extLst>
            </p:cNvPr>
            <p:cNvSpPr txBox="1">
              <a:spLocks noChangeArrowheads="1"/>
            </p:cNvSpPr>
            <p:nvPr/>
          </p:nvSpPr>
          <p:spPr bwMode="auto">
            <a:xfrm>
              <a:off x="7461" y="5558"/>
              <a:ext cx="132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Regla</a:t>
              </a:r>
              <a:endParaRPr lang="es-ES_tradnl" altLang="es-PE"/>
            </a:p>
          </p:txBody>
        </p:sp>
        <p:sp>
          <p:nvSpPr>
            <p:cNvPr id="189490" name="Text Box 50">
              <a:extLst>
                <a:ext uri="{FF2B5EF4-FFF2-40B4-BE49-F238E27FC236}">
                  <a16:creationId xmlns:a16="http://schemas.microsoft.com/office/drawing/2014/main" id="{BDF57D7E-D162-14B9-29F3-04FE532D03E9}"/>
                </a:ext>
              </a:extLst>
            </p:cNvPr>
            <p:cNvSpPr txBox="1">
              <a:spLocks noChangeArrowheads="1"/>
            </p:cNvSpPr>
            <p:nvPr/>
          </p:nvSpPr>
          <p:spPr bwMode="auto">
            <a:xfrm>
              <a:off x="4941" y="6293"/>
              <a:ext cx="168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Acoplamiento</a:t>
              </a:r>
              <a:endParaRPr lang="es-ES_tradnl" altLang="es-PE"/>
            </a:p>
          </p:txBody>
        </p:sp>
        <p:sp>
          <p:nvSpPr>
            <p:cNvPr id="189491" name="Text Box 51">
              <a:extLst>
                <a:ext uri="{FF2B5EF4-FFF2-40B4-BE49-F238E27FC236}">
                  <a16:creationId xmlns:a16="http://schemas.microsoft.com/office/drawing/2014/main" id="{8410D995-F0C3-487B-6574-326635D58CDF}"/>
                </a:ext>
              </a:extLst>
            </p:cNvPr>
            <p:cNvSpPr txBox="1">
              <a:spLocks noChangeArrowheads="1"/>
            </p:cNvSpPr>
            <p:nvPr/>
          </p:nvSpPr>
          <p:spPr bwMode="auto">
            <a:xfrm>
              <a:off x="7941" y="6278"/>
              <a:ext cx="276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Desplazamiento lineal</a:t>
              </a:r>
              <a:endParaRPr lang="es-ES_tradnl" altLang="es-PE"/>
            </a:p>
          </p:txBody>
        </p:sp>
        <p:sp>
          <p:nvSpPr>
            <p:cNvPr id="189492" name="Line 52">
              <a:extLst>
                <a:ext uri="{FF2B5EF4-FFF2-40B4-BE49-F238E27FC236}">
                  <a16:creationId xmlns:a16="http://schemas.microsoft.com/office/drawing/2014/main" id="{935113C1-BDB3-8579-FAE1-8E833FBC5865}"/>
                </a:ext>
              </a:extLst>
            </p:cNvPr>
            <p:cNvSpPr>
              <a:spLocks noChangeShapeType="1"/>
            </p:cNvSpPr>
            <p:nvPr/>
          </p:nvSpPr>
          <p:spPr bwMode="auto">
            <a:xfrm>
              <a:off x="7341" y="6638"/>
              <a:ext cx="6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93" name="Line 53">
              <a:extLst>
                <a:ext uri="{FF2B5EF4-FFF2-40B4-BE49-F238E27FC236}">
                  <a16:creationId xmlns:a16="http://schemas.microsoft.com/office/drawing/2014/main" id="{8DF62D10-C961-6A6E-61B3-BE7280452096}"/>
                </a:ext>
              </a:extLst>
            </p:cNvPr>
            <p:cNvSpPr>
              <a:spLocks noChangeShapeType="1"/>
            </p:cNvSpPr>
            <p:nvPr/>
          </p:nvSpPr>
          <p:spPr bwMode="auto">
            <a:xfrm>
              <a:off x="7581" y="6458"/>
              <a:ext cx="0" cy="36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94" name="Rectangle 54">
              <a:extLst>
                <a:ext uri="{FF2B5EF4-FFF2-40B4-BE49-F238E27FC236}">
                  <a16:creationId xmlns:a16="http://schemas.microsoft.com/office/drawing/2014/main" id="{88CCF2E5-7724-A526-FD9E-BEEA4C4BD716}"/>
                </a:ext>
              </a:extLst>
            </p:cNvPr>
            <p:cNvSpPr>
              <a:spLocks noChangeArrowheads="1"/>
            </p:cNvSpPr>
            <p:nvPr/>
          </p:nvSpPr>
          <p:spPr bwMode="auto">
            <a:xfrm>
              <a:off x="6741" y="6458"/>
              <a:ext cx="60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95" name="Oval 55">
              <a:extLst>
                <a:ext uri="{FF2B5EF4-FFF2-40B4-BE49-F238E27FC236}">
                  <a16:creationId xmlns:a16="http://schemas.microsoft.com/office/drawing/2014/main" id="{5F0E3A1C-D727-8B36-DB0C-3A44BFD306E8}"/>
                </a:ext>
              </a:extLst>
            </p:cNvPr>
            <p:cNvSpPr>
              <a:spLocks noChangeArrowheads="1"/>
            </p:cNvSpPr>
            <p:nvPr/>
          </p:nvSpPr>
          <p:spPr bwMode="auto">
            <a:xfrm>
              <a:off x="6861" y="6458"/>
              <a:ext cx="360" cy="18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96" name="Line 56">
              <a:extLst>
                <a:ext uri="{FF2B5EF4-FFF2-40B4-BE49-F238E27FC236}">
                  <a16:creationId xmlns:a16="http://schemas.microsoft.com/office/drawing/2014/main" id="{8F7788E9-2648-AEA6-FEC6-CD50F4714FBB}"/>
                </a:ext>
              </a:extLst>
            </p:cNvPr>
            <p:cNvSpPr>
              <a:spLocks noChangeShapeType="1"/>
            </p:cNvSpPr>
            <p:nvPr/>
          </p:nvSpPr>
          <p:spPr bwMode="auto">
            <a:xfrm>
              <a:off x="6501" y="6533"/>
              <a:ext cx="24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97" name="Line 57">
              <a:extLst>
                <a:ext uri="{FF2B5EF4-FFF2-40B4-BE49-F238E27FC236}">
                  <a16:creationId xmlns:a16="http://schemas.microsoft.com/office/drawing/2014/main" id="{C9FE9FB8-EDEB-0B8D-C85F-0CB036D99495}"/>
                </a:ext>
              </a:extLst>
            </p:cNvPr>
            <p:cNvSpPr>
              <a:spLocks noChangeShapeType="1"/>
            </p:cNvSpPr>
            <p:nvPr/>
          </p:nvSpPr>
          <p:spPr bwMode="auto">
            <a:xfrm flipH="1">
              <a:off x="7221" y="5738"/>
              <a:ext cx="36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98" name="Line 58">
              <a:extLst>
                <a:ext uri="{FF2B5EF4-FFF2-40B4-BE49-F238E27FC236}">
                  <a16:creationId xmlns:a16="http://schemas.microsoft.com/office/drawing/2014/main" id="{567D034D-132E-D347-E866-0C7C096371E7}"/>
                </a:ext>
              </a:extLst>
            </p:cNvPr>
            <p:cNvSpPr>
              <a:spLocks noChangeShapeType="1"/>
            </p:cNvSpPr>
            <p:nvPr/>
          </p:nvSpPr>
          <p:spPr bwMode="auto">
            <a:xfrm flipH="1">
              <a:off x="5181" y="6098"/>
              <a:ext cx="36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499" name="Freeform 59">
              <a:extLst>
                <a:ext uri="{FF2B5EF4-FFF2-40B4-BE49-F238E27FC236}">
                  <a16:creationId xmlns:a16="http://schemas.microsoft.com/office/drawing/2014/main" id="{DE4A1C08-96F9-6428-DFF3-DB2D19A1DB13}"/>
                </a:ext>
              </a:extLst>
            </p:cNvPr>
            <p:cNvSpPr>
              <a:spLocks/>
            </p:cNvSpPr>
            <p:nvPr/>
          </p:nvSpPr>
          <p:spPr bwMode="auto">
            <a:xfrm>
              <a:off x="3861" y="5738"/>
              <a:ext cx="600" cy="210"/>
            </a:xfrm>
            <a:custGeom>
              <a:avLst/>
              <a:gdLst>
                <a:gd name="T0" fmla="*/ 0 w 600"/>
                <a:gd name="T1" fmla="*/ 0 h 210"/>
                <a:gd name="T2" fmla="*/ 120 w 600"/>
                <a:gd name="T3" fmla="*/ 180 h 210"/>
                <a:gd name="T4" fmla="*/ 360 w 600"/>
                <a:gd name="T5" fmla="*/ 180 h 210"/>
                <a:gd name="T6" fmla="*/ 600 w 600"/>
                <a:gd name="T7" fmla="*/ 0 h 210"/>
              </a:gdLst>
              <a:ahLst/>
              <a:cxnLst>
                <a:cxn ang="0">
                  <a:pos x="T0" y="T1"/>
                </a:cxn>
                <a:cxn ang="0">
                  <a:pos x="T2" y="T3"/>
                </a:cxn>
                <a:cxn ang="0">
                  <a:pos x="T4" y="T5"/>
                </a:cxn>
                <a:cxn ang="0">
                  <a:pos x="T6" y="T7"/>
                </a:cxn>
              </a:cxnLst>
              <a:rect l="0" t="0" r="r" b="b"/>
              <a:pathLst>
                <a:path w="600" h="210">
                  <a:moveTo>
                    <a:pt x="0" y="0"/>
                  </a:moveTo>
                  <a:cubicBezTo>
                    <a:pt x="30" y="75"/>
                    <a:pt x="60" y="150"/>
                    <a:pt x="120" y="180"/>
                  </a:cubicBezTo>
                  <a:cubicBezTo>
                    <a:pt x="180" y="210"/>
                    <a:pt x="280" y="210"/>
                    <a:pt x="360" y="180"/>
                  </a:cubicBezTo>
                  <a:cubicBezTo>
                    <a:pt x="440" y="150"/>
                    <a:pt x="520" y="75"/>
                    <a:pt x="600" y="0"/>
                  </a:cubicBezTo>
                </a:path>
              </a:pathLst>
            </a:custGeom>
            <a:noFill/>
            <a:ln w="9525" cap="flat" cmpd="sng">
              <a:solidFill>
                <a:srgbClr val="000000"/>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89500" name="Text Box 60">
              <a:extLst>
                <a:ext uri="{FF2B5EF4-FFF2-40B4-BE49-F238E27FC236}">
                  <a16:creationId xmlns:a16="http://schemas.microsoft.com/office/drawing/2014/main" id="{B6022472-0B97-7D5E-C16B-EFBBCC32BE53}"/>
                </a:ext>
              </a:extLst>
            </p:cNvPr>
            <p:cNvSpPr txBox="1">
              <a:spLocks noChangeArrowheads="1"/>
            </p:cNvSpPr>
            <p:nvPr/>
          </p:nvSpPr>
          <p:spPr bwMode="auto">
            <a:xfrm>
              <a:off x="3996" y="5828"/>
              <a:ext cx="1080" cy="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giro</a:t>
              </a:r>
              <a:endParaRPr lang="es-ES_tradnl" altLang="es-PE"/>
            </a:p>
          </p:txBody>
        </p:sp>
        <p:sp>
          <p:nvSpPr>
            <p:cNvPr id="189501" name="Text Box 61">
              <a:extLst>
                <a:ext uri="{FF2B5EF4-FFF2-40B4-BE49-F238E27FC236}">
                  <a16:creationId xmlns:a16="http://schemas.microsoft.com/office/drawing/2014/main" id="{D5D0C0D0-7DAA-026C-8581-9449240A1922}"/>
                </a:ext>
              </a:extLst>
            </p:cNvPr>
            <p:cNvSpPr txBox="1">
              <a:spLocks noChangeArrowheads="1"/>
            </p:cNvSpPr>
            <p:nvPr/>
          </p:nvSpPr>
          <p:spPr bwMode="auto">
            <a:xfrm>
              <a:off x="3501" y="5018"/>
              <a:ext cx="72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Eje</a:t>
              </a:r>
              <a:endParaRPr lang="es-ES_tradnl" altLang="es-PE"/>
            </a:p>
          </p:txBody>
        </p:sp>
        <p:sp>
          <p:nvSpPr>
            <p:cNvPr id="189502" name="Line 62">
              <a:extLst>
                <a:ext uri="{FF2B5EF4-FFF2-40B4-BE49-F238E27FC236}">
                  <a16:creationId xmlns:a16="http://schemas.microsoft.com/office/drawing/2014/main" id="{D79C5560-A800-6DEC-9B5B-F0539F06AC8C}"/>
                </a:ext>
              </a:extLst>
            </p:cNvPr>
            <p:cNvSpPr>
              <a:spLocks noChangeShapeType="1"/>
            </p:cNvSpPr>
            <p:nvPr/>
          </p:nvSpPr>
          <p:spPr bwMode="auto">
            <a:xfrm>
              <a:off x="3861" y="5378"/>
              <a:ext cx="120" cy="18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sp>
        <p:nvSpPr>
          <p:cNvPr id="189505" name="Text Box 65">
            <a:extLst>
              <a:ext uri="{FF2B5EF4-FFF2-40B4-BE49-F238E27FC236}">
                <a16:creationId xmlns:a16="http://schemas.microsoft.com/office/drawing/2014/main" id="{30113D5C-FD8C-2C89-3691-00B37CE6AED9}"/>
              </a:ext>
            </a:extLst>
          </p:cNvPr>
          <p:cNvSpPr txBox="1">
            <a:spLocks noChangeArrowheads="1"/>
          </p:cNvSpPr>
          <p:nvPr/>
        </p:nvSpPr>
        <p:spPr bwMode="auto">
          <a:xfrm>
            <a:off x="1004722" y="5164683"/>
            <a:ext cx="1009658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s-ES" altLang="es-PE" sz="2400" dirty="0"/>
              <a:t>El disco se divide en un número de sectores (potencia de 2) codificándose cada uno de ellos con un código binario</a:t>
            </a:r>
            <a:endParaRPr lang="es-ES_tradnl" altLang="es-PE"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6704CE1C-E5E1-7CEC-7D47-FC04E24AC153}"/>
              </a:ext>
            </a:extLst>
          </p:cNvPr>
          <p:cNvSpPr>
            <a:spLocks noGrp="1" noChangeArrowheads="1"/>
          </p:cNvSpPr>
          <p:nvPr>
            <p:ph type="title"/>
          </p:nvPr>
        </p:nvSpPr>
        <p:spPr/>
        <p:txBody>
          <a:bodyPr/>
          <a:lstStyle/>
          <a:p>
            <a:r>
              <a:rPr lang="es-ES" altLang="es-PE" sz="4000"/>
              <a:t>SENSORES Y TRANSDUCTORES</a:t>
            </a:r>
          </a:p>
        </p:txBody>
      </p:sp>
      <p:sp>
        <p:nvSpPr>
          <p:cNvPr id="191491" name="Rectangle 3">
            <a:extLst>
              <a:ext uri="{FF2B5EF4-FFF2-40B4-BE49-F238E27FC236}">
                <a16:creationId xmlns:a16="http://schemas.microsoft.com/office/drawing/2014/main" id="{D4B1ADCD-743F-813F-BBBF-AC5B72BC7A9F}"/>
              </a:ext>
            </a:extLst>
          </p:cNvPr>
          <p:cNvSpPr>
            <a:spLocks noGrp="1" noChangeArrowheads="1"/>
          </p:cNvSpPr>
          <p:nvPr>
            <p:ph idx="1"/>
          </p:nvPr>
        </p:nvSpPr>
        <p:spPr/>
        <p:txBody>
          <a:bodyPr/>
          <a:lstStyle/>
          <a:p>
            <a:pPr>
              <a:lnSpc>
                <a:spcPct val="80000"/>
              </a:lnSpc>
            </a:pPr>
            <a:r>
              <a:rPr lang="es-ES" altLang="es-PE" sz="2800" b="1">
                <a:solidFill>
                  <a:srgbClr val="FF0000"/>
                </a:solidFill>
              </a:rPr>
              <a:t>Sensores de temperatura</a:t>
            </a:r>
          </a:p>
          <a:p>
            <a:pPr lvl="1">
              <a:lnSpc>
                <a:spcPct val="80000"/>
              </a:lnSpc>
            </a:pPr>
            <a:r>
              <a:rPr lang="es-ES" altLang="es-PE" sz="2400" b="1"/>
              <a:t>Sensores resistivos</a:t>
            </a:r>
          </a:p>
          <a:p>
            <a:pPr lvl="2">
              <a:lnSpc>
                <a:spcPct val="80000"/>
              </a:lnSpc>
            </a:pPr>
            <a:r>
              <a:rPr lang="es-ES" altLang="es-PE" b="1"/>
              <a:t>RTD</a:t>
            </a:r>
          </a:p>
          <a:p>
            <a:pPr lvl="2">
              <a:lnSpc>
                <a:spcPct val="80000"/>
              </a:lnSpc>
            </a:pPr>
            <a:r>
              <a:rPr lang="es-ES" altLang="es-PE" b="1"/>
              <a:t>Termistores</a:t>
            </a:r>
          </a:p>
          <a:p>
            <a:pPr lvl="1">
              <a:lnSpc>
                <a:spcPct val="80000"/>
              </a:lnSpc>
            </a:pPr>
            <a:r>
              <a:rPr lang="es-ES" altLang="es-PE" sz="2400" b="1"/>
              <a:t>Sensores termoeléctricos</a:t>
            </a:r>
          </a:p>
          <a:p>
            <a:pPr lvl="2">
              <a:lnSpc>
                <a:spcPct val="80000"/>
              </a:lnSpc>
            </a:pPr>
            <a:r>
              <a:rPr lang="es-ES" altLang="es-PE" b="1"/>
              <a:t>Efecto Seebeck</a:t>
            </a:r>
          </a:p>
          <a:p>
            <a:pPr lvl="2">
              <a:lnSpc>
                <a:spcPct val="80000"/>
              </a:lnSpc>
            </a:pPr>
            <a:r>
              <a:rPr lang="es-ES" altLang="es-PE" b="1"/>
              <a:t>Efecto Thomson</a:t>
            </a:r>
          </a:p>
          <a:p>
            <a:pPr lvl="2">
              <a:lnSpc>
                <a:spcPct val="80000"/>
              </a:lnSpc>
            </a:pPr>
            <a:r>
              <a:rPr lang="es-ES" altLang="es-PE" b="1"/>
              <a:t>Efecto Peltier</a:t>
            </a:r>
          </a:p>
        </p:txBody>
      </p:sp>
      <p:sp>
        <p:nvSpPr>
          <p:cNvPr id="2" name="Marcador de número de diapositiva 4">
            <a:extLst>
              <a:ext uri="{FF2B5EF4-FFF2-40B4-BE49-F238E27FC236}">
                <a16:creationId xmlns:a16="http://schemas.microsoft.com/office/drawing/2014/main" id="{DF2681D5-F56C-9368-6739-AB67F6546C4B}"/>
              </a:ext>
            </a:extLst>
          </p:cNvPr>
          <p:cNvSpPr>
            <a:spLocks noGrp="1"/>
          </p:cNvSpPr>
          <p:nvPr>
            <p:ph type="sldNum" sz="quarter" idx="4294967295"/>
          </p:nvPr>
        </p:nvSpPr>
        <p:spPr>
          <a:xfrm>
            <a:off x="0" y="0"/>
            <a:ext cx="0" cy="0"/>
          </a:xfrm>
        </p:spPr>
        <p:txBody>
          <a:bodyPr/>
          <a:lstStyle/>
          <a:p>
            <a:fld id="{7935709B-DECE-4103-91CD-EF0180E1708D}" type="slidenum">
              <a:rPr lang="es-ES" altLang="es-PE"/>
              <a:pPr/>
              <a:t>28</a:t>
            </a:fld>
            <a:endParaRPr lang="es-ES" altLang="es-P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4A95B68A-B940-C507-1B88-114E55964ED8}"/>
              </a:ext>
            </a:extLst>
          </p:cNvPr>
          <p:cNvSpPr>
            <a:spLocks noGrp="1" noChangeArrowheads="1"/>
          </p:cNvSpPr>
          <p:nvPr>
            <p:ph type="title"/>
          </p:nvPr>
        </p:nvSpPr>
        <p:spPr/>
        <p:txBody>
          <a:bodyPr/>
          <a:lstStyle/>
          <a:p>
            <a:r>
              <a:rPr lang="es-ES" altLang="es-PE"/>
              <a:t>Sensores de temperatura</a:t>
            </a:r>
          </a:p>
        </p:txBody>
      </p:sp>
      <p:sp>
        <p:nvSpPr>
          <p:cNvPr id="192515" name="Rectangle 3">
            <a:extLst>
              <a:ext uri="{FF2B5EF4-FFF2-40B4-BE49-F238E27FC236}">
                <a16:creationId xmlns:a16="http://schemas.microsoft.com/office/drawing/2014/main" id="{2A540304-A745-5242-4CEA-2A7F3C7FD26E}"/>
              </a:ext>
            </a:extLst>
          </p:cNvPr>
          <p:cNvSpPr>
            <a:spLocks noGrp="1" noChangeArrowheads="1"/>
          </p:cNvSpPr>
          <p:nvPr>
            <p:ph idx="1"/>
          </p:nvPr>
        </p:nvSpPr>
        <p:spPr/>
        <p:txBody>
          <a:bodyPr/>
          <a:lstStyle/>
          <a:p>
            <a:pPr>
              <a:lnSpc>
                <a:spcPct val="80000"/>
              </a:lnSpc>
            </a:pPr>
            <a:r>
              <a:rPr lang="es-ES" altLang="es-PE" sz="2800" b="1" dirty="0"/>
              <a:t>Sensores resistivos</a:t>
            </a:r>
          </a:p>
          <a:p>
            <a:pPr lvl="1">
              <a:lnSpc>
                <a:spcPct val="80000"/>
              </a:lnSpc>
            </a:pPr>
            <a:r>
              <a:rPr lang="es-ES" altLang="es-PE" sz="2400" b="1" dirty="0" err="1"/>
              <a:t>RTD</a:t>
            </a:r>
            <a:r>
              <a:rPr lang="es-ES" altLang="es-PE" sz="2400" b="1" dirty="0"/>
              <a:t>:</a:t>
            </a:r>
            <a:r>
              <a:rPr lang="es-ES" altLang="es-PE" sz="2000" b="1" dirty="0"/>
              <a:t>(</a:t>
            </a:r>
            <a:r>
              <a:rPr lang="es-ES" altLang="es-PE" sz="2000" b="1" dirty="0" err="1"/>
              <a:t>Resistance</a:t>
            </a:r>
            <a:r>
              <a:rPr lang="es-ES" altLang="es-PE" sz="2000" b="1" dirty="0"/>
              <a:t> Temperatura </a:t>
            </a:r>
            <a:r>
              <a:rPr lang="es-ES" altLang="es-PE" sz="2000" b="1" dirty="0" err="1"/>
              <a:t>Dependent</a:t>
            </a:r>
            <a:r>
              <a:rPr lang="es-ES" altLang="es-PE" sz="2000" b="1" dirty="0"/>
              <a:t>). Detectores de temperatura basados en la variación de su resistencia eléctrica. La resistencia aumenta con la temperatura. La dependencia se expresa mediante:</a:t>
            </a:r>
          </a:p>
          <a:p>
            <a:pPr lvl="1">
              <a:lnSpc>
                <a:spcPct val="80000"/>
              </a:lnSpc>
            </a:pPr>
            <a:endParaRPr lang="es-ES" altLang="es-PE" sz="2000" b="1" dirty="0"/>
          </a:p>
          <a:p>
            <a:pPr lvl="1">
              <a:lnSpc>
                <a:spcPct val="80000"/>
              </a:lnSpc>
            </a:pPr>
            <a:endParaRPr lang="es-ES" altLang="es-PE" sz="2000" b="1" dirty="0"/>
          </a:p>
          <a:p>
            <a:pPr lvl="1">
              <a:lnSpc>
                <a:spcPct val="80000"/>
              </a:lnSpc>
            </a:pPr>
            <a:endParaRPr lang="es-ES" altLang="es-PE" sz="2000" b="1" dirty="0"/>
          </a:p>
          <a:p>
            <a:pPr lvl="1">
              <a:lnSpc>
                <a:spcPct val="80000"/>
              </a:lnSpc>
            </a:pPr>
            <a:endParaRPr lang="es-ES" altLang="es-PE" sz="2000" b="1" dirty="0"/>
          </a:p>
          <a:p>
            <a:pPr lvl="1">
              <a:lnSpc>
                <a:spcPct val="80000"/>
              </a:lnSpc>
              <a:buFont typeface="Wingdings" panose="05000000000000000000" pitchFamily="2" charset="2"/>
              <a:buNone/>
            </a:pPr>
            <a:endParaRPr lang="es-ES" altLang="es-PE" sz="2000" b="1" dirty="0"/>
          </a:p>
          <a:p>
            <a:pPr lvl="1">
              <a:lnSpc>
                <a:spcPct val="80000"/>
              </a:lnSpc>
              <a:buFont typeface="Wingdings" panose="05000000000000000000" pitchFamily="2" charset="2"/>
              <a:buNone/>
            </a:pPr>
            <a:endParaRPr lang="es-ES" altLang="es-PE" sz="2000" b="1" dirty="0"/>
          </a:p>
          <a:p>
            <a:pPr lvl="1">
              <a:lnSpc>
                <a:spcPct val="80000"/>
              </a:lnSpc>
            </a:pPr>
            <a:endParaRPr lang="es-ES" altLang="es-PE" sz="2000" b="1" dirty="0"/>
          </a:p>
          <a:p>
            <a:pPr lvl="1">
              <a:lnSpc>
                <a:spcPct val="80000"/>
              </a:lnSpc>
            </a:pPr>
            <a:r>
              <a:rPr lang="es-ES" altLang="es-PE" sz="2000" b="1" dirty="0" err="1"/>
              <a:t>Termistores:A</a:t>
            </a:r>
            <a:r>
              <a:rPr lang="es-ES" altLang="es-PE" sz="2000" b="1" dirty="0"/>
              <a:t> diferencia de las </a:t>
            </a:r>
            <a:r>
              <a:rPr lang="es-ES" altLang="es-PE" sz="2000" b="1" dirty="0" err="1"/>
              <a:t>RTD</a:t>
            </a:r>
            <a:r>
              <a:rPr lang="es-ES" altLang="es-PE" sz="2000" b="1" dirty="0"/>
              <a:t>, que están basadas en conductores, los termistores se basan en semiconductores. Si su coeficiente de temperatura es negativo, se denominan NTC (Negative </a:t>
            </a:r>
            <a:r>
              <a:rPr lang="es-ES" altLang="es-PE" sz="2000" b="1" dirty="0" err="1"/>
              <a:t>Temperature</a:t>
            </a:r>
            <a:r>
              <a:rPr lang="es-ES" altLang="es-PE" sz="2000" b="1" dirty="0"/>
              <a:t> </a:t>
            </a:r>
            <a:r>
              <a:rPr lang="es-ES" altLang="es-PE" sz="2000" b="1" dirty="0" err="1"/>
              <a:t>Coeficient</a:t>
            </a:r>
            <a:r>
              <a:rPr lang="es-ES" altLang="es-PE" sz="2000" b="1" dirty="0"/>
              <a:t>), mientas que si es positivo se denominan </a:t>
            </a:r>
            <a:r>
              <a:rPr lang="es-ES" altLang="es-PE" sz="2000" b="1" dirty="0" err="1"/>
              <a:t>PTC</a:t>
            </a:r>
            <a:r>
              <a:rPr lang="es-ES" altLang="es-PE" sz="2000" b="1" dirty="0"/>
              <a:t> (Positive </a:t>
            </a:r>
            <a:r>
              <a:rPr lang="es-ES" altLang="es-PE" sz="2000" b="1" dirty="0" err="1"/>
              <a:t>Temperature</a:t>
            </a:r>
            <a:r>
              <a:rPr lang="es-ES" altLang="es-PE" sz="2000" b="1" dirty="0"/>
              <a:t> </a:t>
            </a:r>
            <a:r>
              <a:rPr lang="es-ES" altLang="es-PE" sz="2000" b="1" dirty="0" err="1"/>
              <a:t>Coefficient</a:t>
            </a:r>
            <a:r>
              <a:rPr lang="es-ES_tradnl" altLang="es-PE" sz="2000" dirty="0"/>
              <a:t> )</a:t>
            </a:r>
            <a:endParaRPr lang="es-ES" altLang="es-PE" sz="2000" dirty="0"/>
          </a:p>
        </p:txBody>
      </p:sp>
      <p:sp>
        <p:nvSpPr>
          <p:cNvPr id="2" name="Marcador de número de diapositiva 4">
            <a:extLst>
              <a:ext uri="{FF2B5EF4-FFF2-40B4-BE49-F238E27FC236}">
                <a16:creationId xmlns:a16="http://schemas.microsoft.com/office/drawing/2014/main" id="{764AEEDD-11F2-C6AD-813C-0342328296F2}"/>
              </a:ext>
            </a:extLst>
          </p:cNvPr>
          <p:cNvSpPr>
            <a:spLocks noGrp="1"/>
          </p:cNvSpPr>
          <p:nvPr>
            <p:ph type="sldNum" sz="quarter" idx="4294967295"/>
          </p:nvPr>
        </p:nvSpPr>
        <p:spPr>
          <a:xfrm>
            <a:off x="0" y="0"/>
            <a:ext cx="0" cy="0"/>
          </a:xfrm>
        </p:spPr>
        <p:txBody>
          <a:bodyPr/>
          <a:lstStyle/>
          <a:p>
            <a:fld id="{EF983D4C-4E55-4623-BA56-9EDF5A85BE63}" type="slidenum">
              <a:rPr lang="es-ES" altLang="es-PE"/>
              <a:pPr/>
              <a:t>29</a:t>
            </a:fld>
            <a:endParaRPr lang="es-ES" altLang="es-PE"/>
          </a:p>
        </p:txBody>
      </p:sp>
      <p:sp>
        <p:nvSpPr>
          <p:cNvPr id="192517" name="Rectangle 5">
            <a:extLst>
              <a:ext uri="{FF2B5EF4-FFF2-40B4-BE49-F238E27FC236}">
                <a16:creationId xmlns:a16="http://schemas.microsoft.com/office/drawing/2014/main" id="{8AD11DE2-717E-0EDD-5269-F88DA4BC8742}"/>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92516" name="Object 4">
            <a:extLst>
              <a:ext uri="{FF2B5EF4-FFF2-40B4-BE49-F238E27FC236}">
                <a16:creationId xmlns:a16="http://schemas.microsoft.com/office/drawing/2014/main" id="{FDDACE62-7220-A635-EFFC-046A7B808683}"/>
              </a:ext>
            </a:extLst>
          </p:cNvPr>
          <p:cNvGraphicFramePr>
            <a:graphicFrameLocks noChangeAspect="1"/>
          </p:cNvGraphicFramePr>
          <p:nvPr>
            <p:extLst>
              <p:ext uri="{D42A27DB-BD31-4B8C-83A1-F6EECF244321}">
                <p14:modId xmlns:p14="http://schemas.microsoft.com/office/powerpoint/2010/main" val="669535269"/>
              </p:ext>
            </p:extLst>
          </p:nvPr>
        </p:nvGraphicFramePr>
        <p:xfrm>
          <a:off x="2514600" y="2602191"/>
          <a:ext cx="6840537" cy="608012"/>
        </p:xfrm>
        <a:graphic>
          <a:graphicData uri="http://schemas.openxmlformats.org/presentationml/2006/ole">
            <mc:AlternateContent xmlns:mc="http://schemas.openxmlformats.org/markup-compatibility/2006">
              <mc:Choice xmlns:v="urn:schemas-microsoft-com:vml" Requires="v">
                <p:oleObj name="Ecuación" r:id="rId2" imgW="2679700" imgH="241300" progId="Equation.3">
                  <p:embed/>
                </p:oleObj>
              </mc:Choice>
              <mc:Fallback>
                <p:oleObj name="Ecuación" r:id="rId2" imgW="2679700" imgH="241300" progId="Equation.3">
                  <p:embed/>
                  <p:pic>
                    <p:nvPicPr>
                      <p:cNvPr id="192516" name="Object 4">
                        <a:extLst>
                          <a:ext uri="{FF2B5EF4-FFF2-40B4-BE49-F238E27FC236}">
                            <a16:creationId xmlns:a16="http://schemas.microsoft.com/office/drawing/2014/main" id="{FDDACE62-7220-A635-EFFC-046A7B808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602191"/>
                        <a:ext cx="6840537" cy="608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2519" name="Rectangle 7">
            <a:extLst>
              <a:ext uri="{FF2B5EF4-FFF2-40B4-BE49-F238E27FC236}">
                <a16:creationId xmlns:a16="http://schemas.microsoft.com/office/drawing/2014/main" id="{6A26960C-6A58-84CA-A83D-BEE65AFBF6B5}"/>
              </a:ext>
            </a:extLst>
          </p:cNvPr>
          <p:cNvSpPr>
            <a:spLocks noChangeArrowheads="1"/>
          </p:cNvSpPr>
          <p:nvPr/>
        </p:nvSpPr>
        <p:spPr bwMode="auto">
          <a:xfrm>
            <a:off x="1524001" y="29061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92518" name="Object 6">
            <a:extLst>
              <a:ext uri="{FF2B5EF4-FFF2-40B4-BE49-F238E27FC236}">
                <a16:creationId xmlns:a16="http://schemas.microsoft.com/office/drawing/2014/main" id="{67A61AD5-351C-C3A0-2468-9FD7B25C9769}"/>
              </a:ext>
            </a:extLst>
          </p:cNvPr>
          <p:cNvGraphicFramePr>
            <a:graphicFrameLocks noChangeAspect="1"/>
          </p:cNvGraphicFramePr>
          <p:nvPr>
            <p:extLst>
              <p:ext uri="{D42A27DB-BD31-4B8C-83A1-F6EECF244321}">
                <p14:modId xmlns:p14="http://schemas.microsoft.com/office/powerpoint/2010/main" val="2649957001"/>
              </p:ext>
            </p:extLst>
          </p:nvPr>
        </p:nvGraphicFramePr>
        <p:xfrm>
          <a:off x="2859087" y="3275529"/>
          <a:ext cx="7561263" cy="1187450"/>
        </p:xfrm>
        <a:graphic>
          <a:graphicData uri="http://schemas.openxmlformats.org/presentationml/2006/ole">
            <mc:AlternateContent xmlns:mc="http://schemas.openxmlformats.org/markup-compatibility/2006">
              <mc:Choice xmlns:v="urn:schemas-microsoft-com:vml" Requires="v">
                <p:oleObj name="Ecuación" r:id="rId4" imgW="4305300" imgH="673100" progId="Equation.3">
                  <p:embed/>
                </p:oleObj>
              </mc:Choice>
              <mc:Fallback>
                <p:oleObj name="Ecuación" r:id="rId4" imgW="4305300" imgH="673100" progId="Equation.3">
                  <p:embed/>
                  <p:pic>
                    <p:nvPicPr>
                      <p:cNvPr id="192518" name="Object 6">
                        <a:extLst>
                          <a:ext uri="{FF2B5EF4-FFF2-40B4-BE49-F238E27FC236}">
                            <a16:creationId xmlns:a16="http://schemas.microsoft.com/office/drawing/2014/main" id="{67A61AD5-351C-C3A0-2468-9FD7B25C97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9087" y="3275529"/>
                        <a:ext cx="7561263" cy="1187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A270C898-7021-2F3E-0F7F-F5B26347D461}"/>
              </a:ext>
            </a:extLst>
          </p:cNvPr>
          <p:cNvSpPr>
            <a:spLocks noGrp="1" noChangeArrowheads="1"/>
          </p:cNvSpPr>
          <p:nvPr>
            <p:ph type="title"/>
          </p:nvPr>
        </p:nvSpPr>
        <p:spPr/>
        <p:txBody>
          <a:bodyPr/>
          <a:lstStyle/>
          <a:p>
            <a:r>
              <a:rPr lang="es-ES" altLang="es-PE"/>
              <a:t>Sensores de temperatura</a:t>
            </a:r>
          </a:p>
        </p:txBody>
      </p:sp>
      <p:sp>
        <p:nvSpPr>
          <p:cNvPr id="194563" name="Rectangle 3">
            <a:extLst>
              <a:ext uri="{FF2B5EF4-FFF2-40B4-BE49-F238E27FC236}">
                <a16:creationId xmlns:a16="http://schemas.microsoft.com/office/drawing/2014/main" id="{A12CFD64-7A4E-D36B-31BA-060BD4BC22D5}"/>
              </a:ext>
            </a:extLst>
          </p:cNvPr>
          <p:cNvSpPr>
            <a:spLocks noGrp="1" noChangeArrowheads="1"/>
          </p:cNvSpPr>
          <p:nvPr>
            <p:ph idx="1"/>
          </p:nvPr>
        </p:nvSpPr>
        <p:spPr/>
        <p:txBody>
          <a:bodyPr/>
          <a:lstStyle/>
          <a:p>
            <a:pPr>
              <a:lnSpc>
                <a:spcPct val="80000"/>
              </a:lnSpc>
            </a:pPr>
            <a:r>
              <a:rPr lang="es-ES" altLang="es-PE" sz="2800" b="1"/>
              <a:t>Sensores resistivos:</a:t>
            </a:r>
          </a:p>
          <a:p>
            <a:pPr lvl="1">
              <a:lnSpc>
                <a:spcPct val="80000"/>
              </a:lnSpc>
            </a:pPr>
            <a:r>
              <a:rPr lang="es-ES" altLang="es-PE" sz="2400" i="1"/>
              <a:t>Los termistores tienen numerosas aplicaciones; entre ellas se propone un termómetro digital. El sistema de control se basa en que la tensión entre los puntos A y B del puente de Wheatstone variará en función del NTC.</a:t>
            </a:r>
            <a:endParaRPr lang="es-ES" altLang="es-PE" sz="2400"/>
          </a:p>
          <a:p>
            <a:pPr>
              <a:lnSpc>
                <a:spcPct val="80000"/>
              </a:lnSpc>
            </a:pPr>
            <a:endParaRPr lang="es-ES" altLang="es-PE" sz="2400"/>
          </a:p>
        </p:txBody>
      </p:sp>
      <p:sp>
        <p:nvSpPr>
          <p:cNvPr id="2" name="Marcador de número de diapositiva 4">
            <a:extLst>
              <a:ext uri="{FF2B5EF4-FFF2-40B4-BE49-F238E27FC236}">
                <a16:creationId xmlns:a16="http://schemas.microsoft.com/office/drawing/2014/main" id="{2F046EB7-241E-7A6A-BBD8-375415E6E92B}"/>
              </a:ext>
            </a:extLst>
          </p:cNvPr>
          <p:cNvSpPr>
            <a:spLocks noGrp="1"/>
          </p:cNvSpPr>
          <p:nvPr>
            <p:ph type="sldNum" sz="quarter" idx="4294967295"/>
          </p:nvPr>
        </p:nvSpPr>
        <p:spPr>
          <a:xfrm>
            <a:off x="0" y="0"/>
            <a:ext cx="0" cy="0"/>
          </a:xfrm>
        </p:spPr>
        <p:txBody>
          <a:bodyPr/>
          <a:lstStyle/>
          <a:p>
            <a:fld id="{AC7DD5EE-C253-4EB2-BF70-F19E77058AF2}" type="slidenum">
              <a:rPr lang="es-ES" altLang="es-PE"/>
              <a:pPr/>
              <a:t>30</a:t>
            </a:fld>
            <a:endParaRPr lang="es-ES" altLang="es-PE"/>
          </a:p>
        </p:txBody>
      </p:sp>
      <p:sp>
        <p:nvSpPr>
          <p:cNvPr id="194564" name="Rectangle 4">
            <a:extLst>
              <a:ext uri="{FF2B5EF4-FFF2-40B4-BE49-F238E27FC236}">
                <a16:creationId xmlns:a16="http://schemas.microsoft.com/office/drawing/2014/main" id="{E9681BFC-AE6B-6D64-FD5D-C47748968783}"/>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sp>
        <p:nvSpPr>
          <p:cNvPr id="194566" name="Rectangle 6">
            <a:extLst>
              <a:ext uri="{FF2B5EF4-FFF2-40B4-BE49-F238E27FC236}">
                <a16:creationId xmlns:a16="http://schemas.microsoft.com/office/drawing/2014/main" id="{1732DDE4-DF7C-EDC7-94B9-929DAF6B9706}"/>
              </a:ext>
            </a:extLst>
          </p:cNvPr>
          <p:cNvSpPr>
            <a:spLocks noChangeArrowheads="1"/>
          </p:cNvSpPr>
          <p:nvPr/>
        </p:nvSpPr>
        <p:spPr bwMode="auto">
          <a:xfrm>
            <a:off x="1524001" y="29061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pSp>
        <p:nvGrpSpPr>
          <p:cNvPr id="194568" name="Group 8">
            <a:extLst>
              <a:ext uri="{FF2B5EF4-FFF2-40B4-BE49-F238E27FC236}">
                <a16:creationId xmlns:a16="http://schemas.microsoft.com/office/drawing/2014/main" id="{C999E446-E294-265F-C00F-98D63553CF22}"/>
              </a:ext>
            </a:extLst>
          </p:cNvPr>
          <p:cNvGrpSpPr>
            <a:grpSpLocks/>
          </p:cNvGrpSpPr>
          <p:nvPr/>
        </p:nvGrpSpPr>
        <p:grpSpPr bwMode="auto">
          <a:xfrm>
            <a:off x="3048794" y="3052763"/>
            <a:ext cx="5256212" cy="2520950"/>
            <a:chOff x="2781" y="12938"/>
            <a:chExt cx="5760" cy="2385"/>
          </a:xfrm>
        </p:grpSpPr>
        <p:grpSp>
          <p:nvGrpSpPr>
            <p:cNvPr id="194569" name="Group 9">
              <a:extLst>
                <a:ext uri="{FF2B5EF4-FFF2-40B4-BE49-F238E27FC236}">
                  <a16:creationId xmlns:a16="http://schemas.microsoft.com/office/drawing/2014/main" id="{2C8438BA-C914-ADBA-0D09-AB71CDB8C6CF}"/>
                </a:ext>
              </a:extLst>
            </p:cNvPr>
            <p:cNvGrpSpPr>
              <a:grpSpLocks/>
            </p:cNvGrpSpPr>
            <p:nvPr/>
          </p:nvGrpSpPr>
          <p:grpSpPr bwMode="auto">
            <a:xfrm>
              <a:off x="2781" y="12938"/>
              <a:ext cx="5760" cy="2385"/>
              <a:chOff x="2301" y="12323"/>
              <a:chExt cx="5760" cy="2385"/>
            </a:xfrm>
          </p:grpSpPr>
          <p:sp>
            <p:nvSpPr>
              <p:cNvPr id="194570" name="Rectangle 10">
                <a:extLst>
                  <a:ext uri="{FF2B5EF4-FFF2-40B4-BE49-F238E27FC236}">
                    <a16:creationId xmlns:a16="http://schemas.microsoft.com/office/drawing/2014/main" id="{FBCDD971-3085-BB00-3DC0-8765AA8380A0}"/>
                  </a:ext>
                </a:extLst>
              </p:cNvPr>
              <p:cNvSpPr>
                <a:spLocks noChangeArrowheads="1"/>
              </p:cNvSpPr>
              <p:nvPr/>
            </p:nvSpPr>
            <p:spPr bwMode="auto">
              <a:xfrm rot="-2726983">
                <a:off x="2860" y="13084"/>
                <a:ext cx="952" cy="90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71" name="Rectangle 11">
                <a:extLst>
                  <a:ext uri="{FF2B5EF4-FFF2-40B4-BE49-F238E27FC236}">
                    <a16:creationId xmlns:a16="http://schemas.microsoft.com/office/drawing/2014/main" id="{360B45AA-E71B-6687-0EBD-A9DC30C722A1}"/>
                  </a:ext>
                </a:extLst>
              </p:cNvPr>
              <p:cNvSpPr>
                <a:spLocks noChangeArrowheads="1"/>
              </p:cNvSpPr>
              <p:nvPr/>
            </p:nvSpPr>
            <p:spPr bwMode="auto">
              <a:xfrm rot="-2577275">
                <a:off x="2781" y="13118"/>
                <a:ext cx="48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72" name="Rectangle 12">
                <a:extLst>
                  <a:ext uri="{FF2B5EF4-FFF2-40B4-BE49-F238E27FC236}">
                    <a16:creationId xmlns:a16="http://schemas.microsoft.com/office/drawing/2014/main" id="{6AA46C96-2C5C-CB12-604A-B27003E47644}"/>
                  </a:ext>
                </a:extLst>
              </p:cNvPr>
              <p:cNvSpPr>
                <a:spLocks noChangeArrowheads="1"/>
              </p:cNvSpPr>
              <p:nvPr/>
            </p:nvSpPr>
            <p:spPr bwMode="auto">
              <a:xfrm rot="-2921331">
                <a:off x="3426" y="13763"/>
                <a:ext cx="48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73" name="Rectangle 13">
                <a:extLst>
                  <a:ext uri="{FF2B5EF4-FFF2-40B4-BE49-F238E27FC236}">
                    <a16:creationId xmlns:a16="http://schemas.microsoft.com/office/drawing/2014/main" id="{5771EBE1-5F76-DE49-57FE-AD0A2F19E368}"/>
                  </a:ext>
                </a:extLst>
              </p:cNvPr>
              <p:cNvSpPr>
                <a:spLocks noChangeArrowheads="1"/>
              </p:cNvSpPr>
              <p:nvPr/>
            </p:nvSpPr>
            <p:spPr bwMode="auto">
              <a:xfrm rot="13774813">
                <a:off x="3441" y="13178"/>
                <a:ext cx="48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74" name="Rectangle 14">
                <a:extLst>
                  <a:ext uri="{FF2B5EF4-FFF2-40B4-BE49-F238E27FC236}">
                    <a16:creationId xmlns:a16="http://schemas.microsoft.com/office/drawing/2014/main" id="{B55A3BE3-ED03-71B8-5DBC-D9649021DE0D}"/>
                  </a:ext>
                </a:extLst>
              </p:cNvPr>
              <p:cNvSpPr>
                <a:spLocks noChangeArrowheads="1"/>
              </p:cNvSpPr>
              <p:nvPr/>
            </p:nvSpPr>
            <p:spPr bwMode="auto">
              <a:xfrm rot="13774813">
                <a:off x="2721" y="13763"/>
                <a:ext cx="48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75" name="Line 15">
                <a:extLst>
                  <a:ext uri="{FF2B5EF4-FFF2-40B4-BE49-F238E27FC236}">
                    <a16:creationId xmlns:a16="http://schemas.microsoft.com/office/drawing/2014/main" id="{2DA4137D-D32A-84DD-F282-BDC965DD0FE6}"/>
                  </a:ext>
                </a:extLst>
              </p:cNvPr>
              <p:cNvSpPr>
                <a:spLocks noChangeShapeType="1"/>
              </p:cNvSpPr>
              <p:nvPr/>
            </p:nvSpPr>
            <p:spPr bwMode="auto">
              <a:xfrm>
                <a:off x="3366" y="12548"/>
                <a:ext cx="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76" name="Line 16">
                <a:extLst>
                  <a:ext uri="{FF2B5EF4-FFF2-40B4-BE49-F238E27FC236}">
                    <a16:creationId xmlns:a16="http://schemas.microsoft.com/office/drawing/2014/main" id="{C2279761-CF03-16AD-243F-CB2A85F5EB8D}"/>
                  </a:ext>
                </a:extLst>
              </p:cNvPr>
              <p:cNvSpPr>
                <a:spLocks noChangeShapeType="1"/>
              </p:cNvSpPr>
              <p:nvPr/>
            </p:nvSpPr>
            <p:spPr bwMode="auto">
              <a:xfrm>
                <a:off x="3321" y="14168"/>
                <a:ext cx="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77" name="Line 17">
                <a:extLst>
                  <a:ext uri="{FF2B5EF4-FFF2-40B4-BE49-F238E27FC236}">
                    <a16:creationId xmlns:a16="http://schemas.microsoft.com/office/drawing/2014/main" id="{5CD0CC9E-72D9-C615-9C2F-3C359EBA616A}"/>
                  </a:ext>
                </a:extLst>
              </p:cNvPr>
              <p:cNvSpPr>
                <a:spLocks noChangeShapeType="1"/>
              </p:cNvSpPr>
              <p:nvPr/>
            </p:nvSpPr>
            <p:spPr bwMode="auto">
              <a:xfrm>
                <a:off x="3141" y="14528"/>
                <a:ext cx="36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78" name="Line 18">
                <a:extLst>
                  <a:ext uri="{FF2B5EF4-FFF2-40B4-BE49-F238E27FC236}">
                    <a16:creationId xmlns:a16="http://schemas.microsoft.com/office/drawing/2014/main" id="{BFB646B5-9993-A804-C916-394F6B083A51}"/>
                  </a:ext>
                </a:extLst>
              </p:cNvPr>
              <p:cNvSpPr>
                <a:spLocks noChangeShapeType="1"/>
              </p:cNvSpPr>
              <p:nvPr/>
            </p:nvSpPr>
            <p:spPr bwMode="auto">
              <a:xfrm flipH="1">
                <a:off x="3021" y="1452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79" name="Line 19">
                <a:extLst>
                  <a:ext uri="{FF2B5EF4-FFF2-40B4-BE49-F238E27FC236}">
                    <a16:creationId xmlns:a16="http://schemas.microsoft.com/office/drawing/2014/main" id="{310216D8-B481-9BFF-0C28-65D9C46FACF4}"/>
                  </a:ext>
                </a:extLst>
              </p:cNvPr>
              <p:cNvSpPr>
                <a:spLocks noChangeShapeType="1"/>
              </p:cNvSpPr>
              <p:nvPr/>
            </p:nvSpPr>
            <p:spPr bwMode="auto">
              <a:xfrm flipH="1">
                <a:off x="3141" y="1452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80" name="Line 20">
                <a:extLst>
                  <a:ext uri="{FF2B5EF4-FFF2-40B4-BE49-F238E27FC236}">
                    <a16:creationId xmlns:a16="http://schemas.microsoft.com/office/drawing/2014/main" id="{37E758B0-09EC-8398-2EA4-801E4CCF4C3E}"/>
                  </a:ext>
                </a:extLst>
              </p:cNvPr>
              <p:cNvSpPr>
                <a:spLocks noChangeShapeType="1"/>
              </p:cNvSpPr>
              <p:nvPr/>
            </p:nvSpPr>
            <p:spPr bwMode="auto">
              <a:xfrm flipH="1">
                <a:off x="3261" y="14513"/>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81" name="Line 21">
                <a:extLst>
                  <a:ext uri="{FF2B5EF4-FFF2-40B4-BE49-F238E27FC236}">
                    <a16:creationId xmlns:a16="http://schemas.microsoft.com/office/drawing/2014/main" id="{D7ED1DC3-0651-11E6-CF5F-74793777AE98}"/>
                  </a:ext>
                </a:extLst>
              </p:cNvPr>
              <p:cNvSpPr>
                <a:spLocks noChangeShapeType="1"/>
              </p:cNvSpPr>
              <p:nvPr/>
            </p:nvSpPr>
            <p:spPr bwMode="auto">
              <a:xfrm flipH="1">
                <a:off x="3351" y="1452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82" name="Rectangle 22">
                <a:extLst>
                  <a:ext uri="{FF2B5EF4-FFF2-40B4-BE49-F238E27FC236}">
                    <a16:creationId xmlns:a16="http://schemas.microsoft.com/office/drawing/2014/main" id="{F7020FF1-E135-06EC-206D-0533BCFECE2F}"/>
                  </a:ext>
                </a:extLst>
              </p:cNvPr>
              <p:cNvSpPr>
                <a:spLocks noChangeArrowheads="1"/>
              </p:cNvSpPr>
              <p:nvPr/>
            </p:nvSpPr>
            <p:spPr bwMode="auto">
              <a:xfrm>
                <a:off x="4701" y="13478"/>
                <a:ext cx="1200" cy="7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83" name="Line 23">
                <a:extLst>
                  <a:ext uri="{FF2B5EF4-FFF2-40B4-BE49-F238E27FC236}">
                    <a16:creationId xmlns:a16="http://schemas.microsoft.com/office/drawing/2014/main" id="{533B50ED-7012-7F2A-EBAA-CCF9CC793C8B}"/>
                  </a:ext>
                </a:extLst>
              </p:cNvPr>
              <p:cNvSpPr>
                <a:spLocks noChangeShapeType="1"/>
              </p:cNvSpPr>
              <p:nvPr/>
            </p:nvSpPr>
            <p:spPr bwMode="auto">
              <a:xfrm>
                <a:off x="4941" y="13658"/>
                <a:ext cx="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84" name="Line 24">
                <a:extLst>
                  <a:ext uri="{FF2B5EF4-FFF2-40B4-BE49-F238E27FC236}">
                    <a16:creationId xmlns:a16="http://schemas.microsoft.com/office/drawing/2014/main" id="{1F42E625-7B36-9244-21E2-599FEE97DD36}"/>
                  </a:ext>
                </a:extLst>
              </p:cNvPr>
              <p:cNvSpPr>
                <a:spLocks noChangeShapeType="1"/>
              </p:cNvSpPr>
              <p:nvPr/>
            </p:nvSpPr>
            <p:spPr bwMode="auto">
              <a:xfrm>
                <a:off x="4941" y="13658"/>
                <a:ext cx="48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85" name="Line 25">
                <a:extLst>
                  <a:ext uri="{FF2B5EF4-FFF2-40B4-BE49-F238E27FC236}">
                    <a16:creationId xmlns:a16="http://schemas.microsoft.com/office/drawing/2014/main" id="{4E8F95DE-7E84-93E0-523E-3C34836F9407}"/>
                  </a:ext>
                </a:extLst>
              </p:cNvPr>
              <p:cNvSpPr>
                <a:spLocks noChangeShapeType="1"/>
              </p:cNvSpPr>
              <p:nvPr/>
            </p:nvSpPr>
            <p:spPr bwMode="auto">
              <a:xfrm flipV="1">
                <a:off x="4941" y="13838"/>
                <a:ext cx="48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86" name="Rectangle 26">
                <a:extLst>
                  <a:ext uri="{FF2B5EF4-FFF2-40B4-BE49-F238E27FC236}">
                    <a16:creationId xmlns:a16="http://schemas.microsoft.com/office/drawing/2014/main" id="{1B37A3DB-9481-FA94-FCBF-3312ECB19E03}"/>
                  </a:ext>
                </a:extLst>
              </p:cNvPr>
              <p:cNvSpPr>
                <a:spLocks noChangeArrowheads="1"/>
              </p:cNvSpPr>
              <p:nvPr/>
            </p:nvSpPr>
            <p:spPr bwMode="auto">
              <a:xfrm>
                <a:off x="6381" y="13298"/>
                <a:ext cx="1680" cy="10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87" name="Rectangle 27">
                <a:extLst>
                  <a:ext uri="{FF2B5EF4-FFF2-40B4-BE49-F238E27FC236}">
                    <a16:creationId xmlns:a16="http://schemas.microsoft.com/office/drawing/2014/main" id="{31EA44F1-DA03-A051-DF53-B0E684FB2BE4}"/>
                  </a:ext>
                </a:extLst>
              </p:cNvPr>
              <p:cNvSpPr>
                <a:spLocks noChangeArrowheads="1"/>
              </p:cNvSpPr>
              <p:nvPr/>
            </p:nvSpPr>
            <p:spPr bwMode="auto">
              <a:xfrm>
                <a:off x="7281" y="13373"/>
                <a:ext cx="720" cy="36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88" name="Text Box 28">
                <a:extLst>
                  <a:ext uri="{FF2B5EF4-FFF2-40B4-BE49-F238E27FC236}">
                    <a16:creationId xmlns:a16="http://schemas.microsoft.com/office/drawing/2014/main" id="{D6BA2A72-9B81-F686-2A92-D124D2115377}"/>
                  </a:ext>
                </a:extLst>
              </p:cNvPr>
              <p:cNvSpPr txBox="1">
                <a:spLocks noChangeArrowheads="1"/>
              </p:cNvSpPr>
              <p:nvPr/>
            </p:nvSpPr>
            <p:spPr bwMode="auto">
              <a:xfrm>
                <a:off x="7356" y="13328"/>
                <a:ext cx="60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37</a:t>
                </a:r>
                <a:endParaRPr lang="es-ES_tradnl" altLang="es-PE"/>
              </a:p>
            </p:txBody>
          </p:sp>
          <p:sp>
            <p:nvSpPr>
              <p:cNvPr id="194589" name="Oval 29">
                <a:extLst>
                  <a:ext uri="{FF2B5EF4-FFF2-40B4-BE49-F238E27FC236}">
                    <a16:creationId xmlns:a16="http://schemas.microsoft.com/office/drawing/2014/main" id="{F4727F3F-136D-6D44-8AFE-6186BB8B8EEB}"/>
                  </a:ext>
                </a:extLst>
              </p:cNvPr>
              <p:cNvSpPr>
                <a:spLocks noChangeArrowheads="1"/>
              </p:cNvSpPr>
              <p:nvPr/>
            </p:nvSpPr>
            <p:spPr bwMode="auto">
              <a:xfrm>
                <a:off x="6741" y="14018"/>
                <a:ext cx="120" cy="18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90" name="Oval 30">
                <a:extLst>
                  <a:ext uri="{FF2B5EF4-FFF2-40B4-BE49-F238E27FC236}">
                    <a16:creationId xmlns:a16="http://schemas.microsoft.com/office/drawing/2014/main" id="{90FF85B9-0435-C2B7-E2BD-3D426B4CDF15}"/>
                  </a:ext>
                </a:extLst>
              </p:cNvPr>
              <p:cNvSpPr>
                <a:spLocks noChangeArrowheads="1"/>
              </p:cNvSpPr>
              <p:nvPr/>
            </p:nvSpPr>
            <p:spPr bwMode="auto">
              <a:xfrm>
                <a:off x="7221" y="14018"/>
                <a:ext cx="120" cy="18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91" name="Freeform 31">
                <a:extLst>
                  <a:ext uri="{FF2B5EF4-FFF2-40B4-BE49-F238E27FC236}">
                    <a16:creationId xmlns:a16="http://schemas.microsoft.com/office/drawing/2014/main" id="{8BAAE770-18A0-900A-8027-0379944EA7E2}"/>
                  </a:ext>
                </a:extLst>
              </p:cNvPr>
              <p:cNvSpPr>
                <a:spLocks/>
              </p:cNvSpPr>
              <p:nvPr/>
            </p:nvSpPr>
            <p:spPr bwMode="auto">
              <a:xfrm>
                <a:off x="2685" y="13560"/>
                <a:ext cx="2010" cy="585"/>
              </a:xfrm>
              <a:custGeom>
                <a:avLst/>
                <a:gdLst>
                  <a:gd name="T0" fmla="*/ 0 w 2010"/>
                  <a:gd name="T1" fmla="*/ 0 h 585"/>
                  <a:gd name="T2" fmla="*/ 360 w 2010"/>
                  <a:gd name="T3" fmla="*/ 60 h 585"/>
                  <a:gd name="T4" fmla="*/ 510 w 2010"/>
                  <a:gd name="T5" fmla="*/ 225 h 585"/>
                  <a:gd name="T6" fmla="*/ 720 w 2010"/>
                  <a:gd name="T7" fmla="*/ 495 h 585"/>
                  <a:gd name="T8" fmla="*/ 750 w 2010"/>
                  <a:gd name="T9" fmla="*/ 540 h 585"/>
                  <a:gd name="T10" fmla="*/ 930 w 2010"/>
                  <a:gd name="T11" fmla="*/ 585 h 585"/>
                  <a:gd name="T12" fmla="*/ 1605 w 2010"/>
                  <a:gd name="T13" fmla="*/ 570 h 585"/>
                  <a:gd name="T14" fmla="*/ 1845 w 2010"/>
                  <a:gd name="T15" fmla="*/ 480 h 585"/>
                  <a:gd name="T16" fmla="*/ 2010 w 2010"/>
                  <a:gd name="T17" fmla="*/ 465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0" h="585">
                    <a:moveTo>
                      <a:pt x="0" y="0"/>
                    </a:moveTo>
                    <a:cubicBezTo>
                      <a:pt x="122" y="14"/>
                      <a:pt x="243" y="21"/>
                      <a:pt x="360" y="60"/>
                    </a:cubicBezTo>
                    <a:cubicBezTo>
                      <a:pt x="433" y="169"/>
                      <a:pt x="425" y="140"/>
                      <a:pt x="510" y="225"/>
                    </a:cubicBezTo>
                    <a:cubicBezTo>
                      <a:pt x="550" y="344"/>
                      <a:pt x="591" y="452"/>
                      <a:pt x="720" y="495"/>
                    </a:cubicBezTo>
                    <a:cubicBezTo>
                      <a:pt x="730" y="510"/>
                      <a:pt x="735" y="530"/>
                      <a:pt x="750" y="540"/>
                    </a:cubicBezTo>
                    <a:cubicBezTo>
                      <a:pt x="786" y="564"/>
                      <a:pt x="882" y="569"/>
                      <a:pt x="930" y="585"/>
                    </a:cubicBezTo>
                    <a:cubicBezTo>
                      <a:pt x="1155" y="580"/>
                      <a:pt x="1380" y="583"/>
                      <a:pt x="1605" y="570"/>
                    </a:cubicBezTo>
                    <a:cubicBezTo>
                      <a:pt x="1684" y="565"/>
                      <a:pt x="1776" y="510"/>
                      <a:pt x="1845" y="480"/>
                    </a:cubicBezTo>
                    <a:cubicBezTo>
                      <a:pt x="1900" y="457"/>
                      <a:pt x="1951" y="465"/>
                      <a:pt x="2010" y="465"/>
                    </a:cubicBez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92" name="Freeform 32">
                <a:extLst>
                  <a:ext uri="{FF2B5EF4-FFF2-40B4-BE49-F238E27FC236}">
                    <a16:creationId xmlns:a16="http://schemas.microsoft.com/office/drawing/2014/main" id="{71BC2A8D-5105-4CDF-87C3-BE08CA36BBE3}"/>
                  </a:ext>
                </a:extLst>
              </p:cNvPr>
              <p:cNvSpPr>
                <a:spLocks/>
              </p:cNvSpPr>
              <p:nvPr/>
            </p:nvSpPr>
            <p:spPr bwMode="auto">
              <a:xfrm>
                <a:off x="3975" y="13478"/>
                <a:ext cx="750" cy="232"/>
              </a:xfrm>
              <a:custGeom>
                <a:avLst/>
                <a:gdLst>
                  <a:gd name="T0" fmla="*/ 0 w 750"/>
                  <a:gd name="T1" fmla="*/ 22 h 232"/>
                  <a:gd name="T2" fmla="*/ 165 w 750"/>
                  <a:gd name="T3" fmla="*/ 52 h 232"/>
                  <a:gd name="T4" fmla="*/ 300 w 750"/>
                  <a:gd name="T5" fmla="*/ 202 h 232"/>
                  <a:gd name="T6" fmla="*/ 390 w 750"/>
                  <a:gd name="T7" fmla="*/ 232 h 232"/>
                  <a:gd name="T8" fmla="*/ 750 w 750"/>
                  <a:gd name="T9" fmla="*/ 217 h 232"/>
                </a:gdLst>
                <a:ahLst/>
                <a:cxnLst>
                  <a:cxn ang="0">
                    <a:pos x="T0" y="T1"/>
                  </a:cxn>
                  <a:cxn ang="0">
                    <a:pos x="T2" y="T3"/>
                  </a:cxn>
                  <a:cxn ang="0">
                    <a:pos x="T4" y="T5"/>
                  </a:cxn>
                  <a:cxn ang="0">
                    <a:pos x="T6" y="T7"/>
                  </a:cxn>
                  <a:cxn ang="0">
                    <a:pos x="T8" y="T9"/>
                  </a:cxn>
                </a:cxnLst>
                <a:rect l="0" t="0" r="r" b="b"/>
                <a:pathLst>
                  <a:path w="750" h="232">
                    <a:moveTo>
                      <a:pt x="0" y="22"/>
                    </a:moveTo>
                    <a:cubicBezTo>
                      <a:pt x="67" y="0"/>
                      <a:pt x="108" y="14"/>
                      <a:pt x="165" y="52"/>
                    </a:cubicBezTo>
                    <a:cubicBezTo>
                      <a:pt x="211" y="120"/>
                      <a:pt x="203" y="170"/>
                      <a:pt x="300" y="202"/>
                    </a:cubicBezTo>
                    <a:cubicBezTo>
                      <a:pt x="330" y="212"/>
                      <a:pt x="390" y="232"/>
                      <a:pt x="390" y="232"/>
                    </a:cubicBezTo>
                    <a:cubicBezTo>
                      <a:pt x="710" y="216"/>
                      <a:pt x="590" y="217"/>
                      <a:pt x="750" y="217"/>
                    </a:cubicBez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93" name="Freeform 33">
                <a:extLst>
                  <a:ext uri="{FF2B5EF4-FFF2-40B4-BE49-F238E27FC236}">
                    <a16:creationId xmlns:a16="http://schemas.microsoft.com/office/drawing/2014/main" id="{78220E96-DB16-7F97-A638-170B6F0A2BF7}"/>
                  </a:ext>
                </a:extLst>
              </p:cNvPr>
              <p:cNvSpPr>
                <a:spLocks/>
              </p:cNvSpPr>
              <p:nvPr/>
            </p:nvSpPr>
            <p:spPr bwMode="auto">
              <a:xfrm>
                <a:off x="5895" y="13650"/>
                <a:ext cx="1365" cy="390"/>
              </a:xfrm>
              <a:custGeom>
                <a:avLst/>
                <a:gdLst>
                  <a:gd name="T0" fmla="*/ 0 w 1365"/>
                  <a:gd name="T1" fmla="*/ 60 h 390"/>
                  <a:gd name="T2" fmla="*/ 675 w 1365"/>
                  <a:gd name="T3" fmla="*/ 0 h 390"/>
                  <a:gd name="T4" fmla="*/ 900 w 1365"/>
                  <a:gd name="T5" fmla="*/ 45 h 390"/>
                  <a:gd name="T6" fmla="*/ 1140 w 1365"/>
                  <a:gd name="T7" fmla="*/ 120 h 390"/>
                  <a:gd name="T8" fmla="*/ 1230 w 1365"/>
                  <a:gd name="T9" fmla="*/ 180 h 390"/>
                  <a:gd name="T10" fmla="*/ 1320 w 1365"/>
                  <a:gd name="T11" fmla="*/ 240 h 390"/>
                  <a:gd name="T12" fmla="*/ 1365 w 1365"/>
                  <a:gd name="T13" fmla="*/ 390 h 390"/>
                </a:gdLst>
                <a:ahLst/>
                <a:cxnLst>
                  <a:cxn ang="0">
                    <a:pos x="T0" y="T1"/>
                  </a:cxn>
                  <a:cxn ang="0">
                    <a:pos x="T2" y="T3"/>
                  </a:cxn>
                  <a:cxn ang="0">
                    <a:pos x="T4" y="T5"/>
                  </a:cxn>
                  <a:cxn ang="0">
                    <a:pos x="T6" y="T7"/>
                  </a:cxn>
                  <a:cxn ang="0">
                    <a:pos x="T8" y="T9"/>
                  </a:cxn>
                  <a:cxn ang="0">
                    <a:pos x="T10" y="T11"/>
                  </a:cxn>
                  <a:cxn ang="0">
                    <a:pos x="T12" y="T13"/>
                  </a:cxn>
                </a:cxnLst>
                <a:rect l="0" t="0" r="r" b="b"/>
                <a:pathLst>
                  <a:path w="1365" h="390">
                    <a:moveTo>
                      <a:pt x="0" y="60"/>
                    </a:moveTo>
                    <a:cubicBezTo>
                      <a:pt x="538" y="32"/>
                      <a:pt x="402" y="68"/>
                      <a:pt x="675" y="0"/>
                    </a:cubicBezTo>
                    <a:cubicBezTo>
                      <a:pt x="752" y="13"/>
                      <a:pt x="823" y="32"/>
                      <a:pt x="900" y="45"/>
                    </a:cubicBezTo>
                    <a:cubicBezTo>
                      <a:pt x="975" y="95"/>
                      <a:pt x="1056" y="92"/>
                      <a:pt x="1140" y="120"/>
                    </a:cubicBezTo>
                    <a:cubicBezTo>
                      <a:pt x="1240" y="220"/>
                      <a:pt x="1132" y="126"/>
                      <a:pt x="1230" y="180"/>
                    </a:cubicBezTo>
                    <a:cubicBezTo>
                      <a:pt x="1262" y="198"/>
                      <a:pt x="1320" y="240"/>
                      <a:pt x="1320" y="240"/>
                    </a:cubicBezTo>
                    <a:cubicBezTo>
                      <a:pt x="1348" y="295"/>
                      <a:pt x="1365" y="329"/>
                      <a:pt x="1365" y="390"/>
                    </a:cubicBez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94" name="Freeform 34">
                <a:extLst>
                  <a:ext uri="{FF2B5EF4-FFF2-40B4-BE49-F238E27FC236}">
                    <a16:creationId xmlns:a16="http://schemas.microsoft.com/office/drawing/2014/main" id="{06D92EBE-657B-5A4D-D2AE-1B5A6E2BB4FA}"/>
                  </a:ext>
                </a:extLst>
              </p:cNvPr>
              <p:cNvSpPr>
                <a:spLocks/>
              </p:cNvSpPr>
              <p:nvPr/>
            </p:nvSpPr>
            <p:spPr bwMode="auto">
              <a:xfrm>
                <a:off x="5845" y="13940"/>
                <a:ext cx="969" cy="130"/>
              </a:xfrm>
              <a:custGeom>
                <a:avLst/>
                <a:gdLst>
                  <a:gd name="T0" fmla="*/ 50 w 969"/>
                  <a:gd name="T1" fmla="*/ 40 h 130"/>
                  <a:gd name="T2" fmla="*/ 200 w 969"/>
                  <a:gd name="T3" fmla="*/ 40 h 130"/>
                  <a:gd name="T4" fmla="*/ 545 w 969"/>
                  <a:gd name="T5" fmla="*/ 25 h 130"/>
                  <a:gd name="T6" fmla="*/ 920 w 969"/>
                  <a:gd name="T7" fmla="*/ 85 h 130"/>
                  <a:gd name="T8" fmla="*/ 965 w 969"/>
                  <a:gd name="T9" fmla="*/ 130 h 130"/>
                </a:gdLst>
                <a:ahLst/>
                <a:cxnLst>
                  <a:cxn ang="0">
                    <a:pos x="T0" y="T1"/>
                  </a:cxn>
                  <a:cxn ang="0">
                    <a:pos x="T2" y="T3"/>
                  </a:cxn>
                  <a:cxn ang="0">
                    <a:pos x="T4" y="T5"/>
                  </a:cxn>
                  <a:cxn ang="0">
                    <a:pos x="T6" y="T7"/>
                  </a:cxn>
                  <a:cxn ang="0">
                    <a:pos x="T8" y="T9"/>
                  </a:cxn>
                </a:cxnLst>
                <a:rect l="0" t="0" r="r" b="b"/>
                <a:pathLst>
                  <a:path w="969" h="130">
                    <a:moveTo>
                      <a:pt x="50" y="40"/>
                    </a:moveTo>
                    <a:cubicBezTo>
                      <a:pt x="250" y="0"/>
                      <a:pt x="0" y="40"/>
                      <a:pt x="200" y="40"/>
                    </a:cubicBezTo>
                    <a:cubicBezTo>
                      <a:pt x="315" y="40"/>
                      <a:pt x="430" y="30"/>
                      <a:pt x="545" y="25"/>
                    </a:cubicBezTo>
                    <a:cubicBezTo>
                      <a:pt x="681" y="36"/>
                      <a:pt x="790" y="59"/>
                      <a:pt x="920" y="85"/>
                    </a:cubicBezTo>
                    <a:cubicBezTo>
                      <a:pt x="969" y="118"/>
                      <a:pt x="965" y="97"/>
                      <a:pt x="965" y="130"/>
                    </a:cubicBez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95" name="Oval 35">
                <a:extLst>
                  <a:ext uri="{FF2B5EF4-FFF2-40B4-BE49-F238E27FC236}">
                    <a16:creationId xmlns:a16="http://schemas.microsoft.com/office/drawing/2014/main" id="{E5D0DD26-98ED-E580-2C1F-A2FFE4A174BA}"/>
                  </a:ext>
                </a:extLst>
              </p:cNvPr>
              <p:cNvSpPr>
                <a:spLocks noChangeArrowheads="1"/>
              </p:cNvSpPr>
              <p:nvPr/>
            </p:nvSpPr>
            <p:spPr bwMode="auto">
              <a:xfrm>
                <a:off x="3306" y="12458"/>
                <a:ext cx="120" cy="18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596" name="Text Box 36">
                <a:extLst>
                  <a:ext uri="{FF2B5EF4-FFF2-40B4-BE49-F238E27FC236}">
                    <a16:creationId xmlns:a16="http://schemas.microsoft.com/office/drawing/2014/main" id="{7CC9FD85-2B4E-F0A6-55C9-7BCEA6FD8634}"/>
                  </a:ext>
                </a:extLst>
              </p:cNvPr>
              <p:cNvSpPr txBox="1">
                <a:spLocks noChangeArrowheads="1"/>
              </p:cNvSpPr>
              <p:nvPr/>
            </p:nvSpPr>
            <p:spPr bwMode="auto">
              <a:xfrm>
                <a:off x="3321" y="12323"/>
                <a:ext cx="840"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+V</a:t>
                </a:r>
                <a:endParaRPr lang="es-ES_tradnl" altLang="es-PE"/>
              </a:p>
            </p:txBody>
          </p:sp>
          <p:sp>
            <p:nvSpPr>
              <p:cNvPr id="194597" name="Text Box 37">
                <a:extLst>
                  <a:ext uri="{FF2B5EF4-FFF2-40B4-BE49-F238E27FC236}">
                    <a16:creationId xmlns:a16="http://schemas.microsoft.com/office/drawing/2014/main" id="{4EB3E65D-F87F-615D-8319-E3EC6BE1B5BB}"/>
                  </a:ext>
                </a:extLst>
              </p:cNvPr>
              <p:cNvSpPr txBox="1">
                <a:spLocks noChangeArrowheads="1"/>
              </p:cNvSpPr>
              <p:nvPr/>
            </p:nvSpPr>
            <p:spPr bwMode="auto">
              <a:xfrm>
                <a:off x="4461" y="12938"/>
                <a:ext cx="168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Amplificador</a:t>
                </a:r>
                <a:endParaRPr lang="es-ES_tradnl" altLang="es-PE"/>
              </a:p>
            </p:txBody>
          </p:sp>
          <p:sp>
            <p:nvSpPr>
              <p:cNvPr id="194598" name="Text Box 38">
                <a:extLst>
                  <a:ext uri="{FF2B5EF4-FFF2-40B4-BE49-F238E27FC236}">
                    <a16:creationId xmlns:a16="http://schemas.microsoft.com/office/drawing/2014/main" id="{D1EC0D26-ED79-4079-A19D-879CB38AA519}"/>
                  </a:ext>
                </a:extLst>
              </p:cNvPr>
              <p:cNvSpPr txBox="1">
                <a:spLocks noChangeArrowheads="1"/>
              </p:cNvSpPr>
              <p:nvPr/>
            </p:nvSpPr>
            <p:spPr bwMode="auto">
              <a:xfrm>
                <a:off x="2301" y="13298"/>
                <a:ext cx="48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A</a:t>
                </a:r>
                <a:endParaRPr lang="es-ES_tradnl" altLang="es-PE"/>
              </a:p>
            </p:txBody>
          </p:sp>
          <p:sp>
            <p:nvSpPr>
              <p:cNvPr id="194599" name="Text Box 39">
                <a:extLst>
                  <a:ext uri="{FF2B5EF4-FFF2-40B4-BE49-F238E27FC236}">
                    <a16:creationId xmlns:a16="http://schemas.microsoft.com/office/drawing/2014/main" id="{4BC62236-800C-7234-0BEC-60D7B9E1605E}"/>
                  </a:ext>
                </a:extLst>
              </p:cNvPr>
              <p:cNvSpPr txBox="1">
                <a:spLocks noChangeArrowheads="1"/>
              </p:cNvSpPr>
              <p:nvPr/>
            </p:nvSpPr>
            <p:spPr bwMode="auto">
              <a:xfrm>
                <a:off x="3861" y="13118"/>
                <a:ext cx="48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B</a:t>
                </a:r>
                <a:endParaRPr lang="es-ES_tradnl" altLang="es-PE"/>
              </a:p>
            </p:txBody>
          </p:sp>
        </p:grpSp>
        <p:sp>
          <p:nvSpPr>
            <p:cNvPr id="194600" name="Line 40">
              <a:extLst>
                <a:ext uri="{FF2B5EF4-FFF2-40B4-BE49-F238E27FC236}">
                  <a16:creationId xmlns:a16="http://schemas.microsoft.com/office/drawing/2014/main" id="{5CB5359B-A408-FC47-F2E6-91DC3054071F}"/>
                </a:ext>
              </a:extLst>
            </p:cNvPr>
            <p:cNvSpPr>
              <a:spLocks noChangeShapeType="1"/>
            </p:cNvSpPr>
            <p:nvPr/>
          </p:nvSpPr>
          <p:spPr bwMode="auto">
            <a:xfrm flipV="1">
              <a:off x="410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4601" name="Line 41">
              <a:extLst>
                <a:ext uri="{FF2B5EF4-FFF2-40B4-BE49-F238E27FC236}">
                  <a16:creationId xmlns:a16="http://schemas.microsoft.com/office/drawing/2014/main" id="{AF98D280-DA45-56DF-BAFE-B34E3A36C086}"/>
                </a:ext>
              </a:extLst>
            </p:cNvPr>
            <p:cNvSpPr>
              <a:spLocks noChangeShapeType="1"/>
            </p:cNvSpPr>
            <p:nvPr/>
          </p:nvSpPr>
          <p:spPr bwMode="auto">
            <a:xfrm flipH="1" flipV="1">
              <a:off x="4101" y="14198"/>
              <a:ext cx="12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a:extLst>
              <a:ext uri="{FF2B5EF4-FFF2-40B4-BE49-F238E27FC236}">
                <a16:creationId xmlns:a16="http://schemas.microsoft.com/office/drawing/2014/main" id="{11051D0C-2566-6BC4-747E-617632E60460}"/>
              </a:ext>
            </a:extLst>
          </p:cNvPr>
          <p:cNvSpPr>
            <a:spLocks noGrp="1" noChangeArrowheads="1"/>
          </p:cNvSpPr>
          <p:nvPr>
            <p:ph type="title"/>
          </p:nvPr>
        </p:nvSpPr>
        <p:spPr/>
        <p:txBody>
          <a:bodyPr/>
          <a:lstStyle/>
          <a:p>
            <a:r>
              <a:rPr lang="es-ES" altLang="es-PE"/>
              <a:t>Sensores de temperatura</a:t>
            </a:r>
          </a:p>
        </p:txBody>
      </p:sp>
      <p:sp>
        <p:nvSpPr>
          <p:cNvPr id="193539" name="Rectangle 3">
            <a:extLst>
              <a:ext uri="{FF2B5EF4-FFF2-40B4-BE49-F238E27FC236}">
                <a16:creationId xmlns:a16="http://schemas.microsoft.com/office/drawing/2014/main" id="{12604EBF-2C3C-9062-FFB0-7C836C82D6D6}"/>
              </a:ext>
            </a:extLst>
          </p:cNvPr>
          <p:cNvSpPr>
            <a:spLocks noGrp="1" noChangeArrowheads="1"/>
          </p:cNvSpPr>
          <p:nvPr>
            <p:ph idx="1"/>
          </p:nvPr>
        </p:nvSpPr>
        <p:spPr/>
        <p:txBody>
          <a:bodyPr/>
          <a:lstStyle/>
          <a:p>
            <a:pPr>
              <a:lnSpc>
                <a:spcPct val="80000"/>
              </a:lnSpc>
            </a:pPr>
            <a:r>
              <a:rPr lang="es-ES" altLang="es-PE" sz="2800" b="1"/>
              <a:t>Sensores termoeléctricos</a:t>
            </a:r>
          </a:p>
          <a:p>
            <a:pPr lvl="2">
              <a:lnSpc>
                <a:spcPct val="80000"/>
              </a:lnSpc>
            </a:pPr>
            <a:r>
              <a:rPr lang="es-ES" altLang="es-PE" b="1"/>
              <a:t>Efecto Seebeck</a:t>
            </a:r>
          </a:p>
          <a:p>
            <a:pPr lvl="2">
              <a:lnSpc>
                <a:spcPct val="80000"/>
              </a:lnSpc>
            </a:pPr>
            <a:r>
              <a:rPr lang="es-ES" altLang="es-PE" b="1"/>
              <a:t>Efecto Thomson</a:t>
            </a:r>
          </a:p>
          <a:p>
            <a:pPr lvl="2">
              <a:lnSpc>
                <a:spcPct val="80000"/>
              </a:lnSpc>
            </a:pPr>
            <a:r>
              <a:rPr lang="es-ES" altLang="es-PE" b="1"/>
              <a:t>Efecto Peltier</a:t>
            </a:r>
          </a:p>
        </p:txBody>
      </p:sp>
      <p:sp>
        <p:nvSpPr>
          <p:cNvPr id="2" name="Marcador de número de diapositiva 4">
            <a:extLst>
              <a:ext uri="{FF2B5EF4-FFF2-40B4-BE49-F238E27FC236}">
                <a16:creationId xmlns:a16="http://schemas.microsoft.com/office/drawing/2014/main" id="{9C26C437-ECD9-66B4-C551-0A642B0CF710}"/>
              </a:ext>
            </a:extLst>
          </p:cNvPr>
          <p:cNvSpPr>
            <a:spLocks noGrp="1"/>
          </p:cNvSpPr>
          <p:nvPr>
            <p:ph type="sldNum" sz="quarter" idx="4294967295"/>
          </p:nvPr>
        </p:nvSpPr>
        <p:spPr>
          <a:xfrm>
            <a:off x="0" y="0"/>
            <a:ext cx="0" cy="0"/>
          </a:xfrm>
        </p:spPr>
        <p:txBody>
          <a:bodyPr/>
          <a:lstStyle/>
          <a:p>
            <a:fld id="{70383004-DA39-4C3D-95C9-CA823F3FFE90}" type="slidenum">
              <a:rPr lang="es-ES" altLang="es-PE"/>
              <a:pPr/>
              <a:t>31</a:t>
            </a:fld>
            <a:endParaRPr lang="es-ES" altLang="es-PE"/>
          </a:p>
        </p:txBody>
      </p:sp>
      <p:grpSp>
        <p:nvGrpSpPr>
          <p:cNvPr id="193540" name="Group 4">
            <a:extLst>
              <a:ext uri="{FF2B5EF4-FFF2-40B4-BE49-F238E27FC236}">
                <a16:creationId xmlns:a16="http://schemas.microsoft.com/office/drawing/2014/main" id="{24993394-0FC5-8B07-76AE-3CC59EE1FC06}"/>
              </a:ext>
            </a:extLst>
          </p:cNvPr>
          <p:cNvGrpSpPr>
            <a:grpSpLocks/>
          </p:cNvGrpSpPr>
          <p:nvPr/>
        </p:nvGrpSpPr>
        <p:grpSpPr bwMode="auto">
          <a:xfrm>
            <a:off x="2063751" y="3500439"/>
            <a:ext cx="2111375" cy="1292225"/>
            <a:chOff x="1821" y="10238"/>
            <a:chExt cx="2985" cy="1920"/>
          </a:xfrm>
        </p:grpSpPr>
        <p:sp>
          <p:nvSpPr>
            <p:cNvPr id="193541" name="Oval 5">
              <a:extLst>
                <a:ext uri="{FF2B5EF4-FFF2-40B4-BE49-F238E27FC236}">
                  <a16:creationId xmlns:a16="http://schemas.microsoft.com/office/drawing/2014/main" id="{E7229CC0-D962-3D06-C50B-13DB1A5292E9}"/>
                </a:ext>
              </a:extLst>
            </p:cNvPr>
            <p:cNvSpPr>
              <a:spLocks noChangeArrowheads="1"/>
            </p:cNvSpPr>
            <p:nvPr/>
          </p:nvSpPr>
          <p:spPr bwMode="auto">
            <a:xfrm>
              <a:off x="1941" y="10598"/>
              <a:ext cx="2760" cy="108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42" name="Oval 6">
              <a:extLst>
                <a:ext uri="{FF2B5EF4-FFF2-40B4-BE49-F238E27FC236}">
                  <a16:creationId xmlns:a16="http://schemas.microsoft.com/office/drawing/2014/main" id="{5B75719D-54F3-DA89-9FB4-051CE2E161C5}"/>
                </a:ext>
              </a:extLst>
            </p:cNvPr>
            <p:cNvSpPr>
              <a:spLocks noChangeArrowheads="1"/>
            </p:cNvSpPr>
            <p:nvPr/>
          </p:nvSpPr>
          <p:spPr bwMode="auto">
            <a:xfrm>
              <a:off x="1821" y="11048"/>
              <a:ext cx="240" cy="180"/>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43" name="Oval 7">
              <a:extLst>
                <a:ext uri="{FF2B5EF4-FFF2-40B4-BE49-F238E27FC236}">
                  <a16:creationId xmlns:a16="http://schemas.microsoft.com/office/drawing/2014/main" id="{DA75E1F1-E1D8-CFAF-04B6-64F216527C10}"/>
                </a:ext>
              </a:extLst>
            </p:cNvPr>
            <p:cNvSpPr>
              <a:spLocks noChangeArrowheads="1"/>
            </p:cNvSpPr>
            <p:nvPr/>
          </p:nvSpPr>
          <p:spPr bwMode="auto">
            <a:xfrm>
              <a:off x="4566" y="11063"/>
              <a:ext cx="240" cy="180"/>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44" name="Text Box 8">
              <a:extLst>
                <a:ext uri="{FF2B5EF4-FFF2-40B4-BE49-F238E27FC236}">
                  <a16:creationId xmlns:a16="http://schemas.microsoft.com/office/drawing/2014/main" id="{5EF8849D-B9CE-EA86-688A-018850EFF760}"/>
                </a:ext>
              </a:extLst>
            </p:cNvPr>
            <p:cNvSpPr txBox="1">
              <a:spLocks noChangeArrowheads="1"/>
            </p:cNvSpPr>
            <p:nvPr/>
          </p:nvSpPr>
          <p:spPr bwMode="auto">
            <a:xfrm>
              <a:off x="1971" y="10943"/>
              <a:ext cx="48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T</a:t>
              </a:r>
              <a:endParaRPr lang="es-ES_tradnl" altLang="es-PE"/>
            </a:p>
          </p:txBody>
        </p:sp>
        <p:sp>
          <p:nvSpPr>
            <p:cNvPr id="193545" name="Text Box 9">
              <a:extLst>
                <a:ext uri="{FF2B5EF4-FFF2-40B4-BE49-F238E27FC236}">
                  <a16:creationId xmlns:a16="http://schemas.microsoft.com/office/drawing/2014/main" id="{ACF438B9-B273-FEC7-11B5-B64136BB0DA7}"/>
                </a:ext>
              </a:extLst>
            </p:cNvPr>
            <p:cNvSpPr txBox="1">
              <a:spLocks noChangeArrowheads="1"/>
            </p:cNvSpPr>
            <p:nvPr/>
          </p:nvSpPr>
          <p:spPr bwMode="auto">
            <a:xfrm>
              <a:off x="3561" y="10928"/>
              <a:ext cx="96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T+T</a:t>
              </a:r>
              <a:endParaRPr lang="es-ES_tradnl" altLang="es-PE"/>
            </a:p>
          </p:txBody>
        </p:sp>
        <p:sp>
          <p:nvSpPr>
            <p:cNvPr id="193546" name="Text Box 10">
              <a:extLst>
                <a:ext uri="{FF2B5EF4-FFF2-40B4-BE49-F238E27FC236}">
                  <a16:creationId xmlns:a16="http://schemas.microsoft.com/office/drawing/2014/main" id="{29145CF4-95E2-89CA-4392-FC7CA85CE7FF}"/>
                </a:ext>
              </a:extLst>
            </p:cNvPr>
            <p:cNvSpPr txBox="1">
              <a:spLocks noChangeArrowheads="1"/>
            </p:cNvSpPr>
            <p:nvPr/>
          </p:nvSpPr>
          <p:spPr bwMode="auto">
            <a:xfrm>
              <a:off x="3021" y="10238"/>
              <a:ext cx="60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A</a:t>
              </a:r>
              <a:endParaRPr lang="es-ES_tradnl" altLang="es-PE"/>
            </a:p>
          </p:txBody>
        </p:sp>
        <p:sp>
          <p:nvSpPr>
            <p:cNvPr id="193547" name="Text Box 11">
              <a:extLst>
                <a:ext uri="{FF2B5EF4-FFF2-40B4-BE49-F238E27FC236}">
                  <a16:creationId xmlns:a16="http://schemas.microsoft.com/office/drawing/2014/main" id="{3BD01D31-A441-47BA-C3AA-FAB3ABDADA53}"/>
                </a:ext>
              </a:extLst>
            </p:cNvPr>
            <p:cNvSpPr txBox="1">
              <a:spLocks noChangeArrowheads="1"/>
            </p:cNvSpPr>
            <p:nvPr/>
          </p:nvSpPr>
          <p:spPr bwMode="auto">
            <a:xfrm>
              <a:off x="3561" y="11618"/>
              <a:ext cx="72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B</a:t>
              </a:r>
              <a:endParaRPr lang="es-ES_tradnl" altLang="es-PE"/>
            </a:p>
          </p:txBody>
        </p:sp>
        <p:sp>
          <p:nvSpPr>
            <p:cNvPr id="193548" name="Oval 12">
              <a:extLst>
                <a:ext uri="{FF2B5EF4-FFF2-40B4-BE49-F238E27FC236}">
                  <a16:creationId xmlns:a16="http://schemas.microsoft.com/office/drawing/2014/main" id="{B306D7BD-8F1F-90EC-A0D0-04E87BC0AF00}"/>
                </a:ext>
              </a:extLst>
            </p:cNvPr>
            <p:cNvSpPr>
              <a:spLocks noChangeArrowheads="1"/>
            </p:cNvSpPr>
            <p:nvPr/>
          </p:nvSpPr>
          <p:spPr bwMode="auto">
            <a:xfrm>
              <a:off x="3021" y="11498"/>
              <a:ext cx="480" cy="36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49" name="Line 13">
              <a:extLst>
                <a:ext uri="{FF2B5EF4-FFF2-40B4-BE49-F238E27FC236}">
                  <a16:creationId xmlns:a16="http://schemas.microsoft.com/office/drawing/2014/main" id="{6BBB177A-9A15-0321-77A4-35C2F3990231}"/>
                </a:ext>
              </a:extLst>
            </p:cNvPr>
            <p:cNvSpPr>
              <a:spLocks noChangeShapeType="1"/>
            </p:cNvSpPr>
            <p:nvPr/>
          </p:nvSpPr>
          <p:spPr bwMode="auto">
            <a:xfrm>
              <a:off x="3141" y="11678"/>
              <a:ext cx="24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50" name="Freeform 14">
              <a:extLst>
                <a:ext uri="{FF2B5EF4-FFF2-40B4-BE49-F238E27FC236}">
                  <a16:creationId xmlns:a16="http://schemas.microsoft.com/office/drawing/2014/main" id="{B4681F04-0BA7-7170-F333-D9B16F6D4512}"/>
                </a:ext>
              </a:extLst>
            </p:cNvPr>
            <p:cNvSpPr>
              <a:spLocks/>
            </p:cNvSpPr>
            <p:nvPr/>
          </p:nvSpPr>
          <p:spPr bwMode="auto">
            <a:xfrm>
              <a:off x="2340" y="10860"/>
              <a:ext cx="225" cy="510"/>
            </a:xfrm>
            <a:custGeom>
              <a:avLst/>
              <a:gdLst>
                <a:gd name="T0" fmla="*/ 180 w 225"/>
                <a:gd name="T1" fmla="*/ 0 h 510"/>
                <a:gd name="T2" fmla="*/ 135 w 225"/>
                <a:gd name="T3" fmla="*/ 30 h 510"/>
                <a:gd name="T4" fmla="*/ 45 w 225"/>
                <a:gd name="T5" fmla="*/ 120 h 510"/>
                <a:gd name="T6" fmla="*/ 15 w 225"/>
                <a:gd name="T7" fmla="*/ 210 h 510"/>
                <a:gd name="T8" fmla="*/ 0 w 225"/>
                <a:gd name="T9" fmla="*/ 255 h 510"/>
                <a:gd name="T10" fmla="*/ 30 w 225"/>
                <a:gd name="T11" fmla="*/ 390 h 510"/>
                <a:gd name="T12" fmla="*/ 120 w 225"/>
                <a:gd name="T13" fmla="*/ 450 h 510"/>
                <a:gd name="T14" fmla="*/ 225 w 225"/>
                <a:gd name="T15" fmla="*/ 510 h 5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510">
                  <a:moveTo>
                    <a:pt x="180" y="0"/>
                  </a:moveTo>
                  <a:cubicBezTo>
                    <a:pt x="165" y="10"/>
                    <a:pt x="148" y="18"/>
                    <a:pt x="135" y="30"/>
                  </a:cubicBezTo>
                  <a:cubicBezTo>
                    <a:pt x="103" y="58"/>
                    <a:pt x="45" y="120"/>
                    <a:pt x="45" y="120"/>
                  </a:cubicBezTo>
                  <a:cubicBezTo>
                    <a:pt x="35" y="150"/>
                    <a:pt x="25" y="180"/>
                    <a:pt x="15" y="210"/>
                  </a:cubicBezTo>
                  <a:cubicBezTo>
                    <a:pt x="10" y="225"/>
                    <a:pt x="0" y="255"/>
                    <a:pt x="0" y="255"/>
                  </a:cubicBezTo>
                  <a:cubicBezTo>
                    <a:pt x="1" y="263"/>
                    <a:pt x="16" y="376"/>
                    <a:pt x="30" y="390"/>
                  </a:cubicBezTo>
                  <a:cubicBezTo>
                    <a:pt x="55" y="415"/>
                    <a:pt x="86" y="439"/>
                    <a:pt x="120" y="450"/>
                  </a:cubicBezTo>
                  <a:cubicBezTo>
                    <a:pt x="221" y="484"/>
                    <a:pt x="196" y="452"/>
                    <a:pt x="225" y="510"/>
                  </a:cubicBezTo>
                </a:path>
              </a:pathLst>
            </a:custGeom>
            <a:noFill/>
            <a:ln w="9525" cap="flat"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51" name="Freeform 15">
              <a:extLst>
                <a:ext uri="{FF2B5EF4-FFF2-40B4-BE49-F238E27FC236}">
                  <a16:creationId xmlns:a16="http://schemas.microsoft.com/office/drawing/2014/main" id="{AFD2F94D-5B56-4366-7DDF-2A21DDE3A4DD}"/>
                </a:ext>
              </a:extLst>
            </p:cNvPr>
            <p:cNvSpPr>
              <a:spLocks/>
            </p:cNvSpPr>
            <p:nvPr/>
          </p:nvSpPr>
          <p:spPr bwMode="auto">
            <a:xfrm flipH="1" flipV="1">
              <a:off x="4236" y="10868"/>
              <a:ext cx="225" cy="510"/>
            </a:xfrm>
            <a:custGeom>
              <a:avLst/>
              <a:gdLst>
                <a:gd name="T0" fmla="*/ 180 w 225"/>
                <a:gd name="T1" fmla="*/ 0 h 510"/>
                <a:gd name="T2" fmla="*/ 135 w 225"/>
                <a:gd name="T3" fmla="*/ 30 h 510"/>
                <a:gd name="T4" fmla="*/ 45 w 225"/>
                <a:gd name="T5" fmla="*/ 120 h 510"/>
                <a:gd name="T6" fmla="*/ 15 w 225"/>
                <a:gd name="T7" fmla="*/ 210 h 510"/>
                <a:gd name="T8" fmla="*/ 0 w 225"/>
                <a:gd name="T9" fmla="*/ 255 h 510"/>
                <a:gd name="T10" fmla="*/ 30 w 225"/>
                <a:gd name="T11" fmla="*/ 390 h 510"/>
                <a:gd name="T12" fmla="*/ 120 w 225"/>
                <a:gd name="T13" fmla="*/ 450 h 510"/>
                <a:gd name="T14" fmla="*/ 225 w 225"/>
                <a:gd name="T15" fmla="*/ 510 h 5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510">
                  <a:moveTo>
                    <a:pt x="180" y="0"/>
                  </a:moveTo>
                  <a:cubicBezTo>
                    <a:pt x="165" y="10"/>
                    <a:pt x="148" y="18"/>
                    <a:pt x="135" y="30"/>
                  </a:cubicBezTo>
                  <a:cubicBezTo>
                    <a:pt x="103" y="58"/>
                    <a:pt x="45" y="120"/>
                    <a:pt x="45" y="120"/>
                  </a:cubicBezTo>
                  <a:cubicBezTo>
                    <a:pt x="35" y="150"/>
                    <a:pt x="25" y="180"/>
                    <a:pt x="15" y="210"/>
                  </a:cubicBezTo>
                  <a:cubicBezTo>
                    <a:pt x="10" y="225"/>
                    <a:pt x="0" y="255"/>
                    <a:pt x="0" y="255"/>
                  </a:cubicBezTo>
                  <a:cubicBezTo>
                    <a:pt x="1" y="263"/>
                    <a:pt x="16" y="376"/>
                    <a:pt x="30" y="390"/>
                  </a:cubicBezTo>
                  <a:cubicBezTo>
                    <a:pt x="55" y="415"/>
                    <a:pt x="86" y="439"/>
                    <a:pt x="120" y="450"/>
                  </a:cubicBezTo>
                  <a:cubicBezTo>
                    <a:pt x="221" y="484"/>
                    <a:pt x="196" y="452"/>
                    <a:pt x="225" y="510"/>
                  </a:cubicBezTo>
                </a:path>
              </a:pathLst>
            </a:custGeom>
            <a:noFill/>
            <a:ln w="9525" cap="flat"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grpSp>
        <p:nvGrpSpPr>
          <p:cNvPr id="193552" name="Group 16">
            <a:extLst>
              <a:ext uri="{FF2B5EF4-FFF2-40B4-BE49-F238E27FC236}">
                <a16:creationId xmlns:a16="http://schemas.microsoft.com/office/drawing/2014/main" id="{66A1A683-973E-7B29-0E68-2D8386394852}"/>
              </a:ext>
            </a:extLst>
          </p:cNvPr>
          <p:cNvGrpSpPr>
            <a:grpSpLocks/>
          </p:cNvGrpSpPr>
          <p:nvPr/>
        </p:nvGrpSpPr>
        <p:grpSpPr bwMode="auto">
          <a:xfrm>
            <a:off x="4651177" y="3500439"/>
            <a:ext cx="2039937" cy="1290637"/>
            <a:chOff x="6261" y="10238"/>
            <a:chExt cx="2985" cy="1920"/>
          </a:xfrm>
        </p:grpSpPr>
        <p:sp>
          <p:nvSpPr>
            <p:cNvPr id="193553" name="Oval 17">
              <a:extLst>
                <a:ext uri="{FF2B5EF4-FFF2-40B4-BE49-F238E27FC236}">
                  <a16:creationId xmlns:a16="http://schemas.microsoft.com/office/drawing/2014/main" id="{0212B108-9DB0-1EC8-83A8-F01612C42E44}"/>
                </a:ext>
              </a:extLst>
            </p:cNvPr>
            <p:cNvSpPr>
              <a:spLocks noChangeArrowheads="1"/>
            </p:cNvSpPr>
            <p:nvPr/>
          </p:nvSpPr>
          <p:spPr bwMode="auto">
            <a:xfrm>
              <a:off x="6381" y="10598"/>
              <a:ext cx="2760" cy="108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54" name="Oval 18">
              <a:extLst>
                <a:ext uri="{FF2B5EF4-FFF2-40B4-BE49-F238E27FC236}">
                  <a16:creationId xmlns:a16="http://schemas.microsoft.com/office/drawing/2014/main" id="{D35585B4-EBD5-DB79-30D4-E8ABCF9D5227}"/>
                </a:ext>
              </a:extLst>
            </p:cNvPr>
            <p:cNvSpPr>
              <a:spLocks noChangeArrowheads="1"/>
            </p:cNvSpPr>
            <p:nvPr/>
          </p:nvSpPr>
          <p:spPr bwMode="auto">
            <a:xfrm>
              <a:off x="6261" y="11048"/>
              <a:ext cx="240" cy="180"/>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55" name="Oval 19">
              <a:extLst>
                <a:ext uri="{FF2B5EF4-FFF2-40B4-BE49-F238E27FC236}">
                  <a16:creationId xmlns:a16="http://schemas.microsoft.com/office/drawing/2014/main" id="{6A1B434C-CE1D-83BF-5032-F345B2FEA660}"/>
                </a:ext>
              </a:extLst>
            </p:cNvPr>
            <p:cNvSpPr>
              <a:spLocks noChangeArrowheads="1"/>
            </p:cNvSpPr>
            <p:nvPr/>
          </p:nvSpPr>
          <p:spPr bwMode="auto">
            <a:xfrm>
              <a:off x="9006" y="11063"/>
              <a:ext cx="240" cy="180"/>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56" name="Text Box 20">
              <a:extLst>
                <a:ext uri="{FF2B5EF4-FFF2-40B4-BE49-F238E27FC236}">
                  <a16:creationId xmlns:a16="http://schemas.microsoft.com/office/drawing/2014/main" id="{2A1EB22E-FA30-F562-363E-FF06CB9CF53F}"/>
                </a:ext>
              </a:extLst>
            </p:cNvPr>
            <p:cNvSpPr txBox="1">
              <a:spLocks noChangeArrowheads="1"/>
            </p:cNvSpPr>
            <p:nvPr/>
          </p:nvSpPr>
          <p:spPr bwMode="auto">
            <a:xfrm>
              <a:off x="6411" y="10943"/>
              <a:ext cx="48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T</a:t>
              </a:r>
              <a:endParaRPr lang="es-ES_tradnl" altLang="es-PE"/>
            </a:p>
          </p:txBody>
        </p:sp>
        <p:sp>
          <p:nvSpPr>
            <p:cNvPr id="193557" name="Text Box 21">
              <a:extLst>
                <a:ext uri="{FF2B5EF4-FFF2-40B4-BE49-F238E27FC236}">
                  <a16:creationId xmlns:a16="http://schemas.microsoft.com/office/drawing/2014/main" id="{BF0C7F98-6A7C-CCE2-D025-5CCDE4D42788}"/>
                </a:ext>
              </a:extLst>
            </p:cNvPr>
            <p:cNvSpPr txBox="1">
              <a:spLocks noChangeArrowheads="1"/>
            </p:cNvSpPr>
            <p:nvPr/>
          </p:nvSpPr>
          <p:spPr bwMode="auto">
            <a:xfrm>
              <a:off x="8001" y="10928"/>
              <a:ext cx="96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T+T</a:t>
              </a:r>
              <a:endParaRPr lang="es-ES_tradnl" altLang="es-PE"/>
            </a:p>
          </p:txBody>
        </p:sp>
        <p:sp>
          <p:nvSpPr>
            <p:cNvPr id="193558" name="Text Box 22">
              <a:extLst>
                <a:ext uri="{FF2B5EF4-FFF2-40B4-BE49-F238E27FC236}">
                  <a16:creationId xmlns:a16="http://schemas.microsoft.com/office/drawing/2014/main" id="{E713BD31-3401-C57B-B1D7-3383E4F1FBFF}"/>
                </a:ext>
              </a:extLst>
            </p:cNvPr>
            <p:cNvSpPr txBox="1">
              <a:spLocks noChangeArrowheads="1"/>
            </p:cNvSpPr>
            <p:nvPr/>
          </p:nvSpPr>
          <p:spPr bwMode="auto">
            <a:xfrm>
              <a:off x="7461" y="10238"/>
              <a:ext cx="60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A</a:t>
              </a:r>
              <a:endParaRPr lang="es-ES_tradnl" altLang="es-PE"/>
            </a:p>
          </p:txBody>
        </p:sp>
        <p:sp>
          <p:nvSpPr>
            <p:cNvPr id="193559" name="Text Box 23">
              <a:extLst>
                <a:ext uri="{FF2B5EF4-FFF2-40B4-BE49-F238E27FC236}">
                  <a16:creationId xmlns:a16="http://schemas.microsoft.com/office/drawing/2014/main" id="{E4CF1C51-E625-867F-35EA-48A519B458F6}"/>
                </a:ext>
              </a:extLst>
            </p:cNvPr>
            <p:cNvSpPr txBox="1">
              <a:spLocks noChangeArrowheads="1"/>
            </p:cNvSpPr>
            <p:nvPr/>
          </p:nvSpPr>
          <p:spPr bwMode="auto">
            <a:xfrm>
              <a:off x="8001" y="11618"/>
              <a:ext cx="72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B</a:t>
              </a:r>
              <a:endParaRPr lang="es-ES_tradnl" altLang="es-PE"/>
            </a:p>
          </p:txBody>
        </p:sp>
        <p:sp>
          <p:nvSpPr>
            <p:cNvPr id="193560" name="Oval 24">
              <a:extLst>
                <a:ext uri="{FF2B5EF4-FFF2-40B4-BE49-F238E27FC236}">
                  <a16:creationId xmlns:a16="http://schemas.microsoft.com/office/drawing/2014/main" id="{DEC5ADDF-E249-123B-13C2-2119256BE86D}"/>
                </a:ext>
              </a:extLst>
            </p:cNvPr>
            <p:cNvSpPr>
              <a:spLocks noChangeArrowheads="1"/>
            </p:cNvSpPr>
            <p:nvPr/>
          </p:nvSpPr>
          <p:spPr bwMode="auto">
            <a:xfrm>
              <a:off x="7461" y="11498"/>
              <a:ext cx="480" cy="36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grpSp>
        <p:nvGrpSpPr>
          <p:cNvPr id="193561" name="Group 25">
            <a:extLst>
              <a:ext uri="{FF2B5EF4-FFF2-40B4-BE49-F238E27FC236}">
                <a16:creationId xmlns:a16="http://schemas.microsoft.com/office/drawing/2014/main" id="{35532F34-C160-C2F9-D75B-99EC19FB091D}"/>
              </a:ext>
            </a:extLst>
          </p:cNvPr>
          <p:cNvGrpSpPr>
            <a:grpSpLocks/>
          </p:cNvGrpSpPr>
          <p:nvPr/>
        </p:nvGrpSpPr>
        <p:grpSpPr bwMode="auto">
          <a:xfrm>
            <a:off x="7122936" y="3639486"/>
            <a:ext cx="3668713" cy="1290638"/>
            <a:chOff x="2781" y="12608"/>
            <a:chExt cx="5550" cy="1920"/>
          </a:xfrm>
        </p:grpSpPr>
        <p:sp>
          <p:nvSpPr>
            <p:cNvPr id="193562" name="Oval 26">
              <a:extLst>
                <a:ext uri="{FF2B5EF4-FFF2-40B4-BE49-F238E27FC236}">
                  <a16:creationId xmlns:a16="http://schemas.microsoft.com/office/drawing/2014/main" id="{D754F631-0C66-604A-61F5-B45CD39AB077}"/>
                </a:ext>
              </a:extLst>
            </p:cNvPr>
            <p:cNvSpPr>
              <a:spLocks noChangeArrowheads="1"/>
            </p:cNvSpPr>
            <p:nvPr/>
          </p:nvSpPr>
          <p:spPr bwMode="auto">
            <a:xfrm>
              <a:off x="4101" y="12968"/>
              <a:ext cx="2760" cy="108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63" name="Oval 27">
              <a:extLst>
                <a:ext uri="{FF2B5EF4-FFF2-40B4-BE49-F238E27FC236}">
                  <a16:creationId xmlns:a16="http://schemas.microsoft.com/office/drawing/2014/main" id="{EEEC6EE9-F3A4-AFBF-5BC2-2FB6972C900B}"/>
                </a:ext>
              </a:extLst>
            </p:cNvPr>
            <p:cNvSpPr>
              <a:spLocks noChangeArrowheads="1"/>
            </p:cNvSpPr>
            <p:nvPr/>
          </p:nvSpPr>
          <p:spPr bwMode="auto">
            <a:xfrm>
              <a:off x="3981" y="13418"/>
              <a:ext cx="240" cy="180"/>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64" name="Oval 28">
              <a:extLst>
                <a:ext uri="{FF2B5EF4-FFF2-40B4-BE49-F238E27FC236}">
                  <a16:creationId xmlns:a16="http://schemas.microsoft.com/office/drawing/2014/main" id="{80E44198-3543-941F-A4E0-920D91366575}"/>
                </a:ext>
              </a:extLst>
            </p:cNvPr>
            <p:cNvSpPr>
              <a:spLocks noChangeArrowheads="1"/>
            </p:cNvSpPr>
            <p:nvPr/>
          </p:nvSpPr>
          <p:spPr bwMode="auto">
            <a:xfrm>
              <a:off x="6726" y="13433"/>
              <a:ext cx="240" cy="180"/>
            </a:xfrm>
            <a:prstGeom prst="ellipse">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65" name="Text Box 29">
              <a:extLst>
                <a:ext uri="{FF2B5EF4-FFF2-40B4-BE49-F238E27FC236}">
                  <a16:creationId xmlns:a16="http://schemas.microsoft.com/office/drawing/2014/main" id="{7270129E-579C-592B-6E80-028D3CD8B136}"/>
                </a:ext>
              </a:extLst>
            </p:cNvPr>
            <p:cNvSpPr txBox="1">
              <a:spLocks noChangeArrowheads="1"/>
            </p:cNvSpPr>
            <p:nvPr/>
          </p:nvSpPr>
          <p:spPr bwMode="auto">
            <a:xfrm>
              <a:off x="6981" y="13298"/>
              <a:ext cx="96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T+T</a:t>
              </a:r>
              <a:endParaRPr lang="es-ES_tradnl" altLang="es-PE"/>
            </a:p>
          </p:txBody>
        </p:sp>
        <p:sp>
          <p:nvSpPr>
            <p:cNvPr id="193566" name="Text Box 30">
              <a:extLst>
                <a:ext uri="{FF2B5EF4-FFF2-40B4-BE49-F238E27FC236}">
                  <a16:creationId xmlns:a16="http://schemas.microsoft.com/office/drawing/2014/main" id="{CE612918-81F1-9B99-EF34-F8CBECC20006}"/>
                </a:ext>
              </a:extLst>
            </p:cNvPr>
            <p:cNvSpPr txBox="1">
              <a:spLocks noChangeArrowheads="1"/>
            </p:cNvSpPr>
            <p:nvPr/>
          </p:nvSpPr>
          <p:spPr bwMode="auto">
            <a:xfrm>
              <a:off x="5181" y="12608"/>
              <a:ext cx="60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A</a:t>
              </a:r>
              <a:endParaRPr lang="es-ES_tradnl" altLang="es-PE"/>
            </a:p>
          </p:txBody>
        </p:sp>
        <p:sp>
          <p:nvSpPr>
            <p:cNvPr id="193567" name="Text Box 31">
              <a:extLst>
                <a:ext uri="{FF2B5EF4-FFF2-40B4-BE49-F238E27FC236}">
                  <a16:creationId xmlns:a16="http://schemas.microsoft.com/office/drawing/2014/main" id="{993CA9BD-B5F0-E1ED-67B0-DC66DE6A3F30}"/>
                </a:ext>
              </a:extLst>
            </p:cNvPr>
            <p:cNvSpPr txBox="1">
              <a:spLocks noChangeArrowheads="1"/>
            </p:cNvSpPr>
            <p:nvPr/>
          </p:nvSpPr>
          <p:spPr bwMode="auto">
            <a:xfrm>
              <a:off x="5721" y="13988"/>
              <a:ext cx="72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B</a:t>
              </a:r>
              <a:endParaRPr lang="es-ES_tradnl" altLang="es-PE"/>
            </a:p>
          </p:txBody>
        </p:sp>
        <p:sp>
          <p:nvSpPr>
            <p:cNvPr id="193568" name="Freeform 32">
              <a:extLst>
                <a:ext uri="{FF2B5EF4-FFF2-40B4-BE49-F238E27FC236}">
                  <a16:creationId xmlns:a16="http://schemas.microsoft.com/office/drawing/2014/main" id="{14E01A7D-4670-0F1E-A16A-CAF21FC7F2E3}"/>
                </a:ext>
              </a:extLst>
            </p:cNvPr>
            <p:cNvSpPr>
              <a:spLocks/>
            </p:cNvSpPr>
            <p:nvPr/>
          </p:nvSpPr>
          <p:spPr bwMode="auto">
            <a:xfrm flipH="1">
              <a:off x="6396" y="13238"/>
              <a:ext cx="225" cy="510"/>
            </a:xfrm>
            <a:custGeom>
              <a:avLst/>
              <a:gdLst>
                <a:gd name="T0" fmla="*/ 180 w 225"/>
                <a:gd name="T1" fmla="*/ 0 h 510"/>
                <a:gd name="T2" fmla="*/ 135 w 225"/>
                <a:gd name="T3" fmla="*/ 30 h 510"/>
                <a:gd name="T4" fmla="*/ 45 w 225"/>
                <a:gd name="T5" fmla="*/ 120 h 510"/>
                <a:gd name="T6" fmla="*/ 15 w 225"/>
                <a:gd name="T7" fmla="*/ 210 h 510"/>
                <a:gd name="T8" fmla="*/ 0 w 225"/>
                <a:gd name="T9" fmla="*/ 255 h 510"/>
                <a:gd name="T10" fmla="*/ 30 w 225"/>
                <a:gd name="T11" fmla="*/ 390 h 510"/>
                <a:gd name="T12" fmla="*/ 120 w 225"/>
                <a:gd name="T13" fmla="*/ 450 h 510"/>
                <a:gd name="T14" fmla="*/ 225 w 225"/>
                <a:gd name="T15" fmla="*/ 510 h 5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510">
                  <a:moveTo>
                    <a:pt x="180" y="0"/>
                  </a:moveTo>
                  <a:cubicBezTo>
                    <a:pt x="165" y="10"/>
                    <a:pt x="148" y="18"/>
                    <a:pt x="135" y="30"/>
                  </a:cubicBezTo>
                  <a:cubicBezTo>
                    <a:pt x="103" y="58"/>
                    <a:pt x="45" y="120"/>
                    <a:pt x="45" y="120"/>
                  </a:cubicBezTo>
                  <a:cubicBezTo>
                    <a:pt x="35" y="150"/>
                    <a:pt x="25" y="180"/>
                    <a:pt x="15" y="210"/>
                  </a:cubicBezTo>
                  <a:cubicBezTo>
                    <a:pt x="10" y="225"/>
                    <a:pt x="0" y="255"/>
                    <a:pt x="0" y="255"/>
                  </a:cubicBezTo>
                  <a:cubicBezTo>
                    <a:pt x="1" y="263"/>
                    <a:pt x="16" y="376"/>
                    <a:pt x="30" y="390"/>
                  </a:cubicBezTo>
                  <a:cubicBezTo>
                    <a:pt x="55" y="415"/>
                    <a:pt x="86" y="439"/>
                    <a:pt x="120" y="450"/>
                  </a:cubicBezTo>
                  <a:cubicBezTo>
                    <a:pt x="221" y="484"/>
                    <a:pt x="196" y="452"/>
                    <a:pt x="225" y="510"/>
                  </a:cubicBezTo>
                </a:path>
              </a:pathLst>
            </a:custGeom>
            <a:noFill/>
            <a:ln w="9525" cap="flat"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69" name="Rectangle 33">
              <a:extLst>
                <a:ext uri="{FF2B5EF4-FFF2-40B4-BE49-F238E27FC236}">
                  <a16:creationId xmlns:a16="http://schemas.microsoft.com/office/drawing/2014/main" id="{94DA99C0-DFC6-A6DD-7729-256355D0EAD1}"/>
                </a:ext>
              </a:extLst>
            </p:cNvPr>
            <p:cNvSpPr>
              <a:spLocks noChangeArrowheads="1"/>
            </p:cNvSpPr>
            <p:nvPr/>
          </p:nvSpPr>
          <p:spPr bwMode="auto">
            <a:xfrm>
              <a:off x="5421" y="13943"/>
              <a:ext cx="120" cy="180"/>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70" name="Line 34">
              <a:extLst>
                <a:ext uri="{FF2B5EF4-FFF2-40B4-BE49-F238E27FC236}">
                  <a16:creationId xmlns:a16="http://schemas.microsoft.com/office/drawing/2014/main" id="{DAE2446D-A2E0-8B48-5415-94B6E1CA7B17}"/>
                </a:ext>
              </a:extLst>
            </p:cNvPr>
            <p:cNvSpPr>
              <a:spLocks noChangeShapeType="1"/>
            </p:cNvSpPr>
            <p:nvPr/>
          </p:nvSpPr>
          <p:spPr bwMode="auto">
            <a:xfrm>
              <a:off x="5421" y="13838"/>
              <a:ext cx="0" cy="36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71" name="Line 35">
              <a:extLst>
                <a:ext uri="{FF2B5EF4-FFF2-40B4-BE49-F238E27FC236}">
                  <a16:creationId xmlns:a16="http://schemas.microsoft.com/office/drawing/2014/main" id="{6B524560-18A9-4190-1F3C-35D24C661152}"/>
                </a:ext>
              </a:extLst>
            </p:cNvPr>
            <p:cNvSpPr>
              <a:spLocks noChangeShapeType="1"/>
            </p:cNvSpPr>
            <p:nvPr/>
          </p:nvSpPr>
          <p:spPr bwMode="auto">
            <a:xfrm>
              <a:off x="5541" y="13943"/>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3572" name="Text Box 36">
              <a:extLst>
                <a:ext uri="{FF2B5EF4-FFF2-40B4-BE49-F238E27FC236}">
                  <a16:creationId xmlns:a16="http://schemas.microsoft.com/office/drawing/2014/main" id="{202C6FF6-3911-4FA0-76AB-1E55545DF96D}"/>
                </a:ext>
              </a:extLst>
            </p:cNvPr>
            <p:cNvSpPr txBox="1">
              <a:spLocks noChangeArrowheads="1"/>
            </p:cNvSpPr>
            <p:nvPr/>
          </p:nvSpPr>
          <p:spPr bwMode="auto">
            <a:xfrm>
              <a:off x="3261" y="13298"/>
              <a:ext cx="96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T-T</a:t>
              </a:r>
              <a:endParaRPr lang="es-ES_tradnl" altLang="es-PE"/>
            </a:p>
          </p:txBody>
        </p:sp>
        <p:sp>
          <p:nvSpPr>
            <p:cNvPr id="193573" name="Text Box 37">
              <a:extLst>
                <a:ext uri="{FF2B5EF4-FFF2-40B4-BE49-F238E27FC236}">
                  <a16:creationId xmlns:a16="http://schemas.microsoft.com/office/drawing/2014/main" id="{C56A3089-8B7D-4074-403A-5265F6935CAB}"/>
                </a:ext>
              </a:extLst>
            </p:cNvPr>
            <p:cNvSpPr txBox="1">
              <a:spLocks noChangeArrowheads="1"/>
            </p:cNvSpPr>
            <p:nvPr/>
          </p:nvSpPr>
          <p:spPr bwMode="auto">
            <a:xfrm>
              <a:off x="6771" y="13013"/>
              <a:ext cx="156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Cede calor</a:t>
              </a:r>
              <a:endParaRPr lang="es-ES_tradnl" altLang="es-PE"/>
            </a:p>
          </p:txBody>
        </p:sp>
        <p:sp>
          <p:nvSpPr>
            <p:cNvPr id="193574" name="Text Box 38">
              <a:extLst>
                <a:ext uri="{FF2B5EF4-FFF2-40B4-BE49-F238E27FC236}">
                  <a16:creationId xmlns:a16="http://schemas.microsoft.com/office/drawing/2014/main" id="{4FCA1E27-9D0E-5102-C0C5-52A14A228E4F}"/>
                </a:ext>
              </a:extLst>
            </p:cNvPr>
            <p:cNvSpPr txBox="1">
              <a:spLocks noChangeArrowheads="1"/>
            </p:cNvSpPr>
            <p:nvPr/>
          </p:nvSpPr>
          <p:spPr bwMode="auto">
            <a:xfrm>
              <a:off x="2781" y="12938"/>
              <a:ext cx="168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Absorbe calor</a:t>
              </a:r>
              <a:endParaRPr lang="es-ES_tradnl" altLang="es-PE"/>
            </a:p>
          </p:txBody>
        </p:sp>
      </p:grpSp>
      <p:sp>
        <p:nvSpPr>
          <p:cNvPr id="193575" name="Text Box 39">
            <a:extLst>
              <a:ext uri="{FF2B5EF4-FFF2-40B4-BE49-F238E27FC236}">
                <a16:creationId xmlns:a16="http://schemas.microsoft.com/office/drawing/2014/main" id="{216AB61D-2760-F328-577D-970A194F14CD}"/>
              </a:ext>
            </a:extLst>
          </p:cNvPr>
          <p:cNvSpPr txBox="1">
            <a:spLocks noChangeArrowheads="1"/>
          </p:cNvSpPr>
          <p:nvPr/>
        </p:nvSpPr>
        <p:spPr bwMode="auto">
          <a:xfrm>
            <a:off x="2351088" y="5157789"/>
            <a:ext cx="3960812"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PE" i="1"/>
              <a:t>Efecto Seebeck en un termopar: aparece una corriente o una diferencia de potencial cuando hay dos uniones a diferente temperatura.</a:t>
            </a:r>
            <a:endParaRPr lang="es-ES_tradnl" altLang="es-PE" i="1"/>
          </a:p>
        </p:txBody>
      </p:sp>
      <p:sp>
        <p:nvSpPr>
          <p:cNvPr id="193576" name="Text Box 40">
            <a:extLst>
              <a:ext uri="{FF2B5EF4-FFF2-40B4-BE49-F238E27FC236}">
                <a16:creationId xmlns:a16="http://schemas.microsoft.com/office/drawing/2014/main" id="{F9E3B5D9-931E-931F-023B-BA4478C6786C}"/>
              </a:ext>
            </a:extLst>
          </p:cNvPr>
          <p:cNvSpPr txBox="1">
            <a:spLocks noChangeArrowheads="1"/>
          </p:cNvSpPr>
          <p:nvPr/>
        </p:nvSpPr>
        <p:spPr bwMode="auto">
          <a:xfrm>
            <a:off x="7104063" y="5157789"/>
            <a:ext cx="3313112"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PE" i="1"/>
              <a:t>Efecto Peltier: al hacer circular corriente por un circuito de termopares, una unión se enfría y la otra se calienta.</a:t>
            </a:r>
            <a:endParaRPr lang="es-ES_tradnl" altLang="es-PE" i="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381CA832-DDF7-E6EC-8A5C-E9FB78BF5393}"/>
              </a:ext>
            </a:extLst>
          </p:cNvPr>
          <p:cNvSpPr>
            <a:spLocks noGrp="1" noChangeArrowheads="1"/>
          </p:cNvSpPr>
          <p:nvPr>
            <p:ph type="title"/>
          </p:nvPr>
        </p:nvSpPr>
        <p:spPr/>
        <p:txBody>
          <a:bodyPr/>
          <a:lstStyle/>
          <a:p>
            <a:r>
              <a:rPr lang="es-ES" altLang="es-PE" sz="4000"/>
              <a:t>SENSORES Y TRANSDUCTORES</a:t>
            </a:r>
          </a:p>
        </p:txBody>
      </p:sp>
      <p:sp>
        <p:nvSpPr>
          <p:cNvPr id="196611" name="Rectangle 3">
            <a:extLst>
              <a:ext uri="{FF2B5EF4-FFF2-40B4-BE49-F238E27FC236}">
                <a16:creationId xmlns:a16="http://schemas.microsoft.com/office/drawing/2014/main" id="{7BC2F571-57CB-7ECE-5DB7-DC5D007C3963}"/>
              </a:ext>
            </a:extLst>
          </p:cNvPr>
          <p:cNvSpPr>
            <a:spLocks noGrp="1" noChangeArrowheads="1"/>
          </p:cNvSpPr>
          <p:nvPr>
            <p:ph idx="1"/>
          </p:nvPr>
        </p:nvSpPr>
        <p:spPr/>
        <p:txBody>
          <a:bodyPr/>
          <a:lstStyle/>
          <a:p>
            <a:pPr>
              <a:lnSpc>
                <a:spcPct val="80000"/>
              </a:lnSpc>
            </a:pPr>
            <a:r>
              <a:rPr lang="es-ES" altLang="es-PE" sz="2400"/>
              <a:t>Sistemas electrónicos de medida y regulación</a:t>
            </a:r>
          </a:p>
          <a:p>
            <a:pPr>
              <a:lnSpc>
                <a:spcPct val="80000"/>
              </a:lnSpc>
            </a:pPr>
            <a:r>
              <a:rPr lang="es-ES" altLang="es-PE" sz="2400"/>
              <a:t>Sensores y transductores</a:t>
            </a:r>
          </a:p>
          <a:p>
            <a:pPr>
              <a:lnSpc>
                <a:spcPct val="80000"/>
              </a:lnSpc>
            </a:pPr>
            <a:r>
              <a:rPr lang="es-ES" altLang="es-PE" sz="2400"/>
              <a:t>Sensores de posición, distancia y desplazamiento</a:t>
            </a:r>
          </a:p>
          <a:p>
            <a:pPr>
              <a:lnSpc>
                <a:spcPct val="80000"/>
              </a:lnSpc>
            </a:pPr>
            <a:r>
              <a:rPr lang="es-ES" altLang="es-PE" sz="2400"/>
              <a:t>Sensores de temperatura</a:t>
            </a:r>
          </a:p>
          <a:p>
            <a:pPr>
              <a:lnSpc>
                <a:spcPct val="80000"/>
              </a:lnSpc>
            </a:pPr>
            <a:r>
              <a:rPr lang="es-ES" altLang="es-PE" sz="2400" b="1">
                <a:solidFill>
                  <a:srgbClr val="FF0000"/>
                </a:solidFill>
              </a:rPr>
              <a:t>Sensores de velocidad</a:t>
            </a:r>
          </a:p>
          <a:p>
            <a:pPr>
              <a:lnSpc>
                <a:spcPct val="80000"/>
              </a:lnSpc>
            </a:pPr>
            <a:r>
              <a:rPr lang="es-ES" altLang="es-PE" sz="2400"/>
              <a:t>Sensores de presión</a:t>
            </a:r>
          </a:p>
          <a:p>
            <a:pPr>
              <a:lnSpc>
                <a:spcPct val="80000"/>
              </a:lnSpc>
            </a:pPr>
            <a:r>
              <a:rPr lang="es-ES" altLang="es-PE" sz="2400"/>
              <a:t>Sensores de proximidad</a:t>
            </a:r>
          </a:p>
          <a:p>
            <a:pPr>
              <a:lnSpc>
                <a:spcPct val="80000"/>
              </a:lnSpc>
            </a:pPr>
            <a:r>
              <a:rPr lang="es-ES" altLang="es-PE" sz="2400"/>
              <a:t>Reguladores</a:t>
            </a:r>
          </a:p>
          <a:p>
            <a:pPr>
              <a:lnSpc>
                <a:spcPct val="80000"/>
              </a:lnSpc>
            </a:pPr>
            <a:r>
              <a:rPr lang="es-ES" altLang="es-PE" sz="2400"/>
              <a:t>Preaccionadores y actuadores</a:t>
            </a:r>
          </a:p>
          <a:p>
            <a:pPr>
              <a:lnSpc>
                <a:spcPct val="80000"/>
              </a:lnSpc>
            </a:pPr>
            <a:r>
              <a:rPr lang="es-ES" altLang="es-PE" sz="2400"/>
              <a:t>Distintas tecnologías</a:t>
            </a:r>
          </a:p>
        </p:txBody>
      </p:sp>
      <p:sp>
        <p:nvSpPr>
          <p:cNvPr id="2" name="Marcador de número de diapositiva 4">
            <a:extLst>
              <a:ext uri="{FF2B5EF4-FFF2-40B4-BE49-F238E27FC236}">
                <a16:creationId xmlns:a16="http://schemas.microsoft.com/office/drawing/2014/main" id="{E35FEC64-AC78-8AD8-A9D7-B24C03FA348D}"/>
              </a:ext>
            </a:extLst>
          </p:cNvPr>
          <p:cNvSpPr>
            <a:spLocks noGrp="1"/>
          </p:cNvSpPr>
          <p:nvPr>
            <p:ph type="sldNum" sz="quarter" idx="4294967295"/>
          </p:nvPr>
        </p:nvSpPr>
        <p:spPr>
          <a:xfrm>
            <a:off x="0" y="0"/>
            <a:ext cx="0" cy="0"/>
          </a:xfrm>
        </p:spPr>
        <p:txBody>
          <a:bodyPr/>
          <a:lstStyle/>
          <a:p>
            <a:fld id="{7FA6A84E-7E0D-48F1-B9EF-59A987436739}" type="slidenum">
              <a:rPr lang="es-ES" altLang="es-PE"/>
              <a:pPr/>
              <a:t>32</a:t>
            </a:fld>
            <a:endParaRPr lang="es-ES" altLang="es-P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8D9AEBBD-68FC-87AC-00B9-EC9701FCBAF3}"/>
              </a:ext>
            </a:extLst>
          </p:cNvPr>
          <p:cNvSpPr>
            <a:spLocks noGrp="1" noChangeArrowheads="1"/>
          </p:cNvSpPr>
          <p:nvPr>
            <p:ph type="title"/>
          </p:nvPr>
        </p:nvSpPr>
        <p:spPr/>
        <p:txBody>
          <a:bodyPr/>
          <a:lstStyle/>
          <a:p>
            <a:r>
              <a:rPr lang="es-ES" altLang="es-PE" sz="4000"/>
              <a:t>SENSORES Y TRANSDUCTORES</a:t>
            </a:r>
          </a:p>
        </p:txBody>
      </p:sp>
      <p:sp>
        <p:nvSpPr>
          <p:cNvPr id="197635" name="Rectangle 3">
            <a:extLst>
              <a:ext uri="{FF2B5EF4-FFF2-40B4-BE49-F238E27FC236}">
                <a16:creationId xmlns:a16="http://schemas.microsoft.com/office/drawing/2014/main" id="{9CF678AB-A68B-AE44-B573-C3DF3BF5D7F9}"/>
              </a:ext>
            </a:extLst>
          </p:cNvPr>
          <p:cNvSpPr>
            <a:spLocks noGrp="1" noChangeArrowheads="1"/>
          </p:cNvSpPr>
          <p:nvPr>
            <p:ph idx="1"/>
          </p:nvPr>
        </p:nvSpPr>
        <p:spPr>
          <a:xfrm>
            <a:off x="914400" y="1175155"/>
            <a:ext cx="9525000" cy="4727583"/>
          </a:xfrm>
        </p:spPr>
        <p:txBody>
          <a:bodyPr/>
          <a:lstStyle/>
          <a:p>
            <a:pPr>
              <a:lnSpc>
                <a:spcPct val="80000"/>
              </a:lnSpc>
            </a:pPr>
            <a:r>
              <a:rPr lang="es-ES" altLang="es-PE" sz="2400" b="1" dirty="0">
                <a:solidFill>
                  <a:srgbClr val="FF0000"/>
                </a:solidFill>
              </a:rPr>
              <a:t>Sensores de velocidad:</a:t>
            </a:r>
          </a:p>
          <a:p>
            <a:pPr lvl="1">
              <a:lnSpc>
                <a:spcPct val="80000"/>
              </a:lnSpc>
            </a:pPr>
            <a:r>
              <a:rPr lang="es-ES" altLang="es-PE" sz="2000" b="1" dirty="0"/>
              <a:t>De tipo digital (tacómetro): </a:t>
            </a:r>
          </a:p>
          <a:p>
            <a:pPr lvl="1">
              <a:lnSpc>
                <a:spcPct val="80000"/>
              </a:lnSpc>
            </a:pPr>
            <a:endParaRPr lang="es-ES" altLang="es-PE" sz="2000" b="1" dirty="0"/>
          </a:p>
          <a:p>
            <a:pPr lvl="1">
              <a:lnSpc>
                <a:spcPct val="80000"/>
              </a:lnSpc>
            </a:pPr>
            <a:endParaRPr lang="es-ES" altLang="es-PE" sz="2000" b="1" dirty="0"/>
          </a:p>
          <a:p>
            <a:pPr lvl="1">
              <a:lnSpc>
                <a:spcPct val="80000"/>
              </a:lnSpc>
            </a:pPr>
            <a:endParaRPr lang="es-ES" altLang="es-PE" sz="2000" b="1" dirty="0"/>
          </a:p>
          <a:p>
            <a:pPr lvl="1">
              <a:lnSpc>
                <a:spcPct val="80000"/>
              </a:lnSpc>
              <a:buFont typeface="Wingdings" panose="05000000000000000000" pitchFamily="2" charset="2"/>
              <a:buNone/>
            </a:pPr>
            <a:endParaRPr lang="es-ES" altLang="es-PE" sz="2000" b="1" dirty="0"/>
          </a:p>
          <a:p>
            <a:pPr lvl="1">
              <a:lnSpc>
                <a:spcPct val="80000"/>
              </a:lnSpc>
            </a:pPr>
            <a:endParaRPr lang="es-ES" altLang="es-PE" sz="2000" b="1" dirty="0"/>
          </a:p>
          <a:p>
            <a:pPr lvl="1">
              <a:lnSpc>
                <a:spcPct val="80000"/>
              </a:lnSpc>
              <a:buFont typeface="Wingdings" panose="05000000000000000000" pitchFamily="2" charset="2"/>
              <a:buNone/>
            </a:pPr>
            <a:endParaRPr lang="es-ES" altLang="es-PE" sz="2000" b="1" dirty="0"/>
          </a:p>
          <a:p>
            <a:pPr lvl="1">
              <a:lnSpc>
                <a:spcPct val="80000"/>
              </a:lnSpc>
              <a:buFont typeface="Wingdings" panose="05000000000000000000" pitchFamily="2" charset="2"/>
              <a:buNone/>
            </a:pPr>
            <a:endParaRPr lang="es-ES" altLang="es-PE" sz="2000" b="1" dirty="0"/>
          </a:p>
          <a:p>
            <a:pPr lvl="1">
              <a:lnSpc>
                <a:spcPct val="80000"/>
              </a:lnSpc>
            </a:pPr>
            <a:r>
              <a:rPr lang="es-ES" altLang="es-PE" b="1" dirty="0"/>
              <a:t>Por ultrasonidos: Efecto </a:t>
            </a:r>
            <a:r>
              <a:rPr lang="es-ES" altLang="es-PE" b="1" dirty="0" err="1"/>
              <a:t>Doopler</a:t>
            </a:r>
            <a:endParaRPr lang="es-ES" altLang="es-PE" b="1" dirty="0"/>
          </a:p>
        </p:txBody>
      </p:sp>
      <p:sp>
        <p:nvSpPr>
          <p:cNvPr id="2" name="Marcador de número de diapositiva 4">
            <a:extLst>
              <a:ext uri="{FF2B5EF4-FFF2-40B4-BE49-F238E27FC236}">
                <a16:creationId xmlns:a16="http://schemas.microsoft.com/office/drawing/2014/main" id="{D2051846-8790-BC97-4A89-C819F94009F4}"/>
              </a:ext>
            </a:extLst>
          </p:cNvPr>
          <p:cNvSpPr>
            <a:spLocks noGrp="1"/>
          </p:cNvSpPr>
          <p:nvPr>
            <p:ph type="sldNum" sz="quarter" idx="4294967295"/>
          </p:nvPr>
        </p:nvSpPr>
        <p:spPr>
          <a:xfrm>
            <a:off x="0" y="0"/>
            <a:ext cx="0" cy="0"/>
          </a:xfrm>
        </p:spPr>
        <p:txBody>
          <a:bodyPr/>
          <a:lstStyle/>
          <a:p>
            <a:fld id="{1BD30329-5667-443A-B4E0-74CD321945E6}" type="slidenum">
              <a:rPr lang="es-ES" altLang="es-PE"/>
              <a:pPr/>
              <a:t>33</a:t>
            </a:fld>
            <a:endParaRPr lang="es-ES" altLang="es-PE"/>
          </a:p>
        </p:txBody>
      </p:sp>
      <p:pic>
        <p:nvPicPr>
          <p:cNvPr id="197636" name="Picture 4">
            <a:extLst>
              <a:ext uri="{FF2B5EF4-FFF2-40B4-BE49-F238E27FC236}">
                <a16:creationId xmlns:a16="http://schemas.microsoft.com/office/drawing/2014/main" id="{EED78814-8481-68B2-C504-BD33E79F49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635" t="50000" r="30061" b="18489"/>
          <a:stretch>
            <a:fillRect/>
          </a:stretch>
        </p:blipFill>
        <p:spPr bwMode="auto">
          <a:xfrm>
            <a:off x="952500" y="1895992"/>
            <a:ext cx="360045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7637" name="Text Box 5">
            <a:extLst>
              <a:ext uri="{FF2B5EF4-FFF2-40B4-BE49-F238E27FC236}">
                <a16:creationId xmlns:a16="http://schemas.microsoft.com/office/drawing/2014/main" id="{A29F7F23-9C47-4146-B79B-0B603119E899}"/>
              </a:ext>
            </a:extLst>
          </p:cNvPr>
          <p:cNvSpPr txBox="1">
            <a:spLocks noChangeArrowheads="1"/>
          </p:cNvSpPr>
          <p:nvPr/>
        </p:nvSpPr>
        <p:spPr bwMode="auto">
          <a:xfrm>
            <a:off x="6329364" y="1517601"/>
            <a:ext cx="315277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PE" sz="2400" dirty="0"/>
              <a:t>a partir de un codificador incremental obtiene m impulsos por cada vuelta. Si se contabilizan N impulsos durante un intervalo T, la velocidad angular es:</a:t>
            </a:r>
            <a:endParaRPr lang="es-ES_tradnl" altLang="es-PE" sz="2400" dirty="0"/>
          </a:p>
        </p:txBody>
      </p:sp>
      <p:sp>
        <p:nvSpPr>
          <p:cNvPr id="197639" name="Rectangle 7">
            <a:extLst>
              <a:ext uri="{FF2B5EF4-FFF2-40B4-BE49-F238E27FC236}">
                <a16:creationId xmlns:a16="http://schemas.microsoft.com/office/drawing/2014/main" id="{80042089-E84C-A278-E1DA-58F41255A17B}"/>
              </a:ext>
            </a:extLst>
          </p:cNvPr>
          <p:cNvSpPr>
            <a:spLocks noChangeArrowheads="1"/>
          </p:cNvSpPr>
          <p:nvPr/>
        </p:nvSpPr>
        <p:spPr bwMode="auto">
          <a:xfrm>
            <a:off x="1524001" y="30490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97638" name="Object 6">
            <a:extLst>
              <a:ext uri="{FF2B5EF4-FFF2-40B4-BE49-F238E27FC236}">
                <a16:creationId xmlns:a16="http://schemas.microsoft.com/office/drawing/2014/main" id="{A55C9A8D-5836-7A0B-06D7-07C609E8F56D}"/>
              </a:ext>
            </a:extLst>
          </p:cNvPr>
          <p:cNvGraphicFramePr>
            <a:graphicFrameLocks noChangeAspect="1"/>
          </p:cNvGraphicFramePr>
          <p:nvPr>
            <p:extLst>
              <p:ext uri="{D42A27DB-BD31-4B8C-83A1-F6EECF244321}">
                <p14:modId xmlns:p14="http://schemas.microsoft.com/office/powerpoint/2010/main" val="4280762699"/>
              </p:ext>
            </p:extLst>
          </p:nvPr>
        </p:nvGraphicFramePr>
        <p:xfrm>
          <a:off x="9558841" y="2300288"/>
          <a:ext cx="1547812" cy="933450"/>
        </p:xfrm>
        <a:graphic>
          <a:graphicData uri="http://schemas.openxmlformats.org/presentationml/2006/ole">
            <mc:AlternateContent xmlns:mc="http://schemas.openxmlformats.org/markup-compatibility/2006">
              <mc:Choice xmlns:v="urn:schemas-microsoft-com:vml" Requires="v">
                <p:oleObj name="Ecuación" r:id="rId3" imgW="647419" imgH="393529" progId="Equation.3">
                  <p:embed/>
                </p:oleObj>
              </mc:Choice>
              <mc:Fallback>
                <p:oleObj name="Ecuación" r:id="rId3" imgW="647419" imgH="393529" progId="Equation.3">
                  <p:embed/>
                  <p:pic>
                    <p:nvPicPr>
                      <p:cNvPr id="197638" name="Object 6">
                        <a:extLst>
                          <a:ext uri="{FF2B5EF4-FFF2-40B4-BE49-F238E27FC236}">
                            <a16:creationId xmlns:a16="http://schemas.microsoft.com/office/drawing/2014/main" id="{A55C9A8D-5836-7A0B-06D7-07C609E8F5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58841" y="2300288"/>
                        <a:ext cx="1547812"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7641" name="Rectangle 9">
            <a:extLst>
              <a:ext uri="{FF2B5EF4-FFF2-40B4-BE49-F238E27FC236}">
                <a16:creationId xmlns:a16="http://schemas.microsoft.com/office/drawing/2014/main" id="{C58947EB-F762-5565-3A00-BDEF469FEECF}"/>
              </a:ext>
            </a:extLst>
          </p:cNvPr>
          <p:cNvSpPr>
            <a:spLocks noChangeArrowheads="1"/>
          </p:cNvSpPr>
          <p:nvPr/>
        </p:nvSpPr>
        <p:spPr bwMode="auto">
          <a:xfrm>
            <a:off x="1524001" y="30490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97640" name="Object 8">
            <a:extLst>
              <a:ext uri="{FF2B5EF4-FFF2-40B4-BE49-F238E27FC236}">
                <a16:creationId xmlns:a16="http://schemas.microsoft.com/office/drawing/2014/main" id="{2B6819BF-77D3-4E03-2933-C3CAD959B2C8}"/>
              </a:ext>
            </a:extLst>
          </p:cNvPr>
          <p:cNvGraphicFramePr>
            <a:graphicFrameLocks noChangeAspect="1"/>
          </p:cNvGraphicFramePr>
          <p:nvPr/>
        </p:nvGraphicFramePr>
        <p:xfrm>
          <a:off x="5664200" y="4868864"/>
          <a:ext cx="3240088" cy="873125"/>
        </p:xfrm>
        <a:graphic>
          <a:graphicData uri="http://schemas.openxmlformats.org/presentationml/2006/ole">
            <mc:AlternateContent xmlns:mc="http://schemas.openxmlformats.org/markup-compatibility/2006">
              <mc:Choice xmlns:v="urn:schemas-microsoft-com:vml" Requires="v">
                <p:oleObj name="Ecuación" r:id="rId5" imgW="1447172" imgH="393529" progId="Equation.3">
                  <p:embed/>
                </p:oleObj>
              </mc:Choice>
              <mc:Fallback>
                <p:oleObj name="Ecuación" r:id="rId5" imgW="1447172" imgH="393529" progId="Equation.3">
                  <p:embed/>
                  <p:pic>
                    <p:nvPicPr>
                      <p:cNvPr id="197640" name="Object 8">
                        <a:extLst>
                          <a:ext uri="{FF2B5EF4-FFF2-40B4-BE49-F238E27FC236}">
                            <a16:creationId xmlns:a16="http://schemas.microsoft.com/office/drawing/2014/main" id="{2B6819BF-77D3-4E03-2933-C3CAD959B2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64200" y="4868864"/>
                        <a:ext cx="3240088"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7643" name="Rectangle 11">
            <a:extLst>
              <a:ext uri="{FF2B5EF4-FFF2-40B4-BE49-F238E27FC236}">
                <a16:creationId xmlns:a16="http://schemas.microsoft.com/office/drawing/2014/main" id="{79304612-9D8B-4F0E-B9AB-1716733A7B48}"/>
              </a:ext>
            </a:extLst>
          </p:cNvPr>
          <p:cNvSpPr>
            <a:spLocks noChangeArrowheads="1"/>
          </p:cNvSpPr>
          <p:nvPr/>
        </p:nvSpPr>
        <p:spPr bwMode="auto">
          <a:xfrm>
            <a:off x="1524001" y="26775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197642" name="Object 10">
            <a:extLst>
              <a:ext uri="{FF2B5EF4-FFF2-40B4-BE49-F238E27FC236}">
                <a16:creationId xmlns:a16="http://schemas.microsoft.com/office/drawing/2014/main" id="{EF871181-55FC-0F0C-955D-9BCA615C16CD}"/>
              </a:ext>
            </a:extLst>
          </p:cNvPr>
          <p:cNvGraphicFramePr>
            <a:graphicFrameLocks noChangeAspect="1"/>
          </p:cNvGraphicFramePr>
          <p:nvPr>
            <p:extLst>
              <p:ext uri="{D42A27DB-BD31-4B8C-83A1-F6EECF244321}">
                <p14:modId xmlns:p14="http://schemas.microsoft.com/office/powerpoint/2010/main" val="19768635"/>
              </p:ext>
            </p:extLst>
          </p:nvPr>
        </p:nvGraphicFramePr>
        <p:xfrm>
          <a:off x="1252828" y="4468111"/>
          <a:ext cx="7488238" cy="1916112"/>
        </p:xfrm>
        <a:graphic>
          <a:graphicData uri="http://schemas.openxmlformats.org/presentationml/2006/ole">
            <mc:AlternateContent xmlns:mc="http://schemas.openxmlformats.org/markup-compatibility/2006">
              <mc:Choice xmlns:v="urn:schemas-microsoft-com:vml" Requires="v">
                <p:oleObj name="Ecuación" r:id="rId7" imgW="4940300" imgH="1130300" progId="Equation.3">
                  <p:embed/>
                </p:oleObj>
              </mc:Choice>
              <mc:Fallback>
                <p:oleObj name="Ecuación" r:id="rId7" imgW="4940300" imgH="1130300" progId="Equation.3">
                  <p:embed/>
                  <p:pic>
                    <p:nvPicPr>
                      <p:cNvPr id="197642" name="Object 10">
                        <a:extLst>
                          <a:ext uri="{FF2B5EF4-FFF2-40B4-BE49-F238E27FC236}">
                            <a16:creationId xmlns:a16="http://schemas.microsoft.com/office/drawing/2014/main" id="{EF871181-55FC-0F0C-955D-9BCA615C16C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2828" y="4468111"/>
                        <a:ext cx="7488238" cy="1916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9" name="Rectangle 3">
            <a:extLst>
              <a:ext uri="{FF2B5EF4-FFF2-40B4-BE49-F238E27FC236}">
                <a16:creationId xmlns:a16="http://schemas.microsoft.com/office/drawing/2014/main" id="{CE3AE528-DCB4-5EBA-3AF7-4F5DFEA2210E}"/>
              </a:ext>
            </a:extLst>
          </p:cNvPr>
          <p:cNvSpPr>
            <a:spLocks noGrp="1" noChangeArrowheads="1"/>
          </p:cNvSpPr>
          <p:nvPr>
            <p:ph type="title"/>
          </p:nvPr>
        </p:nvSpPr>
        <p:spPr/>
        <p:txBody>
          <a:bodyPr/>
          <a:lstStyle/>
          <a:p>
            <a:r>
              <a:rPr lang="es-ES" altLang="es-PE"/>
              <a:t>Sensores de velocidad</a:t>
            </a:r>
          </a:p>
        </p:txBody>
      </p:sp>
      <p:sp>
        <p:nvSpPr>
          <p:cNvPr id="198660" name="Rectangle 4">
            <a:extLst>
              <a:ext uri="{FF2B5EF4-FFF2-40B4-BE49-F238E27FC236}">
                <a16:creationId xmlns:a16="http://schemas.microsoft.com/office/drawing/2014/main" id="{AB8AA12D-A9EC-BE92-E64E-6EA56AC39D37}"/>
              </a:ext>
            </a:extLst>
          </p:cNvPr>
          <p:cNvSpPr>
            <a:spLocks noGrp="1" noChangeArrowheads="1"/>
          </p:cNvSpPr>
          <p:nvPr>
            <p:ph idx="1"/>
          </p:nvPr>
        </p:nvSpPr>
        <p:spPr/>
        <p:txBody>
          <a:bodyPr/>
          <a:lstStyle/>
          <a:p>
            <a:pPr>
              <a:lnSpc>
                <a:spcPct val="80000"/>
              </a:lnSpc>
            </a:pPr>
            <a:r>
              <a:rPr lang="es-ES" altLang="es-PE" sz="2400" b="1"/>
              <a:t>Por ultrasonidos: Efecto Doopler</a:t>
            </a:r>
          </a:p>
        </p:txBody>
      </p:sp>
      <p:sp>
        <p:nvSpPr>
          <p:cNvPr id="2" name="Marcador de número de diapositiva 4">
            <a:extLst>
              <a:ext uri="{FF2B5EF4-FFF2-40B4-BE49-F238E27FC236}">
                <a16:creationId xmlns:a16="http://schemas.microsoft.com/office/drawing/2014/main" id="{BD1FA0A0-6717-30A4-832F-909C457DB1A0}"/>
              </a:ext>
            </a:extLst>
          </p:cNvPr>
          <p:cNvSpPr>
            <a:spLocks noGrp="1"/>
          </p:cNvSpPr>
          <p:nvPr>
            <p:ph type="sldNum" sz="quarter" idx="4294967295"/>
          </p:nvPr>
        </p:nvSpPr>
        <p:spPr>
          <a:xfrm>
            <a:off x="0" y="0"/>
            <a:ext cx="0" cy="0"/>
          </a:xfrm>
        </p:spPr>
        <p:txBody>
          <a:bodyPr/>
          <a:lstStyle/>
          <a:p>
            <a:fld id="{4C1FE95B-C857-4CA8-9314-246AFBB3DEC6}" type="slidenum">
              <a:rPr lang="es-ES" altLang="es-PE"/>
              <a:pPr/>
              <a:t>34</a:t>
            </a:fld>
            <a:endParaRPr lang="es-ES" altLang="es-PE"/>
          </a:p>
        </p:txBody>
      </p:sp>
      <p:sp>
        <p:nvSpPr>
          <p:cNvPr id="198662" name="Rectangle 6">
            <a:extLst>
              <a:ext uri="{FF2B5EF4-FFF2-40B4-BE49-F238E27FC236}">
                <a16:creationId xmlns:a16="http://schemas.microsoft.com/office/drawing/2014/main" id="{8EB03FA9-E029-5D42-6ADA-1A70973A7619}"/>
              </a:ext>
            </a:extLst>
          </p:cNvPr>
          <p:cNvSpPr>
            <a:spLocks noChangeArrowheads="1"/>
          </p:cNvSpPr>
          <p:nvPr/>
        </p:nvSpPr>
        <p:spPr bwMode="auto">
          <a:xfrm>
            <a:off x="1524001" y="30490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pSp>
        <p:nvGrpSpPr>
          <p:cNvPr id="198668" name="Group 12">
            <a:extLst>
              <a:ext uri="{FF2B5EF4-FFF2-40B4-BE49-F238E27FC236}">
                <a16:creationId xmlns:a16="http://schemas.microsoft.com/office/drawing/2014/main" id="{C06620C7-8351-C5D0-24FF-9169AFD8BC5B}"/>
              </a:ext>
            </a:extLst>
          </p:cNvPr>
          <p:cNvGrpSpPr>
            <a:grpSpLocks/>
          </p:cNvGrpSpPr>
          <p:nvPr/>
        </p:nvGrpSpPr>
        <p:grpSpPr bwMode="auto">
          <a:xfrm>
            <a:off x="2927350" y="2060576"/>
            <a:ext cx="6192838" cy="3725863"/>
            <a:chOff x="3021" y="10958"/>
            <a:chExt cx="7200" cy="3780"/>
          </a:xfrm>
        </p:grpSpPr>
        <p:sp>
          <p:nvSpPr>
            <p:cNvPr id="198669" name="Text Box 13">
              <a:extLst>
                <a:ext uri="{FF2B5EF4-FFF2-40B4-BE49-F238E27FC236}">
                  <a16:creationId xmlns:a16="http://schemas.microsoft.com/office/drawing/2014/main" id="{6A7DE756-2AF5-38CB-5A0A-97E0366222F7}"/>
                </a:ext>
              </a:extLst>
            </p:cNvPr>
            <p:cNvSpPr txBox="1">
              <a:spLocks noChangeArrowheads="1"/>
            </p:cNvSpPr>
            <p:nvPr/>
          </p:nvSpPr>
          <p:spPr bwMode="auto">
            <a:xfrm>
              <a:off x="3021" y="12038"/>
              <a:ext cx="1560" cy="7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Transmisor</a:t>
              </a:r>
              <a:endParaRPr lang="es-ES_tradnl" altLang="es-PE"/>
            </a:p>
          </p:txBody>
        </p:sp>
        <p:sp>
          <p:nvSpPr>
            <p:cNvPr id="198670" name="Text Box 14">
              <a:extLst>
                <a:ext uri="{FF2B5EF4-FFF2-40B4-BE49-F238E27FC236}">
                  <a16:creationId xmlns:a16="http://schemas.microsoft.com/office/drawing/2014/main" id="{A5CFED5C-A14E-0F02-E826-2B8FB3B5BA3F}"/>
                </a:ext>
              </a:extLst>
            </p:cNvPr>
            <p:cNvSpPr txBox="1">
              <a:spLocks noChangeArrowheads="1"/>
            </p:cNvSpPr>
            <p:nvPr/>
          </p:nvSpPr>
          <p:spPr bwMode="auto">
            <a:xfrm>
              <a:off x="3021" y="13298"/>
              <a:ext cx="1560" cy="7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Mezclador</a:t>
              </a:r>
              <a:endParaRPr lang="es-ES_tradnl" altLang="es-PE"/>
            </a:p>
          </p:txBody>
        </p:sp>
        <p:sp>
          <p:nvSpPr>
            <p:cNvPr id="198671" name="Text Box 15">
              <a:extLst>
                <a:ext uri="{FF2B5EF4-FFF2-40B4-BE49-F238E27FC236}">
                  <a16:creationId xmlns:a16="http://schemas.microsoft.com/office/drawing/2014/main" id="{1D927C1E-3AF2-7E28-EFBB-61F0D16AE6D5}"/>
                </a:ext>
              </a:extLst>
            </p:cNvPr>
            <p:cNvSpPr txBox="1">
              <a:spLocks noChangeArrowheads="1"/>
            </p:cNvSpPr>
            <p:nvPr/>
          </p:nvSpPr>
          <p:spPr bwMode="auto">
            <a:xfrm>
              <a:off x="7296" y="13838"/>
              <a:ext cx="1440" cy="90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Contador</a:t>
              </a:r>
              <a:endParaRPr lang="es-ES_tradnl" altLang="es-PE"/>
            </a:p>
          </p:txBody>
        </p:sp>
        <p:sp>
          <p:nvSpPr>
            <p:cNvPr id="198672" name="Text Box 16">
              <a:extLst>
                <a:ext uri="{FF2B5EF4-FFF2-40B4-BE49-F238E27FC236}">
                  <a16:creationId xmlns:a16="http://schemas.microsoft.com/office/drawing/2014/main" id="{75F53E65-257C-157B-5034-1B575E73C625}"/>
                </a:ext>
              </a:extLst>
            </p:cNvPr>
            <p:cNvSpPr txBox="1">
              <a:spLocks noChangeArrowheads="1"/>
            </p:cNvSpPr>
            <p:nvPr/>
          </p:nvSpPr>
          <p:spPr bwMode="auto">
            <a:xfrm>
              <a:off x="5421" y="13838"/>
              <a:ext cx="1200" cy="7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Filtro paso alto</a:t>
              </a:r>
              <a:endParaRPr lang="es-ES_tradnl" altLang="es-PE"/>
            </a:p>
          </p:txBody>
        </p:sp>
        <p:sp>
          <p:nvSpPr>
            <p:cNvPr id="198673" name="Text Box 17">
              <a:extLst>
                <a:ext uri="{FF2B5EF4-FFF2-40B4-BE49-F238E27FC236}">
                  <a16:creationId xmlns:a16="http://schemas.microsoft.com/office/drawing/2014/main" id="{CCDBB9F1-D870-16D1-4F50-4E4AF8FD8E90}"/>
                </a:ext>
              </a:extLst>
            </p:cNvPr>
            <p:cNvSpPr txBox="1">
              <a:spLocks noChangeArrowheads="1"/>
            </p:cNvSpPr>
            <p:nvPr/>
          </p:nvSpPr>
          <p:spPr bwMode="auto">
            <a:xfrm>
              <a:off x="9141" y="13838"/>
              <a:ext cx="1080" cy="7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Base de tiempos</a:t>
              </a:r>
              <a:endParaRPr lang="es-ES_tradnl" altLang="es-PE"/>
            </a:p>
          </p:txBody>
        </p:sp>
        <p:grpSp>
          <p:nvGrpSpPr>
            <p:cNvPr id="198674" name="Group 18">
              <a:extLst>
                <a:ext uri="{FF2B5EF4-FFF2-40B4-BE49-F238E27FC236}">
                  <a16:creationId xmlns:a16="http://schemas.microsoft.com/office/drawing/2014/main" id="{79DE6758-193A-994C-F3F7-E23B865F87D7}"/>
                </a:ext>
              </a:extLst>
            </p:cNvPr>
            <p:cNvGrpSpPr>
              <a:grpSpLocks/>
            </p:cNvGrpSpPr>
            <p:nvPr/>
          </p:nvGrpSpPr>
          <p:grpSpPr bwMode="auto">
            <a:xfrm>
              <a:off x="7341" y="12578"/>
              <a:ext cx="1320" cy="900"/>
              <a:chOff x="7461" y="12398"/>
              <a:chExt cx="1320" cy="900"/>
            </a:xfrm>
          </p:grpSpPr>
          <p:sp>
            <p:nvSpPr>
              <p:cNvPr id="198675" name="Rectangle 19">
                <a:extLst>
                  <a:ext uri="{FF2B5EF4-FFF2-40B4-BE49-F238E27FC236}">
                    <a16:creationId xmlns:a16="http://schemas.microsoft.com/office/drawing/2014/main" id="{E99EA5C4-38C9-5ABC-1AE3-69E89E5D683E}"/>
                  </a:ext>
                </a:extLst>
              </p:cNvPr>
              <p:cNvSpPr>
                <a:spLocks noChangeArrowheads="1"/>
              </p:cNvSpPr>
              <p:nvPr/>
            </p:nvSpPr>
            <p:spPr bwMode="auto">
              <a:xfrm>
                <a:off x="7461" y="12398"/>
                <a:ext cx="1320" cy="90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nvGrpSpPr>
              <p:cNvPr id="198676" name="Group 20">
                <a:extLst>
                  <a:ext uri="{FF2B5EF4-FFF2-40B4-BE49-F238E27FC236}">
                    <a16:creationId xmlns:a16="http://schemas.microsoft.com/office/drawing/2014/main" id="{64ACB730-1BEA-2D9C-7D3E-8E228A9B545B}"/>
                  </a:ext>
                </a:extLst>
              </p:cNvPr>
              <p:cNvGrpSpPr>
                <a:grpSpLocks/>
              </p:cNvGrpSpPr>
              <p:nvPr/>
            </p:nvGrpSpPr>
            <p:grpSpPr bwMode="auto">
              <a:xfrm>
                <a:off x="7641" y="12578"/>
                <a:ext cx="360" cy="540"/>
                <a:chOff x="7641" y="12578"/>
                <a:chExt cx="360" cy="540"/>
              </a:xfrm>
            </p:grpSpPr>
            <p:sp>
              <p:nvSpPr>
                <p:cNvPr id="198677" name="Line 21">
                  <a:extLst>
                    <a:ext uri="{FF2B5EF4-FFF2-40B4-BE49-F238E27FC236}">
                      <a16:creationId xmlns:a16="http://schemas.microsoft.com/office/drawing/2014/main" id="{0C14DFBE-B5D6-472E-7B3B-B7DF034ECCBD}"/>
                    </a:ext>
                  </a:extLst>
                </p:cNvPr>
                <p:cNvSpPr>
                  <a:spLocks noChangeShapeType="1"/>
                </p:cNvSpPr>
                <p:nvPr/>
              </p:nvSpPr>
              <p:spPr bwMode="auto">
                <a:xfrm>
                  <a:off x="7701" y="12833"/>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78" name="Line 22">
                  <a:extLst>
                    <a:ext uri="{FF2B5EF4-FFF2-40B4-BE49-F238E27FC236}">
                      <a16:creationId xmlns:a16="http://schemas.microsoft.com/office/drawing/2014/main" id="{4A004D44-47BA-A89F-B2DE-0E3A81E857A8}"/>
                    </a:ext>
                  </a:extLst>
                </p:cNvPr>
                <p:cNvSpPr>
                  <a:spLocks noChangeShapeType="1"/>
                </p:cNvSpPr>
                <p:nvPr/>
              </p:nvSpPr>
              <p:spPr bwMode="auto">
                <a:xfrm>
                  <a:off x="7716" y="13118"/>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79" name="Line 23">
                  <a:extLst>
                    <a:ext uri="{FF2B5EF4-FFF2-40B4-BE49-F238E27FC236}">
                      <a16:creationId xmlns:a16="http://schemas.microsoft.com/office/drawing/2014/main" id="{5F6792DC-6930-2265-D42E-9E65D0B5C042}"/>
                    </a:ext>
                  </a:extLst>
                </p:cNvPr>
                <p:cNvSpPr>
                  <a:spLocks noChangeShapeType="1"/>
                </p:cNvSpPr>
                <p:nvPr/>
              </p:nvSpPr>
              <p:spPr bwMode="auto">
                <a:xfrm>
                  <a:off x="7716" y="12578"/>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80" name="Line 24">
                  <a:extLst>
                    <a:ext uri="{FF2B5EF4-FFF2-40B4-BE49-F238E27FC236}">
                      <a16:creationId xmlns:a16="http://schemas.microsoft.com/office/drawing/2014/main" id="{0D72BA6D-22BE-6560-B022-E6D3CF0365D3}"/>
                    </a:ext>
                  </a:extLst>
                </p:cNvPr>
                <p:cNvSpPr>
                  <a:spLocks noChangeShapeType="1"/>
                </p:cNvSpPr>
                <p:nvPr/>
              </p:nvSpPr>
              <p:spPr bwMode="auto">
                <a:xfrm>
                  <a:off x="7641" y="12578"/>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81" name="Line 25">
                  <a:extLst>
                    <a:ext uri="{FF2B5EF4-FFF2-40B4-BE49-F238E27FC236}">
                      <a16:creationId xmlns:a16="http://schemas.microsoft.com/office/drawing/2014/main" id="{38179A36-AF1F-97E0-C77C-5B6166A72FD5}"/>
                    </a:ext>
                  </a:extLst>
                </p:cNvPr>
                <p:cNvSpPr>
                  <a:spLocks noChangeShapeType="1"/>
                </p:cNvSpPr>
                <p:nvPr/>
              </p:nvSpPr>
              <p:spPr bwMode="auto">
                <a:xfrm>
                  <a:off x="7656" y="12923"/>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82" name="Line 26">
                  <a:extLst>
                    <a:ext uri="{FF2B5EF4-FFF2-40B4-BE49-F238E27FC236}">
                      <a16:creationId xmlns:a16="http://schemas.microsoft.com/office/drawing/2014/main" id="{9C77F320-590F-249F-60CF-B688DBDBC37F}"/>
                    </a:ext>
                  </a:extLst>
                </p:cNvPr>
                <p:cNvSpPr>
                  <a:spLocks noChangeShapeType="1"/>
                </p:cNvSpPr>
                <p:nvPr/>
              </p:nvSpPr>
              <p:spPr bwMode="auto">
                <a:xfrm>
                  <a:off x="8001" y="12608"/>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83" name="Line 27">
                  <a:extLst>
                    <a:ext uri="{FF2B5EF4-FFF2-40B4-BE49-F238E27FC236}">
                      <a16:creationId xmlns:a16="http://schemas.microsoft.com/office/drawing/2014/main" id="{592F62E5-33DC-209A-5F76-CDF2E0535355}"/>
                    </a:ext>
                  </a:extLst>
                </p:cNvPr>
                <p:cNvSpPr>
                  <a:spLocks noChangeShapeType="1"/>
                </p:cNvSpPr>
                <p:nvPr/>
              </p:nvSpPr>
              <p:spPr bwMode="auto">
                <a:xfrm>
                  <a:off x="8001" y="12878"/>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grpSp>
            <p:nvGrpSpPr>
              <p:cNvPr id="198684" name="Group 28">
                <a:extLst>
                  <a:ext uri="{FF2B5EF4-FFF2-40B4-BE49-F238E27FC236}">
                    <a16:creationId xmlns:a16="http://schemas.microsoft.com/office/drawing/2014/main" id="{B2B08C1B-581E-B758-6CAE-D2AE0A2C9373}"/>
                  </a:ext>
                </a:extLst>
              </p:cNvPr>
              <p:cNvGrpSpPr>
                <a:grpSpLocks/>
              </p:cNvGrpSpPr>
              <p:nvPr/>
            </p:nvGrpSpPr>
            <p:grpSpPr bwMode="auto">
              <a:xfrm>
                <a:off x="8181" y="12563"/>
                <a:ext cx="360" cy="540"/>
                <a:chOff x="7641" y="12578"/>
                <a:chExt cx="360" cy="540"/>
              </a:xfrm>
            </p:grpSpPr>
            <p:sp>
              <p:nvSpPr>
                <p:cNvPr id="198685" name="Line 29">
                  <a:extLst>
                    <a:ext uri="{FF2B5EF4-FFF2-40B4-BE49-F238E27FC236}">
                      <a16:creationId xmlns:a16="http://schemas.microsoft.com/office/drawing/2014/main" id="{BB0117E3-C24A-91F3-6048-C7AF7130AB16}"/>
                    </a:ext>
                  </a:extLst>
                </p:cNvPr>
                <p:cNvSpPr>
                  <a:spLocks noChangeShapeType="1"/>
                </p:cNvSpPr>
                <p:nvPr/>
              </p:nvSpPr>
              <p:spPr bwMode="auto">
                <a:xfrm>
                  <a:off x="7701" y="12833"/>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86" name="Line 30">
                  <a:extLst>
                    <a:ext uri="{FF2B5EF4-FFF2-40B4-BE49-F238E27FC236}">
                      <a16:creationId xmlns:a16="http://schemas.microsoft.com/office/drawing/2014/main" id="{84543720-7CEB-B012-846B-ADB56A592205}"/>
                    </a:ext>
                  </a:extLst>
                </p:cNvPr>
                <p:cNvSpPr>
                  <a:spLocks noChangeShapeType="1"/>
                </p:cNvSpPr>
                <p:nvPr/>
              </p:nvSpPr>
              <p:spPr bwMode="auto">
                <a:xfrm>
                  <a:off x="7716" y="13118"/>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87" name="Line 31">
                  <a:extLst>
                    <a:ext uri="{FF2B5EF4-FFF2-40B4-BE49-F238E27FC236}">
                      <a16:creationId xmlns:a16="http://schemas.microsoft.com/office/drawing/2014/main" id="{7C2A1680-B6D5-002F-987D-65456D746E9A}"/>
                    </a:ext>
                  </a:extLst>
                </p:cNvPr>
                <p:cNvSpPr>
                  <a:spLocks noChangeShapeType="1"/>
                </p:cNvSpPr>
                <p:nvPr/>
              </p:nvSpPr>
              <p:spPr bwMode="auto">
                <a:xfrm>
                  <a:off x="7716" y="12578"/>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88" name="Line 32">
                  <a:extLst>
                    <a:ext uri="{FF2B5EF4-FFF2-40B4-BE49-F238E27FC236}">
                      <a16:creationId xmlns:a16="http://schemas.microsoft.com/office/drawing/2014/main" id="{557AD2D3-4F67-E6B5-5CA9-CBA28269B681}"/>
                    </a:ext>
                  </a:extLst>
                </p:cNvPr>
                <p:cNvSpPr>
                  <a:spLocks noChangeShapeType="1"/>
                </p:cNvSpPr>
                <p:nvPr/>
              </p:nvSpPr>
              <p:spPr bwMode="auto">
                <a:xfrm>
                  <a:off x="7641" y="12578"/>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89" name="Line 33">
                  <a:extLst>
                    <a:ext uri="{FF2B5EF4-FFF2-40B4-BE49-F238E27FC236}">
                      <a16:creationId xmlns:a16="http://schemas.microsoft.com/office/drawing/2014/main" id="{7D8BA38A-A215-B8B6-8990-70E478C05077}"/>
                    </a:ext>
                  </a:extLst>
                </p:cNvPr>
                <p:cNvSpPr>
                  <a:spLocks noChangeShapeType="1"/>
                </p:cNvSpPr>
                <p:nvPr/>
              </p:nvSpPr>
              <p:spPr bwMode="auto">
                <a:xfrm>
                  <a:off x="7656" y="12923"/>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90" name="Line 34">
                  <a:extLst>
                    <a:ext uri="{FF2B5EF4-FFF2-40B4-BE49-F238E27FC236}">
                      <a16:creationId xmlns:a16="http://schemas.microsoft.com/office/drawing/2014/main" id="{FE1291BA-42B7-9A33-8843-BA074D753468}"/>
                    </a:ext>
                  </a:extLst>
                </p:cNvPr>
                <p:cNvSpPr>
                  <a:spLocks noChangeShapeType="1"/>
                </p:cNvSpPr>
                <p:nvPr/>
              </p:nvSpPr>
              <p:spPr bwMode="auto">
                <a:xfrm>
                  <a:off x="8001" y="12608"/>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91" name="Line 35">
                  <a:extLst>
                    <a:ext uri="{FF2B5EF4-FFF2-40B4-BE49-F238E27FC236}">
                      <a16:creationId xmlns:a16="http://schemas.microsoft.com/office/drawing/2014/main" id="{2A183593-D967-B2C4-41BC-0A0CEC29E878}"/>
                    </a:ext>
                  </a:extLst>
                </p:cNvPr>
                <p:cNvSpPr>
                  <a:spLocks noChangeShapeType="1"/>
                </p:cNvSpPr>
                <p:nvPr/>
              </p:nvSpPr>
              <p:spPr bwMode="auto">
                <a:xfrm>
                  <a:off x="8001" y="12878"/>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grpSp>
        <p:grpSp>
          <p:nvGrpSpPr>
            <p:cNvPr id="198692" name="Group 36">
              <a:extLst>
                <a:ext uri="{FF2B5EF4-FFF2-40B4-BE49-F238E27FC236}">
                  <a16:creationId xmlns:a16="http://schemas.microsoft.com/office/drawing/2014/main" id="{C684DE5F-F406-7717-3638-07B39A9C6826}"/>
                </a:ext>
              </a:extLst>
            </p:cNvPr>
            <p:cNvGrpSpPr>
              <a:grpSpLocks/>
            </p:cNvGrpSpPr>
            <p:nvPr/>
          </p:nvGrpSpPr>
          <p:grpSpPr bwMode="auto">
            <a:xfrm>
              <a:off x="5661" y="11858"/>
              <a:ext cx="480" cy="720"/>
              <a:chOff x="5661" y="11678"/>
              <a:chExt cx="480" cy="720"/>
            </a:xfrm>
          </p:grpSpPr>
          <p:sp>
            <p:nvSpPr>
              <p:cNvPr id="198693" name="Line 37">
                <a:extLst>
                  <a:ext uri="{FF2B5EF4-FFF2-40B4-BE49-F238E27FC236}">
                    <a16:creationId xmlns:a16="http://schemas.microsoft.com/office/drawing/2014/main" id="{E6742561-001A-E0F1-60F0-51B8FF158A8E}"/>
                  </a:ext>
                </a:extLst>
              </p:cNvPr>
              <p:cNvSpPr>
                <a:spLocks noChangeShapeType="1"/>
              </p:cNvSpPr>
              <p:nvPr/>
            </p:nvSpPr>
            <p:spPr bwMode="auto">
              <a:xfrm>
                <a:off x="5661" y="11858"/>
                <a:ext cx="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94" name="Line 38">
                <a:extLst>
                  <a:ext uri="{FF2B5EF4-FFF2-40B4-BE49-F238E27FC236}">
                    <a16:creationId xmlns:a16="http://schemas.microsoft.com/office/drawing/2014/main" id="{955D0B2A-AB54-2307-85DB-690960395C3B}"/>
                  </a:ext>
                </a:extLst>
              </p:cNvPr>
              <p:cNvSpPr>
                <a:spLocks noChangeShapeType="1"/>
              </p:cNvSpPr>
              <p:nvPr/>
            </p:nvSpPr>
            <p:spPr bwMode="auto">
              <a:xfrm>
                <a:off x="5661" y="11858"/>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95" name="Line 39">
                <a:extLst>
                  <a:ext uri="{FF2B5EF4-FFF2-40B4-BE49-F238E27FC236}">
                    <a16:creationId xmlns:a16="http://schemas.microsoft.com/office/drawing/2014/main" id="{1B19210E-5D60-A767-6165-321879AB6DAD}"/>
                  </a:ext>
                </a:extLst>
              </p:cNvPr>
              <p:cNvSpPr>
                <a:spLocks noChangeShapeType="1"/>
              </p:cNvSpPr>
              <p:nvPr/>
            </p:nvSpPr>
            <p:spPr bwMode="auto">
              <a:xfrm>
                <a:off x="5661" y="12218"/>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96" name="Line 40">
                <a:extLst>
                  <a:ext uri="{FF2B5EF4-FFF2-40B4-BE49-F238E27FC236}">
                    <a16:creationId xmlns:a16="http://schemas.microsoft.com/office/drawing/2014/main" id="{62D1CA9F-F3A3-8369-D14A-29C5A42B6423}"/>
                  </a:ext>
                </a:extLst>
              </p:cNvPr>
              <p:cNvSpPr>
                <a:spLocks noChangeShapeType="1"/>
              </p:cNvSpPr>
              <p:nvPr/>
            </p:nvSpPr>
            <p:spPr bwMode="auto">
              <a:xfrm flipV="1">
                <a:off x="5901" y="1167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97" name="Line 41">
                <a:extLst>
                  <a:ext uri="{FF2B5EF4-FFF2-40B4-BE49-F238E27FC236}">
                    <a16:creationId xmlns:a16="http://schemas.microsoft.com/office/drawing/2014/main" id="{340B74C9-C636-C126-45D3-F51E7AA006BF}"/>
                  </a:ext>
                </a:extLst>
              </p:cNvPr>
              <p:cNvSpPr>
                <a:spLocks noChangeShapeType="1"/>
              </p:cNvSpPr>
              <p:nvPr/>
            </p:nvSpPr>
            <p:spPr bwMode="auto">
              <a:xfrm>
                <a:off x="5901" y="1221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698" name="Freeform 42">
                <a:extLst>
                  <a:ext uri="{FF2B5EF4-FFF2-40B4-BE49-F238E27FC236}">
                    <a16:creationId xmlns:a16="http://schemas.microsoft.com/office/drawing/2014/main" id="{AF75BBE8-1D14-C541-57F3-92AC908BBB59}"/>
                  </a:ext>
                </a:extLst>
              </p:cNvPr>
              <p:cNvSpPr>
                <a:spLocks/>
              </p:cNvSpPr>
              <p:nvPr/>
            </p:nvSpPr>
            <p:spPr bwMode="auto">
              <a:xfrm>
                <a:off x="6021" y="11678"/>
                <a:ext cx="120" cy="720"/>
              </a:xfrm>
              <a:custGeom>
                <a:avLst/>
                <a:gdLst>
                  <a:gd name="T0" fmla="*/ 0 w 280"/>
                  <a:gd name="T1" fmla="*/ 0 h 720"/>
                  <a:gd name="T2" fmla="*/ 240 w 280"/>
                  <a:gd name="T3" fmla="*/ 180 h 720"/>
                  <a:gd name="T4" fmla="*/ 240 w 280"/>
                  <a:gd name="T5" fmla="*/ 540 h 720"/>
                  <a:gd name="T6" fmla="*/ 0 w 280"/>
                  <a:gd name="T7" fmla="*/ 720 h 720"/>
                </a:gdLst>
                <a:ahLst/>
                <a:cxnLst>
                  <a:cxn ang="0">
                    <a:pos x="T0" y="T1"/>
                  </a:cxn>
                  <a:cxn ang="0">
                    <a:pos x="T2" y="T3"/>
                  </a:cxn>
                  <a:cxn ang="0">
                    <a:pos x="T4" y="T5"/>
                  </a:cxn>
                  <a:cxn ang="0">
                    <a:pos x="T6" y="T7"/>
                  </a:cxn>
                </a:cxnLst>
                <a:rect l="0" t="0" r="r" b="b"/>
                <a:pathLst>
                  <a:path w="280" h="720">
                    <a:moveTo>
                      <a:pt x="0" y="0"/>
                    </a:moveTo>
                    <a:cubicBezTo>
                      <a:pt x="100" y="45"/>
                      <a:pt x="200" y="90"/>
                      <a:pt x="240" y="180"/>
                    </a:cubicBezTo>
                    <a:cubicBezTo>
                      <a:pt x="280" y="270"/>
                      <a:pt x="280" y="450"/>
                      <a:pt x="240" y="540"/>
                    </a:cubicBezTo>
                    <a:cubicBezTo>
                      <a:pt x="200" y="630"/>
                      <a:pt x="100" y="675"/>
                      <a:pt x="0" y="720"/>
                    </a:cubicBez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grpSp>
          <p:nvGrpSpPr>
            <p:cNvPr id="198699" name="Group 43">
              <a:extLst>
                <a:ext uri="{FF2B5EF4-FFF2-40B4-BE49-F238E27FC236}">
                  <a16:creationId xmlns:a16="http://schemas.microsoft.com/office/drawing/2014/main" id="{7FB9BBF0-AA66-92A2-72E4-F0CC1F953260}"/>
                </a:ext>
              </a:extLst>
            </p:cNvPr>
            <p:cNvGrpSpPr>
              <a:grpSpLocks/>
            </p:cNvGrpSpPr>
            <p:nvPr/>
          </p:nvGrpSpPr>
          <p:grpSpPr bwMode="auto">
            <a:xfrm>
              <a:off x="7101" y="10958"/>
              <a:ext cx="1780" cy="1170"/>
              <a:chOff x="7901" y="10928"/>
              <a:chExt cx="1780" cy="1170"/>
            </a:xfrm>
          </p:grpSpPr>
          <p:sp>
            <p:nvSpPr>
              <p:cNvPr id="198700" name="Freeform 44">
                <a:extLst>
                  <a:ext uri="{FF2B5EF4-FFF2-40B4-BE49-F238E27FC236}">
                    <a16:creationId xmlns:a16="http://schemas.microsoft.com/office/drawing/2014/main" id="{A44D1F4B-5A19-7C6B-5284-0B206704CFFF}"/>
                  </a:ext>
                </a:extLst>
              </p:cNvPr>
              <p:cNvSpPr>
                <a:spLocks/>
              </p:cNvSpPr>
              <p:nvPr/>
            </p:nvSpPr>
            <p:spPr bwMode="auto">
              <a:xfrm>
                <a:off x="7901" y="10928"/>
                <a:ext cx="1600" cy="1170"/>
              </a:xfrm>
              <a:custGeom>
                <a:avLst/>
                <a:gdLst>
                  <a:gd name="T0" fmla="*/ 1120 w 1600"/>
                  <a:gd name="T1" fmla="*/ 210 h 1170"/>
                  <a:gd name="T2" fmla="*/ 1000 w 1600"/>
                  <a:gd name="T3" fmla="*/ 210 h 1170"/>
                  <a:gd name="T4" fmla="*/ 640 w 1600"/>
                  <a:gd name="T5" fmla="*/ 210 h 1170"/>
                  <a:gd name="T6" fmla="*/ 400 w 1600"/>
                  <a:gd name="T7" fmla="*/ 570 h 1170"/>
                  <a:gd name="T8" fmla="*/ 40 w 1600"/>
                  <a:gd name="T9" fmla="*/ 750 h 1170"/>
                  <a:gd name="T10" fmla="*/ 160 w 1600"/>
                  <a:gd name="T11" fmla="*/ 1110 h 1170"/>
                  <a:gd name="T12" fmla="*/ 280 w 1600"/>
                  <a:gd name="T13" fmla="*/ 1110 h 1170"/>
                  <a:gd name="T14" fmla="*/ 760 w 1600"/>
                  <a:gd name="T15" fmla="*/ 1110 h 1170"/>
                  <a:gd name="T16" fmla="*/ 1000 w 1600"/>
                  <a:gd name="T17" fmla="*/ 930 h 1170"/>
                  <a:gd name="T18" fmla="*/ 1120 w 1600"/>
                  <a:gd name="T19" fmla="*/ 930 h 1170"/>
                  <a:gd name="T20" fmla="*/ 1480 w 1600"/>
                  <a:gd name="T21" fmla="*/ 750 h 1170"/>
                  <a:gd name="T22" fmla="*/ 1480 w 1600"/>
                  <a:gd name="T23" fmla="*/ 570 h 1170"/>
                  <a:gd name="T24" fmla="*/ 1600 w 1600"/>
                  <a:gd name="T25" fmla="*/ 210 h 1170"/>
                  <a:gd name="T26" fmla="*/ 1480 w 1600"/>
                  <a:gd name="T27" fmla="*/ 30 h 1170"/>
                  <a:gd name="T28" fmla="*/ 1360 w 1600"/>
                  <a:gd name="T29" fmla="*/ 30 h 1170"/>
                  <a:gd name="T30" fmla="*/ 1120 w 1600"/>
                  <a:gd name="T31" fmla="*/ 30 h 1170"/>
                  <a:gd name="T32" fmla="*/ 1120 w 1600"/>
                  <a:gd name="T33" fmla="*/ 210 h 1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0" h="1170">
                    <a:moveTo>
                      <a:pt x="1120" y="210"/>
                    </a:moveTo>
                    <a:cubicBezTo>
                      <a:pt x="1100" y="240"/>
                      <a:pt x="1080" y="210"/>
                      <a:pt x="1000" y="210"/>
                    </a:cubicBezTo>
                    <a:cubicBezTo>
                      <a:pt x="920" y="210"/>
                      <a:pt x="740" y="150"/>
                      <a:pt x="640" y="210"/>
                    </a:cubicBezTo>
                    <a:cubicBezTo>
                      <a:pt x="540" y="270"/>
                      <a:pt x="500" y="480"/>
                      <a:pt x="400" y="570"/>
                    </a:cubicBezTo>
                    <a:cubicBezTo>
                      <a:pt x="300" y="660"/>
                      <a:pt x="80" y="660"/>
                      <a:pt x="40" y="750"/>
                    </a:cubicBezTo>
                    <a:cubicBezTo>
                      <a:pt x="0" y="840"/>
                      <a:pt x="120" y="1050"/>
                      <a:pt x="160" y="1110"/>
                    </a:cubicBezTo>
                    <a:cubicBezTo>
                      <a:pt x="200" y="1170"/>
                      <a:pt x="180" y="1110"/>
                      <a:pt x="280" y="1110"/>
                    </a:cubicBezTo>
                    <a:cubicBezTo>
                      <a:pt x="380" y="1110"/>
                      <a:pt x="640" y="1140"/>
                      <a:pt x="760" y="1110"/>
                    </a:cubicBezTo>
                    <a:cubicBezTo>
                      <a:pt x="880" y="1080"/>
                      <a:pt x="940" y="960"/>
                      <a:pt x="1000" y="930"/>
                    </a:cubicBezTo>
                    <a:cubicBezTo>
                      <a:pt x="1060" y="900"/>
                      <a:pt x="1040" y="960"/>
                      <a:pt x="1120" y="930"/>
                    </a:cubicBezTo>
                    <a:cubicBezTo>
                      <a:pt x="1200" y="900"/>
                      <a:pt x="1420" y="810"/>
                      <a:pt x="1480" y="750"/>
                    </a:cubicBezTo>
                    <a:cubicBezTo>
                      <a:pt x="1540" y="690"/>
                      <a:pt x="1460" y="660"/>
                      <a:pt x="1480" y="570"/>
                    </a:cubicBezTo>
                    <a:cubicBezTo>
                      <a:pt x="1500" y="480"/>
                      <a:pt x="1600" y="300"/>
                      <a:pt x="1600" y="210"/>
                    </a:cubicBezTo>
                    <a:cubicBezTo>
                      <a:pt x="1600" y="120"/>
                      <a:pt x="1520" y="60"/>
                      <a:pt x="1480" y="30"/>
                    </a:cubicBezTo>
                    <a:cubicBezTo>
                      <a:pt x="1440" y="0"/>
                      <a:pt x="1420" y="30"/>
                      <a:pt x="1360" y="30"/>
                    </a:cubicBezTo>
                    <a:cubicBezTo>
                      <a:pt x="1300" y="30"/>
                      <a:pt x="1160" y="0"/>
                      <a:pt x="1120" y="30"/>
                    </a:cubicBezTo>
                    <a:cubicBezTo>
                      <a:pt x="1080" y="60"/>
                      <a:pt x="1140" y="180"/>
                      <a:pt x="1120" y="210"/>
                    </a:cubicBezTo>
                    <a:close/>
                  </a:path>
                </a:pathLst>
              </a:custGeom>
              <a:solidFill>
                <a:srgbClr val="FFFFFF"/>
              </a:solidFill>
              <a:ln w="952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01" name="Text Box 45">
                <a:extLst>
                  <a:ext uri="{FF2B5EF4-FFF2-40B4-BE49-F238E27FC236}">
                    <a16:creationId xmlns:a16="http://schemas.microsoft.com/office/drawing/2014/main" id="{4FF2FA61-0A29-AD51-32CD-3406EF298F92}"/>
                  </a:ext>
                </a:extLst>
              </p:cNvPr>
              <p:cNvSpPr txBox="1">
                <a:spLocks noChangeArrowheads="1"/>
              </p:cNvSpPr>
              <p:nvPr/>
            </p:nvSpPr>
            <p:spPr bwMode="auto">
              <a:xfrm>
                <a:off x="8361" y="11318"/>
                <a:ext cx="132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Móvil</a:t>
                </a:r>
                <a:endParaRPr lang="es-ES_tradnl" altLang="es-PE"/>
              </a:p>
            </p:txBody>
          </p:sp>
        </p:grpSp>
        <p:sp>
          <p:nvSpPr>
            <p:cNvPr id="198702" name="AutoShape 46">
              <a:extLst>
                <a:ext uri="{FF2B5EF4-FFF2-40B4-BE49-F238E27FC236}">
                  <a16:creationId xmlns:a16="http://schemas.microsoft.com/office/drawing/2014/main" id="{7CACBC98-69AB-F629-9A24-B79C048F98EC}"/>
                </a:ext>
              </a:extLst>
            </p:cNvPr>
            <p:cNvSpPr>
              <a:spLocks noChangeArrowheads="1"/>
            </p:cNvSpPr>
            <p:nvPr/>
          </p:nvSpPr>
          <p:spPr bwMode="auto">
            <a:xfrm>
              <a:off x="7791" y="13478"/>
              <a:ext cx="480" cy="360"/>
            </a:xfrm>
            <a:prstGeom prst="upArrow">
              <a:avLst>
                <a:gd name="adj1" fmla="val 50000"/>
                <a:gd name="adj2" fmla="val 25000"/>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03" name="Line 47">
              <a:extLst>
                <a:ext uri="{FF2B5EF4-FFF2-40B4-BE49-F238E27FC236}">
                  <a16:creationId xmlns:a16="http://schemas.microsoft.com/office/drawing/2014/main" id="{0AA37D11-70B6-09F6-8973-8BA1F3B9F661}"/>
                </a:ext>
              </a:extLst>
            </p:cNvPr>
            <p:cNvSpPr>
              <a:spLocks noChangeShapeType="1"/>
            </p:cNvSpPr>
            <p:nvPr/>
          </p:nvSpPr>
          <p:spPr bwMode="auto">
            <a:xfrm>
              <a:off x="6621" y="14198"/>
              <a:ext cx="6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04" name="Line 48">
              <a:extLst>
                <a:ext uri="{FF2B5EF4-FFF2-40B4-BE49-F238E27FC236}">
                  <a16:creationId xmlns:a16="http://schemas.microsoft.com/office/drawing/2014/main" id="{3375C9DD-DD34-F724-95A3-49A1E27A6DDC}"/>
                </a:ext>
              </a:extLst>
            </p:cNvPr>
            <p:cNvSpPr>
              <a:spLocks noChangeShapeType="1"/>
            </p:cNvSpPr>
            <p:nvPr/>
          </p:nvSpPr>
          <p:spPr bwMode="auto">
            <a:xfrm>
              <a:off x="3741" y="14018"/>
              <a:ext cx="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05" name="Line 49">
              <a:extLst>
                <a:ext uri="{FF2B5EF4-FFF2-40B4-BE49-F238E27FC236}">
                  <a16:creationId xmlns:a16="http://schemas.microsoft.com/office/drawing/2014/main" id="{D76B5506-155F-A4DF-C56F-FDAE757D42F7}"/>
                </a:ext>
              </a:extLst>
            </p:cNvPr>
            <p:cNvSpPr>
              <a:spLocks noChangeShapeType="1"/>
            </p:cNvSpPr>
            <p:nvPr/>
          </p:nvSpPr>
          <p:spPr bwMode="auto">
            <a:xfrm>
              <a:off x="3741" y="14348"/>
              <a:ext cx="168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06" name="Line 50">
              <a:extLst>
                <a:ext uri="{FF2B5EF4-FFF2-40B4-BE49-F238E27FC236}">
                  <a16:creationId xmlns:a16="http://schemas.microsoft.com/office/drawing/2014/main" id="{2D18F71B-8DD7-7A3A-F48B-D9E20EEA146D}"/>
                </a:ext>
              </a:extLst>
            </p:cNvPr>
            <p:cNvSpPr>
              <a:spLocks noChangeShapeType="1"/>
            </p:cNvSpPr>
            <p:nvPr/>
          </p:nvSpPr>
          <p:spPr bwMode="auto">
            <a:xfrm flipH="1">
              <a:off x="8781" y="14198"/>
              <a:ext cx="36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07" name="Line 51">
              <a:extLst>
                <a:ext uri="{FF2B5EF4-FFF2-40B4-BE49-F238E27FC236}">
                  <a16:creationId xmlns:a16="http://schemas.microsoft.com/office/drawing/2014/main" id="{D0DB352D-80C0-3522-24FA-AEF96F21E93E}"/>
                </a:ext>
              </a:extLst>
            </p:cNvPr>
            <p:cNvSpPr>
              <a:spLocks noChangeShapeType="1"/>
            </p:cNvSpPr>
            <p:nvPr/>
          </p:nvSpPr>
          <p:spPr bwMode="auto">
            <a:xfrm>
              <a:off x="3261" y="12758"/>
              <a:ext cx="0" cy="54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08" name="Line 52">
              <a:extLst>
                <a:ext uri="{FF2B5EF4-FFF2-40B4-BE49-F238E27FC236}">
                  <a16:creationId xmlns:a16="http://schemas.microsoft.com/office/drawing/2014/main" id="{71BECFF7-913D-E6FE-3A5E-A55B1DE21141}"/>
                </a:ext>
              </a:extLst>
            </p:cNvPr>
            <p:cNvSpPr>
              <a:spLocks noChangeShapeType="1"/>
            </p:cNvSpPr>
            <p:nvPr/>
          </p:nvSpPr>
          <p:spPr bwMode="auto">
            <a:xfrm>
              <a:off x="4581" y="12128"/>
              <a:ext cx="108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09" name="Line 53">
              <a:extLst>
                <a:ext uri="{FF2B5EF4-FFF2-40B4-BE49-F238E27FC236}">
                  <a16:creationId xmlns:a16="http://schemas.microsoft.com/office/drawing/2014/main" id="{22BEFA65-4239-4079-5AE5-E446ED5E3D12}"/>
                </a:ext>
              </a:extLst>
            </p:cNvPr>
            <p:cNvSpPr>
              <a:spLocks noChangeShapeType="1"/>
            </p:cNvSpPr>
            <p:nvPr/>
          </p:nvSpPr>
          <p:spPr bwMode="auto">
            <a:xfrm flipH="1">
              <a:off x="4941" y="12293"/>
              <a:ext cx="7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10" name="Line 54">
              <a:extLst>
                <a:ext uri="{FF2B5EF4-FFF2-40B4-BE49-F238E27FC236}">
                  <a16:creationId xmlns:a16="http://schemas.microsoft.com/office/drawing/2014/main" id="{0C5C400F-9C6E-4C89-4A72-ACD71579B314}"/>
                </a:ext>
              </a:extLst>
            </p:cNvPr>
            <p:cNvSpPr>
              <a:spLocks noChangeShapeType="1"/>
            </p:cNvSpPr>
            <p:nvPr/>
          </p:nvSpPr>
          <p:spPr bwMode="auto">
            <a:xfrm>
              <a:off x="4941" y="12278"/>
              <a:ext cx="0" cy="72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11" name="Line 55">
              <a:extLst>
                <a:ext uri="{FF2B5EF4-FFF2-40B4-BE49-F238E27FC236}">
                  <a16:creationId xmlns:a16="http://schemas.microsoft.com/office/drawing/2014/main" id="{4B68940A-551B-4978-A807-0E9A7428A15D}"/>
                </a:ext>
              </a:extLst>
            </p:cNvPr>
            <p:cNvSpPr>
              <a:spLocks noChangeShapeType="1"/>
            </p:cNvSpPr>
            <p:nvPr/>
          </p:nvSpPr>
          <p:spPr bwMode="auto">
            <a:xfrm flipH="1">
              <a:off x="3981" y="12983"/>
              <a:ext cx="96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12" name="Line 56">
              <a:extLst>
                <a:ext uri="{FF2B5EF4-FFF2-40B4-BE49-F238E27FC236}">
                  <a16:creationId xmlns:a16="http://schemas.microsoft.com/office/drawing/2014/main" id="{562D8C89-F094-05FA-7F04-C79F10C4701A}"/>
                </a:ext>
              </a:extLst>
            </p:cNvPr>
            <p:cNvSpPr>
              <a:spLocks noChangeShapeType="1"/>
            </p:cNvSpPr>
            <p:nvPr/>
          </p:nvSpPr>
          <p:spPr bwMode="auto">
            <a:xfrm>
              <a:off x="3981" y="12938"/>
              <a:ext cx="0" cy="36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13" name="Line 57">
              <a:extLst>
                <a:ext uri="{FF2B5EF4-FFF2-40B4-BE49-F238E27FC236}">
                  <a16:creationId xmlns:a16="http://schemas.microsoft.com/office/drawing/2014/main" id="{F01B1059-380C-C8DF-2771-8BA001AFE005}"/>
                </a:ext>
              </a:extLst>
            </p:cNvPr>
            <p:cNvSpPr>
              <a:spLocks noChangeShapeType="1"/>
            </p:cNvSpPr>
            <p:nvPr/>
          </p:nvSpPr>
          <p:spPr bwMode="auto">
            <a:xfrm flipV="1">
              <a:off x="6141" y="11678"/>
              <a:ext cx="960" cy="36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14" name="Line 58">
              <a:extLst>
                <a:ext uri="{FF2B5EF4-FFF2-40B4-BE49-F238E27FC236}">
                  <a16:creationId xmlns:a16="http://schemas.microsoft.com/office/drawing/2014/main" id="{5AEA7194-4631-EDF6-C085-122640099648}"/>
                </a:ext>
              </a:extLst>
            </p:cNvPr>
            <p:cNvSpPr>
              <a:spLocks noChangeShapeType="1"/>
            </p:cNvSpPr>
            <p:nvPr/>
          </p:nvSpPr>
          <p:spPr bwMode="auto">
            <a:xfrm flipH="1">
              <a:off x="6141" y="11933"/>
              <a:ext cx="1080" cy="36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198715" name="Text Box 59">
              <a:extLst>
                <a:ext uri="{FF2B5EF4-FFF2-40B4-BE49-F238E27FC236}">
                  <a16:creationId xmlns:a16="http://schemas.microsoft.com/office/drawing/2014/main" id="{63D6B2A5-89BD-707E-E810-0A336004D2B3}"/>
                </a:ext>
              </a:extLst>
            </p:cNvPr>
            <p:cNvSpPr txBox="1">
              <a:spLocks noChangeArrowheads="1"/>
            </p:cNvSpPr>
            <p:nvPr/>
          </p:nvSpPr>
          <p:spPr bwMode="auto">
            <a:xfrm>
              <a:off x="6261" y="11513"/>
              <a:ext cx="720" cy="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ft</a:t>
              </a:r>
              <a:endParaRPr lang="es-ES_tradnl" altLang="es-PE"/>
            </a:p>
          </p:txBody>
        </p:sp>
        <p:sp>
          <p:nvSpPr>
            <p:cNvPr id="198716" name="Text Box 60">
              <a:extLst>
                <a:ext uri="{FF2B5EF4-FFF2-40B4-BE49-F238E27FC236}">
                  <a16:creationId xmlns:a16="http://schemas.microsoft.com/office/drawing/2014/main" id="{8A2E60CD-1EE0-3732-5A15-138F96BB7E5D}"/>
                </a:ext>
              </a:extLst>
            </p:cNvPr>
            <p:cNvSpPr txBox="1">
              <a:spLocks noChangeArrowheads="1"/>
            </p:cNvSpPr>
            <p:nvPr/>
          </p:nvSpPr>
          <p:spPr bwMode="auto">
            <a:xfrm>
              <a:off x="6381" y="12038"/>
              <a:ext cx="720"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fr</a:t>
              </a:r>
              <a:endParaRPr lang="es-ES_tradnl" altLang="es-PE"/>
            </a:p>
          </p:txBody>
        </p:sp>
        <p:sp>
          <p:nvSpPr>
            <p:cNvPr id="198717" name="Text Box 61">
              <a:extLst>
                <a:ext uri="{FF2B5EF4-FFF2-40B4-BE49-F238E27FC236}">
                  <a16:creationId xmlns:a16="http://schemas.microsoft.com/office/drawing/2014/main" id="{05AE1246-60A0-4ECE-E89D-6BA6EEC642B1}"/>
                </a:ext>
              </a:extLst>
            </p:cNvPr>
            <p:cNvSpPr txBox="1">
              <a:spLocks noChangeArrowheads="1"/>
            </p:cNvSpPr>
            <p:nvPr/>
          </p:nvSpPr>
          <p:spPr bwMode="auto">
            <a:xfrm>
              <a:off x="3171" y="12938"/>
              <a:ext cx="60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ft</a:t>
              </a:r>
              <a:endParaRPr lang="es-ES_tradnl" altLang="es-PE"/>
            </a:p>
          </p:txBody>
        </p:sp>
        <p:sp>
          <p:nvSpPr>
            <p:cNvPr id="198718" name="Text Box 62">
              <a:extLst>
                <a:ext uri="{FF2B5EF4-FFF2-40B4-BE49-F238E27FC236}">
                  <a16:creationId xmlns:a16="http://schemas.microsoft.com/office/drawing/2014/main" id="{C8BFDC10-8528-4101-B0AF-1DEAFF0DEFD9}"/>
                </a:ext>
              </a:extLst>
            </p:cNvPr>
            <p:cNvSpPr txBox="1">
              <a:spLocks noChangeArrowheads="1"/>
            </p:cNvSpPr>
            <p:nvPr/>
          </p:nvSpPr>
          <p:spPr bwMode="auto">
            <a:xfrm>
              <a:off x="3906" y="12953"/>
              <a:ext cx="60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fr</a:t>
              </a:r>
              <a:endParaRPr lang="es-ES_tradnl" altLang="es-PE"/>
            </a:p>
          </p:txBody>
        </p:sp>
        <p:sp>
          <p:nvSpPr>
            <p:cNvPr id="198719" name="Text Box 63">
              <a:extLst>
                <a:ext uri="{FF2B5EF4-FFF2-40B4-BE49-F238E27FC236}">
                  <a16:creationId xmlns:a16="http://schemas.microsoft.com/office/drawing/2014/main" id="{C9CB15DE-26EF-44F5-6766-9F723ABF04CC}"/>
                </a:ext>
              </a:extLst>
            </p:cNvPr>
            <p:cNvSpPr txBox="1">
              <a:spLocks noChangeArrowheads="1"/>
            </p:cNvSpPr>
            <p:nvPr/>
          </p:nvSpPr>
          <p:spPr bwMode="auto">
            <a:xfrm>
              <a:off x="3981" y="14018"/>
              <a:ext cx="989" cy="4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ES_tradnl" altLang="es-PE"/>
            </a:p>
          </p:txBody>
        </p:sp>
      </p:grpSp>
      <p:sp>
        <p:nvSpPr>
          <p:cNvPr id="198720" name="Text Box 64">
            <a:extLst>
              <a:ext uri="{FF2B5EF4-FFF2-40B4-BE49-F238E27FC236}">
                <a16:creationId xmlns:a16="http://schemas.microsoft.com/office/drawing/2014/main" id="{EDF84628-3A31-4276-39E3-E115F8C39F55}"/>
              </a:ext>
            </a:extLst>
          </p:cNvPr>
          <p:cNvSpPr txBox="1">
            <a:spLocks noChangeArrowheads="1"/>
          </p:cNvSpPr>
          <p:nvPr/>
        </p:nvSpPr>
        <p:spPr bwMode="auto">
          <a:xfrm>
            <a:off x="4008439" y="5949951"/>
            <a:ext cx="55451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 altLang="es-PE" i="1"/>
              <a:t>Diseño en bloque de un radar de tráfico.</a:t>
            </a:r>
            <a:r>
              <a:rPr lang="es-ES_tradnl" altLang="es-PE"/>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1978B1D6-9934-0D80-F6FB-28ADF102E2B7}"/>
              </a:ext>
            </a:extLst>
          </p:cNvPr>
          <p:cNvSpPr>
            <a:spLocks noGrp="1" noChangeArrowheads="1"/>
          </p:cNvSpPr>
          <p:nvPr>
            <p:ph type="title"/>
          </p:nvPr>
        </p:nvSpPr>
        <p:spPr/>
        <p:txBody>
          <a:bodyPr/>
          <a:lstStyle/>
          <a:p>
            <a:r>
              <a:rPr lang="es-ES" altLang="es-PE" sz="4000"/>
              <a:t>SENSORES Y TRANSDUCTORES</a:t>
            </a:r>
          </a:p>
        </p:txBody>
      </p:sp>
      <p:sp>
        <p:nvSpPr>
          <p:cNvPr id="199683" name="Rectangle 3">
            <a:extLst>
              <a:ext uri="{FF2B5EF4-FFF2-40B4-BE49-F238E27FC236}">
                <a16:creationId xmlns:a16="http://schemas.microsoft.com/office/drawing/2014/main" id="{D99DFF15-E5DB-E375-E2DF-FFFE23A9E23B}"/>
              </a:ext>
            </a:extLst>
          </p:cNvPr>
          <p:cNvSpPr>
            <a:spLocks noGrp="1" noChangeArrowheads="1"/>
          </p:cNvSpPr>
          <p:nvPr>
            <p:ph idx="1"/>
          </p:nvPr>
        </p:nvSpPr>
        <p:spPr/>
        <p:txBody>
          <a:bodyPr/>
          <a:lstStyle/>
          <a:p>
            <a:pPr>
              <a:lnSpc>
                <a:spcPct val="80000"/>
              </a:lnSpc>
            </a:pPr>
            <a:r>
              <a:rPr lang="es-ES" altLang="es-PE" sz="2400"/>
              <a:t>Sistemas electrónicos de medida y regulación</a:t>
            </a:r>
          </a:p>
          <a:p>
            <a:pPr>
              <a:lnSpc>
                <a:spcPct val="80000"/>
              </a:lnSpc>
            </a:pPr>
            <a:r>
              <a:rPr lang="es-ES" altLang="es-PE" sz="2400"/>
              <a:t>Sensores y transductores</a:t>
            </a:r>
          </a:p>
          <a:p>
            <a:pPr>
              <a:lnSpc>
                <a:spcPct val="80000"/>
              </a:lnSpc>
            </a:pPr>
            <a:r>
              <a:rPr lang="es-ES" altLang="es-PE" sz="2400"/>
              <a:t>Sensores de posición, distancia y desplazamiento</a:t>
            </a:r>
          </a:p>
          <a:p>
            <a:pPr>
              <a:lnSpc>
                <a:spcPct val="80000"/>
              </a:lnSpc>
            </a:pPr>
            <a:r>
              <a:rPr lang="es-ES" altLang="es-PE" sz="2400"/>
              <a:t>Sensores de temperatura</a:t>
            </a:r>
          </a:p>
          <a:p>
            <a:pPr>
              <a:lnSpc>
                <a:spcPct val="80000"/>
              </a:lnSpc>
            </a:pPr>
            <a:r>
              <a:rPr lang="es-ES" altLang="es-PE" sz="2400"/>
              <a:t>Sensores de velocidad</a:t>
            </a:r>
          </a:p>
          <a:p>
            <a:pPr>
              <a:lnSpc>
                <a:spcPct val="80000"/>
              </a:lnSpc>
            </a:pPr>
            <a:r>
              <a:rPr lang="es-ES" altLang="es-PE" sz="2400" b="1">
                <a:solidFill>
                  <a:srgbClr val="FF0000"/>
                </a:solidFill>
              </a:rPr>
              <a:t>Sensores de presión</a:t>
            </a:r>
          </a:p>
          <a:p>
            <a:pPr>
              <a:lnSpc>
                <a:spcPct val="80000"/>
              </a:lnSpc>
            </a:pPr>
            <a:r>
              <a:rPr lang="es-ES" altLang="es-PE" sz="2400"/>
              <a:t>Sensores de proximidad</a:t>
            </a:r>
          </a:p>
          <a:p>
            <a:pPr>
              <a:lnSpc>
                <a:spcPct val="80000"/>
              </a:lnSpc>
            </a:pPr>
            <a:r>
              <a:rPr lang="es-ES" altLang="es-PE" sz="2400"/>
              <a:t>Reguladores</a:t>
            </a:r>
          </a:p>
          <a:p>
            <a:pPr>
              <a:lnSpc>
                <a:spcPct val="80000"/>
              </a:lnSpc>
            </a:pPr>
            <a:r>
              <a:rPr lang="es-ES" altLang="es-PE" sz="2400"/>
              <a:t>Preaccionadores y actuadores</a:t>
            </a:r>
          </a:p>
          <a:p>
            <a:pPr>
              <a:lnSpc>
                <a:spcPct val="80000"/>
              </a:lnSpc>
            </a:pPr>
            <a:r>
              <a:rPr lang="es-ES" altLang="es-PE" sz="2400"/>
              <a:t>Distintas tecnologías</a:t>
            </a:r>
          </a:p>
        </p:txBody>
      </p:sp>
      <p:sp>
        <p:nvSpPr>
          <p:cNvPr id="2" name="Marcador de número de diapositiva 4">
            <a:extLst>
              <a:ext uri="{FF2B5EF4-FFF2-40B4-BE49-F238E27FC236}">
                <a16:creationId xmlns:a16="http://schemas.microsoft.com/office/drawing/2014/main" id="{69D5E151-6438-5DBD-12C9-B0862CDCCFC8}"/>
              </a:ext>
            </a:extLst>
          </p:cNvPr>
          <p:cNvSpPr>
            <a:spLocks noGrp="1"/>
          </p:cNvSpPr>
          <p:nvPr>
            <p:ph type="sldNum" sz="quarter" idx="4294967295"/>
          </p:nvPr>
        </p:nvSpPr>
        <p:spPr>
          <a:xfrm>
            <a:off x="0" y="0"/>
            <a:ext cx="0" cy="0"/>
          </a:xfrm>
        </p:spPr>
        <p:txBody>
          <a:bodyPr/>
          <a:lstStyle/>
          <a:p>
            <a:fld id="{04E68D78-46D2-48D4-A89E-03BD8FCE32D8}" type="slidenum">
              <a:rPr lang="es-ES" altLang="es-PE"/>
              <a:pPr/>
              <a:t>35</a:t>
            </a:fld>
            <a:endParaRPr lang="es-ES" altLang="es-P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8E952F5D-6A1C-11F7-FD63-65470D8AA351}"/>
              </a:ext>
            </a:extLst>
          </p:cNvPr>
          <p:cNvSpPr>
            <a:spLocks noGrp="1" noChangeArrowheads="1"/>
          </p:cNvSpPr>
          <p:nvPr>
            <p:ph type="title"/>
          </p:nvPr>
        </p:nvSpPr>
        <p:spPr/>
        <p:txBody>
          <a:bodyPr/>
          <a:lstStyle/>
          <a:p>
            <a:r>
              <a:rPr lang="es-ES" altLang="es-PE" sz="4000"/>
              <a:t>SENSORES Y TRANSDUCTORES</a:t>
            </a:r>
          </a:p>
        </p:txBody>
      </p:sp>
      <p:sp>
        <p:nvSpPr>
          <p:cNvPr id="200707" name="Rectangle 3">
            <a:extLst>
              <a:ext uri="{FF2B5EF4-FFF2-40B4-BE49-F238E27FC236}">
                <a16:creationId xmlns:a16="http://schemas.microsoft.com/office/drawing/2014/main" id="{89AB46E7-B538-639A-9BC2-2DECBDFE487B}"/>
              </a:ext>
            </a:extLst>
          </p:cNvPr>
          <p:cNvSpPr>
            <a:spLocks noGrp="1" noChangeArrowheads="1"/>
          </p:cNvSpPr>
          <p:nvPr>
            <p:ph idx="1"/>
          </p:nvPr>
        </p:nvSpPr>
        <p:spPr>
          <a:xfrm>
            <a:off x="747712" y="1189161"/>
            <a:ext cx="9996488" cy="5261736"/>
          </a:xfrm>
        </p:spPr>
        <p:txBody>
          <a:bodyPr>
            <a:normAutofit fontScale="92500" lnSpcReduction="20000"/>
          </a:bodyPr>
          <a:lstStyle/>
          <a:p>
            <a:pPr>
              <a:lnSpc>
                <a:spcPct val="80000"/>
              </a:lnSpc>
            </a:pPr>
            <a:r>
              <a:rPr lang="es-ES" altLang="es-PE" sz="3000" b="1" dirty="0">
                <a:solidFill>
                  <a:srgbClr val="FF0000"/>
                </a:solidFill>
              </a:rPr>
              <a:t>Sensores de presión:</a:t>
            </a:r>
          </a:p>
          <a:p>
            <a:pPr lvl="1">
              <a:lnSpc>
                <a:spcPct val="80000"/>
              </a:lnSpc>
            </a:pPr>
            <a:r>
              <a:rPr lang="es-ES" altLang="es-PE" sz="2600" b="1" dirty="0"/>
              <a:t>Tubo Bourdon</a:t>
            </a:r>
          </a:p>
          <a:p>
            <a:pPr lvl="1">
              <a:lnSpc>
                <a:spcPct val="80000"/>
              </a:lnSpc>
            </a:pPr>
            <a:endParaRPr lang="es-ES" altLang="es-PE" sz="2000" b="1" dirty="0"/>
          </a:p>
          <a:p>
            <a:pPr lvl="1">
              <a:lnSpc>
                <a:spcPct val="80000"/>
              </a:lnSpc>
            </a:pPr>
            <a:endParaRPr lang="es-ES" altLang="es-PE" sz="2000" b="1" dirty="0"/>
          </a:p>
          <a:p>
            <a:pPr lvl="1">
              <a:lnSpc>
                <a:spcPct val="80000"/>
              </a:lnSpc>
            </a:pPr>
            <a:endParaRPr lang="es-ES" altLang="es-PE" sz="2000" b="1" dirty="0"/>
          </a:p>
          <a:p>
            <a:pPr lvl="1">
              <a:lnSpc>
                <a:spcPct val="80000"/>
              </a:lnSpc>
            </a:pPr>
            <a:endParaRPr lang="es-ES" altLang="es-PE" sz="2000" b="1" dirty="0"/>
          </a:p>
          <a:p>
            <a:pPr lvl="1">
              <a:lnSpc>
                <a:spcPct val="80000"/>
              </a:lnSpc>
            </a:pPr>
            <a:endParaRPr lang="es-ES" altLang="es-PE" sz="2000" b="1" dirty="0"/>
          </a:p>
          <a:p>
            <a:pPr lvl="1">
              <a:lnSpc>
                <a:spcPct val="80000"/>
              </a:lnSpc>
            </a:pPr>
            <a:endParaRPr lang="es-ES" altLang="es-PE" sz="2000" b="1" dirty="0"/>
          </a:p>
          <a:p>
            <a:pPr lvl="1">
              <a:lnSpc>
                <a:spcPct val="80000"/>
              </a:lnSpc>
              <a:buFont typeface="Wingdings" panose="05000000000000000000" pitchFamily="2" charset="2"/>
              <a:buNone/>
            </a:pPr>
            <a:endParaRPr lang="es-ES" altLang="es-PE" sz="3000" b="1" dirty="0"/>
          </a:p>
          <a:p>
            <a:pPr lvl="1"/>
            <a:endParaRPr lang="es-ES" altLang="es-PE" sz="3000" b="1" dirty="0"/>
          </a:p>
          <a:p>
            <a:pPr lvl="1"/>
            <a:endParaRPr lang="es-ES" altLang="es-PE" sz="3000" b="1" dirty="0"/>
          </a:p>
          <a:p>
            <a:pPr lvl="1"/>
            <a:endParaRPr lang="es-ES" altLang="es-PE" sz="3000" b="1" dirty="0"/>
          </a:p>
          <a:p>
            <a:pPr lvl="1"/>
            <a:r>
              <a:rPr lang="es-ES" altLang="es-PE" sz="3000" b="1" dirty="0"/>
              <a:t>Piezoeléctricos: </a:t>
            </a:r>
            <a:r>
              <a:rPr lang="es-ES" altLang="es-PE" sz="2600" dirty="0"/>
              <a:t>El efecto piezoeléctrico descubierto en 1881 por Jacques y Pierre Curie, es un efecto que consiste en la aparición de una polarización eléctrica en un material al deformase bajo la acción de un esfuerzo.</a:t>
            </a:r>
          </a:p>
          <a:p>
            <a:pPr lvl="1">
              <a:buFont typeface="Wingdings" panose="05000000000000000000" pitchFamily="2" charset="2"/>
              <a:buNone/>
            </a:pPr>
            <a:r>
              <a:rPr lang="es-ES" altLang="es-PE" sz="2600" dirty="0"/>
              <a:t>	Materiales piezoeléctricos naturales: cuarzo y la turmalina. </a:t>
            </a:r>
          </a:p>
          <a:p>
            <a:pPr lvl="1">
              <a:buFont typeface="Wingdings" panose="05000000000000000000" pitchFamily="2" charset="2"/>
              <a:buNone/>
            </a:pPr>
            <a:r>
              <a:rPr lang="es-ES" altLang="es-PE" sz="2600" dirty="0"/>
              <a:t>	Sustancias sintéticas: cerámicas.</a:t>
            </a:r>
          </a:p>
        </p:txBody>
      </p:sp>
      <p:sp>
        <p:nvSpPr>
          <p:cNvPr id="2" name="Marcador de número de diapositiva 4">
            <a:extLst>
              <a:ext uri="{FF2B5EF4-FFF2-40B4-BE49-F238E27FC236}">
                <a16:creationId xmlns:a16="http://schemas.microsoft.com/office/drawing/2014/main" id="{064195E1-3A7D-59E4-37B6-F0ED84A25FB4}"/>
              </a:ext>
            </a:extLst>
          </p:cNvPr>
          <p:cNvSpPr>
            <a:spLocks noGrp="1"/>
          </p:cNvSpPr>
          <p:nvPr>
            <p:ph type="sldNum" sz="quarter" idx="4294967295"/>
          </p:nvPr>
        </p:nvSpPr>
        <p:spPr>
          <a:xfrm>
            <a:off x="0" y="0"/>
            <a:ext cx="0" cy="0"/>
          </a:xfrm>
        </p:spPr>
        <p:txBody>
          <a:bodyPr/>
          <a:lstStyle/>
          <a:p>
            <a:fld id="{B9B8F953-7E6E-40E9-A92B-417B6FB0038B}" type="slidenum">
              <a:rPr lang="es-ES" altLang="es-PE"/>
              <a:pPr/>
              <a:t>36</a:t>
            </a:fld>
            <a:endParaRPr lang="es-ES" altLang="es-PE"/>
          </a:p>
        </p:txBody>
      </p:sp>
      <p:grpSp>
        <p:nvGrpSpPr>
          <p:cNvPr id="200708" name="Group 4">
            <a:extLst>
              <a:ext uri="{FF2B5EF4-FFF2-40B4-BE49-F238E27FC236}">
                <a16:creationId xmlns:a16="http://schemas.microsoft.com/office/drawing/2014/main" id="{3DF01E34-F6F0-9A35-DD48-953DEA5440FC}"/>
              </a:ext>
            </a:extLst>
          </p:cNvPr>
          <p:cNvGrpSpPr>
            <a:grpSpLocks/>
          </p:cNvGrpSpPr>
          <p:nvPr/>
        </p:nvGrpSpPr>
        <p:grpSpPr bwMode="auto">
          <a:xfrm>
            <a:off x="1919288" y="2565401"/>
            <a:ext cx="3816350" cy="1800225"/>
            <a:chOff x="2151" y="3473"/>
            <a:chExt cx="5505" cy="2625"/>
          </a:xfrm>
        </p:grpSpPr>
        <p:sp>
          <p:nvSpPr>
            <p:cNvPr id="200709" name="Oval 5">
              <a:extLst>
                <a:ext uri="{FF2B5EF4-FFF2-40B4-BE49-F238E27FC236}">
                  <a16:creationId xmlns:a16="http://schemas.microsoft.com/office/drawing/2014/main" id="{45C7518C-8EF4-EA58-E014-54806464E821}"/>
                </a:ext>
              </a:extLst>
            </p:cNvPr>
            <p:cNvSpPr>
              <a:spLocks noChangeArrowheads="1"/>
            </p:cNvSpPr>
            <p:nvPr/>
          </p:nvSpPr>
          <p:spPr bwMode="auto">
            <a:xfrm>
              <a:off x="3621" y="3473"/>
              <a:ext cx="2280" cy="216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10" name="Oval 6">
              <a:extLst>
                <a:ext uri="{FF2B5EF4-FFF2-40B4-BE49-F238E27FC236}">
                  <a16:creationId xmlns:a16="http://schemas.microsoft.com/office/drawing/2014/main" id="{3680C90F-26A9-6C31-14A9-F6BD58014652}"/>
                </a:ext>
              </a:extLst>
            </p:cNvPr>
            <p:cNvSpPr>
              <a:spLocks noChangeArrowheads="1"/>
            </p:cNvSpPr>
            <p:nvPr/>
          </p:nvSpPr>
          <p:spPr bwMode="auto">
            <a:xfrm>
              <a:off x="3816" y="3638"/>
              <a:ext cx="1920" cy="180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11" name="Oval 7">
              <a:extLst>
                <a:ext uri="{FF2B5EF4-FFF2-40B4-BE49-F238E27FC236}">
                  <a16:creationId xmlns:a16="http://schemas.microsoft.com/office/drawing/2014/main" id="{BE1A68BE-22F9-BB90-3870-EC31DB831C7A}"/>
                </a:ext>
              </a:extLst>
            </p:cNvPr>
            <p:cNvSpPr>
              <a:spLocks noChangeArrowheads="1"/>
            </p:cNvSpPr>
            <p:nvPr/>
          </p:nvSpPr>
          <p:spPr bwMode="auto">
            <a:xfrm>
              <a:off x="4311" y="4058"/>
              <a:ext cx="960" cy="90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12" name="Oval 8">
              <a:extLst>
                <a:ext uri="{FF2B5EF4-FFF2-40B4-BE49-F238E27FC236}">
                  <a16:creationId xmlns:a16="http://schemas.microsoft.com/office/drawing/2014/main" id="{44C5742D-8DCB-B378-9F5B-F234A7F904ED}"/>
                </a:ext>
              </a:extLst>
            </p:cNvPr>
            <p:cNvSpPr>
              <a:spLocks noChangeArrowheads="1"/>
            </p:cNvSpPr>
            <p:nvPr/>
          </p:nvSpPr>
          <p:spPr bwMode="auto">
            <a:xfrm>
              <a:off x="4431" y="4163"/>
              <a:ext cx="720" cy="69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13" name="Rectangle 9">
              <a:extLst>
                <a:ext uri="{FF2B5EF4-FFF2-40B4-BE49-F238E27FC236}">
                  <a16:creationId xmlns:a16="http://schemas.microsoft.com/office/drawing/2014/main" id="{EFE45047-0878-E9BD-83E4-F109BBA5EC78}"/>
                </a:ext>
              </a:extLst>
            </p:cNvPr>
            <p:cNvSpPr>
              <a:spLocks noChangeArrowheads="1"/>
            </p:cNvSpPr>
            <p:nvPr/>
          </p:nvSpPr>
          <p:spPr bwMode="auto">
            <a:xfrm>
              <a:off x="4686" y="4373"/>
              <a:ext cx="600" cy="720"/>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14" name="Rectangle 10">
              <a:extLst>
                <a:ext uri="{FF2B5EF4-FFF2-40B4-BE49-F238E27FC236}">
                  <a16:creationId xmlns:a16="http://schemas.microsoft.com/office/drawing/2014/main" id="{F82ADF3E-41D7-C45C-85EF-D2BDA94B4669}"/>
                </a:ext>
              </a:extLst>
            </p:cNvPr>
            <p:cNvSpPr>
              <a:spLocks noChangeArrowheads="1"/>
            </p:cNvSpPr>
            <p:nvPr/>
          </p:nvSpPr>
          <p:spPr bwMode="auto">
            <a:xfrm>
              <a:off x="3981" y="5243"/>
              <a:ext cx="1680" cy="540"/>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15" name="Line 11">
              <a:extLst>
                <a:ext uri="{FF2B5EF4-FFF2-40B4-BE49-F238E27FC236}">
                  <a16:creationId xmlns:a16="http://schemas.microsoft.com/office/drawing/2014/main" id="{5465F252-059C-B3E5-D1F5-C0874BA21E72}"/>
                </a:ext>
              </a:extLst>
            </p:cNvPr>
            <p:cNvSpPr>
              <a:spLocks noChangeShapeType="1"/>
            </p:cNvSpPr>
            <p:nvPr/>
          </p:nvSpPr>
          <p:spPr bwMode="auto">
            <a:xfrm>
              <a:off x="4191" y="5228"/>
              <a:ext cx="12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16" name="Line 12">
              <a:extLst>
                <a:ext uri="{FF2B5EF4-FFF2-40B4-BE49-F238E27FC236}">
                  <a16:creationId xmlns:a16="http://schemas.microsoft.com/office/drawing/2014/main" id="{DCCEA84A-03BD-5B0E-0596-59830D49B137}"/>
                </a:ext>
              </a:extLst>
            </p:cNvPr>
            <p:cNvSpPr>
              <a:spLocks noChangeShapeType="1"/>
            </p:cNvSpPr>
            <p:nvPr/>
          </p:nvSpPr>
          <p:spPr bwMode="auto">
            <a:xfrm>
              <a:off x="3996" y="5363"/>
              <a:ext cx="156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17" name="Line 13">
              <a:extLst>
                <a:ext uri="{FF2B5EF4-FFF2-40B4-BE49-F238E27FC236}">
                  <a16:creationId xmlns:a16="http://schemas.microsoft.com/office/drawing/2014/main" id="{16F7F738-FE4F-607C-58C6-68C2A85A6855}"/>
                </a:ext>
              </a:extLst>
            </p:cNvPr>
            <p:cNvSpPr>
              <a:spLocks noChangeShapeType="1"/>
            </p:cNvSpPr>
            <p:nvPr/>
          </p:nvSpPr>
          <p:spPr bwMode="auto">
            <a:xfrm>
              <a:off x="4821" y="4838"/>
              <a:ext cx="0" cy="54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18" name="Rectangle 14">
              <a:extLst>
                <a:ext uri="{FF2B5EF4-FFF2-40B4-BE49-F238E27FC236}">
                  <a16:creationId xmlns:a16="http://schemas.microsoft.com/office/drawing/2014/main" id="{7804CA5A-3EE9-D56B-1A1F-83C3B121B138}"/>
                </a:ext>
              </a:extLst>
            </p:cNvPr>
            <p:cNvSpPr>
              <a:spLocks noChangeArrowheads="1"/>
            </p:cNvSpPr>
            <p:nvPr/>
          </p:nvSpPr>
          <p:spPr bwMode="auto">
            <a:xfrm>
              <a:off x="4701" y="5183"/>
              <a:ext cx="120" cy="180"/>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19" name="Line 15">
              <a:extLst>
                <a:ext uri="{FF2B5EF4-FFF2-40B4-BE49-F238E27FC236}">
                  <a16:creationId xmlns:a16="http://schemas.microsoft.com/office/drawing/2014/main" id="{E12BECED-7469-15E6-4C5A-07BD1F386A02}"/>
                </a:ext>
              </a:extLst>
            </p:cNvPr>
            <p:cNvSpPr>
              <a:spLocks noChangeShapeType="1"/>
            </p:cNvSpPr>
            <p:nvPr/>
          </p:nvSpPr>
          <p:spPr bwMode="auto">
            <a:xfrm>
              <a:off x="4686" y="4913"/>
              <a:ext cx="15" cy="46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20" name="Line 16">
              <a:extLst>
                <a:ext uri="{FF2B5EF4-FFF2-40B4-BE49-F238E27FC236}">
                  <a16:creationId xmlns:a16="http://schemas.microsoft.com/office/drawing/2014/main" id="{BF1A8DA8-7B66-209C-8CF6-4F4023FDB76D}"/>
                </a:ext>
              </a:extLst>
            </p:cNvPr>
            <p:cNvSpPr>
              <a:spLocks noChangeShapeType="1"/>
            </p:cNvSpPr>
            <p:nvPr/>
          </p:nvSpPr>
          <p:spPr bwMode="auto">
            <a:xfrm flipH="1">
              <a:off x="4701" y="4838"/>
              <a:ext cx="1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21" name="Line 17">
              <a:extLst>
                <a:ext uri="{FF2B5EF4-FFF2-40B4-BE49-F238E27FC236}">
                  <a16:creationId xmlns:a16="http://schemas.microsoft.com/office/drawing/2014/main" id="{5450AAB6-7022-E1D2-239B-F6419A214AF5}"/>
                </a:ext>
              </a:extLst>
            </p:cNvPr>
            <p:cNvSpPr>
              <a:spLocks noChangeShapeType="1"/>
            </p:cNvSpPr>
            <p:nvPr/>
          </p:nvSpPr>
          <p:spPr bwMode="auto">
            <a:xfrm>
              <a:off x="5121" y="4358"/>
              <a:ext cx="1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22" name="Rectangle 18">
              <a:extLst>
                <a:ext uri="{FF2B5EF4-FFF2-40B4-BE49-F238E27FC236}">
                  <a16:creationId xmlns:a16="http://schemas.microsoft.com/office/drawing/2014/main" id="{7BD87C94-368D-A0DD-13D5-A90F0A3E297C}"/>
                </a:ext>
              </a:extLst>
            </p:cNvPr>
            <p:cNvSpPr>
              <a:spLocks noChangeArrowheads="1"/>
            </p:cNvSpPr>
            <p:nvPr/>
          </p:nvSpPr>
          <p:spPr bwMode="auto">
            <a:xfrm>
              <a:off x="4896" y="5093"/>
              <a:ext cx="120" cy="180"/>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23" name="Line 19">
              <a:extLst>
                <a:ext uri="{FF2B5EF4-FFF2-40B4-BE49-F238E27FC236}">
                  <a16:creationId xmlns:a16="http://schemas.microsoft.com/office/drawing/2014/main" id="{29818CD8-9046-195C-C442-A2DF8A52E849}"/>
                </a:ext>
              </a:extLst>
            </p:cNvPr>
            <p:cNvSpPr>
              <a:spLocks noChangeShapeType="1"/>
            </p:cNvSpPr>
            <p:nvPr/>
          </p:nvSpPr>
          <p:spPr bwMode="auto">
            <a:xfrm flipV="1">
              <a:off x="4881" y="4673"/>
              <a:ext cx="0" cy="54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24" name="Line 20">
              <a:extLst>
                <a:ext uri="{FF2B5EF4-FFF2-40B4-BE49-F238E27FC236}">
                  <a16:creationId xmlns:a16="http://schemas.microsoft.com/office/drawing/2014/main" id="{13A84A34-D64F-8D00-6026-D8266E2C585C}"/>
                </a:ext>
              </a:extLst>
            </p:cNvPr>
            <p:cNvSpPr>
              <a:spLocks noChangeShapeType="1"/>
            </p:cNvSpPr>
            <p:nvPr/>
          </p:nvSpPr>
          <p:spPr bwMode="auto">
            <a:xfrm>
              <a:off x="4896" y="4658"/>
              <a:ext cx="1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25" name="Line 21">
              <a:extLst>
                <a:ext uri="{FF2B5EF4-FFF2-40B4-BE49-F238E27FC236}">
                  <a16:creationId xmlns:a16="http://schemas.microsoft.com/office/drawing/2014/main" id="{2D7B8826-4416-55DF-48F4-E8994643C824}"/>
                </a:ext>
              </a:extLst>
            </p:cNvPr>
            <p:cNvSpPr>
              <a:spLocks noChangeShapeType="1"/>
            </p:cNvSpPr>
            <p:nvPr/>
          </p:nvSpPr>
          <p:spPr bwMode="auto">
            <a:xfrm flipV="1">
              <a:off x="5001" y="4838"/>
              <a:ext cx="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26" name="Line 22">
              <a:extLst>
                <a:ext uri="{FF2B5EF4-FFF2-40B4-BE49-F238E27FC236}">
                  <a16:creationId xmlns:a16="http://schemas.microsoft.com/office/drawing/2014/main" id="{7999B909-3313-8B1E-BA83-B4ED0F27EE46}"/>
                </a:ext>
              </a:extLst>
            </p:cNvPr>
            <p:cNvSpPr>
              <a:spLocks noChangeShapeType="1"/>
            </p:cNvSpPr>
            <p:nvPr/>
          </p:nvSpPr>
          <p:spPr bwMode="auto">
            <a:xfrm>
              <a:off x="4986" y="4838"/>
              <a:ext cx="1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27" name="Line 23">
              <a:extLst>
                <a:ext uri="{FF2B5EF4-FFF2-40B4-BE49-F238E27FC236}">
                  <a16:creationId xmlns:a16="http://schemas.microsoft.com/office/drawing/2014/main" id="{35E460CF-FB80-C74C-9CA6-1E5D7D1C56A2}"/>
                </a:ext>
              </a:extLst>
            </p:cNvPr>
            <p:cNvSpPr>
              <a:spLocks noChangeShapeType="1"/>
            </p:cNvSpPr>
            <p:nvPr/>
          </p:nvSpPr>
          <p:spPr bwMode="auto">
            <a:xfrm>
              <a:off x="5001" y="46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28" name="Line 24">
              <a:extLst>
                <a:ext uri="{FF2B5EF4-FFF2-40B4-BE49-F238E27FC236}">
                  <a16:creationId xmlns:a16="http://schemas.microsoft.com/office/drawing/2014/main" id="{8A186023-AE9B-6205-1531-6BC0EFC39A05}"/>
                </a:ext>
              </a:extLst>
            </p:cNvPr>
            <p:cNvSpPr>
              <a:spLocks noChangeShapeType="1"/>
            </p:cNvSpPr>
            <p:nvPr/>
          </p:nvSpPr>
          <p:spPr bwMode="auto">
            <a:xfrm flipV="1">
              <a:off x="4941" y="4298"/>
              <a:ext cx="60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29" name="Line 25">
              <a:extLst>
                <a:ext uri="{FF2B5EF4-FFF2-40B4-BE49-F238E27FC236}">
                  <a16:creationId xmlns:a16="http://schemas.microsoft.com/office/drawing/2014/main" id="{836D1216-F0F3-F12A-7522-6D9A1193A200}"/>
                </a:ext>
              </a:extLst>
            </p:cNvPr>
            <p:cNvSpPr>
              <a:spLocks noChangeShapeType="1"/>
            </p:cNvSpPr>
            <p:nvPr/>
          </p:nvSpPr>
          <p:spPr bwMode="auto">
            <a:xfrm flipV="1">
              <a:off x="5076" y="4508"/>
              <a:ext cx="60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30" name="Line 26">
              <a:extLst>
                <a:ext uri="{FF2B5EF4-FFF2-40B4-BE49-F238E27FC236}">
                  <a16:creationId xmlns:a16="http://schemas.microsoft.com/office/drawing/2014/main" id="{CE7947C3-68F5-ADFB-F90F-5C8BD749C54E}"/>
                </a:ext>
              </a:extLst>
            </p:cNvPr>
            <p:cNvSpPr>
              <a:spLocks noChangeShapeType="1"/>
            </p:cNvSpPr>
            <p:nvPr/>
          </p:nvSpPr>
          <p:spPr bwMode="auto">
            <a:xfrm>
              <a:off x="5541" y="429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31" name="Rectangle 27">
              <a:extLst>
                <a:ext uri="{FF2B5EF4-FFF2-40B4-BE49-F238E27FC236}">
                  <a16:creationId xmlns:a16="http://schemas.microsoft.com/office/drawing/2014/main" id="{193F0E55-D8FA-131F-200A-C661774B76F2}"/>
                </a:ext>
              </a:extLst>
            </p:cNvPr>
            <p:cNvSpPr>
              <a:spLocks noChangeArrowheads="1"/>
            </p:cNvSpPr>
            <p:nvPr/>
          </p:nvSpPr>
          <p:spPr bwMode="auto">
            <a:xfrm>
              <a:off x="3501" y="4298"/>
              <a:ext cx="600" cy="180"/>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32" name="Line 28">
              <a:extLst>
                <a:ext uri="{FF2B5EF4-FFF2-40B4-BE49-F238E27FC236}">
                  <a16:creationId xmlns:a16="http://schemas.microsoft.com/office/drawing/2014/main" id="{7803EACC-C3CD-D480-5295-6B8EBB9A9842}"/>
                </a:ext>
              </a:extLst>
            </p:cNvPr>
            <p:cNvSpPr>
              <a:spLocks noChangeShapeType="1"/>
            </p:cNvSpPr>
            <p:nvPr/>
          </p:nvSpPr>
          <p:spPr bwMode="auto">
            <a:xfrm>
              <a:off x="3621" y="4298"/>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33" name="Line 29">
              <a:extLst>
                <a:ext uri="{FF2B5EF4-FFF2-40B4-BE49-F238E27FC236}">
                  <a16:creationId xmlns:a16="http://schemas.microsoft.com/office/drawing/2014/main" id="{2C595DD5-209B-BE6A-F431-9DA2A2BAD1CD}"/>
                </a:ext>
              </a:extLst>
            </p:cNvPr>
            <p:cNvSpPr>
              <a:spLocks noChangeShapeType="1"/>
            </p:cNvSpPr>
            <p:nvPr/>
          </p:nvSpPr>
          <p:spPr bwMode="auto">
            <a:xfrm>
              <a:off x="3606" y="4478"/>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34" name="Rectangle 30">
              <a:extLst>
                <a:ext uri="{FF2B5EF4-FFF2-40B4-BE49-F238E27FC236}">
                  <a16:creationId xmlns:a16="http://schemas.microsoft.com/office/drawing/2014/main" id="{13C6351A-02EC-EF61-4229-F4210DF4A6E9}"/>
                </a:ext>
              </a:extLst>
            </p:cNvPr>
            <p:cNvSpPr>
              <a:spLocks noChangeArrowheads="1"/>
            </p:cNvSpPr>
            <p:nvPr/>
          </p:nvSpPr>
          <p:spPr bwMode="auto">
            <a:xfrm>
              <a:off x="5016" y="5108"/>
              <a:ext cx="120" cy="36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35" name="Rectangle 31">
              <a:extLst>
                <a:ext uri="{FF2B5EF4-FFF2-40B4-BE49-F238E27FC236}">
                  <a16:creationId xmlns:a16="http://schemas.microsoft.com/office/drawing/2014/main" id="{8CA5A593-6209-986C-5628-D91169C3CD70}"/>
                </a:ext>
              </a:extLst>
            </p:cNvPr>
            <p:cNvSpPr>
              <a:spLocks noChangeArrowheads="1"/>
            </p:cNvSpPr>
            <p:nvPr/>
          </p:nvSpPr>
          <p:spPr bwMode="auto">
            <a:xfrm>
              <a:off x="5316" y="5108"/>
              <a:ext cx="120" cy="36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36" name="Rectangle 32">
              <a:extLst>
                <a:ext uri="{FF2B5EF4-FFF2-40B4-BE49-F238E27FC236}">
                  <a16:creationId xmlns:a16="http://schemas.microsoft.com/office/drawing/2014/main" id="{C513DA47-4631-99B8-B5E7-D4D93D06BF5D}"/>
                </a:ext>
              </a:extLst>
            </p:cNvPr>
            <p:cNvSpPr>
              <a:spLocks noChangeArrowheads="1"/>
            </p:cNvSpPr>
            <p:nvPr/>
          </p:nvSpPr>
          <p:spPr bwMode="auto">
            <a:xfrm>
              <a:off x="5166" y="5108"/>
              <a:ext cx="120" cy="36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37" name="Freeform 33">
              <a:extLst>
                <a:ext uri="{FF2B5EF4-FFF2-40B4-BE49-F238E27FC236}">
                  <a16:creationId xmlns:a16="http://schemas.microsoft.com/office/drawing/2014/main" id="{BDB8EBEA-DDD8-EE74-E2D6-1BE2C0E6D815}"/>
                </a:ext>
              </a:extLst>
            </p:cNvPr>
            <p:cNvSpPr>
              <a:spLocks/>
            </p:cNvSpPr>
            <p:nvPr/>
          </p:nvSpPr>
          <p:spPr bwMode="auto">
            <a:xfrm>
              <a:off x="5004" y="4320"/>
              <a:ext cx="246" cy="240"/>
            </a:xfrm>
            <a:custGeom>
              <a:avLst/>
              <a:gdLst>
                <a:gd name="T0" fmla="*/ 36 w 246"/>
                <a:gd name="T1" fmla="*/ 240 h 240"/>
                <a:gd name="T2" fmla="*/ 36 w 246"/>
                <a:gd name="T3" fmla="*/ 150 h 240"/>
                <a:gd name="T4" fmla="*/ 111 w 246"/>
                <a:gd name="T5" fmla="*/ 165 h 240"/>
                <a:gd name="T6" fmla="*/ 141 w 246"/>
                <a:gd name="T7" fmla="*/ 210 h 240"/>
                <a:gd name="T8" fmla="*/ 96 w 246"/>
                <a:gd name="T9" fmla="*/ 225 h 240"/>
                <a:gd name="T10" fmla="*/ 81 w 246"/>
                <a:gd name="T11" fmla="*/ 180 h 240"/>
                <a:gd name="T12" fmla="*/ 51 w 246"/>
                <a:gd name="T13" fmla="*/ 135 h 240"/>
                <a:gd name="T14" fmla="*/ 186 w 246"/>
                <a:gd name="T15" fmla="*/ 90 h 240"/>
                <a:gd name="T16" fmla="*/ 201 w 246"/>
                <a:gd name="T17" fmla="*/ 135 h 240"/>
                <a:gd name="T18" fmla="*/ 156 w 246"/>
                <a:gd name="T19" fmla="*/ 150 h 240"/>
                <a:gd name="T20" fmla="*/ 141 w 246"/>
                <a:gd name="T21" fmla="*/ 105 h 240"/>
                <a:gd name="T22" fmla="*/ 216 w 246"/>
                <a:gd name="T23" fmla="*/ 30 h 240"/>
                <a:gd name="T24" fmla="*/ 246 w 246"/>
                <a:gd name="T25" fmla="*/ 75 h 240"/>
                <a:gd name="T26" fmla="*/ 186 w 246"/>
                <a:gd name="T27"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6" h="240">
                  <a:moveTo>
                    <a:pt x="36" y="240"/>
                  </a:moveTo>
                  <a:cubicBezTo>
                    <a:pt x="32" y="228"/>
                    <a:pt x="0" y="162"/>
                    <a:pt x="36" y="150"/>
                  </a:cubicBezTo>
                  <a:cubicBezTo>
                    <a:pt x="60" y="142"/>
                    <a:pt x="86" y="160"/>
                    <a:pt x="111" y="165"/>
                  </a:cubicBezTo>
                  <a:cubicBezTo>
                    <a:pt x="121" y="180"/>
                    <a:pt x="145" y="193"/>
                    <a:pt x="141" y="210"/>
                  </a:cubicBezTo>
                  <a:cubicBezTo>
                    <a:pt x="137" y="225"/>
                    <a:pt x="110" y="232"/>
                    <a:pt x="96" y="225"/>
                  </a:cubicBezTo>
                  <a:cubicBezTo>
                    <a:pt x="82" y="218"/>
                    <a:pt x="88" y="194"/>
                    <a:pt x="81" y="180"/>
                  </a:cubicBezTo>
                  <a:cubicBezTo>
                    <a:pt x="73" y="164"/>
                    <a:pt x="61" y="150"/>
                    <a:pt x="51" y="135"/>
                  </a:cubicBezTo>
                  <a:cubicBezTo>
                    <a:pt x="107" y="79"/>
                    <a:pt x="110" y="65"/>
                    <a:pt x="186" y="90"/>
                  </a:cubicBezTo>
                  <a:cubicBezTo>
                    <a:pt x="191" y="105"/>
                    <a:pt x="208" y="121"/>
                    <a:pt x="201" y="135"/>
                  </a:cubicBezTo>
                  <a:cubicBezTo>
                    <a:pt x="194" y="149"/>
                    <a:pt x="170" y="157"/>
                    <a:pt x="156" y="150"/>
                  </a:cubicBezTo>
                  <a:cubicBezTo>
                    <a:pt x="142" y="143"/>
                    <a:pt x="146" y="120"/>
                    <a:pt x="141" y="105"/>
                  </a:cubicBezTo>
                  <a:cubicBezTo>
                    <a:pt x="150" y="68"/>
                    <a:pt x="147" y="7"/>
                    <a:pt x="216" y="30"/>
                  </a:cubicBezTo>
                  <a:cubicBezTo>
                    <a:pt x="233" y="36"/>
                    <a:pt x="236" y="60"/>
                    <a:pt x="246" y="75"/>
                  </a:cubicBezTo>
                  <a:cubicBezTo>
                    <a:pt x="170" y="100"/>
                    <a:pt x="186" y="92"/>
                    <a:pt x="186" y="0"/>
                  </a:cubicBez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38" name="Freeform 34">
              <a:extLst>
                <a:ext uri="{FF2B5EF4-FFF2-40B4-BE49-F238E27FC236}">
                  <a16:creationId xmlns:a16="http://schemas.microsoft.com/office/drawing/2014/main" id="{14727AD5-3CBC-8F4D-5A86-07EFE8EE3100}"/>
                </a:ext>
              </a:extLst>
            </p:cNvPr>
            <p:cNvSpPr>
              <a:spLocks/>
            </p:cNvSpPr>
            <p:nvPr/>
          </p:nvSpPr>
          <p:spPr bwMode="auto">
            <a:xfrm>
              <a:off x="5062" y="4770"/>
              <a:ext cx="203" cy="345"/>
            </a:xfrm>
            <a:custGeom>
              <a:avLst/>
              <a:gdLst>
                <a:gd name="T0" fmla="*/ 128 w 203"/>
                <a:gd name="T1" fmla="*/ 0 h 345"/>
                <a:gd name="T2" fmla="*/ 68 w 203"/>
                <a:gd name="T3" fmla="*/ 75 h 345"/>
                <a:gd name="T4" fmla="*/ 113 w 203"/>
                <a:gd name="T5" fmla="*/ 90 h 345"/>
                <a:gd name="T6" fmla="*/ 158 w 203"/>
                <a:gd name="T7" fmla="*/ 120 h 345"/>
                <a:gd name="T8" fmla="*/ 203 w 203"/>
                <a:gd name="T9" fmla="*/ 105 h 345"/>
                <a:gd name="T10" fmla="*/ 158 w 203"/>
                <a:gd name="T11" fmla="*/ 90 h 345"/>
                <a:gd name="T12" fmla="*/ 68 w 203"/>
                <a:gd name="T13" fmla="*/ 105 h 345"/>
                <a:gd name="T14" fmla="*/ 53 w 203"/>
                <a:gd name="T15" fmla="*/ 150 h 345"/>
                <a:gd name="T16" fmla="*/ 158 w 203"/>
                <a:gd name="T17" fmla="*/ 240 h 345"/>
                <a:gd name="T18" fmla="*/ 143 w 203"/>
                <a:gd name="T19" fmla="*/ 195 h 345"/>
                <a:gd name="T20" fmla="*/ 8 w 203"/>
                <a:gd name="T21" fmla="*/ 255 h 345"/>
                <a:gd name="T22" fmla="*/ 68 w 203"/>
                <a:gd name="T23" fmla="*/ 315 h 345"/>
                <a:gd name="T24" fmla="*/ 83 w 203"/>
                <a:gd name="T25" fmla="*/ 270 h 345"/>
                <a:gd name="T26" fmla="*/ 38 w 203"/>
                <a:gd name="T27" fmla="*/ 255 h 345"/>
                <a:gd name="T28" fmla="*/ 8 w 203"/>
                <a:gd name="T29" fmla="*/ 345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3" h="345">
                  <a:moveTo>
                    <a:pt x="128" y="0"/>
                  </a:moveTo>
                  <a:cubicBezTo>
                    <a:pt x="114" y="9"/>
                    <a:pt x="50" y="39"/>
                    <a:pt x="68" y="75"/>
                  </a:cubicBezTo>
                  <a:cubicBezTo>
                    <a:pt x="75" y="89"/>
                    <a:pt x="99" y="83"/>
                    <a:pt x="113" y="90"/>
                  </a:cubicBezTo>
                  <a:cubicBezTo>
                    <a:pt x="129" y="98"/>
                    <a:pt x="143" y="110"/>
                    <a:pt x="158" y="120"/>
                  </a:cubicBezTo>
                  <a:cubicBezTo>
                    <a:pt x="173" y="115"/>
                    <a:pt x="203" y="121"/>
                    <a:pt x="203" y="105"/>
                  </a:cubicBezTo>
                  <a:cubicBezTo>
                    <a:pt x="203" y="89"/>
                    <a:pt x="174" y="90"/>
                    <a:pt x="158" y="90"/>
                  </a:cubicBezTo>
                  <a:cubicBezTo>
                    <a:pt x="128" y="90"/>
                    <a:pt x="98" y="100"/>
                    <a:pt x="68" y="105"/>
                  </a:cubicBezTo>
                  <a:cubicBezTo>
                    <a:pt x="63" y="120"/>
                    <a:pt x="53" y="134"/>
                    <a:pt x="53" y="150"/>
                  </a:cubicBezTo>
                  <a:cubicBezTo>
                    <a:pt x="53" y="211"/>
                    <a:pt x="113" y="225"/>
                    <a:pt x="158" y="240"/>
                  </a:cubicBezTo>
                  <a:cubicBezTo>
                    <a:pt x="153" y="225"/>
                    <a:pt x="158" y="199"/>
                    <a:pt x="143" y="195"/>
                  </a:cubicBezTo>
                  <a:cubicBezTo>
                    <a:pt x="48" y="171"/>
                    <a:pt x="44" y="202"/>
                    <a:pt x="8" y="255"/>
                  </a:cubicBezTo>
                  <a:cubicBezTo>
                    <a:pt x="14" y="272"/>
                    <a:pt x="22" y="338"/>
                    <a:pt x="68" y="315"/>
                  </a:cubicBezTo>
                  <a:cubicBezTo>
                    <a:pt x="82" y="308"/>
                    <a:pt x="78" y="285"/>
                    <a:pt x="83" y="270"/>
                  </a:cubicBezTo>
                  <a:cubicBezTo>
                    <a:pt x="68" y="265"/>
                    <a:pt x="53" y="249"/>
                    <a:pt x="38" y="255"/>
                  </a:cubicBezTo>
                  <a:cubicBezTo>
                    <a:pt x="0" y="270"/>
                    <a:pt x="8" y="317"/>
                    <a:pt x="8" y="345"/>
                  </a:cubicBez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39" name="Freeform 35">
              <a:extLst>
                <a:ext uri="{FF2B5EF4-FFF2-40B4-BE49-F238E27FC236}">
                  <a16:creationId xmlns:a16="http://schemas.microsoft.com/office/drawing/2014/main" id="{8410EBE7-8B3B-083D-1E40-7C077F3B5E70}"/>
                </a:ext>
              </a:extLst>
            </p:cNvPr>
            <p:cNvSpPr>
              <a:spLocks/>
            </p:cNvSpPr>
            <p:nvPr/>
          </p:nvSpPr>
          <p:spPr bwMode="auto">
            <a:xfrm>
              <a:off x="5227" y="4703"/>
              <a:ext cx="203" cy="345"/>
            </a:xfrm>
            <a:custGeom>
              <a:avLst/>
              <a:gdLst>
                <a:gd name="T0" fmla="*/ 128 w 203"/>
                <a:gd name="T1" fmla="*/ 0 h 345"/>
                <a:gd name="T2" fmla="*/ 68 w 203"/>
                <a:gd name="T3" fmla="*/ 75 h 345"/>
                <a:gd name="T4" fmla="*/ 113 w 203"/>
                <a:gd name="T5" fmla="*/ 90 h 345"/>
                <a:gd name="T6" fmla="*/ 158 w 203"/>
                <a:gd name="T7" fmla="*/ 120 h 345"/>
                <a:gd name="T8" fmla="*/ 203 w 203"/>
                <a:gd name="T9" fmla="*/ 105 h 345"/>
                <a:gd name="T10" fmla="*/ 158 w 203"/>
                <a:gd name="T11" fmla="*/ 90 h 345"/>
                <a:gd name="T12" fmla="*/ 68 w 203"/>
                <a:gd name="T13" fmla="*/ 105 h 345"/>
                <a:gd name="T14" fmla="*/ 53 w 203"/>
                <a:gd name="T15" fmla="*/ 150 h 345"/>
                <a:gd name="T16" fmla="*/ 158 w 203"/>
                <a:gd name="T17" fmla="*/ 240 h 345"/>
                <a:gd name="T18" fmla="*/ 143 w 203"/>
                <a:gd name="T19" fmla="*/ 195 h 345"/>
                <a:gd name="T20" fmla="*/ 8 w 203"/>
                <a:gd name="T21" fmla="*/ 255 h 345"/>
                <a:gd name="T22" fmla="*/ 68 w 203"/>
                <a:gd name="T23" fmla="*/ 315 h 345"/>
                <a:gd name="T24" fmla="*/ 83 w 203"/>
                <a:gd name="T25" fmla="*/ 270 h 345"/>
                <a:gd name="T26" fmla="*/ 38 w 203"/>
                <a:gd name="T27" fmla="*/ 255 h 345"/>
                <a:gd name="T28" fmla="*/ 8 w 203"/>
                <a:gd name="T29" fmla="*/ 345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3" h="345">
                  <a:moveTo>
                    <a:pt x="128" y="0"/>
                  </a:moveTo>
                  <a:cubicBezTo>
                    <a:pt x="114" y="9"/>
                    <a:pt x="50" y="39"/>
                    <a:pt x="68" y="75"/>
                  </a:cubicBezTo>
                  <a:cubicBezTo>
                    <a:pt x="75" y="89"/>
                    <a:pt x="99" y="83"/>
                    <a:pt x="113" y="90"/>
                  </a:cubicBezTo>
                  <a:cubicBezTo>
                    <a:pt x="129" y="98"/>
                    <a:pt x="143" y="110"/>
                    <a:pt x="158" y="120"/>
                  </a:cubicBezTo>
                  <a:cubicBezTo>
                    <a:pt x="173" y="115"/>
                    <a:pt x="203" y="121"/>
                    <a:pt x="203" y="105"/>
                  </a:cubicBezTo>
                  <a:cubicBezTo>
                    <a:pt x="203" y="89"/>
                    <a:pt x="174" y="90"/>
                    <a:pt x="158" y="90"/>
                  </a:cubicBezTo>
                  <a:cubicBezTo>
                    <a:pt x="128" y="90"/>
                    <a:pt x="98" y="100"/>
                    <a:pt x="68" y="105"/>
                  </a:cubicBezTo>
                  <a:cubicBezTo>
                    <a:pt x="63" y="120"/>
                    <a:pt x="53" y="134"/>
                    <a:pt x="53" y="150"/>
                  </a:cubicBezTo>
                  <a:cubicBezTo>
                    <a:pt x="53" y="211"/>
                    <a:pt x="113" y="225"/>
                    <a:pt x="158" y="240"/>
                  </a:cubicBezTo>
                  <a:cubicBezTo>
                    <a:pt x="153" y="225"/>
                    <a:pt x="158" y="199"/>
                    <a:pt x="143" y="195"/>
                  </a:cubicBezTo>
                  <a:cubicBezTo>
                    <a:pt x="48" y="171"/>
                    <a:pt x="44" y="202"/>
                    <a:pt x="8" y="255"/>
                  </a:cubicBezTo>
                  <a:cubicBezTo>
                    <a:pt x="14" y="272"/>
                    <a:pt x="22" y="338"/>
                    <a:pt x="68" y="315"/>
                  </a:cubicBezTo>
                  <a:cubicBezTo>
                    <a:pt x="82" y="308"/>
                    <a:pt x="78" y="285"/>
                    <a:pt x="83" y="270"/>
                  </a:cubicBezTo>
                  <a:cubicBezTo>
                    <a:pt x="68" y="265"/>
                    <a:pt x="53" y="249"/>
                    <a:pt x="38" y="255"/>
                  </a:cubicBezTo>
                  <a:cubicBezTo>
                    <a:pt x="0" y="270"/>
                    <a:pt x="8" y="317"/>
                    <a:pt x="8" y="345"/>
                  </a:cubicBez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40" name="Freeform 36">
              <a:extLst>
                <a:ext uri="{FF2B5EF4-FFF2-40B4-BE49-F238E27FC236}">
                  <a16:creationId xmlns:a16="http://schemas.microsoft.com/office/drawing/2014/main" id="{A83A7FA2-3D72-0509-ED63-EAFBA0A3AA86}"/>
                </a:ext>
              </a:extLst>
            </p:cNvPr>
            <p:cNvSpPr>
              <a:spLocks/>
            </p:cNvSpPr>
            <p:nvPr/>
          </p:nvSpPr>
          <p:spPr bwMode="auto">
            <a:xfrm>
              <a:off x="5392" y="4658"/>
              <a:ext cx="269" cy="420"/>
            </a:xfrm>
            <a:custGeom>
              <a:avLst/>
              <a:gdLst>
                <a:gd name="T0" fmla="*/ 128 w 203"/>
                <a:gd name="T1" fmla="*/ 0 h 345"/>
                <a:gd name="T2" fmla="*/ 68 w 203"/>
                <a:gd name="T3" fmla="*/ 75 h 345"/>
                <a:gd name="T4" fmla="*/ 113 w 203"/>
                <a:gd name="T5" fmla="*/ 90 h 345"/>
                <a:gd name="T6" fmla="*/ 158 w 203"/>
                <a:gd name="T7" fmla="*/ 120 h 345"/>
                <a:gd name="T8" fmla="*/ 203 w 203"/>
                <a:gd name="T9" fmla="*/ 105 h 345"/>
                <a:gd name="T10" fmla="*/ 158 w 203"/>
                <a:gd name="T11" fmla="*/ 90 h 345"/>
                <a:gd name="T12" fmla="*/ 68 w 203"/>
                <a:gd name="T13" fmla="*/ 105 h 345"/>
                <a:gd name="T14" fmla="*/ 53 w 203"/>
                <a:gd name="T15" fmla="*/ 150 h 345"/>
                <a:gd name="T16" fmla="*/ 158 w 203"/>
                <a:gd name="T17" fmla="*/ 240 h 345"/>
                <a:gd name="T18" fmla="*/ 143 w 203"/>
                <a:gd name="T19" fmla="*/ 195 h 345"/>
                <a:gd name="T20" fmla="*/ 8 w 203"/>
                <a:gd name="T21" fmla="*/ 255 h 345"/>
                <a:gd name="T22" fmla="*/ 68 w 203"/>
                <a:gd name="T23" fmla="*/ 315 h 345"/>
                <a:gd name="T24" fmla="*/ 83 w 203"/>
                <a:gd name="T25" fmla="*/ 270 h 345"/>
                <a:gd name="T26" fmla="*/ 38 w 203"/>
                <a:gd name="T27" fmla="*/ 255 h 345"/>
                <a:gd name="T28" fmla="*/ 8 w 203"/>
                <a:gd name="T29" fmla="*/ 345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3" h="345">
                  <a:moveTo>
                    <a:pt x="128" y="0"/>
                  </a:moveTo>
                  <a:cubicBezTo>
                    <a:pt x="114" y="9"/>
                    <a:pt x="50" y="39"/>
                    <a:pt x="68" y="75"/>
                  </a:cubicBezTo>
                  <a:cubicBezTo>
                    <a:pt x="75" y="89"/>
                    <a:pt x="99" y="83"/>
                    <a:pt x="113" y="90"/>
                  </a:cubicBezTo>
                  <a:cubicBezTo>
                    <a:pt x="129" y="98"/>
                    <a:pt x="143" y="110"/>
                    <a:pt x="158" y="120"/>
                  </a:cubicBezTo>
                  <a:cubicBezTo>
                    <a:pt x="173" y="115"/>
                    <a:pt x="203" y="121"/>
                    <a:pt x="203" y="105"/>
                  </a:cubicBezTo>
                  <a:cubicBezTo>
                    <a:pt x="203" y="89"/>
                    <a:pt x="174" y="90"/>
                    <a:pt x="158" y="90"/>
                  </a:cubicBezTo>
                  <a:cubicBezTo>
                    <a:pt x="128" y="90"/>
                    <a:pt x="98" y="100"/>
                    <a:pt x="68" y="105"/>
                  </a:cubicBezTo>
                  <a:cubicBezTo>
                    <a:pt x="63" y="120"/>
                    <a:pt x="53" y="134"/>
                    <a:pt x="53" y="150"/>
                  </a:cubicBezTo>
                  <a:cubicBezTo>
                    <a:pt x="53" y="211"/>
                    <a:pt x="113" y="225"/>
                    <a:pt x="158" y="240"/>
                  </a:cubicBezTo>
                  <a:cubicBezTo>
                    <a:pt x="153" y="225"/>
                    <a:pt x="158" y="199"/>
                    <a:pt x="143" y="195"/>
                  </a:cubicBezTo>
                  <a:cubicBezTo>
                    <a:pt x="48" y="171"/>
                    <a:pt x="44" y="202"/>
                    <a:pt x="8" y="255"/>
                  </a:cubicBezTo>
                  <a:cubicBezTo>
                    <a:pt x="14" y="272"/>
                    <a:pt x="22" y="338"/>
                    <a:pt x="68" y="315"/>
                  </a:cubicBezTo>
                  <a:cubicBezTo>
                    <a:pt x="82" y="308"/>
                    <a:pt x="78" y="285"/>
                    <a:pt x="83" y="270"/>
                  </a:cubicBezTo>
                  <a:cubicBezTo>
                    <a:pt x="68" y="265"/>
                    <a:pt x="53" y="249"/>
                    <a:pt x="38" y="255"/>
                  </a:cubicBezTo>
                  <a:cubicBezTo>
                    <a:pt x="0" y="270"/>
                    <a:pt x="8" y="317"/>
                    <a:pt x="8" y="345"/>
                  </a:cubicBez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41" name="Text Box 37">
              <a:extLst>
                <a:ext uri="{FF2B5EF4-FFF2-40B4-BE49-F238E27FC236}">
                  <a16:creationId xmlns:a16="http://schemas.microsoft.com/office/drawing/2014/main" id="{D269F3F0-6638-EDDC-038C-4807E1D1D052}"/>
                </a:ext>
              </a:extLst>
            </p:cNvPr>
            <p:cNvSpPr txBox="1">
              <a:spLocks noChangeArrowheads="1"/>
            </p:cNvSpPr>
            <p:nvPr/>
          </p:nvSpPr>
          <p:spPr bwMode="auto">
            <a:xfrm>
              <a:off x="3861" y="5378"/>
              <a:ext cx="1080"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Presión alta</a:t>
              </a:r>
              <a:endParaRPr lang="es-ES_tradnl" altLang="es-PE"/>
            </a:p>
          </p:txBody>
        </p:sp>
        <p:sp>
          <p:nvSpPr>
            <p:cNvPr id="200742" name="Text Box 38">
              <a:extLst>
                <a:ext uri="{FF2B5EF4-FFF2-40B4-BE49-F238E27FC236}">
                  <a16:creationId xmlns:a16="http://schemas.microsoft.com/office/drawing/2014/main" id="{29395BB9-4478-9D26-6DB5-EB6EDCDA24BF}"/>
                </a:ext>
              </a:extLst>
            </p:cNvPr>
            <p:cNvSpPr txBox="1">
              <a:spLocks noChangeArrowheads="1"/>
            </p:cNvSpPr>
            <p:nvPr/>
          </p:nvSpPr>
          <p:spPr bwMode="auto">
            <a:xfrm>
              <a:off x="2661" y="4118"/>
              <a:ext cx="1200"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Presión baja</a:t>
              </a:r>
              <a:endParaRPr lang="es-ES_tradnl" altLang="es-PE"/>
            </a:p>
          </p:txBody>
        </p:sp>
        <p:sp>
          <p:nvSpPr>
            <p:cNvPr id="200743" name="Text Box 39">
              <a:extLst>
                <a:ext uri="{FF2B5EF4-FFF2-40B4-BE49-F238E27FC236}">
                  <a16:creationId xmlns:a16="http://schemas.microsoft.com/office/drawing/2014/main" id="{0FE3B0A8-475F-15E0-2130-7646A3A5D1AA}"/>
                </a:ext>
              </a:extLst>
            </p:cNvPr>
            <p:cNvSpPr txBox="1">
              <a:spLocks noChangeArrowheads="1"/>
            </p:cNvSpPr>
            <p:nvPr/>
          </p:nvSpPr>
          <p:spPr bwMode="auto">
            <a:xfrm>
              <a:off x="2151" y="4838"/>
              <a:ext cx="192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Tubo Bourdon</a:t>
              </a:r>
              <a:endParaRPr lang="es-ES_tradnl" altLang="es-PE"/>
            </a:p>
          </p:txBody>
        </p:sp>
        <p:sp>
          <p:nvSpPr>
            <p:cNvPr id="200744" name="Text Box 40">
              <a:extLst>
                <a:ext uri="{FF2B5EF4-FFF2-40B4-BE49-F238E27FC236}">
                  <a16:creationId xmlns:a16="http://schemas.microsoft.com/office/drawing/2014/main" id="{B0C32760-11D9-7269-01D5-802EBC67CD6B}"/>
                </a:ext>
              </a:extLst>
            </p:cNvPr>
            <p:cNvSpPr txBox="1">
              <a:spLocks noChangeArrowheads="1"/>
            </p:cNvSpPr>
            <p:nvPr/>
          </p:nvSpPr>
          <p:spPr bwMode="auto">
            <a:xfrm>
              <a:off x="5856" y="4028"/>
              <a:ext cx="1800"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Potenciómetro</a:t>
              </a:r>
              <a:endParaRPr lang="es-ES_tradnl" altLang="es-PE"/>
            </a:p>
          </p:txBody>
        </p:sp>
        <p:sp>
          <p:nvSpPr>
            <p:cNvPr id="200745" name="Text Box 41">
              <a:extLst>
                <a:ext uri="{FF2B5EF4-FFF2-40B4-BE49-F238E27FC236}">
                  <a16:creationId xmlns:a16="http://schemas.microsoft.com/office/drawing/2014/main" id="{A5EEA7B8-DDFB-4AB9-0ECB-C077DFD097FD}"/>
                </a:ext>
              </a:extLst>
            </p:cNvPr>
            <p:cNvSpPr txBox="1">
              <a:spLocks noChangeArrowheads="1"/>
            </p:cNvSpPr>
            <p:nvPr/>
          </p:nvSpPr>
          <p:spPr bwMode="auto">
            <a:xfrm>
              <a:off x="4866" y="5378"/>
              <a:ext cx="96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+V-</a:t>
              </a:r>
              <a:endParaRPr lang="es-ES_tradnl" altLang="es-PE"/>
            </a:p>
          </p:txBody>
        </p:sp>
        <p:sp>
          <p:nvSpPr>
            <p:cNvPr id="200746" name="Line 42">
              <a:extLst>
                <a:ext uri="{FF2B5EF4-FFF2-40B4-BE49-F238E27FC236}">
                  <a16:creationId xmlns:a16="http://schemas.microsoft.com/office/drawing/2014/main" id="{25917234-2A7E-3B88-0378-0380DBC1CBE4}"/>
                </a:ext>
              </a:extLst>
            </p:cNvPr>
            <p:cNvSpPr>
              <a:spLocks noChangeShapeType="1"/>
            </p:cNvSpPr>
            <p:nvPr/>
          </p:nvSpPr>
          <p:spPr bwMode="auto">
            <a:xfrm flipH="1">
              <a:off x="5421" y="4298"/>
              <a:ext cx="600" cy="18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0747" name="Line 43">
              <a:extLst>
                <a:ext uri="{FF2B5EF4-FFF2-40B4-BE49-F238E27FC236}">
                  <a16:creationId xmlns:a16="http://schemas.microsoft.com/office/drawing/2014/main" id="{0BABC9D6-DA1E-17CC-7F57-5CD28C615038}"/>
                </a:ext>
              </a:extLst>
            </p:cNvPr>
            <p:cNvSpPr>
              <a:spLocks noChangeShapeType="1"/>
            </p:cNvSpPr>
            <p:nvPr/>
          </p:nvSpPr>
          <p:spPr bwMode="auto">
            <a:xfrm flipV="1">
              <a:off x="3621" y="4658"/>
              <a:ext cx="720" cy="36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sp>
        <p:nvSpPr>
          <p:cNvPr id="200748" name="Text Box 44">
            <a:extLst>
              <a:ext uri="{FF2B5EF4-FFF2-40B4-BE49-F238E27FC236}">
                <a16:creationId xmlns:a16="http://schemas.microsoft.com/office/drawing/2014/main" id="{E6A70A73-A28E-C5F9-549C-891E03E8B3A1}"/>
              </a:ext>
            </a:extLst>
          </p:cNvPr>
          <p:cNvSpPr txBox="1">
            <a:spLocks noChangeArrowheads="1"/>
          </p:cNvSpPr>
          <p:nvPr/>
        </p:nvSpPr>
        <p:spPr bwMode="auto">
          <a:xfrm>
            <a:off x="5777467" y="1389055"/>
            <a:ext cx="532745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s-ES" altLang="es-PE" sz="2400" dirty="0"/>
              <a:t>Tubo metálico de sección transversal no circular, obtenido a base de aplanar un tubo de sección circular, que tiende a recuperara dicha forma cuando se aplica una diferencia de presión entre el interior y el exterior. La señal eléctrica se obtiene mediante un sensor de desplazamiento.</a:t>
            </a:r>
            <a:endParaRPr lang="es-ES_tradnl" altLang="es-PE"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FC1AED31-2D93-3B77-4288-509F5D580E61}"/>
              </a:ext>
            </a:extLst>
          </p:cNvPr>
          <p:cNvSpPr>
            <a:spLocks noGrp="1" noChangeArrowheads="1"/>
          </p:cNvSpPr>
          <p:nvPr>
            <p:ph type="title"/>
          </p:nvPr>
        </p:nvSpPr>
        <p:spPr/>
        <p:txBody>
          <a:bodyPr/>
          <a:lstStyle/>
          <a:p>
            <a:r>
              <a:rPr lang="es-ES" altLang="es-PE" sz="4000"/>
              <a:t>SENSORES Y TRANSDUCTORES</a:t>
            </a:r>
          </a:p>
        </p:txBody>
      </p:sp>
      <p:sp>
        <p:nvSpPr>
          <p:cNvPr id="201731" name="Rectangle 3">
            <a:extLst>
              <a:ext uri="{FF2B5EF4-FFF2-40B4-BE49-F238E27FC236}">
                <a16:creationId xmlns:a16="http://schemas.microsoft.com/office/drawing/2014/main" id="{D29A9400-B3B0-DF93-0CCA-3DB2080397C6}"/>
              </a:ext>
            </a:extLst>
          </p:cNvPr>
          <p:cNvSpPr>
            <a:spLocks noGrp="1" noChangeArrowheads="1"/>
          </p:cNvSpPr>
          <p:nvPr>
            <p:ph idx="1"/>
          </p:nvPr>
        </p:nvSpPr>
        <p:spPr/>
        <p:txBody>
          <a:bodyPr/>
          <a:lstStyle/>
          <a:p>
            <a:pPr>
              <a:lnSpc>
                <a:spcPct val="80000"/>
              </a:lnSpc>
            </a:pPr>
            <a:r>
              <a:rPr lang="es-ES" altLang="es-PE" sz="2400"/>
              <a:t>Sistemas electrónicos de medida y regulación</a:t>
            </a:r>
          </a:p>
          <a:p>
            <a:pPr>
              <a:lnSpc>
                <a:spcPct val="80000"/>
              </a:lnSpc>
            </a:pPr>
            <a:r>
              <a:rPr lang="es-ES" altLang="es-PE" sz="2400"/>
              <a:t>Sensores y transductores</a:t>
            </a:r>
          </a:p>
          <a:p>
            <a:pPr>
              <a:lnSpc>
                <a:spcPct val="80000"/>
              </a:lnSpc>
            </a:pPr>
            <a:r>
              <a:rPr lang="es-ES" altLang="es-PE" sz="2400"/>
              <a:t>Sensores de posición, distancia y desplazamiento</a:t>
            </a:r>
          </a:p>
          <a:p>
            <a:pPr>
              <a:lnSpc>
                <a:spcPct val="80000"/>
              </a:lnSpc>
            </a:pPr>
            <a:r>
              <a:rPr lang="es-ES" altLang="es-PE" sz="2400"/>
              <a:t>Sensores de temperatura</a:t>
            </a:r>
          </a:p>
          <a:p>
            <a:pPr>
              <a:lnSpc>
                <a:spcPct val="80000"/>
              </a:lnSpc>
            </a:pPr>
            <a:r>
              <a:rPr lang="es-ES" altLang="es-PE" sz="2400"/>
              <a:t>Sensores de velocidad</a:t>
            </a:r>
          </a:p>
          <a:p>
            <a:pPr>
              <a:lnSpc>
                <a:spcPct val="80000"/>
              </a:lnSpc>
            </a:pPr>
            <a:r>
              <a:rPr lang="es-ES" altLang="es-PE" sz="2400"/>
              <a:t>Sensores de presión</a:t>
            </a:r>
          </a:p>
          <a:p>
            <a:pPr>
              <a:lnSpc>
                <a:spcPct val="80000"/>
              </a:lnSpc>
            </a:pPr>
            <a:r>
              <a:rPr lang="es-ES" altLang="es-PE" sz="2400" b="1">
                <a:solidFill>
                  <a:srgbClr val="FF0000"/>
                </a:solidFill>
              </a:rPr>
              <a:t>Sensores de proximidad</a:t>
            </a:r>
          </a:p>
          <a:p>
            <a:pPr>
              <a:lnSpc>
                <a:spcPct val="80000"/>
              </a:lnSpc>
            </a:pPr>
            <a:r>
              <a:rPr lang="es-ES" altLang="es-PE" sz="2400"/>
              <a:t>Reguladores</a:t>
            </a:r>
          </a:p>
          <a:p>
            <a:pPr>
              <a:lnSpc>
                <a:spcPct val="80000"/>
              </a:lnSpc>
            </a:pPr>
            <a:r>
              <a:rPr lang="es-ES" altLang="es-PE" sz="2400"/>
              <a:t>Preaccionadores y actuadores</a:t>
            </a:r>
          </a:p>
          <a:p>
            <a:pPr>
              <a:lnSpc>
                <a:spcPct val="80000"/>
              </a:lnSpc>
            </a:pPr>
            <a:r>
              <a:rPr lang="es-ES" altLang="es-PE" sz="2400"/>
              <a:t>Distintas tecnologías</a:t>
            </a:r>
          </a:p>
        </p:txBody>
      </p:sp>
      <p:sp>
        <p:nvSpPr>
          <p:cNvPr id="2" name="Marcador de número de diapositiva 4">
            <a:extLst>
              <a:ext uri="{FF2B5EF4-FFF2-40B4-BE49-F238E27FC236}">
                <a16:creationId xmlns:a16="http://schemas.microsoft.com/office/drawing/2014/main" id="{0BE3FC19-35A4-981E-6897-0BE656416C76}"/>
              </a:ext>
            </a:extLst>
          </p:cNvPr>
          <p:cNvSpPr>
            <a:spLocks noGrp="1"/>
          </p:cNvSpPr>
          <p:nvPr>
            <p:ph type="sldNum" sz="quarter" idx="4294967295"/>
          </p:nvPr>
        </p:nvSpPr>
        <p:spPr>
          <a:xfrm>
            <a:off x="0" y="0"/>
            <a:ext cx="0" cy="0"/>
          </a:xfrm>
        </p:spPr>
        <p:txBody>
          <a:bodyPr/>
          <a:lstStyle/>
          <a:p>
            <a:fld id="{28AE2F88-AC07-4DCF-B27D-C01A8CC14C76}" type="slidenum">
              <a:rPr lang="es-ES" altLang="es-PE"/>
              <a:pPr/>
              <a:t>37</a:t>
            </a:fld>
            <a:endParaRPr lang="es-ES" altLang="es-P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2C3683AB-0415-A899-7E0C-ACA153E00AE4}"/>
              </a:ext>
            </a:extLst>
          </p:cNvPr>
          <p:cNvSpPr>
            <a:spLocks noGrp="1" noChangeArrowheads="1"/>
          </p:cNvSpPr>
          <p:nvPr>
            <p:ph type="title"/>
          </p:nvPr>
        </p:nvSpPr>
        <p:spPr/>
        <p:txBody>
          <a:bodyPr/>
          <a:lstStyle/>
          <a:p>
            <a:r>
              <a:rPr lang="es-ES" altLang="es-PE" sz="4000"/>
              <a:t>SENSORES Y TRANSDUCTORES</a:t>
            </a:r>
          </a:p>
        </p:txBody>
      </p:sp>
      <p:sp>
        <p:nvSpPr>
          <p:cNvPr id="202755" name="Rectangle 3">
            <a:extLst>
              <a:ext uri="{FF2B5EF4-FFF2-40B4-BE49-F238E27FC236}">
                <a16:creationId xmlns:a16="http://schemas.microsoft.com/office/drawing/2014/main" id="{D7938B81-19CF-97EB-1E95-21CF71914E6A}"/>
              </a:ext>
            </a:extLst>
          </p:cNvPr>
          <p:cNvSpPr>
            <a:spLocks noGrp="1" noChangeArrowheads="1"/>
          </p:cNvSpPr>
          <p:nvPr>
            <p:ph idx="1"/>
          </p:nvPr>
        </p:nvSpPr>
        <p:spPr/>
        <p:txBody>
          <a:bodyPr/>
          <a:lstStyle/>
          <a:p>
            <a:pPr>
              <a:lnSpc>
                <a:spcPct val="80000"/>
              </a:lnSpc>
            </a:pPr>
            <a:r>
              <a:rPr lang="es-ES" altLang="es-PE" sz="2400" b="1">
                <a:solidFill>
                  <a:srgbClr val="FF0000"/>
                </a:solidFill>
              </a:rPr>
              <a:t>Sensores de proximidad:</a:t>
            </a:r>
          </a:p>
          <a:p>
            <a:pPr>
              <a:lnSpc>
                <a:spcPct val="80000"/>
              </a:lnSpc>
              <a:buFont typeface="Wingdings" panose="05000000000000000000" pitchFamily="2" charset="2"/>
              <a:buNone/>
            </a:pPr>
            <a:endParaRPr lang="es-ES" altLang="es-PE" sz="2400" b="1">
              <a:solidFill>
                <a:srgbClr val="FF0000"/>
              </a:solidFill>
            </a:endParaRPr>
          </a:p>
          <a:p>
            <a:pPr lvl="1">
              <a:lnSpc>
                <a:spcPct val="80000"/>
              </a:lnSpc>
            </a:pPr>
            <a:r>
              <a:rPr lang="es-ES" altLang="es-PE" sz="2000" b="1"/>
              <a:t>Sensores de tipo resistivo</a:t>
            </a:r>
          </a:p>
          <a:p>
            <a:pPr lvl="1">
              <a:lnSpc>
                <a:spcPct val="80000"/>
              </a:lnSpc>
            </a:pPr>
            <a:r>
              <a:rPr lang="es-ES" altLang="es-PE" sz="2000" b="1"/>
              <a:t>Sensores de tipo inductivo: </a:t>
            </a:r>
          </a:p>
          <a:p>
            <a:pPr lvl="1">
              <a:lnSpc>
                <a:spcPct val="80000"/>
              </a:lnSpc>
            </a:pPr>
            <a:r>
              <a:rPr lang="es-ES" altLang="es-PE" sz="2000" b="1"/>
              <a:t>Sensores de tipo óptico</a:t>
            </a:r>
          </a:p>
        </p:txBody>
      </p:sp>
      <p:sp>
        <p:nvSpPr>
          <p:cNvPr id="2" name="Marcador de número de diapositiva 4">
            <a:extLst>
              <a:ext uri="{FF2B5EF4-FFF2-40B4-BE49-F238E27FC236}">
                <a16:creationId xmlns:a16="http://schemas.microsoft.com/office/drawing/2014/main" id="{5045C4B1-3402-AC86-BD0F-684ADA092F99}"/>
              </a:ext>
            </a:extLst>
          </p:cNvPr>
          <p:cNvSpPr>
            <a:spLocks noGrp="1"/>
          </p:cNvSpPr>
          <p:nvPr>
            <p:ph type="sldNum" sz="quarter" idx="4294967295"/>
          </p:nvPr>
        </p:nvSpPr>
        <p:spPr>
          <a:xfrm>
            <a:off x="0" y="0"/>
            <a:ext cx="0" cy="0"/>
          </a:xfrm>
        </p:spPr>
        <p:txBody>
          <a:bodyPr/>
          <a:lstStyle/>
          <a:p>
            <a:fld id="{3B5BAA44-E3B2-4B9C-9A7D-4CA9ADB391D4}" type="slidenum">
              <a:rPr lang="es-ES" altLang="es-PE"/>
              <a:pPr/>
              <a:t>38</a:t>
            </a:fld>
            <a:endParaRPr lang="es-ES" altLang="es-PE"/>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2CBCE9E9-967F-0D67-0B23-3811F0B800AF}"/>
              </a:ext>
            </a:extLst>
          </p:cNvPr>
          <p:cNvSpPr>
            <a:spLocks noGrp="1" noChangeArrowheads="1"/>
          </p:cNvSpPr>
          <p:nvPr>
            <p:ph type="title"/>
          </p:nvPr>
        </p:nvSpPr>
        <p:spPr/>
        <p:txBody>
          <a:bodyPr/>
          <a:lstStyle/>
          <a:p>
            <a:r>
              <a:rPr lang="es-ES" altLang="es-PE"/>
              <a:t>Sensores de proximidad</a:t>
            </a:r>
          </a:p>
        </p:txBody>
      </p:sp>
      <p:sp>
        <p:nvSpPr>
          <p:cNvPr id="203779" name="Rectangle 3">
            <a:extLst>
              <a:ext uri="{FF2B5EF4-FFF2-40B4-BE49-F238E27FC236}">
                <a16:creationId xmlns:a16="http://schemas.microsoft.com/office/drawing/2014/main" id="{1BCDBE1A-2E5C-C5BC-16F6-22D2CFC74D9B}"/>
              </a:ext>
            </a:extLst>
          </p:cNvPr>
          <p:cNvSpPr>
            <a:spLocks noGrp="1" noChangeArrowheads="1"/>
          </p:cNvSpPr>
          <p:nvPr>
            <p:ph idx="1"/>
          </p:nvPr>
        </p:nvSpPr>
        <p:spPr/>
        <p:txBody>
          <a:bodyPr>
            <a:normAutofit/>
          </a:bodyPr>
          <a:lstStyle/>
          <a:p>
            <a:pPr>
              <a:lnSpc>
                <a:spcPct val="80000"/>
              </a:lnSpc>
            </a:pPr>
            <a:r>
              <a:rPr lang="es-ES" altLang="es-PE" b="1" dirty="0">
                <a:solidFill>
                  <a:srgbClr val="FF0000"/>
                </a:solidFill>
              </a:rPr>
              <a:t>Sensores de tipo resistivo:</a:t>
            </a:r>
          </a:p>
          <a:p>
            <a:pPr>
              <a:lnSpc>
                <a:spcPct val="80000"/>
              </a:lnSpc>
              <a:buFont typeface="Wingdings" panose="05000000000000000000" pitchFamily="2" charset="2"/>
              <a:buNone/>
            </a:pPr>
            <a:r>
              <a:rPr lang="es-ES" altLang="es-PE" b="1" dirty="0"/>
              <a:t>   </a:t>
            </a:r>
            <a:r>
              <a:rPr lang="es-ES" altLang="es-PE" dirty="0"/>
              <a:t>Fotorresistencias </a:t>
            </a:r>
            <a:r>
              <a:rPr lang="es-ES" altLang="es-PE" dirty="0" err="1"/>
              <a:t>LDR</a:t>
            </a:r>
            <a:r>
              <a:rPr lang="es-ES" altLang="es-PE" dirty="0"/>
              <a:t>. Las siglas inglesas corresponden a Light </a:t>
            </a:r>
            <a:r>
              <a:rPr lang="es-ES" altLang="es-PE" dirty="0" err="1"/>
              <a:t>Dependent</a:t>
            </a:r>
            <a:r>
              <a:rPr lang="es-ES" altLang="es-PE" dirty="0"/>
              <a:t> Resistor. Están basadas en la variación de la resistencia eléctrica de un semiconductor al incidir en él radiación óptica (radiación electromagnética con longitud de onda entre 1mm y 10nm).</a:t>
            </a:r>
          </a:p>
        </p:txBody>
      </p:sp>
      <p:sp>
        <p:nvSpPr>
          <p:cNvPr id="2" name="Marcador de número de diapositiva 4">
            <a:extLst>
              <a:ext uri="{FF2B5EF4-FFF2-40B4-BE49-F238E27FC236}">
                <a16:creationId xmlns:a16="http://schemas.microsoft.com/office/drawing/2014/main" id="{46A842D4-DA86-7E2E-BA62-CD4198E4B029}"/>
              </a:ext>
            </a:extLst>
          </p:cNvPr>
          <p:cNvSpPr>
            <a:spLocks noGrp="1"/>
          </p:cNvSpPr>
          <p:nvPr>
            <p:ph type="sldNum" sz="quarter" idx="4294967295"/>
          </p:nvPr>
        </p:nvSpPr>
        <p:spPr>
          <a:xfrm>
            <a:off x="0" y="0"/>
            <a:ext cx="0" cy="0"/>
          </a:xfrm>
        </p:spPr>
        <p:txBody>
          <a:bodyPr/>
          <a:lstStyle/>
          <a:p>
            <a:fld id="{7B6BF1E0-B399-4E5D-BD2B-7EE6610761A1}" type="slidenum">
              <a:rPr lang="es-ES" altLang="es-PE"/>
              <a:pPr/>
              <a:t>39</a:t>
            </a:fld>
            <a:endParaRPr lang="es-ES" altLang="es-PE"/>
          </a:p>
        </p:txBody>
      </p:sp>
      <p:grpSp>
        <p:nvGrpSpPr>
          <p:cNvPr id="203780" name="Group 4">
            <a:extLst>
              <a:ext uri="{FF2B5EF4-FFF2-40B4-BE49-F238E27FC236}">
                <a16:creationId xmlns:a16="http://schemas.microsoft.com/office/drawing/2014/main" id="{09E768AC-4953-4D32-51F1-C48DA3DBCD49}"/>
              </a:ext>
            </a:extLst>
          </p:cNvPr>
          <p:cNvGrpSpPr>
            <a:grpSpLocks/>
          </p:cNvGrpSpPr>
          <p:nvPr/>
        </p:nvGrpSpPr>
        <p:grpSpPr bwMode="auto">
          <a:xfrm>
            <a:off x="2688431" y="3200400"/>
            <a:ext cx="5976938" cy="2447925"/>
            <a:chOff x="816" y="11678"/>
            <a:chExt cx="8100" cy="3060"/>
          </a:xfrm>
        </p:grpSpPr>
        <p:sp>
          <p:nvSpPr>
            <p:cNvPr id="203781" name="Line 5">
              <a:extLst>
                <a:ext uri="{FF2B5EF4-FFF2-40B4-BE49-F238E27FC236}">
                  <a16:creationId xmlns:a16="http://schemas.microsoft.com/office/drawing/2014/main" id="{3D9D811B-50BC-7A6C-F6A1-F305F31B0B9C}"/>
                </a:ext>
              </a:extLst>
            </p:cNvPr>
            <p:cNvSpPr>
              <a:spLocks noChangeShapeType="1"/>
            </p:cNvSpPr>
            <p:nvPr/>
          </p:nvSpPr>
          <p:spPr bwMode="auto">
            <a:xfrm>
              <a:off x="7821" y="13478"/>
              <a:ext cx="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82" name="Line 6">
              <a:extLst>
                <a:ext uri="{FF2B5EF4-FFF2-40B4-BE49-F238E27FC236}">
                  <a16:creationId xmlns:a16="http://schemas.microsoft.com/office/drawing/2014/main" id="{7A61306B-0BE1-6902-15A0-F6D47C3AAA0F}"/>
                </a:ext>
              </a:extLst>
            </p:cNvPr>
            <p:cNvSpPr>
              <a:spLocks noChangeShapeType="1"/>
            </p:cNvSpPr>
            <p:nvPr/>
          </p:nvSpPr>
          <p:spPr bwMode="auto">
            <a:xfrm flipV="1">
              <a:off x="7821" y="13478"/>
              <a:ext cx="24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83" name="Line 7">
              <a:extLst>
                <a:ext uri="{FF2B5EF4-FFF2-40B4-BE49-F238E27FC236}">
                  <a16:creationId xmlns:a16="http://schemas.microsoft.com/office/drawing/2014/main" id="{0B0BA731-662D-C5C8-FD12-31DD43529373}"/>
                </a:ext>
              </a:extLst>
            </p:cNvPr>
            <p:cNvSpPr>
              <a:spLocks noChangeShapeType="1"/>
            </p:cNvSpPr>
            <p:nvPr/>
          </p:nvSpPr>
          <p:spPr bwMode="auto">
            <a:xfrm>
              <a:off x="7821" y="13658"/>
              <a:ext cx="240" cy="18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84" name="Line 8">
              <a:extLst>
                <a:ext uri="{FF2B5EF4-FFF2-40B4-BE49-F238E27FC236}">
                  <a16:creationId xmlns:a16="http://schemas.microsoft.com/office/drawing/2014/main" id="{9D3384BA-8AE5-3C55-814A-55AD961D17AE}"/>
                </a:ext>
              </a:extLst>
            </p:cNvPr>
            <p:cNvSpPr>
              <a:spLocks noChangeShapeType="1"/>
            </p:cNvSpPr>
            <p:nvPr/>
          </p:nvSpPr>
          <p:spPr bwMode="auto">
            <a:xfrm>
              <a:off x="8061" y="13838"/>
              <a:ext cx="0" cy="72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85" name="Line 9">
              <a:extLst>
                <a:ext uri="{FF2B5EF4-FFF2-40B4-BE49-F238E27FC236}">
                  <a16:creationId xmlns:a16="http://schemas.microsoft.com/office/drawing/2014/main" id="{8772BACB-2412-E89D-C3A8-AA056EC2FCD2}"/>
                </a:ext>
              </a:extLst>
            </p:cNvPr>
            <p:cNvSpPr>
              <a:spLocks noChangeShapeType="1"/>
            </p:cNvSpPr>
            <p:nvPr/>
          </p:nvSpPr>
          <p:spPr bwMode="auto">
            <a:xfrm>
              <a:off x="7821" y="14558"/>
              <a:ext cx="4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86" name="Line 10">
              <a:extLst>
                <a:ext uri="{FF2B5EF4-FFF2-40B4-BE49-F238E27FC236}">
                  <a16:creationId xmlns:a16="http://schemas.microsoft.com/office/drawing/2014/main" id="{45535C82-A534-3951-E4EF-A9381E4338DE}"/>
                </a:ext>
              </a:extLst>
            </p:cNvPr>
            <p:cNvSpPr>
              <a:spLocks noChangeShapeType="1"/>
            </p:cNvSpPr>
            <p:nvPr/>
          </p:nvSpPr>
          <p:spPr bwMode="auto">
            <a:xfrm flipH="1">
              <a:off x="770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87" name="Line 11">
              <a:extLst>
                <a:ext uri="{FF2B5EF4-FFF2-40B4-BE49-F238E27FC236}">
                  <a16:creationId xmlns:a16="http://schemas.microsoft.com/office/drawing/2014/main" id="{99E01957-9230-6C72-7748-7057636DBEB8}"/>
                </a:ext>
              </a:extLst>
            </p:cNvPr>
            <p:cNvSpPr>
              <a:spLocks noChangeShapeType="1"/>
            </p:cNvSpPr>
            <p:nvPr/>
          </p:nvSpPr>
          <p:spPr bwMode="auto">
            <a:xfrm flipH="1">
              <a:off x="782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88" name="Line 12">
              <a:extLst>
                <a:ext uri="{FF2B5EF4-FFF2-40B4-BE49-F238E27FC236}">
                  <a16:creationId xmlns:a16="http://schemas.microsoft.com/office/drawing/2014/main" id="{4789D8CF-E2F5-1383-EB2D-3007B7920C28}"/>
                </a:ext>
              </a:extLst>
            </p:cNvPr>
            <p:cNvSpPr>
              <a:spLocks noChangeShapeType="1"/>
            </p:cNvSpPr>
            <p:nvPr/>
          </p:nvSpPr>
          <p:spPr bwMode="auto">
            <a:xfrm flipH="1">
              <a:off x="794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89" name="Line 13">
              <a:extLst>
                <a:ext uri="{FF2B5EF4-FFF2-40B4-BE49-F238E27FC236}">
                  <a16:creationId xmlns:a16="http://schemas.microsoft.com/office/drawing/2014/main" id="{82AF8EEF-3A15-A978-6F40-8C1372DDC8BC}"/>
                </a:ext>
              </a:extLst>
            </p:cNvPr>
            <p:cNvSpPr>
              <a:spLocks noChangeShapeType="1"/>
            </p:cNvSpPr>
            <p:nvPr/>
          </p:nvSpPr>
          <p:spPr bwMode="auto">
            <a:xfrm flipH="1">
              <a:off x="806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90" name="Line 14">
              <a:extLst>
                <a:ext uri="{FF2B5EF4-FFF2-40B4-BE49-F238E27FC236}">
                  <a16:creationId xmlns:a16="http://schemas.microsoft.com/office/drawing/2014/main" id="{0AF34165-EF05-6E69-C763-E0E0E8266843}"/>
                </a:ext>
              </a:extLst>
            </p:cNvPr>
            <p:cNvSpPr>
              <a:spLocks noChangeShapeType="1"/>
            </p:cNvSpPr>
            <p:nvPr/>
          </p:nvSpPr>
          <p:spPr bwMode="auto">
            <a:xfrm flipH="1">
              <a:off x="818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91" name="Line 15">
              <a:extLst>
                <a:ext uri="{FF2B5EF4-FFF2-40B4-BE49-F238E27FC236}">
                  <a16:creationId xmlns:a16="http://schemas.microsoft.com/office/drawing/2014/main" id="{A4EC362E-FBE0-3DB0-9281-20A0FB36D011}"/>
                </a:ext>
              </a:extLst>
            </p:cNvPr>
            <p:cNvSpPr>
              <a:spLocks noChangeShapeType="1"/>
            </p:cNvSpPr>
            <p:nvPr/>
          </p:nvSpPr>
          <p:spPr bwMode="auto">
            <a:xfrm flipV="1">
              <a:off x="8061" y="12038"/>
              <a:ext cx="0" cy="144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92" name="Oval 16">
              <a:extLst>
                <a:ext uri="{FF2B5EF4-FFF2-40B4-BE49-F238E27FC236}">
                  <a16:creationId xmlns:a16="http://schemas.microsoft.com/office/drawing/2014/main" id="{85ED2479-E2AC-44C4-2BFC-9AFB6847AAFF}"/>
                </a:ext>
              </a:extLst>
            </p:cNvPr>
            <p:cNvSpPr>
              <a:spLocks noChangeArrowheads="1"/>
            </p:cNvSpPr>
            <p:nvPr/>
          </p:nvSpPr>
          <p:spPr bwMode="auto">
            <a:xfrm>
              <a:off x="8001" y="11993"/>
              <a:ext cx="120" cy="18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93" name="Rectangle 17">
              <a:extLst>
                <a:ext uri="{FF2B5EF4-FFF2-40B4-BE49-F238E27FC236}">
                  <a16:creationId xmlns:a16="http://schemas.microsoft.com/office/drawing/2014/main" id="{3E554C47-E42B-4885-F5FC-7EA0C5BFC3A0}"/>
                </a:ext>
              </a:extLst>
            </p:cNvPr>
            <p:cNvSpPr>
              <a:spLocks noChangeArrowheads="1"/>
            </p:cNvSpPr>
            <p:nvPr/>
          </p:nvSpPr>
          <p:spPr bwMode="auto">
            <a:xfrm>
              <a:off x="7941" y="12398"/>
              <a:ext cx="240" cy="7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94" name="Line 18">
              <a:extLst>
                <a:ext uri="{FF2B5EF4-FFF2-40B4-BE49-F238E27FC236}">
                  <a16:creationId xmlns:a16="http://schemas.microsoft.com/office/drawing/2014/main" id="{D2011E44-A1A8-7F18-8466-B4431E076B94}"/>
                </a:ext>
              </a:extLst>
            </p:cNvPr>
            <p:cNvSpPr>
              <a:spLocks noChangeShapeType="1"/>
            </p:cNvSpPr>
            <p:nvPr/>
          </p:nvSpPr>
          <p:spPr bwMode="auto">
            <a:xfrm flipV="1">
              <a:off x="7941" y="12578"/>
              <a:ext cx="24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95" name="Line 19">
              <a:extLst>
                <a:ext uri="{FF2B5EF4-FFF2-40B4-BE49-F238E27FC236}">
                  <a16:creationId xmlns:a16="http://schemas.microsoft.com/office/drawing/2014/main" id="{50F4120F-AD25-6768-9CF7-3AC061097932}"/>
                </a:ext>
              </a:extLst>
            </p:cNvPr>
            <p:cNvSpPr>
              <a:spLocks noChangeShapeType="1"/>
            </p:cNvSpPr>
            <p:nvPr/>
          </p:nvSpPr>
          <p:spPr bwMode="auto">
            <a:xfrm>
              <a:off x="3981" y="13658"/>
              <a:ext cx="38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96" name="Line 20">
              <a:extLst>
                <a:ext uri="{FF2B5EF4-FFF2-40B4-BE49-F238E27FC236}">
                  <a16:creationId xmlns:a16="http://schemas.microsoft.com/office/drawing/2014/main" id="{90262F02-ADB8-7BEE-0B4F-E3F43F1A9499}"/>
                </a:ext>
              </a:extLst>
            </p:cNvPr>
            <p:cNvSpPr>
              <a:spLocks noChangeShapeType="1"/>
            </p:cNvSpPr>
            <p:nvPr/>
          </p:nvSpPr>
          <p:spPr bwMode="auto">
            <a:xfrm>
              <a:off x="3981" y="13658"/>
              <a:ext cx="0" cy="9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97" name="Oval 21">
              <a:extLst>
                <a:ext uri="{FF2B5EF4-FFF2-40B4-BE49-F238E27FC236}">
                  <a16:creationId xmlns:a16="http://schemas.microsoft.com/office/drawing/2014/main" id="{FD3C08D8-645A-1798-B14C-096B62D62FEB}"/>
                </a:ext>
              </a:extLst>
            </p:cNvPr>
            <p:cNvSpPr>
              <a:spLocks noChangeArrowheads="1"/>
            </p:cNvSpPr>
            <p:nvPr/>
          </p:nvSpPr>
          <p:spPr bwMode="auto">
            <a:xfrm>
              <a:off x="4641" y="13298"/>
              <a:ext cx="840" cy="72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98" name="Rectangle 22">
              <a:extLst>
                <a:ext uri="{FF2B5EF4-FFF2-40B4-BE49-F238E27FC236}">
                  <a16:creationId xmlns:a16="http://schemas.microsoft.com/office/drawing/2014/main" id="{67B3576A-53D3-1988-2272-EAF93D9CACA3}"/>
                </a:ext>
              </a:extLst>
            </p:cNvPr>
            <p:cNvSpPr>
              <a:spLocks noChangeArrowheads="1"/>
            </p:cNvSpPr>
            <p:nvPr/>
          </p:nvSpPr>
          <p:spPr bwMode="auto">
            <a:xfrm>
              <a:off x="4701" y="13478"/>
              <a:ext cx="720" cy="36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799" name="Rectangle 23">
              <a:extLst>
                <a:ext uri="{FF2B5EF4-FFF2-40B4-BE49-F238E27FC236}">
                  <a16:creationId xmlns:a16="http://schemas.microsoft.com/office/drawing/2014/main" id="{893A1AB3-FE5E-FFB8-9285-37D4A1F2C2B5}"/>
                </a:ext>
              </a:extLst>
            </p:cNvPr>
            <p:cNvSpPr>
              <a:spLocks noChangeArrowheads="1"/>
            </p:cNvSpPr>
            <p:nvPr/>
          </p:nvSpPr>
          <p:spPr bwMode="auto">
            <a:xfrm>
              <a:off x="6741" y="13553"/>
              <a:ext cx="720" cy="18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00" name="Line 24">
              <a:extLst>
                <a:ext uri="{FF2B5EF4-FFF2-40B4-BE49-F238E27FC236}">
                  <a16:creationId xmlns:a16="http://schemas.microsoft.com/office/drawing/2014/main" id="{2CB1ABDB-C5CB-759F-67C8-7CB370C55C41}"/>
                </a:ext>
              </a:extLst>
            </p:cNvPr>
            <p:cNvSpPr>
              <a:spLocks noChangeShapeType="1"/>
            </p:cNvSpPr>
            <p:nvPr/>
          </p:nvSpPr>
          <p:spPr bwMode="auto">
            <a:xfrm>
              <a:off x="5901" y="12038"/>
              <a:ext cx="0" cy="162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01" name="Rectangle 25">
              <a:extLst>
                <a:ext uri="{FF2B5EF4-FFF2-40B4-BE49-F238E27FC236}">
                  <a16:creationId xmlns:a16="http://schemas.microsoft.com/office/drawing/2014/main" id="{05C93166-9884-AA31-EFA6-A35F1D4F3DBB}"/>
                </a:ext>
              </a:extLst>
            </p:cNvPr>
            <p:cNvSpPr>
              <a:spLocks noChangeArrowheads="1"/>
            </p:cNvSpPr>
            <p:nvPr/>
          </p:nvSpPr>
          <p:spPr bwMode="auto">
            <a:xfrm>
              <a:off x="5781" y="12398"/>
              <a:ext cx="240" cy="7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02" name="Oval 26">
              <a:extLst>
                <a:ext uri="{FF2B5EF4-FFF2-40B4-BE49-F238E27FC236}">
                  <a16:creationId xmlns:a16="http://schemas.microsoft.com/office/drawing/2014/main" id="{5C71D13D-7E28-0F9F-E61E-47F3FD140CEE}"/>
                </a:ext>
              </a:extLst>
            </p:cNvPr>
            <p:cNvSpPr>
              <a:spLocks noChangeArrowheads="1"/>
            </p:cNvSpPr>
            <p:nvPr/>
          </p:nvSpPr>
          <p:spPr bwMode="auto">
            <a:xfrm>
              <a:off x="5841" y="11978"/>
              <a:ext cx="120" cy="18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03" name="Line 27">
              <a:extLst>
                <a:ext uri="{FF2B5EF4-FFF2-40B4-BE49-F238E27FC236}">
                  <a16:creationId xmlns:a16="http://schemas.microsoft.com/office/drawing/2014/main" id="{A7FE921E-76A2-5332-C1E8-8C427E7BED25}"/>
                </a:ext>
              </a:extLst>
            </p:cNvPr>
            <p:cNvSpPr>
              <a:spLocks noChangeShapeType="1"/>
            </p:cNvSpPr>
            <p:nvPr/>
          </p:nvSpPr>
          <p:spPr bwMode="auto">
            <a:xfrm>
              <a:off x="3741" y="14558"/>
              <a:ext cx="4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04" name="Line 28">
              <a:extLst>
                <a:ext uri="{FF2B5EF4-FFF2-40B4-BE49-F238E27FC236}">
                  <a16:creationId xmlns:a16="http://schemas.microsoft.com/office/drawing/2014/main" id="{DB87DE84-908A-20EB-768A-1E3D229CD5BA}"/>
                </a:ext>
              </a:extLst>
            </p:cNvPr>
            <p:cNvSpPr>
              <a:spLocks noChangeShapeType="1"/>
            </p:cNvSpPr>
            <p:nvPr/>
          </p:nvSpPr>
          <p:spPr bwMode="auto">
            <a:xfrm flipH="1">
              <a:off x="362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05" name="Line 29">
              <a:extLst>
                <a:ext uri="{FF2B5EF4-FFF2-40B4-BE49-F238E27FC236}">
                  <a16:creationId xmlns:a16="http://schemas.microsoft.com/office/drawing/2014/main" id="{6BED5C5C-4EB5-F319-5965-4C0E35274D64}"/>
                </a:ext>
              </a:extLst>
            </p:cNvPr>
            <p:cNvSpPr>
              <a:spLocks noChangeShapeType="1"/>
            </p:cNvSpPr>
            <p:nvPr/>
          </p:nvSpPr>
          <p:spPr bwMode="auto">
            <a:xfrm flipH="1">
              <a:off x="374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06" name="Line 30">
              <a:extLst>
                <a:ext uri="{FF2B5EF4-FFF2-40B4-BE49-F238E27FC236}">
                  <a16:creationId xmlns:a16="http://schemas.microsoft.com/office/drawing/2014/main" id="{402B9747-4DFA-7CD2-4638-D570A8701162}"/>
                </a:ext>
              </a:extLst>
            </p:cNvPr>
            <p:cNvSpPr>
              <a:spLocks noChangeShapeType="1"/>
            </p:cNvSpPr>
            <p:nvPr/>
          </p:nvSpPr>
          <p:spPr bwMode="auto">
            <a:xfrm flipH="1">
              <a:off x="386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07" name="Line 31">
              <a:extLst>
                <a:ext uri="{FF2B5EF4-FFF2-40B4-BE49-F238E27FC236}">
                  <a16:creationId xmlns:a16="http://schemas.microsoft.com/office/drawing/2014/main" id="{782B3A59-7B1D-F41F-DB18-57195B713B83}"/>
                </a:ext>
              </a:extLst>
            </p:cNvPr>
            <p:cNvSpPr>
              <a:spLocks noChangeShapeType="1"/>
            </p:cNvSpPr>
            <p:nvPr/>
          </p:nvSpPr>
          <p:spPr bwMode="auto">
            <a:xfrm flipH="1">
              <a:off x="398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08" name="Line 32">
              <a:extLst>
                <a:ext uri="{FF2B5EF4-FFF2-40B4-BE49-F238E27FC236}">
                  <a16:creationId xmlns:a16="http://schemas.microsoft.com/office/drawing/2014/main" id="{C9741EAD-545B-1B9A-EB5C-6F3E28CE9E35}"/>
                </a:ext>
              </a:extLst>
            </p:cNvPr>
            <p:cNvSpPr>
              <a:spLocks noChangeShapeType="1"/>
            </p:cNvSpPr>
            <p:nvPr/>
          </p:nvSpPr>
          <p:spPr bwMode="auto">
            <a:xfrm flipH="1">
              <a:off x="4101" y="14558"/>
              <a:ext cx="12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09" name="Text Box 33">
              <a:extLst>
                <a:ext uri="{FF2B5EF4-FFF2-40B4-BE49-F238E27FC236}">
                  <a16:creationId xmlns:a16="http://schemas.microsoft.com/office/drawing/2014/main" id="{A99C7A3B-1F7C-9533-8137-C87EC78B3D06}"/>
                </a:ext>
              </a:extLst>
            </p:cNvPr>
            <p:cNvSpPr txBox="1">
              <a:spLocks noChangeArrowheads="1"/>
            </p:cNvSpPr>
            <p:nvPr/>
          </p:nvSpPr>
          <p:spPr bwMode="auto">
            <a:xfrm>
              <a:off x="4701" y="13478"/>
              <a:ext cx="84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000"/>
                <a:t>LDR</a:t>
              </a:r>
              <a:endParaRPr lang="es-ES_tradnl" altLang="es-PE"/>
            </a:p>
          </p:txBody>
        </p:sp>
        <p:sp>
          <p:nvSpPr>
            <p:cNvPr id="203810" name="Text Box 34">
              <a:extLst>
                <a:ext uri="{FF2B5EF4-FFF2-40B4-BE49-F238E27FC236}">
                  <a16:creationId xmlns:a16="http://schemas.microsoft.com/office/drawing/2014/main" id="{63858A19-E567-2292-C4EA-A474943BD28B}"/>
                </a:ext>
              </a:extLst>
            </p:cNvPr>
            <p:cNvSpPr txBox="1">
              <a:spLocks noChangeArrowheads="1"/>
            </p:cNvSpPr>
            <p:nvPr/>
          </p:nvSpPr>
          <p:spPr bwMode="auto">
            <a:xfrm>
              <a:off x="5556" y="11678"/>
              <a:ext cx="720"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Vcc</a:t>
              </a:r>
              <a:endParaRPr lang="es-ES_tradnl" altLang="es-PE"/>
            </a:p>
          </p:txBody>
        </p:sp>
        <p:sp>
          <p:nvSpPr>
            <p:cNvPr id="203811" name="Text Box 35">
              <a:extLst>
                <a:ext uri="{FF2B5EF4-FFF2-40B4-BE49-F238E27FC236}">
                  <a16:creationId xmlns:a16="http://schemas.microsoft.com/office/drawing/2014/main" id="{01E0E036-ED95-0FDA-F480-2895E310DE00}"/>
                </a:ext>
              </a:extLst>
            </p:cNvPr>
            <p:cNvSpPr txBox="1">
              <a:spLocks noChangeArrowheads="1"/>
            </p:cNvSpPr>
            <p:nvPr/>
          </p:nvSpPr>
          <p:spPr bwMode="auto">
            <a:xfrm>
              <a:off x="7701" y="11678"/>
              <a:ext cx="720"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Vcc</a:t>
              </a:r>
              <a:endParaRPr lang="es-ES_tradnl" altLang="es-PE"/>
            </a:p>
          </p:txBody>
        </p:sp>
        <p:sp>
          <p:nvSpPr>
            <p:cNvPr id="203812" name="Text Box 36">
              <a:extLst>
                <a:ext uri="{FF2B5EF4-FFF2-40B4-BE49-F238E27FC236}">
                  <a16:creationId xmlns:a16="http://schemas.microsoft.com/office/drawing/2014/main" id="{A416453E-92DD-8B8A-A03D-88E1A8566E21}"/>
                </a:ext>
              </a:extLst>
            </p:cNvPr>
            <p:cNvSpPr txBox="1">
              <a:spLocks noChangeArrowheads="1"/>
            </p:cNvSpPr>
            <p:nvPr/>
          </p:nvSpPr>
          <p:spPr bwMode="auto">
            <a:xfrm>
              <a:off x="8076" y="12518"/>
              <a:ext cx="84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Relé</a:t>
              </a:r>
              <a:endParaRPr lang="es-ES_tradnl" altLang="es-PE"/>
            </a:p>
          </p:txBody>
        </p:sp>
        <p:sp>
          <p:nvSpPr>
            <p:cNvPr id="203813" name="Text Box 37">
              <a:extLst>
                <a:ext uri="{FF2B5EF4-FFF2-40B4-BE49-F238E27FC236}">
                  <a16:creationId xmlns:a16="http://schemas.microsoft.com/office/drawing/2014/main" id="{611D4132-E237-8234-4CA8-687FFB39EC1B}"/>
                </a:ext>
              </a:extLst>
            </p:cNvPr>
            <p:cNvSpPr txBox="1">
              <a:spLocks noChangeArrowheads="1"/>
            </p:cNvSpPr>
            <p:nvPr/>
          </p:nvSpPr>
          <p:spPr bwMode="auto">
            <a:xfrm>
              <a:off x="6801" y="13238"/>
              <a:ext cx="84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000"/>
                <a:t>R2</a:t>
              </a:r>
              <a:endParaRPr lang="es-ES_tradnl" altLang="es-PE"/>
            </a:p>
          </p:txBody>
        </p:sp>
        <p:sp>
          <p:nvSpPr>
            <p:cNvPr id="203814" name="Text Box 38">
              <a:extLst>
                <a:ext uri="{FF2B5EF4-FFF2-40B4-BE49-F238E27FC236}">
                  <a16:creationId xmlns:a16="http://schemas.microsoft.com/office/drawing/2014/main" id="{42FB3206-4BF5-C3BA-5BFC-31F406E0B9DB}"/>
                </a:ext>
              </a:extLst>
            </p:cNvPr>
            <p:cNvSpPr txBox="1">
              <a:spLocks noChangeArrowheads="1"/>
            </p:cNvSpPr>
            <p:nvPr/>
          </p:nvSpPr>
          <p:spPr bwMode="auto">
            <a:xfrm>
              <a:off x="5901" y="12563"/>
              <a:ext cx="60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R1</a:t>
              </a:r>
              <a:endParaRPr lang="es-ES_tradnl" altLang="es-PE"/>
            </a:p>
          </p:txBody>
        </p:sp>
        <p:sp>
          <p:nvSpPr>
            <p:cNvPr id="203815" name="Text Box 39">
              <a:extLst>
                <a:ext uri="{FF2B5EF4-FFF2-40B4-BE49-F238E27FC236}">
                  <a16:creationId xmlns:a16="http://schemas.microsoft.com/office/drawing/2014/main" id="{A2C5E88F-7BE0-AECF-4241-BA91F1FE78B9}"/>
                </a:ext>
              </a:extLst>
            </p:cNvPr>
            <p:cNvSpPr txBox="1">
              <a:spLocks noChangeArrowheads="1"/>
            </p:cNvSpPr>
            <p:nvPr/>
          </p:nvSpPr>
          <p:spPr bwMode="auto">
            <a:xfrm>
              <a:off x="5601" y="13553"/>
              <a:ext cx="108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s-ES_tradnl" altLang="es-PE" sz="1200"/>
                <a:t>V</a:t>
              </a:r>
              <a:endParaRPr lang="es-ES_tradnl" altLang="es-PE"/>
            </a:p>
          </p:txBody>
        </p:sp>
        <p:sp>
          <p:nvSpPr>
            <p:cNvPr id="203816" name="Line 40">
              <a:extLst>
                <a:ext uri="{FF2B5EF4-FFF2-40B4-BE49-F238E27FC236}">
                  <a16:creationId xmlns:a16="http://schemas.microsoft.com/office/drawing/2014/main" id="{248B1AF7-9CEC-A776-3BBB-2BB04C871F6A}"/>
                </a:ext>
              </a:extLst>
            </p:cNvPr>
            <p:cNvSpPr>
              <a:spLocks noChangeShapeType="1"/>
            </p:cNvSpPr>
            <p:nvPr/>
          </p:nvSpPr>
          <p:spPr bwMode="auto">
            <a:xfrm>
              <a:off x="2661" y="12038"/>
              <a:ext cx="0" cy="27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nvGrpSpPr>
            <p:cNvPr id="203817" name="Group 41">
              <a:extLst>
                <a:ext uri="{FF2B5EF4-FFF2-40B4-BE49-F238E27FC236}">
                  <a16:creationId xmlns:a16="http://schemas.microsoft.com/office/drawing/2014/main" id="{3AB51859-03D5-3027-A674-94182A3B7A22}"/>
                </a:ext>
              </a:extLst>
            </p:cNvPr>
            <p:cNvGrpSpPr>
              <a:grpSpLocks/>
            </p:cNvGrpSpPr>
            <p:nvPr/>
          </p:nvGrpSpPr>
          <p:grpSpPr bwMode="auto">
            <a:xfrm>
              <a:off x="816" y="13328"/>
              <a:ext cx="1080" cy="540"/>
              <a:chOff x="861" y="13478"/>
              <a:chExt cx="1080" cy="540"/>
            </a:xfrm>
          </p:grpSpPr>
          <p:sp>
            <p:nvSpPr>
              <p:cNvPr id="203818" name="Oval 42">
                <a:extLst>
                  <a:ext uri="{FF2B5EF4-FFF2-40B4-BE49-F238E27FC236}">
                    <a16:creationId xmlns:a16="http://schemas.microsoft.com/office/drawing/2014/main" id="{8B6A6C62-7B2F-60BF-00C9-B9079E35C566}"/>
                  </a:ext>
                </a:extLst>
              </p:cNvPr>
              <p:cNvSpPr>
                <a:spLocks noChangeArrowheads="1"/>
              </p:cNvSpPr>
              <p:nvPr/>
            </p:nvSpPr>
            <p:spPr bwMode="auto">
              <a:xfrm>
                <a:off x="1341" y="13478"/>
                <a:ext cx="600" cy="540"/>
              </a:xfrm>
              <a:prstGeom prst="ellipse">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19" name="Line 43">
                <a:extLst>
                  <a:ext uri="{FF2B5EF4-FFF2-40B4-BE49-F238E27FC236}">
                    <a16:creationId xmlns:a16="http://schemas.microsoft.com/office/drawing/2014/main" id="{9D9E99E3-C7E0-8334-E3F2-489A9CD3E806}"/>
                  </a:ext>
                </a:extLst>
              </p:cNvPr>
              <p:cNvSpPr>
                <a:spLocks noChangeShapeType="1"/>
              </p:cNvSpPr>
              <p:nvPr/>
            </p:nvSpPr>
            <p:spPr bwMode="auto">
              <a:xfrm>
                <a:off x="1461" y="13553"/>
                <a:ext cx="36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20" name="Line 44">
                <a:extLst>
                  <a:ext uri="{FF2B5EF4-FFF2-40B4-BE49-F238E27FC236}">
                    <a16:creationId xmlns:a16="http://schemas.microsoft.com/office/drawing/2014/main" id="{5EAD5DB0-29CC-6D65-223D-DC139D82636E}"/>
                  </a:ext>
                </a:extLst>
              </p:cNvPr>
              <p:cNvSpPr>
                <a:spLocks noChangeShapeType="1"/>
              </p:cNvSpPr>
              <p:nvPr/>
            </p:nvSpPr>
            <p:spPr bwMode="auto">
              <a:xfrm flipV="1">
                <a:off x="1386" y="13553"/>
                <a:ext cx="480" cy="3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21" name="Line 45">
                <a:extLst>
                  <a:ext uri="{FF2B5EF4-FFF2-40B4-BE49-F238E27FC236}">
                    <a16:creationId xmlns:a16="http://schemas.microsoft.com/office/drawing/2014/main" id="{65EAE100-E350-6135-D4E4-A156A561ABC0}"/>
                  </a:ext>
                </a:extLst>
              </p:cNvPr>
              <p:cNvSpPr>
                <a:spLocks noChangeShapeType="1"/>
              </p:cNvSpPr>
              <p:nvPr/>
            </p:nvSpPr>
            <p:spPr bwMode="auto">
              <a:xfrm>
                <a:off x="861" y="13733"/>
                <a:ext cx="4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sp>
          <p:nvSpPr>
            <p:cNvPr id="203822" name="Freeform 46">
              <a:extLst>
                <a:ext uri="{FF2B5EF4-FFF2-40B4-BE49-F238E27FC236}">
                  <a16:creationId xmlns:a16="http://schemas.microsoft.com/office/drawing/2014/main" id="{B99E6538-3297-C64E-72ED-5DF8F5EFBF0F}"/>
                </a:ext>
              </a:extLst>
            </p:cNvPr>
            <p:cNvSpPr>
              <a:spLocks/>
            </p:cNvSpPr>
            <p:nvPr/>
          </p:nvSpPr>
          <p:spPr bwMode="auto">
            <a:xfrm>
              <a:off x="2070" y="13230"/>
              <a:ext cx="1440" cy="130"/>
            </a:xfrm>
            <a:custGeom>
              <a:avLst/>
              <a:gdLst>
                <a:gd name="T0" fmla="*/ 0 w 1440"/>
                <a:gd name="T1" fmla="*/ 45 h 130"/>
                <a:gd name="T2" fmla="*/ 90 w 1440"/>
                <a:gd name="T3" fmla="*/ 30 h 130"/>
                <a:gd name="T4" fmla="*/ 180 w 1440"/>
                <a:gd name="T5" fmla="*/ 0 h 130"/>
                <a:gd name="T6" fmla="*/ 360 w 1440"/>
                <a:gd name="T7" fmla="*/ 60 h 130"/>
                <a:gd name="T8" fmla="*/ 495 w 1440"/>
                <a:gd name="T9" fmla="*/ 45 h 130"/>
                <a:gd name="T10" fmla="*/ 510 w 1440"/>
                <a:gd name="T11" fmla="*/ 105 h 130"/>
                <a:gd name="T12" fmla="*/ 735 w 1440"/>
                <a:gd name="T13" fmla="*/ 45 h 130"/>
                <a:gd name="T14" fmla="*/ 780 w 1440"/>
                <a:gd name="T15" fmla="*/ 75 h 130"/>
                <a:gd name="T16" fmla="*/ 1050 w 1440"/>
                <a:gd name="T17" fmla="*/ 45 h 130"/>
                <a:gd name="T18" fmla="*/ 1440 w 1440"/>
                <a:gd name="T19" fmla="*/ 7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40" h="130">
                  <a:moveTo>
                    <a:pt x="0" y="45"/>
                  </a:moveTo>
                  <a:cubicBezTo>
                    <a:pt x="30" y="40"/>
                    <a:pt x="60" y="37"/>
                    <a:pt x="90" y="30"/>
                  </a:cubicBezTo>
                  <a:cubicBezTo>
                    <a:pt x="121" y="22"/>
                    <a:pt x="180" y="0"/>
                    <a:pt x="180" y="0"/>
                  </a:cubicBezTo>
                  <a:cubicBezTo>
                    <a:pt x="260" y="16"/>
                    <a:pt x="284" y="41"/>
                    <a:pt x="360" y="60"/>
                  </a:cubicBezTo>
                  <a:cubicBezTo>
                    <a:pt x="465" y="25"/>
                    <a:pt x="420" y="20"/>
                    <a:pt x="495" y="45"/>
                  </a:cubicBezTo>
                  <a:cubicBezTo>
                    <a:pt x="500" y="65"/>
                    <a:pt x="490" y="98"/>
                    <a:pt x="510" y="105"/>
                  </a:cubicBezTo>
                  <a:cubicBezTo>
                    <a:pt x="585" y="130"/>
                    <a:pt x="668" y="67"/>
                    <a:pt x="735" y="45"/>
                  </a:cubicBezTo>
                  <a:cubicBezTo>
                    <a:pt x="750" y="55"/>
                    <a:pt x="762" y="75"/>
                    <a:pt x="780" y="75"/>
                  </a:cubicBezTo>
                  <a:cubicBezTo>
                    <a:pt x="871" y="75"/>
                    <a:pt x="1050" y="45"/>
                    <a:pt x="1050" y="45"/>
                  </a:cubicBezTo>
                  <a:cubicBezTo>
                    <a:pt x="1189" y="57"/>
                    <a:pt x="1302" y="75"/>
                    <a:pt x="1440" y="75"/>
                  </a:cubicBezTo>
                </a:path>
              </a:pathLst>
            </a:custGeom>
            <a:noFill/>
            <a:ln w="9525" cap="flat"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23" name="Freeform 47">
              <a:extLst>
                <a:ext uri="{FF2B5EF4-FFF2-40B4-BE49-F238E27FC236}">
                  <a16:creationId xmlns:a16="http://schemas.microsoft.com/office/drawing/2014/main" id="{13C811DF-C94C-877B-A12C-E5F79CF7A6F9}"/>
                </a:ext>
              </a:extLst>
            </p:cNvPr>
            <p:cNvSpPr>
              <a:spLocks/>
            </p:cNvSpPr>
            <p:nvPr/>
          </p:nvSpPr>
          <p:spPr bwMode="auto">
            <a:xfrm>
              <a:off x="2061" y="13470"/>
              <a:ext cx="1440" cy="130"/>
            </a:xfrm>
            <a:custGeom>
              <a:avLst/>
              <a:gdLst>
                <a:gd name="T0" fmla="*/ 0 w 1440"/>
                <a:gd name="T1" fmla="*/ 45 h 130"/>
                <a:gd name="T2" fmla="*/ 90 w 1440"/>
                <a:gd name="T3" fmla="*/ 30 h 130"/>
                <a:gd name="T4" fmla="*/ 180 w 1440"/>
                <a:gd name="T5" fmla="*/ 0 h 130"/>
                <a:gd name="T6" fmla="*/ 360 w 1440"/>
                <a:gd name="T7" fmla="*/ 60 h 130"/>
                <a:gd name="T8" fmla="*/ 495 w 1440"/>
                <a:gd name="T9" fmla="*/ 45 h 130"/>
                <a:gd name="T10" fmla="*/ 510 w 1440"/>
                <a:gd name="T11" fmla="*/ 105 h 130"/>
                <a:gd name="T12" fmla="*/ 735 w 1440"/>
                <a:gd name="T13" fmla="*/ 45 h 130"/>
                <a:gd name="T14" fmla="*/ 780 w 1440"/>
                <a:gd name="T15" fmla="*/ 75 h 130"/>
                <a:gd name="T16" fmla="*/ 1050 w 1440"/>
                <a:gd name="T17" fmla="*/ 45 h 130"/>
                <a:gd name="T18" fmla="*/ 1440 w 1440"/>
                <a:gd name="T19" fmla="*/ 7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40" h="130">
                  <a:moveTo>
                    <a:pt x="0" y="45"/>
                  </a:moveTo>
                  <a:cubicBezTo>
                    <a:pt x="30" y="40"/>
                    <a:pt x="60" y="37"/>
                    <a:pt x="90" y="30"/>
                  </a:cubicBezTo>
                  <a:cubicBezTo>
                    <a:pt x="121" y="22"/>
                    <a:pt x="180" y="0"/>
                    <a:pt x="180" y="0"/>
                  </a:cubicBezTo>
                  <a:cubicBezTo>
                    <a:pt x="260" y="16"/>
                    <a:pt x="284" y="41"/>
                    <a:pt x="360" y="60"/>
                  </a:cubicBezTo>
                  <a:cubicBezTo>
                    <a:pt x="465" y="25"/>
                    <a:pt x="420" y="20"/>
                    <a:pt x="495" y="45"/>
                  </a:cubicBezTo>
                  <a:cubicBezTo>
                    <a:pt x="500" y="65"/>
                    <a:pt x="490" y="98"/>
                    <a:pt x="510" y="105"/>
                  </a:cubicBezTo>
                  <a:cubicBezTo>
                    <a:pt x="585" y="130"/>
                    <a:pt x="668" y="67"/>
                    <a:pt x="735" y="45"/>
                  </a:cubicBezTo>
                  <a:cubicBezTo>
                    <a:pt x="750" y="55"/>
                    <a:pt x="762" y="75"/>
                    <a:pt x="780" y="75"/>
                  </a:cubicBezTo>
                  <a:cubicBezTo>
                    <a:pt x="871" y="75"/>
                    <a:pt x="1050" y="45"/>
                    <a:pt x="1050" y="45"/>
                  </a:cubicBezTo>
                  <a:cubicBezTo>
                    <a:pt x="1189" y="57"/>
                    <a:pt x="1302" y="75"/>
                    <a:pt x="1440" y="75"/>
                  </a:cubicBezTo>
                </a:path>
              </a:pathLst>
            </a:custGeom>
            <a:noFill/>
            <a:ln w="9525" cap="flat"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24" name="Freeform 48">
              <a:extLst>
                <a:ext uri="{FF2B5EF4-FFF2-40B4-BE49-F238E27FC236}">
                  <a16:creationId xmlns:a16="http://schemas.microsoft.com/office/drawing/2014/main" id="{3E23B026-44C6-308F-8E44-6E670AFA4905}"/>
                </a:ext>
              </a:extLst>
            </p:cNvPr>
            <p:cNvSpPr>
              <a:spLocks/>
            </p:cNvSpPr>
            <p:nvPr/>
          </p:nvSpPr>
          <p:spPr bwMode="auto">
            <a:xfrm>
              <a:off x="2061" y="13710"/>
              <a:ext cx="1440" cy="130"/>
            </a:xfrm>
            <a:custGeom>
              <a:avLst/>
              <a:gdLst>
                <a:gd name="T0" fmla="*/ 0 w 1440"/>
                <a:gd name="T1" fmla="*/ 45 h 130"/>
                <a:gd name="T2" fmla="*/ 90 w 1440"/>
                <a:gd name="T3" fmla="*/ 30 h 130"/>
                <a:gd name="T4" fmla="*/ 180 w 1440"/>
                <a:gd name="T5" fmla="*/ 0 h 130"/>
                <a:gd name="T6" fmla="*/ 360 w 1440"/>
                <a:gd name="T7" fmla="*/ 60 h 130"/>
                <a:gd name="T8" fmla="*/ 495 w 1440"/>
                <a:gd name="T9" fmla="*/ 45 h 130"/>
                <a:gd name="T10" fmla="*/ 510 w 1440"/>
                <a:gd name="T11" fmla="*/ 105 h 130"/>
                <a:gd name="T12" fmla="*/ 735 w 1440"/>
                <a:gd name="T13" fmla="*/ 45 h 130"/>
                <a:gd name="T14" fmla="*/ 780 w 1440"/>
                <a:gd name="T15" fmla="*/ 75 h 130"/>
                <a:gd name="T16" fmla="*/ 1050 w 1440"/>
                <a:gd name="T17" fmla="*/ 45 h 130"/>
                <a:gd name="T18" fmla="*/ 1440 w 1440"/>
                <a:gd name="T19" fmla="*/ 7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40" h="130">
                  <a:moveTo>
                    <a:pt x="0" y="45"/>
                  </a:moveTo>
                  <a:cubicBezTo>
                    <a:pt x="30" y="40"/>
                    <a:pt x="60" y="37"/>
                    <a:pt x="90" y="30"/>
                  </a:cubicBezTo>
                  <a:cubicBezTo>
                    <a:pt x="121" y="22"/>
                    <a:pt x="180" y="0"/>
                    <a:pt x="180" y="0"/>
                  </a:cubicBezTo>
                  <a:cubicBezTo>
                    <a:pt x="260" y="16"/>
                    <a:pt x="284" y="41"/>
                    <a:pt x="360" y="60"/>
                  </a:cubicBezTo>
                  <a:cubicBezTo>
                    <a:pt x="465" y="25"/>
                    <a:pt x="420" y="20"/>
                    <a:pt x="495" y="45"/>
                  </a:cubicBezTo>
                  <a:cubicBezTo>
                    <a:pt x="500" y="65"/>
                    <a:pt x="490" y="98"/>
                    <a:pt x="510" y="105"/>
                  </a:cubicBezTo>
                  <a:cubicBezTo>
                    <a:pt x="585" y="130"/>
                    <a:pt x="668" y="67"/>
                    <a:pt x="735" y="45"/>
                  </a:cubicBezTo>
                  <a:cubicBezTo>
                    <a:pt x="750" y="55"/>
                    <a:pt x="762" y="75"/>
                    <a:pt x="780" y="75"/>
                  </a:cubicBezTo>
                  <a:cubicBezTo>
                    <a:pt x="871" y="75"/>
                    <a:pt x="1050" y="45"/>
                    <a:pt x="1050" y="45"/>
                  </a:cubicBezTo>
                  <a:cubicBezTo>
                    <a:pt x="1189" y="57"/>
                    <a:pt x="1302" y="75"/>
                    <a:pt x="1440" y="75"/>
                  </a:cubicBezTo>
                </a:path>
              </a:pathLst>
            </a:custGeom>
            <a:noFill/>
            <a:ln w="9525" cap="flat"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sp>
          <p:nvSpPr>
            <p:cNvPr id="203825" name="Freeform 49">
              <a:extLst>
                <a:ext uri="{FF2B5EF4-FFF2-40B4-BE49-F238E27FC236}">
                  <a16:creationId xmlns:a16="http://schemas.microsoft.com/office/drawing/2014/main" id="{CDA7AED2-54C9-BFD9-F8F1-7C569E841FAB}"/>
                </a:ext>
              </a:extLst>
            </p:cNvPr>
            <p:cNvSpPr>
              <a:spLocks/>
            </p:cNvSpPr>
            <p:nvPr/>
          </p:nvSpPr>
          <p:spPr bwMode="auto">
            <a:xfrm>
              <a:off x="2061" y="13950"/>
              <a:ext cx="1440" cy="130"/>
            </a:xfrm>
            <a:custGeom>
              <a:avLst/>
              <a:gdLst>
                <a:gd name="T0" fmla="*/ 0 w 1440"/>
                <a:gd name="T1" fmla="*/ 45 h 130"/>
                <a:gd name="T2" fmla="*/ 90 w 1440"/>
                <a:gd name="T3" fmla="*/ 30 h 130"/>
                <a:gd name="T4" fmla="*/ 180 w 1440"/>
                <a:gd name="T5" fmla="*/ 0 h 130"/>
                <a:gd name="T6" fmla="*/ 360 w 1440"/>
                <a:gd name="T7" fmla="*/ 60 h 130"/>
                <a:gd name="T8" fmla="*/ 495 w 1440"/>
                <a:gd name="T9" fmla="*/ 45 h 130"/>
                <a:gd name="T10" fmla="*/ 510 w 1440"/>
                <a:gd name="T11" fmla="*/ 105 h 130"/>
                <a:gd name="T12" fmla="*/ 735 w 1440"/>
                <a:gd name="T13" fmla="*/ 45 h 130"/>
                <a:gd name="T14" fmla="*/ 780 w 1440"/>
                <a:gd name="T15" fmla="*/ 75 h 130"/>
                <a:gd name="T16" fmla="*/ 1050 w 1440"/>
                <a:gd name="T17" fmla="*/ 45 h 130"/>
                <a:gd name="T18" fmla="*/ 1440 w 1440"/>
                <a:gd name="T19" fmla="*/ 7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40" h="130">
                  <a:moveTo>
                    <a:pt x="0" y="45"/>
                  </a:moveTo>
                  <a:cubicBezTo>
                    <a:pt x="30" y="40"/>
                    <a:pt x="60" y="37"/>
                    <a:pt x="90" y="30"/>
                  </a:cubicBezTo>
                  <a:cubicBezTo>
                    <a:pt x="121" y="22"/>
                    <a:pt x="180" y="0"/>
                    <a:pt x="180" y="0"/>
                  </a:cubicBezTo>
                  <a:cubicBezTo>
                    <a:pt x="260" y="16"/>
                    <a:pt x="284" y="41"/>
                    <a:pt x="360" y="60"/>
                  </a:cubicBezTo>
                  <a:cubicBezTo>
                    <a:pt x="465" y="25"/>
                    <a:pt x="420" y="20"/>
                    <a:pt x="495" y="45"/>
                  </a:cubicBezTo>
                  <a:cubicBezTo>
                    <a:pt x="500" y="65"/>
                    <a:pt x="490" y="98"/>
                    <a:pt x="510" y="105"/>
                  </a:cubicBezTo>
                  <a:cubicBezTo>
                    <a:pt x="585" y="130"/>
                    <a:pt x="668" y="67"/>
                    <a:pt x="735" y="45"/>
                  </a:cubicBezTo>
                  <a:cubicBezTo>
                    <a:pt x="750" y="55"/>
                    <a:pt x="762" y="75"/>
                    <a:pt x="780" y="75"/>
                  </a:cubicBezTo>
                  <a:cubicBezTo>
                    <a:pt x="871" y="75"/>
                    <a:pt x="1050" y="45"/>
                    <a:pt x="1050" y="45"/>
                  </a:cubicBezTo>
                  <a:cubicBezTo>
                    <a:pt x="1189" y="57"/>
                    <a:pt x="1302" y="75"/>
                    <a:pt x="1440" y="75"/>
                  </a:cubicBezTo>
                </a:path>
              </a:pathLst>
            </a:custGeom>
            <a:noFill/>
            <a:ln w="9525" cap="flat"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PE"/>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a:extLst>
              <a:ext uri="{FF2B5EF4-FFF2-40B4-BE49-F238E27FC236}">
                <a16:creationId xmlns:a16="http://schemas.microsoft.com/office/drawing/2014/main" id="{2ADC1A38-084D-5D88-2251-57F231126514}"/>
              </a:ext>
            </a:extLst>
          </p:cNvPr>
          <p:cNvSpPr>
            <a:spLocks noGrp="1" noChangeArrowheads="1"/>
          </p:cNvSpPr>
          <p:nvPr>
            <p:ph type="title"/>
          </p:nvPr>
        </p:nvSpPr>
        <p:spPr/>
        <p:txBody>
          <a:bodyPr/>
          <a:lstStyle/>
          <a:p>
            <a:r>
              <a:rPr lang="es-ES" altLang="es-PE"/>
              <a:t>Sensores de proximidad</a:t>
            </a:r>
          </a:p>
        </p:txBody>
      </p:sp>
      <p:sp>
        <p:nvSpPr>
          <p:cNvPr id="205827" name="Rectangle 3">
            <a:extLst>
              <a:ext uri="{FF2B5EF4-FFF2-40B4-BE49-F238E27FC236}">
                <a16:creationId xmlns:a16="http://schemas.microsoft.com/office/drawing/2014/main" id="{0D90A043-0FF5-34D5-8FCF-A03DEBF76E0B}"/>
              </a:ext>
            </a:extLst>
          </p:cNvPr>
          <p:cNvSpPr>
            <a:spLocks noGrp="1" noChangeArrowheads="1"/>
          </p:cNvSpPr>
          <p:nvPr>
            <p:ph idx="1"/>
          </p:nvPr>
        </p:nvSpPr>
        <p:spPr/>
        <p:txBody>
          <a:bodyPr>
            <a:normAutofit/>
          </a:bodyPr>
          <a:lstStyle/>
          <a:p>
            <a:pPr>
              <a:lnSpc>
                <a:spcPct val="80000"/>
              </a:lnSpc>
            </a:pPr>
            <a:r>
              <a:rPr lang="es-ES" altLang="es-PE" b="1" dirty="0">
                <a:solidFill>
                  <a:srgbClr val="FF0000"/>
                </a:solidFill>
              </a:rPr>
              <a:t>Sensores de tipo inductivo:</a:t>
            </a:r>
          </a:p>
          <a:p>
            <a:pPr>
              <a:lnSpc>
                <a:spcPct val="80000"/>
              </a:lnSpc>
              <a:buFont typeface="Wingdings" panose="05000000000000000000" pitchFamily="2" charset="2"/>
              <a:buNone/>
            </a:pPr>
            <a:r>
              <a:rPr lang="es-ES" altLang="es-PE" dirty="0"/>
              <a:t>	Basados en el </a:t>
            </a:r>
            <a:r>
              <a:rPr lang="es-ES" altLang="es-PE" dirty="0" err="1"/>
              <a:t>fecto</a:t>
            </a:r>
            <a:r>
              <a:rPr lang="es-ES" altLang="es-PE" dirty="0"/>
              <a:t> Hall: cuando por un conductor circula corriente y se le aplica un campo magnético en dirección perpendicular a ésta, aparece una diferencia de potencial transversal. A la tensión obtenida se le denomina tensión Hall, y depende del grosor t del material en la dirección del campo magnético aplicado, de la corriente primaria I, del campo magnético aplicado B y de las propiedades eléctricas del material, recogidas en el coeficiente A. Estos parámetros se relacionan mediante la expresión:</a:t>
            </a:r>
          </a:p>
        </p:txBody>
      </p:sp>
      <p:sp>
        <p:nvSpPr>
          <p:cNvPr id="2" name="Marcador de número de diapositiva 4">
            <a:extLst>
              <a:ext uri="{FF2B5EF4-FFF2-40B4-BE49-F238E27FC236}">
                <a16:creationId xmlns:a16="http://schemas.microsoft.com/office/drawing/2014/main" id="{2A62D3D5-94BC-4F58-0DEE-F4ABB4A200D2}"/>
              </a:ext>
            </a:extLst>
          </p:cNvPr>
          <p:cNvSpPr>
            <a:spLocks noGrp="1"/>
          </p:cNvSpPr>
          <p:nvPr>
            <p:ph type="sldNum" sz="quarter" idx="4294967295"/>
          </p:nvPr>
        </p:nvSpPr>
        <p:spPr>
          <a:xfrm>
            <a:off x="0" y="0"/>
            <a:ext cx="0" cy="0"/>
          </a:xfrm>
        </p:spPr>
        <p:txBody>
          <a:bodyPr/>
          <a:lstStyle/>
          <a:p>
            <a:fld id="{8CC1D41A-5479-46E3-A1C9-A3A572C160F6}" type="slidenum">
              <a:rPr lang="es-ES" altLang="es-PE"/>
              <a:pPr/>
              <a:t>40</a:t>
            </a:fld>
            <a:endParaRPr lang="es-ES" altLang="es-PE"/>
          </a:p>
        </p:txBody>
      </p:sp>
      <p:sp>
        <p:nvSpPr>
          <p:cNvPr id="205875" name="Rectangle 51">
            <a:extLst>
              <a:ext uri="{FF2B5EF4-FFF2-40B4-BE49-F238E27FC236}">
                <a16:creationId xmlns:a16="http://schemas.microsoft.com/office/drawing/2014/main" id="{3AB3BED3-E015-5523-0F2F-4B04E3B9FEFA}"/>
              </a:ext>
            </a:extLst>
          </p:cNvPr>
          <p:cNvSpPr>
            <a:spLocks noChangeArrowheads="1"/>
          </p:cNvSpPr>
          <p:nvPr/>
        </p:nvSpPr>
        <p:spPr bwMode="auto">
          <a:xfrm>
            <a:off x="1524001" y="30395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205874" name="Object 50">
            <a:extLst>
              <a:ext uri="{FF2B5EF4-FFF2-40B4-BE49-F238E27FC236}">
                <a16:creationId xmlns:a16="http://schemas.microsoft.com/office/drawing/2014/main" id="{10944986-057D-4259-32FD-FDD8F5279F01}"/>
              </a:ext>
            </a:extLst>
          </p:cNvPr>
          <p:cNvGraphicFramePr>
            <a:graphicFrameLocks noChangeAspect="1"/>
          </p:cNvGraphicFramePr>
          <p:nvPr>
            <p:extLst>
              <p:ext uri="{D42A27DB-BD31-4B8C-83A1-F6EECF244321}">
                <p14:modId xmlns:p14="http://schemas.microsoft.com/office/powerpoint/2010/main" val="2963828870"/>
              </p:ext>
            </p:extLst>
          </p:nvPr>
        </p:nvGraphicFramePr>
        <p:xfrm>
          <a:off x="2640014" y="4485482"/>
          <a:ext cx="1944687" cy="1211263"/>
        </p:xfrm>
        <a:graphic>
          <a:graphicData uri="http://schemas.openxmlformats.org/presentationml/2006/ole">
            <mc:AlternateContent xmlns:mc="http://schemas.openxmlformats.org/markup-compatibility/2006">
              <mc:Choice xmlns:v="urn:schemas-microsoft-com:vml" Requires="v">
                <p:oleObj name="Ecuación" r:id="rId2" imgW="660113" imgH="406224" progId="Equation.3">
                  <p:embed/>
                </p:oleObj>
              </mc:Choice>
              <mc:Fallback>
                <p:oleObj name="Ecuación" r:id="rId2" imgW="660113" imgH="406224" progId="Equation.3">
                  <p:embed/>
                  <p:pic>
                    <p:nvPicPr>
                      <p:cNvPr id="205874" name="Object 50">
                        <a:extLst>
                          <a:ext uri="{FF2B5EF4-FFF2-40B4-BE49-F238E27FC236}">
                            <a16:creationId xmlns:a16="http://schemas.microsoft.com/office/drawing/2014/main" id="{10944986-057D-4259-32FD-FDD8F5279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014" y="4485482"/>
                        <a:ext cx="1944687" cy="1211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877" name="Rectangle 53">
            <a:extLst>
              <a:ext uri="{FF2B5EF4-FFF2-40B4-BE49-F238E27FC236}">
                <a16:creationId xmlns:a16="http://schemas.microsoft.com/office/drawing/2014/main" id="{691A791F-9BA9-B6B1-1AC2-ADF9079F828A}"/>
              </a:ext>
            </a:extLst>
          </p:cNvPr>
          <p:cNvSpPr>
            <a:spLocks noChangeArrowheads="1"/>
          </p:cNvSpPr>
          <p:nvPr/>
        </p:nvSpPr>
        <p:spPr bwMode="auto">
          <a:xfrm>
            <a:off x="1524001" y="2787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graphicFrame>
        <p:nvGraphicFramePr>
          <p:cNvPr id="205876" name="Object 52">
            <a:extLst>
              <a:ext uri="{FF2B5EF4-FFF2-40B4-BE49-F238E27FC236}">
                <a16:creationId xmlns:a16="http://schemas.microsoft.com/office/drawing/2014/main" id="{92D11139-E4DE-6085-68BF-46D4B50A6D21}"/>
              </a:ext>
            </a:extLst>
          </p:cNvPr>
          <p:cNvGraphicFramePr>
            <a:graphicFrameLocks noChangeAspect="1"/>
          </p:cNvGraphicFramePr>
          <p:nvPr>
            <p:extLst>
              <p:ext uri="{D42A27DB-BD31-4B8C-83A1-F6EECF244321}">
                <p14:modId xmlns:p14="http://schemas.microsoft.com/office/powerpoint/2010/main" val="3880633284"/>
              </p:ext>
            </p:extLst>
          </p:nvPr>
        </p:nvGraphicFramePr>
        <p:xfrm>
          <a:off x="5567363" y="4246564"/>
          <a:ext cx="3889375" cy="1689100"/>
        </p:xfrm>
        <a:graphic>
          <a:graphicData uri="http://schemas.openxmlformats.org/presentationml/2006/ole">
            <mc:AlternateContent xmlns:mc="http://schemas.openxmlformats.org/markup-compatibility/2006">
              <mc:Choice xmlns:v="urn:schemas-microsoft-com:vml" Requires="v">
                <p:oleObj name="Ecuación" r:id="rId4" imgW="2108200" imgH="914400" progId="Equation.3">
                  <p:embed/>
                </p:oleObj>
              </mc:Choice>
              <mc:Fallback>
                <p:oleObj name="Ecuación" r:id="rId4" imgW="2108200" imgH="914400" progId="Equation.3">
                  <p:embed/>
                  <p:pic>
                    <p:nvPicPr>
                      <p:cNvPr id="205876" name="Object 52">
                        <a:extLst>
                          <a:ext uri="{FF2B5EF4-FFF2-40B4-BE49-F238E27FC236}">
                            <a16:creationId xmlns:a16="http://schemas.microsoft.com/office/drawing/2014/main" id="{92D11139-E4DE-6085-68BF-46D4B50A6D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7363" y="4246564"/>
                        <a:ext cx="3889375" cy="168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F8A54277-4E0C-F4B3-471F-AC7E195AC90D}"/>
              </a:ext>
            </a:extLst>
          </p:cNvPr>
          <p:cNvSpPr>
            <a:spLocks noGrp="1" noChangeArrowheads="1"/>
          </p:cNvSpPr>
          <p:nvPr>
            <p:ph type="title"/>
          </p:nvPr>
        </p:nvSpPr>
        <p:spPr/>
        <p:txBody>
          <a:bodyPr/>
          <a:lstStyle/>
          <a:p>
            <a:r>
              <a:rPr lang="es-ES" altLang="es-PE"/>
              <a:t>Sensores de proximidad</a:t>
            </a:r>
          </a:p>
        </p:txBody>
      </p:sp>
      <p:sp>
        <p:nvSpPr>
          <p:cNvPr id="206851" name="Rectangle 3">
            <a:extLst>
              <a:ext uri="{FF2B5EF4-FFF2-40B4-BE49-F238E27FC236}">
                <a16:creationId xmlns:a16="http://schemas.microsoft.com/office/drawing/2014/main" id="{73992FED-2F97-1773-ADA0-7A3BD5DDF65F}"/>
              </a:ext>
            </a:extLst>
          </p:cNvPr>
          <p:cNvSpPr>
            <a:spLocks noGrp="1" noChangeArrowheads="1"/>
          </p:cNvSpPr>
          <p:nvPr>
            <p:ph idx="1"/>
          </p:nvPr>
        </p:nvSpPr>
        <p:spPr/>
        <p:txBody>
          <a:bodyPr/>
          <a:lstStyle/>
          <a:p>
            <a:pPr>
              <a:lnSpc>
                <a:spcPct val="80000"/>
              </a:lnSpc>
            </a:pPr>
            <a:r>
              <a:rPr lang="es-ES" altLang="es-PE" sz="2400" b="1">
                <a:solidFill>
                  <a:srgbClr val="FF0000"/>
                </a:solidFill>
              </a:rPr>
              <a:t>Sensores de tipo inductivo:</a:t>
            </a:r>
          </a:p>
          <a:p>
            <a:pPr>
              <a:lnSpc>
                <a:spcPct val="80000"/>
              </a:lnSpc>
              <a:buFont typeface="Wingdings" panose="05000000000000000000" pitchFamily="2" charset="2"/>
              <a:buNone/>
            </a:pPr>
            <a:r>
              <a:rPr lang="es-ES" altLang="es-PE" sz="1800"/>
              <a:t>	</a:t>
            </a:r>
          </a:p>
        </p:txBody>
      </p:sp>
      <p:sp>
        <p:nvSpPr>
          <p:cNvPr id="2" name="Marcador de número de diapositiva 4">
            <a:extLst>
              <a:ext uri="{FF2B5EF4-FFF2-40B4-BE49-F238E27FC236}">
                <a16:creationId xmlns:a16="http://schemas.microsoft.com/office/drawing/2014/main" id="{7EFD545C-6DED-D9BE-D3CB-C1E2C0F74372}"/>
              </a:ext>
            </a:extLst>
          </p:cNvPr>
          <p:cNvSpPr>
            <a:spLocks noGrp="1"/>
          </p:cNvSpPr>
          <p:nvPr>
            <p:ph type="sldNum" sz="quarter" idx="4294967295"/>
          </p:nvPr>
        </p:nvSpPr>
        <p:spPr>
          <a:xfrm>
            <a:off x="0" y="0"/>
            <a:ext cx="0" cy="0"/>
          </a:xfrm>
        </p:spPr>
        <p:txBody>
          <a:bodyPr/>
          <a:lstStyle/>
          <a:p>
            <a:fld id="{AA142E8F-00A4-431B-A71A-06AA5474895C}" type="slidenum">
              <a:rPr lang="es-ES" altLang="es-PE"/>
              <a:pPr/>
              <a:t>41</a:t>
            </a:fld>
            <a:endParaRPr lang="es-ES" altLang="es-PE"/>
          </a:p>
        </p:txBody>
      </p:sp>
      <p:sp>
        <p:nvSpPr>
          <p:cNvPr id="206852" name="Rectangle 4">
            <a:extLst>
              <a:ext uri="{FF2B5EF4-FFF2-40B4-BE49-F238E27FC236}">
                <a16:creationId xmlns:a16="http://schemas.microsoft.com/office/drawing/2014/main" id="{7A2326F8-B238-08DF-90FA-CBC5748DB2A2}"/>
              </a:ext>
            </a:extLst>
          </p:cNvPr>
          <p:cNvSpPr>
            <a:spLocks noChangeArrowheads="1"/>
          </p:cNvSpPr>
          <p:nvPr/>
        </p:nvSpPr>
        <p:spPr bwMode="auto">
          <a:xfrm>
            <a:off x="1524001" y="30395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sp>
        <p:nvSpPr>
          <p:cNvPr id="206854" name="Rectangle 6">
            <a:extLst>
              <a:ext uri="{FF2B5EF4-FFF2-40B4-BE49-F238E27FC236}">
                <a16:creationId xmlns:a16="http://schemas.microsoft.com/office/drawing/2014/main" id="{1A7F8F7A-C6DF-6BB7-BFA8-52DA1F6AE9B7}"/>
              </a:ext>
            </a:extLst>
          </p:cNvPr>
          <p:cNvSpPr>
            <a:spLocks noChangeArrowheads="1"/>
          </p:cNvSpPr>
          <p:nvPr/>
        </p:nvSpPr>
        <p:spPr bwMode="auto">
          <a:xfrm>
            <a:off x="1524001" y="2787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pic>
        <p:nvPicPr>
          <p:cNvPr id="206856" name="Picture 8">
            <a:extLst>
              <a:ext uri="{FF2B5EF4-FFF2-40B4-BE49-F238E27FC236}">
                <a16:creationId xmlns:a16="http://schemas.microsoft.com/office/drawing/2014/main" id="{F002F2A1-2988-37B4-5065-73E185CFEB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939" t="32487" r="23227" b="22244"/>
          <a:stretch>
            <a:fillRect/>
          </a:stretch>
        </p:blipFill>
        <p:spPr bwMode="auto">
          <a:xfrm>
            <a:off x="2869697" y="2287588"/>
            <a:ext cx="6408737" cy="382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F6F94672-3443-FAFC-C48C-3D52F27E682C}"/>
              </a:ext>
            </a:extLst>
          </p:cNvPr>
          <p:cNvSpPr>
            <a:spLocks noGrp="1" noChangeArrowheads="1"/>
          </p:cNvSpPr>
          <p:nvPr>
            <p:ph type="title"/>
          </p:nvPr>
        </p:nvSpPr>
        <p:spPr/>
        <p:txBody>
          <a:bodyPr/>
          <a:lstStyle/>
          <a:p>
            <a:r>
              <a:rPr lang="es-ES" altLang="es-PE"/>
              <a:t>Sensores de proximidad</a:t>
            </a:r>
          </a:p>
        </p:txBody>
      </p:sp>
      <p:sp>
        <p:nvSpPr>
          <p:cNvPr id="208899" name="Rectangle 3">
            <a:extLst>
              <a:ext uri="{FF2B5EF4-FFF2-40B4-BE49-F238E27FC236}">
                <a16:creationId xmlns:a16="http://schemas.microsoft.com/office/drawing/2014/main" id="{5C5139AA-51E8-67CC-84D3-4F936F7DD9CB}"/>
              </a:ext>
            </a:extLst>
          </p:cNvPr>
          <p:cNvSpPr>
            <a:spLocks noGrp="1" noChangeArrowheads="1"/>
          </p:cNvSpPr>
          <p:nvPr>
            <p:ph idx="1"/>
          </p:nvPr>
        </p:nvSpPr>
        <p:spPr/>
        <p:txBody>
          <a:bodyPr/>
          <a:lstStyle/>
          <a:p>
            <a:pPr>
              <a:lnSpc>
                <a:spcPct val="80000"/>
              </a:lnSpc>
            </a:pPr>
            <a:r>
              <a:rPr lang="es-ES" altLang="es-PE" sz="2400" b="1">
                <a:solidFill>
                  <a:srgbClr val="FF0000"/>
                </a:solidFill>
              </a:rPr>
              <a:t>Sensores de tipo inductivo:</a:t>
            </a:r>
          </a:p>
          <a:p>
            <a:pPr>
              <a:lnSpc>
                <a:spcPct val="80000"/>
              </a:lnSpc>
              <a:buFont typeface="Wingdings" panose="05000000000000000000" pitchFamily="2" charset="2"/>
              <a:buNone/>
            </a:pPr>
            <a:r>
              <a:rPr lang="es-ES" altLang="es-PE" sz="1800"/>
              <a:t>	</a:t>
            </a:r>
          </a:p>
        </p:txBody>
      </p:sp>
      <p:sp>
        <p:nvSpPr>
          <p:cNvPr id="2" name="Marcador de número de diapositiva 4">
            <a:extLst>
              <a:ext uri="{FF2B5EF4-FFF2-40B4-BE49-F238E27FC236}">
                <a16:creationId xmlns:a16="http://schemas.microsoft.com/office/drawing/2014/main" id="{7D05B73C-B77B-46CC-72C9-1147F24C562E}"/>
              </a:ext>
            </a:extLst>
          </p:cNvPr>
          <p:cNvSpPr>
            <a:spLocks noGrp="1"/>
          </p:cNvSpPr>
          <p:nvPr>
            <p:ph type="sldNum" sz="quarter" idx="4294967295"/>
          </p:nvPr>
        </p:nvSpPr>
        <p:spPr>
          <a:xfrm>
            <a:off x="0" y="0"/>
            <a:ext cx="0" cy="0"/>
          </a:xfrm>
        </p:spPr>
        <p:txBody>
          <a:bodyPr/>
          <a:lstStyle/>
          <a:p>
            <a:fld id="{762ACD3E-0FA2-4E64-9D53-E85FE0E8EDD0}" type="slidenum">
              <a:rPr lang="es-ES" altLang="es-PE"/>
              <a:pPr/>
              <a:t>42</a:t>
            </a:fld>
            <a:endParaRPr lang="es-ES" altLang="es-PE"/>
          </a:p>
        </p:txBody>
      </p:sp>
      <p:sp>
        <p:nvSpPr>
          <p:cNvPr id="208900" name="Rectangle 4">
            <a:extLst>
              <a:ext uri="{FF2B5EF4-FFF2-40B4-BE49-F238E27FC236}">
                <a16:creationId xmlns:a16="http://schemas.microsoft.com/office/drawing/2014/main" id="{2F32F3D8-CA49-5F7E-8347-EC39EB4989D5}"/>
              </a:ext>
            </a:extLst>
          </p:cNvPr>
          <p:cNvSpPr>
            <a:spLocks noChangeArrowheads="1"/>
          </p:cNvSpPr>
          <p:nvPr/>
        </p:nvSpPr>
        <p:spPr bwMode="auto">
          <a:xfrm>
            <a:off x="1524001" y="30395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sp>
        <p:nvSpPr>
          <p:cNvPr id="208901" name="Rectangle 5">
            <a:extLst>
              <a:ext uri="{FF2B5EF4-FFF2-40B4-BE49-F238E27FC236}">
                <a16:creationId xmlns:a16="http://schemas.microsoft.com/office/drawing/2014/main" id="{8BC3D1C1-29A2-4022-8887-0AB470478417}"/>
              </a:ext>
            </a:extLst>
          </p:cNvPr>
          <p:cNvSpPr>
            <a:spLocks noChangeArrowheads="1"/>
          </p:cNvSpPr>
          <p:nvPr/>
        </p:nvSpPr>
        <p:spPr bwMode="auto">
          <a:xfrm>
            <a:off x="1524001" y="2787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PE"/>
          </a:p>
        </p:txBody>
      </p:sp>
      <p:pic>
        <p:nvPicPr>
          <p:cNvPr id="208903" name="Picture 7">
            <a:extLst>
              <a:ext uri="{FF2B5EF4-FFF2-40B4-BE49-F238E27FC236}">
                <a16:creationId xmlns:a16="http://schemas.microsoft.com/office/drawing/2014/main" id="{0A6C3A02-A79C-0A66-759E-771C0869DA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476" t="27365" r="21208" b="13585"/>
          <a:stretch>
            <a:fillRect/>
          </a:stretch>
        </p:blipFill>
        <p:spPr bwMode="auto">
          <a:xfrm>
            <a:off x="1609725" y="1905000"/>
            <a:ext cx="5256213"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8904" name="Text Box 8">
            <a:extLst>
              <a:ext uri="{FF2B5EF4-FFF2-40B4-BE49-F238E27FC236}">
                <a16:creationId xmlns:a16="http://schemas.microsoft.com/office/drawing/2014/main" id="{A319ADAC-992D-BA1D-E98A-733A496A2F68}"/>
              </a:ext>
            </a:extLst>
          </p:cNvPr>
          <p:cNvSpPr txBox="1">
            <a:spLocks noChangeArrowheads="1"/>
          </p:cNvSpPr>
          <p:nvPr/>
        </p:nvSpPr>
        <p:spPr bwMode="auto">
          <a:xfrm>
            <a:off x="7267575" y="2783350"/>
            <a:ext cx="280828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ES_tradnl" altLang="es-PE" sz="2400" dirty="0"/>
              <a:t>Sensores basados en un cambio de inductancia debido a la presencia de un objeto metálico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1 Título">
            <a:extLst>
              <a:ext uri="{FF2B5EF4-FFF2-40B4-BE49-F238E27FC236}">
                <a16:creationId xmlns:a16="http://schemas.microsoft.com/office/drawing/2014/main" id="{12CC8985-4FC1-1F3D-0C8D-028DCC3C9137}"/>
              </a:ext>
            </a:extLst>
          </p:cNvPr>
          <p:cNvSpPr>
            <a:spLocks noGrp="1"/>
          </p:cNvSpPr>
          <p:nvPr>
            <p:ph type="title"/>
          </p:nvPr>
        </p:nvSpPr>
        <p:spPr/>
        <p:txBody>
          <a:bodyPr/>
          <a:lstStyle/>
          <a:p>
            <a:pPr algn="ctr"/>
            <a:r>
              <a:rPr lang="es-MX" altLang="es-PE"/>
              <a:t>Ópticos</a:t>
            </a:r>
          </a:p>
        </p:txBody>
      </p:sp>
      <p:sp>
        <p:nvSpPr>
          <p:cNvPr id="10243" name="2 Marcador de contenido">
            <a:extLst>
              <a:ext uri="{FF2B5EF4-FFF2-40B4-BE49-F238E27FC236}">
                <a16:creationId xmlns:a16="http://schemas.microsoft.com/office/drawing/2014/main" id="{2F276A95-68B9-A5AB-D6EB-A040797DE13F}"/>
              </a:ext>
            </a:extLst>
          </p:cNvPr>
          <p:cNvSpPr>
            <a:spLocks noGrp="1"/>
          </p:cNvSpPr>
          <p:nvPr>
            <p:ph idx="1"/>
          </p:nvPr>
        </p:nvSpPr>
        <p:spPr/>
        <p:txBody>
          <a:bodyPr/>
          <a:lstStyle/>
          <a:p>
            <a:pPr algn="just"/>
            <a:r>
              <a:rPr lang="es-ES" altLang="es-PE"/>
              <a:t>Los sensores ópticos se componen de dos elementos principales, un sensor y un emisor de luz, pudiendo estar este ultimo integrado dentro del sensor o estar situado fuera.</a:t>
            </a:r>
          </a:p>
          <a:p>
            <a:pPr algn="just"/>
            <a:endParaRPr lang="es-ES" altLang="es-PE"/>
          </a:p>
          <a:p>
            <a:pPr algn="just"/>
            <a:r>
              <a:rPr lang="es-ES" altLang="es-PE"/>
              <a:t> La fuente de luz genera luz de una cierta frecuencia para que el sensor pueda detectarla más fácilmente y diferenciarla de otras fuentes cercanas. </a:t>
            </a:r>
            <a:endParaRPr lang="es-MX" altLang="es-PE"/>
          </a:p>
        </p:txBody>
      </p:sp>
      <p:sp>
        <p:nvSpPr>
          <p:cNvPr id="10244" name="3 Marcador de número de diapositiva">
            <a:extLst>
              <a:ext uri="{FF2B5EF4-FFF2-40B4-BE49-F238E27FC236}">
                <a16:creationId xmlns:a16="http://schemas.microsoft.com/office/drawing/2014/main" id="{D2707123-2EA9-B72D-56C7-E120183916AF}"/>
              </a:ext>
            </a:extLst>
          </p:cNvPr>
          <p:cNvSpPr>
            <a:spLocks noGrp="1"/>
          </p:cNvSpPr>
          <p:nvPr>
            <p:ph type="sldNum" sz="quarter" idx="4294967295"/>
          </p:nvPr>
        </p:nvSpPr>
        <p:spPr>
          <a:xfrm>
            <a:off x="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93AA18-86E6-4E77-B0D8-F10FB6FC82BF}" type="slidenum">
              <a:rPr lang="es-ES" altLang="en-US"/>
              <a:pPr eaLnBrk="1" hangingPunct="1"/>
              <a:t>43</a:t>
            </a:fld>
            <a:endParaRPr lang="es-ES" altLang="en-US"/>
          </a:p>
        </p:txBody>
      </p:sp>
    </p:spTree>
    <p:extLst>
      <p:ext uri="{BB962C8B-B14F-4D97-AF65-F5344CB8AC3E}">
        <p14:creationId xmlns:p14="http://schemas.microsoft.com/office/powerpoint/2010/main" val="20706619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Título">
            <a:extLst>
              <a:ext uri="{FF2B5EF4-FFF2-40B4-BE49-F238E27FC236}">
                <a16:creationId xmlns:a16="http://schemas.microsoft.com/office/drawing/2014/main" id="{23B92161-2289-B49E-4839-2808CBC31F28}"/>
              </a:ext>
            </a:extLst>
          </p:cNvPr>
          <p:cNvSpPr>
            <a:spLocks noGrp="1"/>
          </p:cNvSpPr>
          <p:nvPr>
            <p:ph type="title"/>
          </p:nvPr>
        </p:nvSpPr>
        <p:spPr/>
        <p:txBody>
          <a:bodyPr/>
          <a:lstStyle/>
          <a:p>
            <a:pPr algn="ctr"/>
            <a:r>
              <a:rPr lang="es-MX" altLang="es-PE"/>
              <a:t>Ópticos</a:t>
            </a:r>
          </a:p>
        </p:txBody>
      </p:sp>
      <p:sp>
        <p:nvSpPr>
          <p:cNvPr id="11267" name="2 Marcador de contenido">
            <a:extLst>
              <a:ext uri="{FF2B5EF4-FFF2-40B4-BE49-F238E27FC236}">
                <a16:creationId xmlns:a16="http://schemas.microsoft.com/office/drawing/2014/main" id="{3D47C6D8-809C-41F9-273F-B5FD77001D4D}"/>
              </a:ext>
            </a:extLst>
          </p:cNvPr>
          <p:cNvSpPr>
            <a:spLocks noGrp="1"/>
          </p:cNvSpPr>
          <p:nvPr>
            <p:ph idx="1"/>
          </p:nvPr>
        </p:nvSpPr>
        <p:spPr/>
        <p:txBody>
          <a:bodyPr/>
          <a:lstStyle/>
          <a:p>
            <a:pPr algn="just"/>
            <a:r>
              <a:rPr lang="es-ES" altLang="es-PE"/>
              <a:t>El tipo de luz más usado es el infrarrojo y, en este caso,  para diferenciar la luz de la fuente se deja una frecuencia fija y lo que se hace es emitir pulsos. El sensor simplemente descartará cualquier luz infrarroja que le llegue y que no sea intermitente, pudiendo así diferenciar la luz de la fuente de radiación infrarroja proveniente de otros objetos que generen calor. </a:t>
            </a:r>
            <a:endParaRPr lang="es-MX" altLang="es-PE"/>
          </a:p>
        </p:txBody>
      </p:sp>
      <p:sp>
        <p:nvSpPr>
          <p:cNvPr id="11268" name="3 Marcador de número de diapositiva">
            <a:extLst>
              <a:ext uri="{FF2B5EF4-FFF2-40B4-BE49-F238E27FC236}">
                <a16:creationId xmlns:a16="http://schemas.microsoft.com/office/drawing/2014/main" id="{11081502-44F9-D735-4BBF-469619769A3A}"/>
              </a:ext>
            </a:extLst>
          </p:cNvPr>
          <p:cNvSpPr>
            <a:spLocks noGrp="1"/>
          </p:cNvSpPr>
          <p:nvPr>
            <p:ph type="sldNum" sz="quarter" idx="4294967295"/>
          </p:nvPr>
        </p:nvSpPr>
        <p:spPr>
          <a:xfrm>
            <a:off x="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ES" altLang="en-US" dirty="0"/>
          </a:p>
        </p:txBody>
      </p:sp>
    </p:spTree>
    <p:extLst>
      <p:ext uri="{BB962C8B-B14F-4D97-AF65-F5344CB8AC3E}">
        <p14:creationId xmlns:p14="http://schemas.microsoft.com/office/powerpoint/2010/main" val="35599336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Título">
            <a:extLst>
              <a:ext uri="{FF2B5EF4-FFF2-40B4-BE49-F238E27FC236}">
                <a16:creationId xmlns:a16="http://schemas.microsoft.com/office/drawing/2014/main" id="{F9FECAC7-C9C9-349B-DACC-E1672F0AB7E0}"/>
              </a:ext>
            </a:extLst>
          </p:cNvPr>
          <p:cNvSpPr>
            <a:spLocks noGrp="1"/>
          </p:cNvSpPr>
          <p:nvPr>
            <p:ph type="title"/>
          </p:nvPr>
        </p:nvSpPr>
        <p:spPr/>
        <p:txBody>
          <a:bodyPr/>
          <a:lstStyle/>
          <a:p>
            <a:pPr algn="ctr"/>
            <a:r>
              <a:rPr lang="es-MX" altLang="es-PE"/>
              <a:t>Tipos de Sensores Ópticos</a:t>
            </a:r>
          </a:p>
        </p:txBody>
      </p:sp>
      <p:sp>
        <p:nvSpPr>
          <p:cNvPr id="12291" name="2 Marcador de contenido">
            <a:extLst>
              <a:ext uri="{FF2B5EF4-FFF2-40B4-BE49-F238E27FC236}">
                <a16:creationId xmlns:a16="http://schemas.microsoft.com/office/drawing/2014/main" id="{929039B0-0D85-E116-E876-7C8F93E43A5F}"/>
              </a:ext>
            </a:extLst>
          </p:cNvPr>
          <p:cNvSpPr>
            <a:spLocks noGrp="1"/>
          </p:cNvSpPr>
          <p:nvPr>
            <p:ph idx="1"/>
          </p:nvPr>
        </p:nvSpPr>
        <p:spPr/>
        <p:txBody>
          <a:bodyPr/>
          <a:lstStyle/>
          <a:p>
            <a:pPr algn="just"/>
            <a:r>
              <a:rPr lang="es-ES" altLang="es-PE"/>
              <a:t>Dentro de esta categoría hay dos tipos principales: </a:t>
            </a:r>
            <a:r>
              <a:rPr lang="es-ES" altLang="es-PE" b="1"/>
              <a:t>los sensores basados en la reflexión y los que trabajan en modo barrera.</a:t>
            </a:r>
          </a:p>
          <a:p>
            <a:pPr algn="just"/>
            <a:endParaRPr lang="es-ES" altLang="es-PE" b="1"/>
          </a:p>
          <a:p>
            <a:pPr algn="just"/>
            <a:r>
              <a:rPr lang="es-ES" altLang="es-PE"/>
              <a:t>Los primeros tienen el emisor de luz y el detector muy próximos y deducen la distancia a la que está un objeto dependiendo del ángulo que forma la luz al rebotar sobre este. Esto hace que su rango sea bastante limitado.</a:t>
            </a:r>
            <a:endParaRPr lang="es-MX" altLang="es-PE" b="1"/>
          </a:p>
        </p:txBody>
      </p:sp>
      <p:sp>
        <p:nvSpPr>
          <p:cNvPr id="12292" name="3 Marcador de número de diapositiva">
            <a:extLst>
              <a:ext uri="{FF2B5EF4-FFF2-40B4-BE49-F238E27FC236}">
                <a16:creationId xmlns:a16="http://schemas.microsoft.com/office/drawing/2014/main" id="{8F16BEEC-7263-8345-709D-F8639D9CFE68}"/>
              </a:ext>
            </a:extLst>
          </p:cNvPr>
          <p:cNvSpPr>
            <a:spLocks noGrp="1"/>
          </p:cNvSpPr>
          <p:nvPr>
            <p:ph type="sldNum" sz="quarter" idx="4294967295"/>
          </p:nvPr>
        </p:nvSpPr>
        <p:spPr>
          <a:xfrm>
            <a:off x="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ES" altLang="en-US" dirty="0"/>
          </a:p>
        </p:txBody>
      </p:sp>
    </p:spTree>
    <p:extLst>
      <p:ext uri="{BB962C8B-B14F-4D97-AF65-F5344CB8AC3E}">
        <p14:creationId xmlns:p14="http://schemas.microsoft.com/office/powerpoint/2010/main" val="4235941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a:extLst>
              <a:ext uri="{FF2B5EF4-FFF2-40B4-BE49-F238E27FC236}">
                <a16:creationId xmlns:a16="http://schemas.microsoft.com/office/drawing/2014/main" id="{BC16C158-F54E-5CC5-81EE-0E31271688AE}"/>
              </a:ext>
            </a:extLst>
          </p:cNvPr>
          <p:cNvSpPr>
            <a:spLocks noGrp="1" noChangeArrowheads="1"/>
          </p:cNvSpPr>
          <p:nvPr>
            <p:ph type="title"/>
          </p:nvPr>
        </p:nvSpPr>
        <p:spPr/>
        <p:txBody>
          <a:bodyPr/>
          <a:lstStyle/>
          <a:p>
            <a:r>
              <a:rPr lang="es-ES" altLang="es-PE"/>
              <a:t>Sensores de proximidad</a:t>
            </a:r>
          </a:p>
        </p:txBody>
      </p:sp>
      <p:sp>
        <p:nvSpPr>
          <p:cNvPr id="204803" name="Rectangle 3">
            <a:extLst>
              <a:ext uri="{FF2B5EF4-FFF2-40B4-BE49-F238E27FC236}">
                <a16:creationId xmlns:a16="http://schemas.microsoft.com/office/drawing/2014/main" id="{88A7722F-54AD-288F-0E97-CAA4B8FA26C4}"/>
              </a:ext>
            </a:extLst>
          </p:cNvPr>
          <p:cNvSpPr>
            <a:spLocks noGrp="1" noChangeArrowheads="1"/>
          </p:cNvSpPr>
          <p:nvPr>
            <p:ph idx="1"/>
          </p:nvPr>
        </p:nvSpPr>
        <p:spPr/>
        <p:txBody>
          <a:bodyPr/>
          <a:lstStyle/>
          <a:p>
            <a:pPr>
              <a:lnSpc>
                <a:spcPct val="80000"/>
              </a:lnSpc>
            </a:pPr>
            <a:r>
              <a:rPr lang="es-ES" altLang="es-PE" b="1" dirty="0">
                <a:solidFill>
                  <a:srgbClr val="FF0000"/>
                </a:solidFill>
              </a:rPr>
              <a:t>Sensores de tipo óptico:</a:t>
            </a:r>
          </a:p>
          <a:p>
            <a:pPr lvl="1"/>
            <a:r>
              <a:rPr lang="es-ES" altLang="es-PE" dirty="0"/>
              <a:t>Sensores basados en el efecto fotovoltaico </a:t>
            </a:r>
            <a:r>
              <a:rPr lang="es-ES" altLang="es-PE" dirty="0">
                <a:sym typeface="Wingdings" panose="05000000000000000000" pitchFamily="2" charset="2"/>
              </a:rPr>
              <a:t></a:t>
            </a:r>
            <a:r>
              <a:rPr lang="es-ES" altLang="es-PE" dirty="0"/>
              <a:t> fotodiodos. Se basan en el efecto fotovoltaico (generación de un potencial cuando una radiación ioniza una zona donde hay una barrera de potencial). Así, según sea la radiación incidente, se produce un cambio en el potencial de contacto de la unión p-n o en la corriente de cortocircuito.</a:t>
            </a:r>
          </a:p>
          <a:p>
            <a:pPr lvl="1"/>
            <a:r>
              <a:rPr lang="es-ES" altLang="es-PE" dirty="0"/>
              <a:t>Utilizados como detectores de presencia, se basan en la interrupción del haz de luz por parte del objeto. Tienen un alcance de hasta 50m en condiciones ideales, pero puede verse disminuido este alcance si hay humo, polvo o si se acumulan partículas contaminantes sobres las partes ópticas.</a:t>
            </a:r>
            <a:endParaRPr lang="es-ES" altLang="es-PE" dirty="0">
              <a:solidFill>
                <a:srgbClr val="FF0000"/>
              </a:solidFill>
            </a:endParaRPr>
          </a:p>
          <a:p>
            <a:pPr>
              <a:lnSpc>
                <a:spcPct val="80000"/>
              </a:lnSpc>
              <a:buFont typeface="Wingdings" panose="05000000000000000000" pitchFamily="2" charset="2"/>
              <a:buNone/>
            </a:pPr>
            <a:endParaRPr lang="es-ES" altLang="es-PE" sz="1800" dirty="0">
              <a:solidFill>
                <a:srgbClr val="FF0000"/>
              </a:solidFill>
            </a:endParaRPr>
          </a:p>
        </p:txBody>
      </p:sp>
      <p:sp>
        <p:nvSpPr>
          <p:cNvPr id="2" name="Marcador de número de diapositiva 4">
            <a:extLst>
              <a:ext uri="{FF2B5EF4-FFF2-40B4-BE49-F238E27FC236}">
                <a16:creationId xmlns:a16="http://schemas.microsoft.com/office/drawing/2014/main" id="{CC45E414-DEEA-A79A-0F39-65D72ABD18C8}"/>
              </a:ext>
            </a:extLst>
          </p:cNvPr>
          <p:cNvSpPr>
            <a:spLocks noGrp="1"/>
          </p:cNvSpPr>
          <p:nvPr>
            <p:ph type="sldNum" sz="quarter" idx="4294967295"/>
          </p:nvPr>
        </p:nvSpPr>
        <p:spPr>
          <a:xfrm>
            <a:off x="0" y="0"/>
            <a:ext cx="0" cy="0"/>
          </a:xfrm>
        </p:spPr>
        <p:txBody>
          <a:bodyPr/>
          <a:lstStyle/>
          <a:p>
            <a:endParaRPr lang="es-ES" altLang="es-PE"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Título">
            <a:extLst>
              <a:ext uri="{FF2B5EF4-FFF2-40B4-BE49-F238E27FC236}">
                <a16:creationId xmlns:a16="http://schemas.microsoft.com/office/drawing/2014/main" id="{D8A0551A-B88C-4064-CE1A-1CA9186FF9B9}"/>
              </a:ext>
            </a:extLst>
          </p:cNvPr>
          <p:cNvSpPr>
            <a:spLocks noGrp="1"/>
          </p:cNvSpPr>
          <p:nvPr>
            <p:ph type="title"/>
          </p:nvPr>
        </p:nvSpPr>
        <p:spPr/>
        <p:txBody>
          <a:bodyPr/>
          <a:lstStyle/>
          <a:p>
            <a:pPr algn="ctr"/>
            <a:r>
              <a:rPr lang="es-MX" altLang="es-PE"/>
              <a:t>Sensores Ópticos</a:t>
            </a:r>
          </a:p>
        </p:txBody>
      </p:sp>
      <p:pic>
        <p:nvPicPr>
          <p:cNvPr id="14339" name="4 Marcador de contenido" descr="Recorte de pantalla">
            <a:extLst>
              <a:ext uri="{FF2B5EF4-FFF2-40B4-BE49-F238E27FC236}">
                <a16:creationId xmlns:a16="http://schemas.microsoft.com/office/drawing/2014/main" id="{DD43B872-13D2-3D34-8CA9-012DB5BFA0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80760" y="3752849"/>
            <a:ext cx="5658640" cy="2600688"/>
          </a:xfrm>
        </p:spPr>
      </p:pic>
      <p:sp>
        <p:nvSpPr>
          <p:cNvPr id="14340" name="3 Marcador de número de diapositiva">
            <a:extLst>
              <a:ext uri="{FF2B5EF4-FFF2-40B4-BE49-F238E27FC236}">
                <a16:creationId xmlns:a16="http://schemas.microsoft.com/office/drawing/2014/main" id="{A742372B-83AF-1DAA-83C2-8A2654C72184}"/>
              </a:ext>
            </a:extLst>
          </p:cNvPr>
          <p:cNvSpPr>
            <a:spLocks noGrp="1"/>
          </p:cNvSpPr>
          <p:nvPr>
            <p:ph type="sldNum" sz="quarter" idx="4294967295"/>
          </p:nvPr>
        </p:nvSpPr>
        <p:spPr>
          <a:xfrm>
            <a:off x="0" y="0"/>
            <a:ext cx="0" cy="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ES" altLang="en-US" dirty="0"/>
          </a:p>
        </p:txBody>
      </p:sp>
      <p:pic>
        <p:nvPicPr>
          <p:cNvPr id="14341" name="5 Imagen" descr="Recorte de pantalla">
            <a:extLst>
              <a:ext uri="{FF2B5EF4-FFF2-40B4-BE49-F238E27FC236}">
                <a16:creationId xmlns:a16="http://schemas.microsoft.com/office/drawing/2014/main" id="{AD376E81-222C-4CB3-EB8C-CF31A23BD0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80760" y="1263058"/>
            <a:ext cx="5324475" cy="236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2">
            <a:extLst>
              <a:ext uri="{FF2B5EF4-FFF2-40B4-BE49-F238E27FC236}">
                <a16:creationId xmlns:a16="http://schemas.microsoft.com/office/drawing/2014/main" id="{16109DB8-9125-A3D6-8C34-1081EE50F3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336876"/>
            <a:ext cx="3097213" cy="4579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34096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4A412-4703-EBCA-E954-CB679C4F80F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202C411-8EBE-1719-94BF-38BB26F59D48}"/>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
        <p:nvSpPr>
          <p:cNvPr id="6" name="Título 5">
            <a:extLst>
              <a:ext uri="{FF2B5EF4-FFF2-40B4-BE49-F238E27FC236}">
                <a16:creationId xmlns:a16="http://schemas.microsoft.com/office/drawing/2014/main" id="{185B8F05-E662-B601-F0E4-8FD3E65B2B3E}"/>
              </a:ext>
            </a:extLst>
          </p:cNvPr>
          <p:cNvSpPr>
            <a:spLocks noGrp="1"/>
          </p:cNvSpPr>
          <p:nvPr>
            <p:ph type="title"/>
          </p:nvPr>
        </p:nvSpPr>
        <p:spPr>
          <a:xfrm>
            <a:off x="910844" y="336041"/>
            <a:ext cx="9757156" cy="815812"/>
          </a:xfrm>
        </p:spPr>
        <p:txBody>
          <a:bodyPr>
            <a:normAutofit/>
          </a:bodyPr>
          <a:lstStyle/>
          <a:p>
            <a:r>
              <a:rPr lang="es-PE" sz="3600" b="1" dirty="0"/>
              <a:t>Elemento Final de Control</a:t>
            </a:r>
          </a:p>
        </p:txBody>
      </p:sp>
      <p:sp>
        <p:nvSpPr>
          <p:cNvPr id="7" name="Marcador de contenido 6">
            <a:extLst>
              <a:ext uri="{FF2B5EF4-FFF2-40B4-BE49-F238E27FC236}">
                <a16:creationId xmlns:a16="http://schemas.microsoft.com/office/drawing/2014/main" id="{9D1D05DD-F938-4BF9-D5AC-6B17EE4A790C}"/>
              </a:ext>
            </a:extLst>
          </p:cNvPr>
          <p:cNvSpPr>
            <a:spLocks noGrp="1"/>
          </p:cNvSpPr>
          <p:nvPr>
            <p:ph idx="1"/>
          </p:nvPr>
        </p:nvSpPr>
        <p:spPr>
          <a:xfrm>
            <a:off x="785060" y="1559636"/>
            <a:ext cx="9882940" cy="4557002"/>
          </a:xfrm>
        </p:spPr>
        <p:txBody>
          <a:bodyPr/>
          <a:lstStyle/>
          <a:p>
            <a:r>
              <a:rPr lang="es-PE" dirty="0"/>
              <a:t>Dispositivo que </a:t>
            </a:r>
            <a:r>
              <a:rPr lang="es-PE" b="1" dirty="0"/>
              <a:t>actúa físicamente</a:t>
            </a:r>
            <a:r>
              <a:rPr lang="es-PE" dirty="0"/>
              <a:t> sobre el proceso, recibiendo señales del controlador.</a:t>
            </a:r>
          </a:p>
          <a:p>
            <a:r>
              <a:rPr lang="es-PE" dirty="0"/>
              <a:t>Ejemplo: Una </a:t>
            </a:r>
            <a:r>
              <a:rPr lang="es-PE" b="1" dirty="0"/>
              <a:t>válvula de control</a:t>
            </a:r>
            <a:r>
              <a:rPr lang="es-PE" dirty="0"/>
              <a:t> que regula caudal en respuesta a una señal de 4–20 </a:t>
            </a:r>
            <a:r>
              <a:rPr lang="es-PE" dirty="0" err="1"/>
              <a:t>mA.</a:t>
            </a:r>
            <a:endParaRPr lang="es-PE" dirty="0"/>
          </a:p>
          <a:p>
            <a:endParaRPr lang="es-PE" dirty="0"/>
          </a:p>
        </p:txBody>
      </p:sp>
    </p:spTree>
    <p:extLst>
      <p:ext uri="{BB962C8B-B14F-4D97-AF65-F5344CB8AC3E}">
        <p14:creationId xmlns:p14="http://schemas.microsoft.com/office/powerpoint/2010/main" val="28773214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1" name="Picture 3">
            <a:extLst>
              <a:ext uri="{FF2B5EF4-FFF2-40B4-BE49-F238E27FC236}">
                <a16:creationId xmlns:a16="http://schemas.microsoft.com/office/drawing/2014/main" id="{F3238DC4-DBE9-3C1C-5755-0BAC525D1B9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21139" y="1931988"/>
            <a:ext cx="4167187" cy="4316412"/>
          </a:xfrm>
          <a:prstGeom prst="rect">
            <a:avLst/>
          </a:prstGeom>
          <a:noFill/>
          <a:extLst>
            <a:ext uri="{909E8E84-426E-40DD-AFC4-6F175D3DCCD1}">
              <a14:hiddenFill xmlns:a14="http://schemas.microsoft.com/office/drawing/2010/main">
                <a:solidFill>
                  <a:srgbClr val="FFFFFF"/>
                </a:solidFill>
              </a14:hiddenFill>
            </a:ext>
          </a:extLst>
        </p:spPr>
      </p:pic>
      <p:sp>
        <p:nvSpPr>
          <p:cNvPr id="6" name="Título 5">
            <a:extLst>
              <a:ext uri="{FF2B5EF4-FFF2-40B4-BE49-F238E27FC236}">
                <a16:creationId xmlns:a16="http://schemas.microsoft.com/office/drawing/2014/main" id="{373EA767-FBB7-0C87-ABB0-B9FDEE7DCF40}"/>
              </a:ext>
            </a:extLst>
          </p:cNvPr>
          <p:cNvSpPr>
            <a:spLocks noGrp="1"/>
          </p:cNvSpPr>
          <p:nvPr>
            <p:ph type="title"/>
          </p:nvPr>
        </p:nvSpPr>
        <p:spPr/>
        <p:txBody>
          <a:bodyPr>
            <a:normAutofit/>
          </a:bodyPr>
          <a:lstStyle/>
          <a:p>
            <a:r>
              <a:rPr lang="es-PE" dirty="0"/>
              <a:t>VÁLVULA DE CONTROL</a:t>
            </a:r>
          </a:p>
        </p:txBody>
      </p:sp>
      <p:sp>
        <p:nvSpPr>
          <p:cNvPr id="7" name="Marcador de contenido 6">
            <a:extLst>
              <a:ext uri="{FF2B5EF4-FFF2-40B4-BE49-F238E27FC236}">
                <a16:creationId xmlns:a16="http://schemas.microsoft.com/office/drawing/2014/main" id="{7FBCEE4C-F47D-F4CD-D489-C525A931CCAA}"/>
              </a:ext>
            </a:extLst>
          </p:cNvPr>
          <p:cNvSpPr>
            <a:spLocks noGrp="1"/>
          </p:cNvSpPr>
          <p:nvPr>
            <p:ph idx="1"/>
          </p:nvPr>
        </p:nvSpPr>
        <p:spPr/>
        <p:txBody>
          <a:bodyPr/>
          <a:lstStyle/>
          <a:p>
            <a:r>
              <a:rPr lang="es-PE" dirty="0"/>
              <a:t>Elemento que controla presión, rata de flujo o dirección de flujo  de un fluido.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5" name="Picture 3">
            <a:extLst>
              <a:ext uri="{FF2B5EF4-FFF2-40B4-BE49-F238E27FC236}">
                <a16:creationId xmlns:a16="http://schemas.microsoft.com/office/drawing/2014/main" id="{2DAD966A-CE02-568D-CED4-A820FE53D63C}"/>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38400" y="2901950"/>
            <a:ext cx="3786188" cy="3956050"/>
          </a:xfrm>
          <a:prstGeom prst="rect">
            <a:avLst/>
          </a:prstGeom>
          <a:noFill/>
          <a:extLst>
            <a:ext uri="{909E8E84-426E-40DD-AFC4-6F175D3DCCD1}">
              <a14:hiddenFill xmlns:a14="http://schemas.microsoft.com/office/drawing/2010/main">
                <a:solidFill>
                  <a:srgbClr val="FFFFFF"/>
                </a:solidFill>
              </a14:hiddenFill>
            </a:ext>
          </a:extLst>
        </p:spPr>
      </p:pic>
      <p:sp>
        <p:nvSpPr>
          <p:cNvPr id="6" name="Título 5">
            <a:extLst>
              <a:ext uri="{FF2B5EF4-FFF2-40B4-BE49-F238E27FC236}">
                <a16:creationId xmlns:a16="http://schemas.microsoft.com/office/drawing/2014/main" id="{FEF08057-6F14-102B-32CB-655577A1548C}"/>
              </a:ext>
            </a:extLst>
          </p:cNvPr>
          <p:cNvSpPr>
            <a:spLocks noGrp="1"/>
          </p:cNvSpPr>
          <p:nvPr>
            <p:ph type="title"/>
          </p:nvPr>
        </p:nvSpPr>
        <p:spPr/>
        <p:txBody>
          <a:bodyPr/>
          <a:lstStyle/>
          <a:p>
            <a:r>
              <a:rPr lang="es-PE" dirty="0"/>
              <a:t>POSICIONADOR</a:t>
            </a:r>
          </a:p>
        </p:txBody>
      </p:sp>
      <p:sp>
        <p:nvSpPr>
          <p:cNvPr id="7" name="Marcador de contenido 6">
            <a:extLst>
              <a:ext uri="{FF2B5EF4-FFF2-40B4-BE49-F238E27FC236}">
                <a16:creationId xmlns:a16="http://schemas.microsoft.com/office/drawing/2014/main" id="{51391A1F-CB90-B9AA-B36C-AAA4EB918E07}"/>
              </a:ext>
            </a:extLst>
          </p:cNvPr>
          <p:cNvSpPr>
            <a:spLocks noGrp="1"/>
          </p:cNvSpPr>
          <p:nvPr>
            <p:ph idx="1"/>
          </p:nvPr>
        </p:nvSpPr>
        <p:spPr/>
        <p:txBody>
          <a:bodyPr/>
          <a:lstStyle/>
          <a:p>
            <a:r>
              <a:rPr lang="es-PE" dirty="0"/>
              <a:t>Es un elemento mecánico conectado a la parte en movimiento del elemento final o actuador de la válvula y que permite el ajuste automático de la presión de salida con el fin de mantener una posición deseada que mantenga una relación predeterminada con la señal de entrada. </a:t>
            </a:r>
          </a:p>
          <a:p>
            <a:endParaRPr lang="es-PE"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FAF99-3E31-E98F-7CA9-1FF79C6B13F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394AA8-0992-EA5F-2CDC-B1DD0890523B}"/>
              </a:ext>
            </a:extLst>
          </p:cNvPr>
          <p:cNvSpPr txBox="1"/>
          <p:nvPr/>
        </p:nvSpPr>
        <p:spPr>
          <a:xfrm>
            <a:off x="1051356" y="494887"/>
            <a:ext cx="6828901" cy="432307"/>
          </a:xfrm>
          <a:prstGeom prst="rect">
            <a:avLst/>
          </a:prstGeom>
        </p:spPr>
        <p:txBody>
          <a:bodyPr wrap="square" lIns="0" tIns="21431" rIns="0" bIns="0" rtlCol="0">
            <a:noAutofit/>
          </a:bodyPr>
          <a:lstStyle/>
          <a:p>
            <a:pPr marL="12700">
              <a:lnSpc>
                <a:spcPts val="3375"/>
              </a:lnSpc>
            </a:pPr>
            <a:r>
              <a:rPr lang="es-PE" sz="3200" b="1" spc="-4" dirty="0">
                <a:solidFill>
                  <a:srgbClr val="C00000"/>
                </a:solidFill>
                <a:latin typeface="Arial"/>
                <a:cs typeface="Arial"/>
              </a:rPr>
              <a:t>Características Estáticas</a:t>
            </a:r>
            <a:endParaRPr lang="es-PE" sz="3200" dirty="0">
              <a:latin typeface="Arial"/>
              <a:cs typeface="Arial"/>
            </a:endParaRPr>
          </a:p>
        </p:txBody>
      </p:sp>
      <p:sp>
        <p:nvSpPr>
          <p:cNvPr id="3" name="object 3">
            <a:extLst>
              <a:ext uri="{FF2B5EF4-FFF2-40B4-BE49-F238E27FC236}">
                <a16:creationId xmlns:a16="http://schemas.microsoft.com/office/drawing/2014/main" id="{A2BC0BFA-0D92-94DF-8FA6-9361A2626568}"/>
              </a:ext>
            </a:extLst>
          </p:cNvPr>
          <p:cNvSpPr txBox="1"/>
          <p:nvPr/>
        </p:nvSpPr>
        <p:spPr>
          <a:xfrm>
            <a:off x="1051356" y="1559636"/>
            <a:ext cx="10187739" cy="4328921"/>
          </a:xfrm>
          <a:prstGeom prst="rect">
            <a:avLst/>
          </a:prstGeom>
        </p:spPr>
        <p:txBody>
          <a:bodyPr wrap="square" lIns="0" tIns="14922" rIns="0" bIns="0" rtlCol="0">
            <a:noAutofit/>
          </a:bodyPr>
          <a:lstStyle/>
          <a:p>
            <a:r>
              <a:rPr lang="es-PE" sz="2400" dirty="0"/>
              <a:t>Describen el comportamiento del instrumento </a:t>
            </a:r>
            <a:r>
              <a:rPr lang="es-PE" sz="2400" b="1" dirty="0"/>
              <a:t>cuando la variable medida es constante en el tiempo</a:t>
            </a:r>
            <a:r>
              <a:rPr lang="es-PE" sz="2400" dirty="0"/>
              <a:t>:</a:t>
            </a:r>
          </a:p>
          <a:p>
            <a:pPr marL="342900" indent="-342900">
              <a:buFont typeface="Arial" panose="020B0604020202020204" pitchFamily="34" charset="0"/>
              <a:buChar char="•"/>
            </a:pPr>
            <a:r>
              <a:rPr lang="es-PE" sz="2400" b="1" dirty="0"/>
              <a:t>Precisión:</a:t>
            </a:r>
            <a:r>
              <a:rPr lang="es-PE" sz="2400" dirty="0"/>
              <a:t> Grado de concordancia entre el valor medido y el valor real.</a:t>
            </a:r>
          </a:p>
          <a:p>
            <a:pPr marL="342900" indent="-342900">
              <a:buFont typeface="Arial" panose="020B0604020202020204" pitchFamily="34" charset="0"/>
              <a:buChar char="•"/>
            </a:pPr>
            <a:r>
              <a:rPr lang="es-PE" sz="2400" b="1" dirty="0"/>
              <a:t>Exactitud:</a:t>
            </a:r>
            <a:r>
              <a:rPr lang="es-PE" sz="2400" dirty="0"/>
              <a:t> Cercanía al valor verdadero. </a:t>
            </a:r>
            <a:r>
              <a:rPr lang="es-PE" sz="2400" dirty="0" err="1"/>
              <a:t>alor</a:t>
            </a:r>
            <a:r>
              <a:rPr lang="es-PE" sz="2400" dirty="0"/>
              <a:t> en mediciones repetidas.</a:t>
            </a:r>
          </a:p>
        </p:txBody>
      </p:sp>
      <p:sp>
        <p:nvSpPr>
          <p:cNvPr id="2" name="object 2">
            <a:extLst>
              <a:ext uri="{FF2B5EF4-FFF2-40B4-BE49-F238E27FC236}">
                <a16:creationId xmlns:a16="http://schemas.microsoft.com/office/drawing/2014/main" id="{A89F139F-FAB1-10DB-B8EB-F6A7ADF1B78A}"/>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pic>
        <p:nvPicPr>
          <p:cNvPr id="5" name="Picture 4" descr="C03NF01">
            <a:extLst>
              <a:ext uri="{FF2B5EF4-FFF2-40B4-BE49-F238E27FC236}">
                <a16:creationId xmlns:a16="http://schemas.microsoft.com/office/drawing/2014/main" id="{65567D05-91DA-7B78-E2DB-67605C7C02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707000" y="3358082"/>
            <a:ext cx="7026275" cy="25304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4874512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8F888-B4D6-1F70-5AA2-93CA3621EF8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E608779-4645-5FCB-91D9-141A6DBA6795}"/>
              </a:ext>
            </a:extLst>
          </p:cNvPr>
          <p:cNvSpPr txBox="1"/>
          <p:nvPr/>
        </p:nvSpPr>
        <p:spPr>
          <a:xfrm>
            <a:off x="1051356" y="494887"/>
            <a:ext cx="6828901" cy="432307"/>
          </a:xfrm>
          <a:prstGeom prst="rect">
            <a:avLst/>
          </a:prstGeom>
        </p:spPr>
        <p:txBody>
          <a:bodyPr wrap="square" lIns="0" tIns="21431" rIns="0" bIns="0" rtlCol="0">
            <a:noAutofit/>
          </a:bodyPr>
          <a:lstStyle/>
          <a:p>
            <a:pPr marL="12700">
              <a:lnSpc>
                <a:spcPts val="3375"/>
              </a:lnSpc>
            </a:pPr>
            <a:r>
              <a:rPr lang="es-PE" sz="3200" b="1" spc="-4" dirty="0">
                <a:solidFill>
                  <a:srgbClr val="C00000"/>
                </a:solidFill>
                <a:latin typeface="Arial"/>
                <a:cs typeface="Arial"/>
              </a:rPr>
              <a:t>Características Estáticas</a:t>
            </a:r>
            <a:endParaRPr lang="es-PE" sz="3200" dirty="0">
              <a:latin typeface="Arial"/>
              <a:cs typeface="Arial"/>
            </a:endParaRPr>
          </a:p>
        </p:txBody>
      </p:sp>
      <p:sp>
        <p:nvSpPr>
          <p:cNvPr id="3" name="object 3">
            <a:extLst>
              <a:ext uri="{FF2B5EF4-FFF2-40B4-BE49-F238E27FC236}">
                <a16:creationId xmlns:a16="http://schemas.microsoft.com/office/drawing/2014/main" id="{06C2F900-5E04-4703-8540-0F21735F4B87}"/>
              </a:ext>
            </a:extLst>
          </p:cNvPr>
          <p:cNvSpPr txBox="1"/>
          <p:nvPr/>
        </p:nvSpPr>
        <p:spPr>
          <a:xfrm>
            <a:off x="1051356" y="1559636"/>
            <a:ext cx="10187739" cy="4328921"/>
          </a:xfrm>
          <a:prstGeom prst="rect">
            <a:avLst/>
          </a:prstGeom>
        </p:spPr>
        <p:txBody>
          <a:bodyPr wrap="square" lIns="0" tIns="14922" rIns="0" bIns="0" rtlCol="0">
            <a:noAutofit/>
          </a:bodyPr>
          <a:lstStyle/>
          <a:p>
            <a:r>
              <a:rPr lang="es-PE" sz="2400" dirty="0"/>
              <a:t>Describen el comportamiento del instrumento </a:t>
            </a:r>
            <a:r>
              <a:rPr lang="es-PE" sz="2400" b="1" dirty="0"/>
              <a:t>cuando la variable medida es constante en el tiempo</a:t>
            </a:r>
            <a:r>
              <a:rPr lang="es-PE" sz="2400" dirty="0"/>
              <a:t>:</a:t>
            </a:r>
          </a:p>
          <a:p>
            <a:pPr marL="342900" indent="-342900">
              <a:buFont typeface="Arial" panose="020B0604020202020204" pitchFamily="34" charset="0"/>
              <a:buChar char="•"/>
            </a:pPr>
            <a:r>
              <a:rPr lang="es-PE" sz="2400" b="1" dirty="0"/>
              <a:t>Sensibilidad:</a:t>
            </a:r>
            <a:r>
              <a:rPr lang="es-PE" sz="2400" dirty="0"/>
              <a:t> Relación entre el cambio de la señal de salida y el cambio de la variable medida.</a:t>
            </a:r>
          </a:p>
          <a:p>
            <a:pPr marL="342900" indent="-342900">
              <a:buFont typeface="Arial" panose="020B0604020202020204" pitchFamily="34" charset="0"/>
              <a:buChar char="•"/>
            </a:pPr>
            <a:r>
              <a:rPr lang="es-PE" sz="2400" b="1" dirty="0"/>
              <a:t>Linealidad:</a:t>
            </a:r>
            <a:r>
              <a:rPr lang="es-PE" sz="2400" dirty="0"/>
              <a:t> Qué tan proporcional es la relación entrada-salida.</a:t>
            </a:r>
          </a:p>
        </p:txBody>
      </p:sp>
      <p:sp>
        <p:nvSpPr>
          <p:cNvPr id="2" name="object 2">
            <a:extLst>
              <a:ext uri="{FF2B5EF4-FFF2-40B4-BE49-F238E27FC236}">
                <a16:creationId xmlns:a16="http://schemas.microsoft.com/office/drawing/2014/main" id="{C8F0C16F-B33B-3A45-1726-B9F52BA2163A}"/>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pic>
        <p:nvPicPr>
          <p:cNvPr id="5" name="Imagen 4">
            <a:extLst>
              <a:ext uri="{FF2B5EF4-FFF2-40B4-BE49-F238E27FC236}">
                <a16:creationId xmlns:a16="http://schemas.microsoft.com/office/drawing/2014/main" id="{0FB405E4-75A1-13F6-4E9D-00F533F89C1C}"/>
              </a:ext>
            </a:extLst>
          </p:cNvPr>
          <p:cNvPicPr>
            <a:picLocks noChangeAspect="1"/>
          </p:cNvPicPr>
          <p:nvPr/>
        </p:nvPicPr>
        <p:blipFill>
          <a:blip r:embed="rId2"/>
          <a:stretch>
            <a:fillRect/>
          </a:stretch>
        </p:blipFill>
        <p:spPr>
          <a:xfrm>
            <a:off x="4038600" y="3613817"/>
            <a:ext cx="3124200" cy="2749296"/>
          </a:xfrm>
          <a:prstGeom prst="rect">
            <a:avLst/>
          </a:prstGeom>
        </p:spPr>
      </p:pic>
    </p:spTree>
    <p:extLst>
      <p:ext uri="{BB962C8B-B14F-4D97-AF65-F5344CB8AC3E}">
        <p14:creationId xmlns:p14="http://schemas.microsoft.com/office/powerpoint/2010/main" val="23894135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A811B-2D8D-720F-4793-3E8DF6D42D8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E709CE4-5ACB-57E0-7C80-13AF3D025D29}"/>
              </a:ext>
            </a:extLst>
          </p:cNvPr>
          <p:cNvSpPr txBox="1"/>
          <p:nvPr/>
        </p:nvSpPr>
        <p:spPr>
          <a:xfrm>
            <a:off x="1051356" y="494887"/>
            <a:ext cx="6828901" cy="432307"/>
          </a:xfrm>
          <a:prstGeom prst="rect">
            <a:avLst/>
          </a:prstGeom>
        </p:spPr>
        <p:txBody>
          <a:bodyPr wrap="square" lIns="0" tIns="21431" rIns="0" bIns="0" rtlCol="0">
            <a:noAutofit/>
          </a:bodyPr>
          <a:lstStyle/>
          <a:p>
            <a:pPr marL="12700">
              <a:lnSpc>
                <a:spcPts val="3375"/>
              </a:lnSpc>
            </a:pPr>
            <a:r>
              <a:rPr lang="es-PE" sz="3200" b="1" spc="-4" dirty="0">
                <a:solidFill>
                  <a:srgbClr val="C00000"/>
                </a:solidFill>
                <a:latin typeface="Arial"/>
                <a:cs typeface="Arial"/>
              </a:rPr>
              <a:t>Características Estáticas</a:t>
            </a:r>
            <a:endParaRPr lang="es-PE" sz="3200" dirty="0">
              <a:latin typeface="Arial"/>
              <a:cs typeface="Arial"/>
            </a:endParaRPr>
          </a:p>
        </p:txBody>
      </p:sp>
      <p:sp>
        <p:nvSpPr>
          <p:cNvPr id="3" name="object 3">
            <a:extLst>
              <a:ext uri="{FF2B5EF4-FFF2-40B4-BE49-F238E27FC236}">
                <a16:creationId xmlns:a16="http://schemas.microsoft.com/office/drawing/2014/main" id="{61660423-F1BE-ADE9-2C92-B53489761E4D}"/>
              </a:ext>
            </a:extLst>
          </p:cNvPr>
          <p:cNvSpPr txBox="1"/>
          <p:nvPr/>
        </p:nvSpPr>
        <p:spPr>
          <a:xfrm>
            <a:off x="1051356" y="1559636"/>
            <a:ext cx="10187739" cy="4328921"/>
          </a:xfrm>
          <a:prstGeom prst="rect">
            <a:avLst/>
          </a:prstGeom>
        </p:spPr>
        <p:txBody>
          <a:bodyPr wrap="square" lIns="0" tIns="14922" rIns="0" bIns="0" rtlCol="0">
            <a:noAutofit/>
          </a:bodyPr>
          <a:lstStyle/>
          <a:p>
            <a:r>
              <a:rPr lang="es-PE" sz="2400" dirty="0"/>
              <a:t>Describen el comportamiento del instrumento </a:t>
            </a:r>
            <a:r>
              <a:rPr lang="es-PE" sz="2400" b="1" dirty="0"/>
              <a:t>cuando la variable medida es constante en el tiempo</a:t>
            </a:r>
            <a:r>
              <a:rPr lang="es-PE" sz="2400" dirty="0"/>
              <a:t>:</a:t>
            </a:r>
          </a:p>
          <a:p>
            <a:pPr marL="342900" indent="-342900">
              <a:buFont typeface="Arial" panose="020B0604020202020204" pitchFamily="34" charset="0"/>
              <a:buChar char="•"/>
            </a:pPr>
            <a:r>
              <a:rPr lang="es-PE" sz="2400" b="1" dirty="0"/>
              <a:t>Resolución:</a:t>
            </a:r>
            <a:r>
              <a:rPr lang="es-PE" sz="2400" dirty="0"/>
              <a:t> Cambio mínimo detectable.</a:t>
            </a:r>
          </a:p>
          <a:p>
            <a:pPr marL="342900" indent="-342900">
              <a:buFont typeface="Arial" panose="020B0604020202020204" pitchFamily="34" charset="0"/>
              <a:buChar char="•"/>
            </a:pPr>
            <a:r>
              <a:rPr lang="es-PE" sz="2400" b="1" dirty="0"/>
              <a:t>Repetibilidad:</a:t>
            </a:r>
            <a:r>
              <a:rPr lang="es-PE" sz="2400" dirty="0"/>
              <a:t> Capacidad de obtener el mismo valor en mediciones repetidas.</a:t>
            </a:r>
          </a:p>
        </p:txBody>
      </p:sp>
      <p:sp>
        <p:nvSpPr>
          <p:cNvPr id="2" name="object 2">
            <a:extLst>
              <a:ext uri="{FF2B5EF4-FFF2-40B4-BE49-F238E27FC236}">
                <a16:creationId xmlns:a16="http://schemas.microsoft.com/office/drawing/2014/main" id="{AB8A6F74-0405-F9F3-A065-054B600334E3}"/>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pic>
        <p:nvPicPr>
          <p:cNvPr id="49154" name="Picture 2" descr="Reproducibilidad | Instrumentación Electrónica I">
            <a:extLst>
              <a:ext uri="{FF2B5EF4-FFF2-40B4-BE49-F238E27FC236}">
                <a16:creationId xmlns:a16="http://schemas.microsoft.com/office/drawing/2014/main" id="{93CFCB36-CE24-5369-3885-CBAF33CA3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379662"/>
            <a:ext cx="5718556" cy="2527945"/>
          </a:xfrm>
          <a:prstGeom prst="rect">
            <a:avLst/>
          </a:prstGeom>
          <a:noFill/>
          <a:extLst>
            <a:ext uri="{909E8E84-426E-40DD-AFC4-6F175D3DCCD1}">
              <a14:hiddenFill xmlns:a14="http://schemas.microsoft.com/office/drawing/2010/main">
                <a:solidFill>
                  <a:srgbClr val="FFFFFF"/>
                </a:solidFill>
              </a14:hiddenFill>
            </a:ext>
          </a:extLst>
        </p:spPr>
      </p:pic>
      <p:pic>
        <p:nvPicPr>
          <p:cNvPr id="49156" name="Picture 4">
            <a:extLst>
              <a:ext uri="{FF2B5EF4-FFF2-40B4-BE49-F238E27FC236}">
                <a16:creationId xmlns:a16="http://schemas.microsoft.com/office/drawing/2014/main" id="{05B97E31-E924-049B-95F3-1DE86E1F6F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3184313"/>
            <a:ext cx="3962400" cy="3240437"/>
          </a:xfrm>
          <a:prstGeom prst="rect">
            <a:avLst/>
          </a:prstGeom>
          <a:noFill/>
          <a:extLst>
            <a:ext uri="{909E8E84-426E-40DD-AFC4-6F175D3DCCD1}">
              <a14:hiddenFill xmlns:a14="http://schemas.microsoft.com/office/drawing/2010/main">
                <a:solidFill>
                  <a:srgbClr val="FFFFFF"/>
                </a:solidFill>
              </a14:hiddenFill>
            </a:ext>
          </a:extLst>
        </p:spPr>
      </p:pic>
      <p:pic>
        <p:nvPicPr>
          <p:cNvPr id="49158" name="Picture 6" descr="Qué es la resolución de un instrumento?">
            <a:extLst>
              <a:ext uri="{FF2B5EF4-FFF2-40B4-BE49-F238E27FC236}">
                <a16:creationId xmlns:a16="http://schemas.microsoft.com/office/drawing/2014/main" id="{3E5EC017-3E3B-5B86-5A8D-7D7CBD47F0A5}"/>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7880257" y="4110669"/>
            <a:ext cx="1410307" cy="1065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7866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4434C-0979-2C4E-EDED-0BD8C0DD2E5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E64F1D-1BBD-3D7B-C002-AEA124C410FE}"/>
              </a:ext>
            </a:extLst>
          </p:cNvPr>
          <p:cNvSpPr txBox="1"/>
          <p:nvPr/>
        </p:nvSpPr>
        <p:spPr>
          <a:xfrm>
            <a:off x="1051356" y="494887"/>
            <a:ext cx="6828901" cy="432307"/>
          </a:xfrm>
          <a:prstGeom prst="rect">
            <a:avLst/>
          </a:prstGeom>
        </p:spPr>
        <p:txBody>
          <a:bodyPr wrap="square" lIns="0" tIns="21431" rIns="0" bIns="0" rtlCol="0">
            <a:noAutofit/>
          </a:bodyPr>
          <a:lstStyle/>
          <a:p>
            <a:pPr marL="12700">
              <a:lnSpc>
                <a:spcPts val="3375"/>
              </a:lnSpc>
            </a:pPr>
            <a:r>
              <a:rPr lang="es-PE" sz="3200" b="1" spc="-4" dirty="0">
                <a:solidFill>
                  <a:srgbClr val="C00000"/>
                </a:solidFill>
                <a:latin typeface="Arial"/>
                <a:cs typeface="Arial"/>
              </a:rPr>
              <a:t>Características Dinámicas</a:t>
            </a:r>
            <a:endParaRPr lang="es-PE" sz="3200" dirty="0">
              <a:latin typeface="Arial"/>
              <a:cs typeface="Arial"/>
            </a:endParaRPr>
          </a:p>
        </p:txBody>
      </p:sp>
      <p:sp>
        <p:nvSpPr>
          <p:cNvPr id="3" name="object 3">
            <a:extLst>
              <a:ext uri="{FF2B5EF4-FFF2-40B4-BE49-F238E27FC236}">
                <a16:creationId xmlns:a16="http://schemas.microsoft.com/office/drawing/2014/main" id="{3210481D-54C1-CB73-9E5C-55CB299A45C3}"/>
              </a:ext>
            </a:extLst>
          </p:cNvPr>
          <p:cNvSpPr txBox="1"/>
          <p:nvPr/>
        </p:nvSpPr>
        <p:spPr>
          <a:xfrm>
            <a:off x="1051356" y="1559636"/>
            <a:ext cx="9083243" cy="4328921"/>
          </a:xfrm>
          <a:prstGeom prst="rect">
            <a:avLst/>
          </a:prstGeom>
        </p:spPr>
        <p:txBody>
          <a:bodyPr wrap="square" lIns="0" tIns="14922" rIns="0" bIns="0" rtlCol="0">
            <a:noAutofit/>
          </a:bodyPr>
          <a:lstStyle/>
          <a:p>
            <a:r>
              <a:rPr lang="es-PE" sz="2400" dirty="0"/>
              <a:t>Describen la respuesta del instrumento </a:t>
            </a:r>
            <a:r>
              <a:rPr lang="es-PE" sz="2400" b="1" dirty="0"/>
              <a:t>cuando la variable medida cambia con el tiempo</a:t>
            </a:r>
            <a:r>
              <a:rPr lang="es-PE" sz="2400" dirty="0"/>
              <a:t>:</a:t>
            </a:r>
          </a:p>
          <a:p>
            <a:pPr marL="342900" indent="-342900">
              <a:buFont typeface="Arial" panose="020B0604020202020204" pitchFamily="34" charset="0"/>
              <a:buChar char="•"/>
            </a:pPr>
            <a:r>
              <a:rPr lang="es-PE" sz="2400" b="1" dirty="0"/>
              <a:t>Tiempo de respuesta:</a:t>
            </a:r>
            <a:r>
              <a:rPr lang="es-PE" sz="2400" dirty="0"/>
              <a:t> Tiempo que tarda en alcanzar un porcentaje determinado del valor final tras un cambio brusco.</a:t>
            </a:r>
          </a:p>
          <a:p>
            <a:pPr marL="342900" indent="-342900">
              <a:buFont typeface="Arial" panose="020B0604020202020204" pitchFamily="34" charset="0"/>
              <a:buChar char="•"/>
            </a:pPr>
            <a:r>
              <a:rPr lang="es-PE" sz="2400" b="1" dirty="0"/>
              <a:t>Frecuencia natural:</a:t>
            </a:r>
            <a:r>
              <a:rPr lang="es-PE" sz="2400" dirty="0"/>
              <a:t> Velocidad máxima de variación que puede seguir sin distorsión.</a:t>
            </a:r>
          </a:p>
          <a:p>
            <a:pPr marL="342900" indent="-342900">
              <a:buFont typeface="Arial" panose="020B0604020202020204" pitchFamily="34" charset="0"/>
              <a:buChar char="•"/>
            </a:pPr>
            <a:r>
              <a:rPr lang="es-PE" sz="2400" b="1" dirty="0"/>
              <a:t>Amortiguamiento:</a:t>
            </a:r>
            <a:r>
              <a:rPr lang="es-PE" sz="2400" dirty="0"/>
              <a:t> Capacidad de reducir oscilaciones en la medición.</a:t>
            </a:r>
          </a:p>
          <a:p>
            <a:pPr marL="342900" indent="-342900">
              <a:buFont typeface="Arial" panose="020B0604020202020204" pitchFamily="34" charset="0"/>
              <a:buChar char="•"/>
            </a:pPr>
            <a:r>
              <a:rPr lang="es-PE" sz="2400" b="1" dirty="0"/>
              <a:t>Respuesta transitoria y estado estable:</a:t>
            </a:r>
            <a:r>
              <a:rPr lang="es-PE" sz="2400" dirty="0"/>
              <a:t> Fases de adaptación y estabilización de la medición.</a:t>
            </a:r>
          </a:p>
        </p:txBody>
      </p:sp>
      <p:sp>
        <p:nvSpPr>
          <p:cNvPr id="2" name="object 2">
            <a:extLst>
              <a:ext uri="{FF2B5EF4-FFF2-40B4-BE49-F238E27FC236}">
                <a16:creationId xmlns:a16="http://schemas.microsoft.com/office/drawing/2014/main" id="{00E3F671-C143-3CD4-632E-CBD695DF55DF}"/>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Tree>
    <p:extLst>
      <p:ext uri="{BB962C8B-B14F-4D97-AF65-F5344CB8AC3E}">
        <p14:creationId xmlns:p14="http://schemas.microsoft.com/office/powerpoint/2010/main" val="28224874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E7A09-E4D5-B305-3780-41BE05BF26B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6CF5C7A-3A72-0E91-49BD-3B7BC4FE3051}"/>
              </a:ext>
            </a:extLst>
          </p:cNvPr>
          <p:cNvSpPr txBox="1"/>
          <p:nvPr/>
        </p:nvSpPr>
        <p:spPr>
          <a:xfrm>
            <a:off x="1051356" y="494887"/>
            <a:ext cx="6828901" cy="432307"/>
          </a:xfrm>
          <a:prstGeom prst="rect">
            <a:avLst/>
          </a:prstGeom>
        </p:spPr>
        <p:txBody>
          <a:bodyPr wrap="square" lIns="0" tIns="21431" rIns="0" bIns="0" rtlCol="0">
            <a:noAutofit/>
          </a:bodyPr>
          <a:lstStyle/>
          <a:p>
            <a:pPr marL="12700">
              <a:lnSpc>
                <a:spcPts val="3375"/>
              </a:lnSpc>
            </a:pPr>
            <a:r>
              <a:rPr lang="es-PE" sz="3200" b="1" spc="-4" dirty="0">
                <a:solidFill>
                  <a:srgbClr val="C00000"/>
                </a:solidFill>
                <a:latin typeface="Arial"/>
                <a:cs typeface="Arial"/>
              </a:rPr>
              <a:t>Características Dinámicas</a:t>
            </a:r>
            <a:endParaRPr lang="es-PE" sz="3200" dirty="0">
              <a:latin typeface="Arial"/>
              <a:cs typeface="Arial"/>
            </a:endParaRPr>
          </a:p>
        </p:txBody>
      </p:sp>
      <p:sp>
        <p:nvSpPr>
          <p:cNvPr id="3" name="object 3">
            <a:extLst>
              <a:ext uri="{FF2B5EF4-FFF2-40B4-BE49-F238E27FC236}">
                <a16:creationId xmlns:a16="http://schemas.microsoft.com/office/drawing/2014/main" id="{2131A8C5-2F41-54F8-D8BD-82DAF86D66EC}"/>
              </a:ext>
            </a:extLst>
          </p:cNvPr>
          <p:cNvSpPr txBox="1"/>
          <p:nvPr/>
        </p:nvSpPr>
        <p:spPr>
          <a:xfrm>
            <a:off x="441757" y="1264539"/>
            <a:ext cx="3492068" cy="4328921"/>
          </a:xfrm>
          <a:prstGeom prst="rect">
            <a:avLst/>
          </a:prstGeom>
        </p:spPr>
        <p:txBody>
          <a:bodyPr wrap="square" lIns="0" tIns="14922" rIns="0" bIns="0" rtlCol="0">
            <a:noAutofit/>
          </a:bodyPr>
          <a:lstStyle/>
          <a:p>
            <a:pPr marL="342900" indent="-342900">
              <a:buFont typeface="Arial" panose="020B0604020202020204" pitchFamily="34" charset="0"/>
              <a:buChar char="•"/>
            </a:pPr>
            <a:r>
              <a:rPr lang="es-PE" sz="2400" b="1" dirty="0"/>
              <a:t>Tiempo de respuesta:</a:t>
            </a:r>
            <a:r>
              <a:rPr lang="es-PE" sz="2400" dirty="0"/>
              <a:t> </a:t>
            </a:r>
          </a:p>
          <a:p>
            <a:pPr marL="342900" indent="-342900">
              <a:buFont typeface="Arial" panose="020B0604020202020204" pitchFamily="34" charset="0"/>
              <a:buChar char="•"/>
            </a:pPr>
            <a:r>
              <a:rPr lang="es-PE" sz="2400" b="1" dirty="0"/>
              <a:t>Frecuencia natural:</a:t>
            </a:r>
            <a:endParaRPr lang="es-PE" sz="2400" dirty="0"/>
          </a:p>
          <a:p>
            <a:pPr marL="342900" indent="-342900">
              <a:buFont typeface="Arial" panose="020B0604020202020204" pitchFamily="34" charset="0"/>
              <a:buChar char="•"/>
            </a:pPr>
            <a:r>
              <a:rPr lang="es-PE" sz="2400" b="1" dirty="0"/>
              <a:t>Amortiguamiento:</a:t>
            </a:r>
            <a:endParaRPr lang="es-PE" sz="2400" dirty="0"/>
          </a:p>
          <a:p>
            <a:pPr marL="342900" indent="-342900">
              <a:buFont typeface="Arial" panose="020B0604020202020204" pitchFamily="34" charset="0"/>
              <a:buChar char="•"/>
            </a:pPr>
            <a:r>
              <a:rPr lang="es-PE" sz="2400" b="1" dirty="0"/>
              <a:t>Respuesta transitoria y estado estable:</a:t>
            </a:r>
            <a:endParaRPr lang="es-PE" sz="2400" dirty="0"/>
          </a:p>
        </p:txBody>
      </p:sp>
      <p:sp>
        <p:nvSpPr>
          <p:cNvPr id="2" name="object 2">
            <a:extLst>
              <a:ext uri="{FF2B5EF4-FFF2-40B4-BE49-F238E27FC236}">
                <a16:creationId xmlns:a16="http://schemas.microsoft.com/office/drawing/2014/main" id="{A6E86109-DF93-E244-5F0A-FA56347902E6}"/>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pic>
        <p:nvPicPr>
          <p:cNvPr id="50178" name="Picture 2">
            <a:extLst>
              <a:ext uri="{FF2B5EF4-FFF2-40B4-BE49-F238E27FC236}">
                <a16:creationId xmlns:a16="http://schemas.microsoft.com/office/drawing/2014/main" id="{70970C67-9BC7-8CB8-730E-66A18D15AC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4490"/>
          <a:stretch>
            <a:fillRect/>
          </a:stretch>
        </p:blipFill>
        <p:spPr bwMode="auto">
          <a:xfrm>
            <a:off x="5048723" y="1264540"/>
            <a:ext cx="5771678" cy="489318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B21607C4-E34B-57B6-6C28-93794371392D}"/>
              </a:ext>
            </a:extLst>
          </p:cNvPr>
          <p:cNvPicPr>
            <a:picLocks noChangeAspect="1"/>
          </p:cNvPicPr>
          <p:nvPr/>
        </p:nvPicPr>
        <p:blipFill>
          <a:blip r:embed="rId3"/>
          <a:stretch>
            <a:fillRect/>
          </a:stretch>
        </p:blipFill>
        <p:spPr>
          <a:xfrm>
            <a:off x="441756" y="3202562"/>
            <a:ext cx="3977844" cy="2955159"/>
          </a:xfrm>
          <a:prstGeom prst="rect">
            <a:avLst/>
          </a:prstGeom>
        </p:spPr>
      </p:pic>
    </p:spTree>
    <p:extLst>
      <p:ext uri="{BB962C8B-B14F-4D97-AF65-F5344CB8AC3E}">
        <p14:creationId xmlns:p14="http://schemas.microsoft.com/office/powerpoint/2010/main" val="1247564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AA5D20A0-14DE-5917-5CA3-122AB796623F}"/>
              </a:ext>
            </a:extLst>
          </p:cNvPr>
          <p:cNvSpPr>
            <a:spLocks noGrp="1"/>
          </p:cNvSpPr>
          <p:nvPr>
            <p:ph idx="1"/>
          </p:nvPr>
        </p:nvSpPr>
        <p:spPr/>
        <p:txBody>
          <a:bodyPr>
            <a:normAutofit/>
          </a:bodyPr>
          <a:lstStyle/>
          <a:p>
            <a:r>
              <a:rPr lang="es-PE" sz="3000" b="1" dirty="0"/>
              <a:t>Pregunta 1:</a:t>
            </a:r>
            <a:br>
              <a:rPr lang="es-PE" sz="3000" dirty="0"/>
            </a:br>
            <a:r>
              <a:rPr lang="es-PE" sz="3000" dirty="0"/>
              <a:t>Explique la diferencia entre un sensor y un transductor.</a:t>
            </a:r>
          </a:p>
        </p:txBody>
      </p:sp>
      <p:pic>
        <p:nvPicPr>
          <p:cNvPr id="11" name="Marcador de posición de imagen 10">
            <a:extLst>
              <a:ext uri="{FF2B5EF4-FFF2-40B4-BE49-F238E27FC236}">
                <a16:creationId xmlns:a16="http://schemas.microsoft.com/office/drawing/2014/main" id="{52B2AF8C-ABA6-47A9-76AC-566ABA4577AE}"/>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3" name="Título 2">
            <a:extLst>
              <a:ext uri="{FF2B5EF4-FFF2-40B4-BE49-F238E27FC236}">
                <a16:creationId xmlns:a16="http://schemas.microsoft.com/office/drawing/2014/main" id="{B4002D56-6488-BA95-5898-3028F1774087}"/>
              </a:ext>
            </a:extLst>
          </p:cNvPr>
          <p:cNvSpPr>
            <a:spLocks noGrp="1"/>
          </p:cNvSpPr>
          <p:nvPr>
            <p:ph type="title"/>
          </p:nvPr>
        </p:nvSpPr>
        <p:spPr>
          <a:prstGeom prst="rect">
            <a:avLst/>
          </a:prstGeom>
        </p:spPr>
        <p:txBody>
          <a:bodyPr/>
          <a:lstStyle/>
          <a:p>
            <a:r>
              <a:rPr lang="es-PE" dirty="0"/>
              <a:t>Práctica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78B2A-FA9C-C78E-A8D6-8475607B1CA4}"/>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1B32FB4A-598B-DD26-55CF-CCFCCE006C82}"/>
              </a:ext>
            </a:extLst>
          </p:cNvPr>
          <p:cNvSpPr>
            <a:spLocks noGrp="1"/>
          </p:cNvSpPr>
          <p:nvPr>
            <p:ph idx="1"/>
          </p:nvPr>
        </p:nvSpPr>
        <p:spPr>
          <a:xfrm>
            <a:off x="4518786" y="1316442"/>
            <a:ext cx="6454013" cy="1960158"/>
          </a:xfrm>
        </p:spPr>
        <p:txBody>
          <a:bodyPr>
            <a:normAutofit/>
          </a:bodyPr>
          <a:lstStyle/>
          <a:p>
            <a:r>
              <a:rPr lang="es-PE" sz="3000" b="1" dirty="0"/>
              <a:t>Pregunta 1:</a:t>
            </a:r>
            <a:br>
              <a:rPr lang="es-PE" sz="3000" dirty="0"/>
            </a:br>
            <a:r>
              <a:rPr lang="es-PE" sz="3000" dirty="0"/>
              <a:t>Explique la diferencia entre un sensor y un transductor.</a:t>
            </a:r>
          </a:p>
        </p:txBody>
      </p:sp>
      <p:pic>
        <p:nvPicPr>
          <p:cNvPr id="10" name="Marcador de posición de imagen 9">
            <a:extLst>
              <a:ext uri="{FF2B5EF4-FFF2-40B4-BE49-F238E27FC236}">
                <a16:creationId xmlns:a16="http://schemas.microsoft.com/office/drawing/2014/main" id="{FD684A07-B180-0355-40D2-EDD8A65B06F4}"/>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1E855F52-99BB-905A-4451-739EB07622F9}"/>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Un sensor detecta directamente una magnitud física y produce una señal proporcional. Un transductor convierte una forma de energía en otra; puede ser sensor (cuando detecta) o actuador (cuando ejecuta). Ejemplo: un termopar (sensor y transductor) detecta temperatura y la convierte en voltaje.</a:t>
            </a:r>
          </a:p>
        </p:txBody>
      </p:sp>
      <p:sp>
        <p:nvSpPr>
          <p:cNvPr id="5" name="Título 4">
            <a:extLst>
              <a:ext uri="{FF2B5EF4-FFF2-40B4-BE49-F238E27FC236}">
                <a16:creationId xmlns:a16="http://schemas.microsoft.com/office/drawing/2014/main" id="{7ED4EB11-C9BD-FD44-926C-C83B5940CAA8}"/>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1989737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6757D-D526-E868-72F9-7E426076C8CF}"/>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669B689D-2ECC-41B7-1A4D-EB4EE95FBE47}"/>
              </a:ext>
            </a:extLst>
          </p:cNvPr>
          <p:cNvSpPr>
            <a:spLocks noGrp="1"/>
          </p:cNvSpPr>
          <p:nvPr>
            <p:ph idx="1"/>
          </p:nvPr>
        </p:nvSpPr>
        <p:spPr>
          <a:xfrm>
            <a:off x="4518786" y="1316442"/>
            <a:ext cx="6682614" cy="1960158"/>
          </a:xfrm>
        </p:spPr>
        <p:txBody>
          <a:bodyPr>
            <a:normAutofit/>
          </a:bodyPr>
          <a:lstStyle/>
          <a:p>
            <a:r>
              <a:rPr lang="es-PE" sz="2800" b="1" dirty="0"/>
              <a:t>Pregunta 2:</a:t>
            </a:r>
            <a:br>
              <a:rPr lang="es-PE" sz="2800" dirty="0"/>
            </a:br>
            <a:r>
              <a:rPr lang="es-PE" sz="2800" dirty="0"/>
              <a:t>¿Por qué las características estáticas son críticas en procesos de control de calidad?</a:t>
            </a:r>
            <a:endParaRPr lang="es-PE" sz="3000" dirty="0"/>
          </a:p>
        </p:txBody>
      </p:sp>
      <p:pic>
        <p:nvPicPr>
          <p:cNvPr id="9" name="Marcador de posición de imagen 8">
            <a:extLst>
              <a:ext uri="{FF2B5EF4-FFF2-40B4-BE49-F238E27FC236}">
                <a16:creationId xmlns:a16="http://schemas.microsoft.com/office/drawing/2014/main" id="{E54B39D4-2A16-8B15-1E72-DC24D7F9717E}"/>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5" name="Título 4">
            <a:extLst>
              <a:ext uri="{FF2B5EF4-FFF2-40B4-BE49-F238E27FC236}">
                <a16:creationId xmlns:a16="http://schemas.microsoft.com/office/drawing/2014/main" id="{EC766382-BB74-B9F1-F890-F811BCFD8E38}"/>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38795663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88AF7-ED18-AB34-73F4-7C2DB3B4E6E3}"/>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FCE5A77C-05AA-8220-0316-A6A2D9B10CE9}"/>
              </a:ext>
            </a:extLst>
          </p:cNvPr>
          <p:cNvSpPr>
            <a:spLocks noGrp="1"/>
          </p:cNvSpPr>
          <p:nvPr>
            <p:ph idx="1"/>
          </p:nvPr>
        </p:nvSpPr>
        <p:spPr>
          <a:xfrm>
            <a:off x="4518786" y="1316442"/>
            <a:ext cx="6682614" cy="1960158"/>
          </a:xfrm>
        </p:spPr>
        <p:txBody>
          <a:bodyPr>
            <a:normAutofit/>
          </a:bodyPr>
          <a:lstStyle/>
          <a:p>
            <a:r>
              <a:rPr lang="es-PE" sz="2800" b="1" dirty="0"/>
              <a:t>Pregunta 2:</a:t>
            </a:r>
            <a:br>
              <a:rPr lang="es-PE" sz="2800" dirty="0"/>
            </a:br>
            <a:r>
              <a:rPr lang="es-PE" sz="2800" dirty="0"/>
              <a:t>¿Por qué las características estáticas son críticas en procesos de control de calidad?</a:t>
            </a:r>
            <a:endParaRPr lang="es-PE" sz="3000" dirty="0"/>
          </a:p>
        </p:txBody>
      </p:sp>
      <p:pic>
        <p:nvPicPr>
          <p:cNvPr id="9" name="Marcador de posición de imagen 8">
            <a:extLst>
              <a:ext uri="{FF2B5EF4-FFF2-40B4-BE49-F238E27FC236}">
                <a16:creationId xmlns:a16="http://schemas.microsoft.com/office/drawing/2014/main" id="{14896650-6C74-41C0-C45D-6A2C69B7C7EE}"/>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98F56F9F-C1C1-7882-FE3D-5D86D128E9B4}"/>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sz="2400" b="1" dirty="0"/>
              <a:t>Respuesta:</a:t>
            </a:r>
            <a:r>
              <a:rPr lang="es-PE" sz="2400" dirty="0"/>
              <a:t> Porque determinan la precisión, exactitud y repetibilidad de la medición. Si un sensor no es confiable en estado estacionario, el control de calidad se ve comprometido al aceptar piezas defectuosas o rechazar piezas correctas.</a:t>
            </a:r>
          </a:p>
        </p:txBody>
      </p:sp>
      <p:sp>
        <p:nvSpPr>
          <p:cNvPr id="5" name="Título 4">
            <a:extLst>
              <a:ext uri="{FF2B5EF4-FFF2-40B4-BE49-F238E27FC236}">
                <a16:creationId xmlns:a16="http://schemas.microsoft.com/office/drawing/2014/main" id="{1FF8DDB7-079D-C912-3CBE-749C656597BE}"/>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9836996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73303-48DC-53AB-C967-33AA14BBB16E}"/>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38D8E719-2025-D886-53E5-559E679814D1}"/>
              </a:ext>
            </a:extLst>
          </p:cNvPr>
          <p:cNvSpPr>
            <a:spLocks noGrp="1"/>
          </p:cNvSpPr>
          <p:nvPr>
            <p:ph idx="1"/>
          </p:nvPr>
        </p:nvSpPr>
        <p:spPr>
          <a:xfrm>
            <a:off x="4518786" y="1316442"/>
            <a:ext cx="6454013" cy="1960158"/>
          </a:xfrm>
        </p:spPr>
        <p:txBody>
          <a:bodyPr>
            <a:normAutofit/>
          </a:bodyPr>
          <a:lstStyle/>
          <a:p>
            <a:r>
              <a:rPr lang="es-PE" sz="2800" b="1" dirty="0"/>
              <a:t>Pregunta 3:</a:t>
            </a:r>
            <a:br>
              <a:rPr lang="es-PE" sz="2800" dirty="0"/>
            </a:br>
            <a:r>
              <a:rPr lang="es-PE" sz="2800" dirty="0"/>
              <a:t>Dé un ejemplo de elemento final de control y su función.</a:t>
            </a:r>
            <a:endParaRPr lang="es-PE" sz="3000" dirty="0"/>
          </a:p>
        </p:txBody>
      </p:sp>
      <p:pic>
        <p:nvPicPr>
          <p:cNvPr id="9" name="Marcador de posición de imagen 8">
            <a:extLst>
              <a:ext uri="{FF2B5EF4-FFF2-40B4-BE49-F238E27FC236}">
                <a16:creationId xmlns:a16="http://schemas.microsoft.com/office/drawing/2014/main" id="{392BCB6C-6B4A-C08B-F259-47517B549B43}"/>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5" name="Título 4">
            <a:extLst>
              <a:ext uri="{FF2B5EF4-FFF2-40B4-BE49-F238E27FC236}">
                <a16:creationId xmlns:a16="http://schemas.microsoft.com/office/drawing/2014/main" id="{541C2B6E-413D-A02A-7935-612780BB3843}"/>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4237845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2FB45-9A32-E761-7387-B90C734AC6B6}"/>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E53AFDE1-1451-EF8B-76A6-BEACD9AA26FB}"/>
              </a:ext>
            </a:extLst>
          </p:cNvPr>
          <p:cNvSpPr>
            <a:spLocks noGrp="1"/>
          </p:cNvSpPr>
          <p:nvPr>
            <p:ph idx="1"/>
          </p:nvPr>
        </p:nvSpPr>
        <p:spPr>
          <a:xfrm>
            <a:off x="4518786" y="1316442"/>
            <a:ext cx="6454013" cy="1960158"/>
          </a:xfrm>
        </p:spPr>
        <p:txBody>
          <a:bodyPr>
            <a:normAutofit/>
          </a:bodyPr>
          <a:lstStyle/>
          <a:p>
            <a:r>
              <a:rPr lang="es-PE" sz="2800" b="1" dirty="0"/>
              <a:t>Pregunta 3:</a:t>
            </a:r>
            <a:br>
              <a:rPr lang="es-PE" sz="2800" dirty="0"/>
            </a:br>
            <a:r>
              <a:rPr lang="es-PE" sz="2800" dirty="0"/>
              <a:t>Dé un ejemplo de elemento final de control y su función.</a:t>
            </a:r>
            <a:endParaRPr lang="es-PE" sz="3000" dirty="0"/>
          </a:p>
        </p:txBody>
      </p:sp>
      <p:pic>
        <p:nvPicPr>
          <p:cNvPr id="9" name="Marcador de posición de imagen 8">
            <a:extLst>
              <a:ext uri="{FF2B5EF4-FFF2-40B4-BE49-F238E27FC236}">
                <a16:creationId xmlns:a16="http://schemas.microsoft.com/office/drawing/2014/main" id="{C6D99B8D-AC84-BC97-1629-FE33FD20496D}"/>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AE4807CF-1526-8CB1-1D78-860411C490FA}"/>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Una válvula neumática modulante en un sistema de vapor. Recibe una señal de 4–20 mA del controlador y ajusta su apertura para regular el flujo de vapor, manteniendo estable la temperatura.</a:t>
            </a:r>
          </a:p>
        </p:txBody>
      </p:sp>
      <p:sp>
        <p:nvSpPr>
          <p:cNvPr id="5" name="Título 4">
            <a:extLst>
              <a:ext uri="{FF2B5EF4-FFF2-40B4-BE49-F238E27FC236}">
                <a16:creationId xmlns:a16="http://schemas.microsoft.com/office/drawing/2014/main" id="{07DE136F-7708-4CC8-FCFE-8FD6E1079394}"/>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4378340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E6581-F0E1-34F2-E863-A74767CEEC9F}"/>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1FBAC6F9-B294-4CE0-7DA3-7C26FC8F7233}"/>
              </a:ext>
            </a:extLst>
          </p:cNvPr>
          <p:cNvSpPr>
            <a:spLocks noGrp="1"/>
          </p:cNvSpPr>
          <p:nvPr>
            <p:ph idx="1"/>
          </p:nvPr>
        </p:nvSpPr>
        <p:spPr>
          <a:xfrm>
            <a:off x="4518786" y="1316442"/>
            <a:ext cx="6454013" cy="1960158"/>
          </a:xfrm>
        </p:spPr>
        <p:txBody>
          <a:bodyPr>
            <a:normAutofit/>
          </a:bodyPr>
          <a:lstStyle/>
          <a:p>
            <a:r>
              <a:rPr lang="es-PE" sz="2800" b="1" dirty="0"/>
              <a:t>Pregunta 4:</a:t>
            </a:r>
            <a:br>
              <a:rPr lang="es-PE" sz="2800" dirty="0"/>
            </a:br>
            <a:r>
              <a:rPr lang="es-PE" sz="2800" dirty="0"/>
              <a:t>¿Qué característica dinámica es más importante en un sistema donde los cambios son rápidos?</a:t>
            </a:r>
            <a:r>
              <a:rPr lang="es-PE" sz="3000" dirty="0"/>
              <a:t>.</a:t>
            </a:r>
          </a:p>
        </p:txBody>
      </p:sp>
      <p:pic>
        <p:nvPicPr>
          <p:cNvPr id="9" name="Marcador de posición de imagen 8">
            <a:extLst>
              <a:ext uri="{FF2B5EF4-FFF2-40B4-BE49-F238E27FC236}">
                <a16:creationId xmlns:a16="http://schemas.microsoft.com/office/drawing/2014/main" id="{F9FDB2DF-BC4C-6BBA-A567-A0F9CAC89F76}"/>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5" name="Título 4">
            <a:extLst>
              <a:ext uri="{FF2B5EF4-FFF2-40B4-BE49-F238E27FC236}">
                <a16:creationId xmlns:a16="http://schemas.microsoft.com/office/drawing/2014/main" id="{64351934-7DC8-61E7-68B4-102B2B17B96F}"/>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4502528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77837-ED90-7855-BE79-ABBCEA3C79E9}"/>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0B669205-32F1-F68B-B2EE-BDB675741509}"/>
              </a:ext>
            </a:extLst>
          </p:cNvPr>
          <p:cNvSpPr>
            <a:spLocks noGrp="1"/>
          </p:cNvSpPr>
          <p:nvPr>
            <p:ph idx="1"/>
          </p:nvPr>
        </p:nvSpPr>
        <p:spPr>
          <a:xfrm>
            <a:off x="4518786" y="1316442"/>
            <a:ext cx="6454013" cy="1960158"/>
          </a:xfrm>
        </p:spPr>
        <p:txBody>
          <a:bodyPr>
            <a:normAutofit/>
          </a:bodyPr>
          <a:lstStyle/>
          <a:p>
            <a:r>
              <a:rPr lang="es-PE" sz="2800" b="1" dirty="0"/>
              <a:t>Pregunta 4:</a:t>
            </a:r>
            <a:br>
              <a:rPr lang="es-PE" sz="2800" dirty="0"/>
            </a:br>
            <a:r>
              <a:rPr lang="es-PE" sz="2800" dirty="0"/>
              <a:t>¿Qué característica dinámica es más importante en un sistema donde los cambios son rápidos?</a:t>
            </a:r>
            <a:r>
              <a:rPr lang="es-PE" sz="3000" dirty="0"/>
              <a:t>.</a:t>
            </a:r>
          </a:p>
        </p:txBody>
      </p:sp>
      <p:pic>
        <p:nvPicPr>
          <p:cNvPr id="9" name="Marcador de posición de imagen 8">
            <a:extLst>
              <a:ext uri="{FF2B5EF4-FFF2-40B4-BE49-F238E27FC236}">
                <a16:creationId xmlns:a16="http://schemas.microsoft.com/office/drawing/2014/main" id="{FB784B0A-937C-49E4-F518-E19346F7EB62}"/>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F4C76402-CBAF-43C4-3B70-B444E94D97A7}"/>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El </a:t>
            </a:r>
            <a:r>
              <a:rPr lang="es-PE" sz="2400" b="1" dirty="0"/>
              <a:t>tiempo de respuesta</a:t>
            </a:r>
            <a:r>
              <a:rPr lang="es-PE" sz="2400" dirty="0"/>
              <a:t>. Si es demasiado lento, el instrumento no seguirá la variación de la variable y el sistema de control reaccionará con retraso, provocando inestabilidad.</a:t>
            </a:r>
          </a:p>
        </p:txBody>
      </p:sp>
      <p:sp>
        <p:nvSpPr>
          <p:cNvPr id="5" name="Título 4">
            <a:extLst>
              <a:ext uri="{FF2B5EF4-FFF2-40B4-BE49-F238E27FC236}">
                <a16:creationId xmlns:a16="http://schemas.microsoft.com/office/drawing/2014/main" id="{69CD1BD5-85EE-44F2-1D56-8E3FCA438843}"/>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18048782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8C103-5006-6838-C80D-F3BB3E818398}"/>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55C31908-7670-8755-E716-E56454EB4F05}"/>
              </a:ext>
            </a:extLst>
          </p:cNvPr>
          <p:cNvSpPr>
            <a:spLocks noGrp="1"/>
          </p:cNvSpPr>
          <p:nvPr>
            <p:ph idx="1"/>
          </p:nvPr>
        </p:nvSpPr>
        <p:spPr>
          <a:xfrm>
            <a:off x="4518786" y="1316442"/>
            <a:ext cx="6454013" cy="1960158"/>
          </a:xfrm>
        </p:spPr>
        <p:txBody>
          <a:bodyPr>
            <a:normAutofit/>
          </a:bodyPr>
          <a:lstStyle/>
          <a:p>
            <a:r>
              <a:rPr lang="es-PE" sz="2800" b="1" dirty="0"/>
              <a:t>Pregunta 5:</a:t>
            </a:r>
            <a:br>
              <a:rPr lang="es-PE" sz="2800" dirty="0"/>
            </a:br>
            <a:r>
              <a:rPr lang="es-PE" sz="2800" dirty="0"/>
              <a:t>¿Todo transductor es un sensor? Justifique.</a:t>
            </a:r>
            <a:endParaRPr lang="es-PE" sz="3000" dirty="0"/>
          </a:p>
        </p:txBody>
      </p:sp>
      <p:pic>
        <p:nvPicPr>
          <p:cNvPr id="9" name="Marcador de posición de imagen 8">
            <a:extLst>
              <a:ext uri="{FF2B5EF4-FFF2-40B4-BE49-F238E27FC236}">
                <a16:creationId xmlns:a16="http://schemas.microsoft.com/office/drawing/2014/main" id="{A330DBE8-FD89-D814-75A9-808EBBF5F662}"/>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5" name="Título 4">
            <a:extLst>
              <a:ext uri="{FF2B5EF4-FFF2-40B4-BE49-F238E27FC236}">
                <a16:creationId xmlns:a16="http://schemas.microsoft.com/office/drawing/2014/main" id="{6B25AB2C-8229-8B39-FECA-A4BDBA3ECE3D}"/>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10458860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D45DE-356E-1456-36D1-9A2C0D691A02}"/>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EE7C6648-4E24-BF51-E93F-D90D92CC57CE}"/>
              </a:ext>
            </a:extLst>
          </p:cNvPr>
          <p:cNvSpPr>
            <a:spLocks noGrp="1"/>
          </p:cNvSpPr>
          <p:nvPr>
            <p:ph idx="1"/>
          </p:nvPr>
        </p:nvSpPr>
        <p:spPr>
          <a:xfrm>
            <a:off x="4518786" y="1316442"/>
            <a:ext cx="6454013" cy="1960158"/>
          </a:xfrm>
        </p:spPr>
        <p:txBody>
          <a:bodyPr>
            <a:normAutofit/>
          </a:bodyPr>
          <a:lstStyle/>
          <a:p>
            <a:r>
              <a:rPr lang="es-PE" sz="2800" b="1" dirty="0"/>
              <a:t>Pregunta 5:</a:t>
            </a:r>
            <a:br>
              <a:rPr lang="es-PE" sz="2800" dirty="0"/>
            </a:br>
            <a:r>
              <a:rPr lang="es-PE" sz="2800" dirty="0"/>
              <a:t>¿Todo transductor es un sensor? Justifique.</a:t>
            </a:r>
            <a:endParaRPr lang="es-PE" sz="3000" dirty="0"/>
          </a:p>
        </p:txBody>
      </p:sp>
      <p:pic>
        <p:nvPicPr>
          <p:cNvPr id="9" name="Marcador de posición de imagen 8">
            <a:extLst>
              <a:ext uri="{FF2B5EF4-FFF2-40B4-BE49-F238E27FC236}">
                <a16:creationId xmlns:a16="http://schemas.microsoft.com/office/drawing/2014/main" id="{2CA5A108-9A93-98DA-255A-A6F1BDD56EF4}"/>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0F39A711-D1E4-BFA9-CC88-74A6447946F6}"/>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No. Un transductor puede ser un actuador. Por ejemplo, un altavoz convierte señales eléctricas en sonido, pero no detecta nada; por lo tanto, es un transductor, pero no un sensor.</a:t>
            </a:r>
          </a:p>
        </p:txBody>
      </p:sp>
      <p:sp>
        <p:nvSpPr>
          <p:cNvPr id="5" name="Título 4">
            <a:extLst>
              <a:ext uri="{FF2B5EF4-FFF2-40B4-BE49-F238E27FC236}">
                <a16:creationId xmlns:a16="http://schemas.microsoft.com/office/drawing/2014/main" id="{BCD0505E-7918-C001-F558-53FE45E94E71}"/>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18574436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E97E4-0357-5594-23BE-917DF695F421}"/>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3379F2F8-089E-B53B-2BCB-48BD30DC0554}"/>
              </a:ext>
            </a:extLst>
          </p:cNvPr>
          <p:cNvSpPr>
            <a:spLocks noGrp="1"/>
          </p:cNvSpPr>
          <p:nvPr>
            <p:ph type="title"/>
          </p:nvPr>
        </p:nvSpPr>
        <p:spPr>
          <a:xfrm>
            <a:off x="457200" y="143473"/>
            <a:ext cx="10515600" cy="720001"/>
          </a:xfrm>
          <a:prstGeom prst="rect">
            <a:avLst/>
          </a:prstGeom>
        </p:spPr>
        <p:txBody>
          <a:bodyPr/>
          <a:lstStyle/>
          <a:p>
            <a:r>
              <a:rPr lang="es-PE" dirty="0"/>
              <a:t>Conclusiones</a:t>
            </a:r>
          </a:p>
        </p:txBody>
      </p:sp>
      <p:sp>
        <p:nvSpPr>
          <p:cNvPr id="4" name="Marcador de contenido 3">
            <a:extLst>
              <a:ext uri="{FF2B5EF4-FFF2-40B4-BE49-F238E27FC236}">
                <a16:creationId xmlns:a16="http://schemas.microsoft.com/office/drawing/2014/main" id="{E61DF2C5-A434-8D25-F78B-00F660C58EB4}"/>
              </a:ext>
            </a:extLst>
          </p:cNvPr>
          <p:cNvSpPr>
            <a:spLocks noGrp="1"/>
          </p:cNvSpPr>
          <p:nvPr>
            <p:ph idx="1"/>
          </p:nvPr>
        </p:nvSpPr>
        <p:spPr/>
        <p:txBody>
          <a:bodyPr>
            <a:normAutofit lnSpcReduction="10000"/>
          </a:bodyPr>
          <a:lstStyle/>
          <a:p>
            <a:pPr marL="514350" indent="-514350">
              <a:buFont typeface="+mj-lt"/>
              <a:buAutoNum type="arabicParenR"/>
            </a:pPr>
            <a:r>
              <a:rPr lang="es-PE" dirty="0"/>
              <a:t>Un sistema de instrumentación integra sensores, transductores, acondicionadores de señal, controladores y elementos finales para medir y controlar procesos industriales.</a:t>
            </a:r>
          </a:p>
          <a:p>
            <a:pPr marL="514350" indent="-514350">
              <a:buFont typeface="+mj-lt"/>
              <a:buAutoNum type="arabicParenR"/>
            </a:pPr>
            <a:r>
              <a:rPr lang="es-PE" dirty="0"/>
              <a:t>La diferencia entre sensor, transductor y elemento final de control es clave para seleccionar y diseñar sistemas de medición.</a:t>
            </a:r>
          </a:p>
          <a:p>
            <a:pPr marL="514350" indent="-514350">
              <a:buFont typeface="+mj-lt"/>
              <a:buAutoNum type="arabicParenR"/>
            </a:pPr>
            <a:r>
              <a:rPr lang="es-PE" dirty="0"/>
              <a:t>Las características estáticas y dinámicas determinan la confiabilidad y la velocidad de respuesta de los instrumentos, impactando directamente en la calidad y seguridad de los procesos.</a:t>
            </a:r>
          </a:p>
        </p:txBody>
      </p:sp>
    </p:spTree>
    <p:extLst>
      <p:ext uri="{BB962C8B-B14F-4D97-AF65-F5344CB8AC3E}">
        <p14:creationId xmlns:p14="http://schemas.microsoft.com/office/powerpoint/2010/main" val="7925092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E63AE8C6-C7EF-DC89-13C8-4A851C209FA8}"/>
              </a:ext>
            </a:extLst>
          </p:cNvPr>
          <p:cNvSpPr>
            <a:spLocks noGrp="1"/>
          </p:cNvSpPr>
          <p:nvPr>
            <p:ph type="ctrTitle"/>
          </p:nvPr>
        </p:nvSpPr>
        <p:spPr/>
        <p:txBody>
          <a:bodyPr/>
          <a:lstStyle/>
          <a:p>
            <a:r>
              <a:rPr lang="es-PE" dirty="0"/>
              <a:t>GRACIAS</a:t>
            </a:r>
          </a:p>
        </p:txBody>
      </p:sp>
      <p:sp>
        <p:nvSpPr>
          <p:cNvPr id="9" name="Subtítulo 8">
            <a:extLst>
              <a:ext uri="{FF2B5EF4-FFF2-40B4-BE49-F238E27FC236}">
                <a16:creationId xmlns:a16="http://schemas.microsoft.com/office/drawing/2014/main" id="{3D8D3E45-CD25-EE7B-1A56-5B419B888B17}"/>
              </a:ext>
            </a:extLst>
          </p:cNvPr>
          <p:cNvSpPr>
            <a:spLocks noGrp="1"/>
          </p:cNvSpPr>
          <p:nvPr>
            <p:ph type="subTitle" idx="1"/>
          </p:nvPr>
        </p:nvSpPr>
        <p:spPr/>
        <p:txBody>
          <a:bodyPr/>
          <a:lstStyle/>
          <a:p>
            <a:pPr marL="915797" marR="936140">
              <a:lnSpc>
                <a:spcPts val="1939"/>
              </a:lnSpc>
            </a:pPr>
            <a:r>
              <a:rPr lang="es-PE" spc="-1" dirty="0">
                <a:latin typeface="Arial"/>
                <a:cs typeface="Arial"/>
              </a:rPr>
              <a:t>Facultad de Ingeniería</a:t>
            </a:r>
            <a:endParaRPr lang="es-PE" dirty="0">
              <a:latin typeface="Arial"/>
              <a:cs typeface="Arial"/>
            </a:endParaRPr>
          </a:p>
          <a:p>
            <a:pPr>
              <a:lnSpc>
                <a:spcPct val="95825"/>
              </a:lnSpc>
            </a:pPr>
            <a:r>
              <a:rPr lang="es-PE" spc="-3" dirty="0">
                <a:latin typeface="Arial"/>
                <a:cs typeface="Arial"/>
              </a:rPr>
              <a:t>Departamento Académico de Electrónica</a:t>
            </a:r>
            <a:endParaRPr lang="es-PE" dirty="0">
              <a:latin typeface="Arial"/>
              <a:cs typeface="Arial"/>
            </a:endParaRPr>
          </a:p>
          <a:p>
            <a:endParaRPr lang="es-PE"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1257</TotalTime>
  <Words>3344</Words>
  <Application>Microsoft Office PowerPoint</Application>
  <PresentationFormat>Panorámica</PresentationFormat>
  <Paragraphs>501</Paragraphs>
  <Slides>67</Slides>
  <Notes>7</Notes>
  <HiddenSlides>0</HiddenSlides>
  <MMClips>0</MMClips>
  <ScaleCrop>false</ScaleCrop>
  <HeadingPairs>
    <vt:vector size="8" baseType="variant">
      <vt:variant>
        <vt:lpstr>Fuentes usadas</vt:lpstr>
      </vt:variant>
      <vt:variant>
        <vt:i4>3</vt:i4>
      </vt:variant>
      <vt:variant>
        <vt:lpstr>Tema</vt:lpstr>
      </vt:variant>
      <vt:variant>
        <vt:i4>1</vt:i4>
      </vt:variant>
      <vt:variant>
        <vt:lpstr>Servidores OLE incrustados</vt:lpstr>
      </vt:variant>
      <vt:variant>
        <vt:i4>1</vt:i4>
      </vt:variant>
      <vt:variant>
        <vt:lpstr>Títulos de diapositiva</vt:lpstr>
      </vt:variant>
      <vt:variant>
        <vt:i4>67</vt:i4>
      </vt:variant>
    </vt:vector>
  </HeadingPairs>
  <TitlesOfParts>
    <vt:vector size="72" baseType="lpstr">
      <vt:lpstr>Arial</vt:lpstr>
      <vt:lpstr>Calibri</vt:lpstr>
      <vt:lpstr>Wingdings</vt:lpstr>
      <vt:lpstr>Office Theme</vt:lpstr>
      <vt:lpstr>Microsoft Editor de ecuaciones 3.0</vt:lpstr>
      <vt:lpstr>Presentación de PowerPoint</vt:lpstr>
      <vt:lpstr>¿Qué se puede apreciar en la imagen?</vt:lpstr>
      <vt:lpstr>¿Qué se puede apreciar en la imagen?</vt:lpstr>
      <vt:lpstr>Presentación de PowerPoint</vt:lpstr>
      <vt:lpstr>Presentación de PowerPoint</vt:lpstr>
      <vt:lpstr>Saberes Previos:</vt:lpstr>
      <vt:lpstr>Temas:</vt:lpstr>
      <vt:lpstr>Presentación de PowerPoint</vt:lpstr>
      <vt:lpstr>Componentes de un sistema de instrumentación</vt:lpstr>
      <vt:lpstr>Componentes de un sistema de instrumentación</vt:lpstr>
      <vt:lpstr>Componentes de un sistema de instrumentación</vt:lpstr>
      <vt:lpstr>Presentación de PowerPoint</vt:lpstr>
      <vt:lpstr>Presentación de PowerPoint</vt:lpstr>
      <vt:lpstr>SENSORES Y TRANSDUCTORES</vt:lpstr>
      <vt:lpstr>SENSORES Y TRANSDUCTORES</vt:lpstr>
      <vt:lpstr>SENSORES Y TRANSDUCTORES</vt:lpstr>
      <vt:lpstr>SENSORES Y TRANSDUCTORES</vt:lpstr>
      <vt:lpstr>Medida de pequeños desplazamientos</vt:lpstr>
      <vt:lpstr>Medida de pequeños desplazamientos</vt:lpstr>
      <vt:lpstr>Sensor Capacitivo</vt:lpstr>
      <vt:lpstr>Medida de pequeños desplazamientos</vt:lpstr>
      <vt:lpstr>Sensor Inductivo</vt:lpstr>
      <vt:lpstr>Sensor Inductivo</vt:lpstr>
      <vt:lpstr>Sensor Inductivo</vt:lpstr>
      <vt:lpstr>Medida de ángulos</vt:lpstr>
      <vt:lpstr>Medida de ángulos</vt:lpstr>
      <vt:lpstr>Medida de ángulos</vt:lpstr>
      <vt:lpstr>SENSORES Y TRANSDUCTORES</vt:lpstr>
      <vt:lpstr>Sensores de temperatura</vt:lpstr>
      <vt:lpstr>Sensores de temperatura</vt:lpstr>
      <vt:lpstr>Sensores de temperatura</vt:lpstr>
      <vt:lpstr>SENSORES Y TRANSDUCTORES</vt:lpstr>
      <vt:lpstr>SENSORES Y TRANSDUCTORES</vt:lpstr>
      <vt:lpstr>Sensores de velocidad</vt:lpstr>
      <vt:lpstr>SENSORES Y TRANSDUCTORES</vt:lpstr>
      <vt:lpstr>SENSORES Y TRANSDUCTORES</vt:lpstr>
      <vt:lpstr>SENSORES Y TRANSDUCTORES</vt:lpstr>
      <vt:lpstr>SENSORES Y TRANSDUCTORES</vt:lpstr>
      <vt:lpstr>Sensores de proximidad</vt:lpstr>
      <vt:lpstr>Sensores de proximidad</vt:lpstr>
      <vt:lpstr>Sensores de proximidad</vt:lpstr>
      <vt:lpstr>Sensores de proximidad</vt:lpstr>
      <vt:lpstr>Ópticos</vt:lpstr>
      <vt:lpstr>Ópticos</vt:lpstr>
      <vt:lpstr>Tipos de Sensores Ópticos</vt:lpstr>
      <vt:lpstr>Sensores de proximidad</vt:lpstr>
      <vt:lpstr>Sensores Ópticos</vt:lpstr>
      <vt:lpstr>Elemento Final de Control</vt:lpstr>
      <vt:lpstr>VÁLVULA DE CONTROL</vt:lpstr>
      <vt:lpstr>POSICIONADOR</vt:lpstr>
      <vt:lpstr>Presentación de PowerPoint</vt:lpstr>
      <vt:lpstr>Presentación de PowerPoint</vt:lpstr>
      <vt:lpstr>Presentación de PowerPoint</vt:lpstr>
      <vt:lpstr>Presentación de PowerPoint</vt:lpstr>
      <vt:lpstr>Presentación de PowerPoint</vt:lpstr>
      <vt:lpstr>Práctica</vt:lpstr>
      <vt:lpstr>Practica:</vt:lpstr>
      <vt:lpstr>Practica:</vt:lpstr>
      <vt:lpstr>Practica:</vt:lpstr>
      <vt:lpstr>Practica:</vt:lpstr>
      <vt:lpstr>Practica:</vt:lpstr>
      <vt:lpstr>Practica:</vt:lpstr>
      <vt:lpstr>Practica:</vt:lpstr>
      <vt:lpstr>Practica:</vt:lpstr>
      <vt:lpstr>Practica:</vt:lpstr>
      <vt:lpstr>Conclusiones</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Windows-PC</dc:creator>
  <cp:lastModifiedBy>Anibal Sanchez</cp:lastModifiedBy>
  <cp:revision>19</cp:revision>
  <dcterms:modified xsi:type="dcterms:W3CDTF">2025-08-15T04:15:28Z</dcterms:modified>
</cp:coreProperties>
</file>