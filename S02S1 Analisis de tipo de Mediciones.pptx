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2.jpg" ContentType="image/jpeg"/>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media/image18.jpg" ContentType="image/jpeg"/>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25.jp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handoutMasterIdLst>
    <p:handoutMasterId r:id="rId61"/>
  </p:handoutMasterIdLst>
  <p:sldIdLst>
    <p:sldId id="256" r:id="rId2"/>
    <p:sldId id="257" r:id="rId3"/>
    <p:sldId id="416" r:id="rId4"/>
    <p:sldId id="289" r:id="rId5"/>
    <p:sldId id="415" r:id="rId6"/>
    <p:sldId id="288" r:id="rId7"/>
    <p:sldId id="258" r:id="rId8"/>
    <p:sldId id="259" r:id="rId9"/>
    <p:sldId id="260" r:id="rId10"/>
    <p:sldId id="380" r:id="rId11"/>
    <p:sldId id="381" r:id="rId12"/>
    <p:sldId id="382" r:id="rId13"/>
    <p:sldId id="384" r:id="rId14"/>
    <p:sldId id="385" r:id="rId15"/>
    <p:sldId id="374" r:id="rId16"/>
    <p:sldId id="386" r:id="rId17"/>
    <p:sldId id="387" r:id="rId18"/>
    <p:sldId id="389" r:id="rId19"/>
    <p:sldId id="388" r:id="rId20"/>
    <p:sldId id="375" r:id="rId21"/>
    <p:sldId id="390" r:id="rId22"/>
    <p:sldId id="391" r:id="rId23"/>
    <p:sldId id="392" r:id="rId24"/>
    <p:sldId id="393" r:id="rId25"/>
    <p:sldId id="376" r:id="rId26"/>
    <p:sldId id="394" r:id="rId27"/>
    <p:sldId id="395" r:id="rId28"/>
    <p:sldId id="396" r:id="rId29"/>
    <p:sldId id="397" r:id="rId30"/>
    <p:sldId id="398" r:id="rId31"/>
    <p:sldId id="377" r:id="rId32"/>
    <p:sldId id="400" r:id="rId33"/>
    <p:sldId id="402" r:id="rId34"/>
    <p:sldId id="378" r:id="rId35"/>
    <p:sldId id="418" r:id="rId36"/>
    <p:sldId id="417" r:id="rId37"/>
    <p:sldId id="419" r:id="rId38"/>
    <p:sldId id="420" r:id="rId39"/>
    <p:sldId id="421" r:id="rId40"/>
    <p:sldId id="422" r:id="rId41"/>
    <p:sldId id="423" r:id="rId42"/>
    <p:sldId id="424" r:id="rId43"/>
    <p:sldId id="425" r:id="rId44"/>
    <p:sldId id="401" r:id="rId45"/>
    <p:sldId id="403" r:id="rId46"/>
    <p:sldId id="404" r:id="rId47"/>
    <p:sldId id="405" r:id="rId48"/>
    <p:sldId id="406" r:id="rId49"/>
    <p:sldId id="407" r:id="rId50"/>
    <p:sldId id="410" r:id="rId51"/>
    <p:sldId id="408" r:id="rId52"/>
    <p:sldId id="411" r:id="rId53"/>
    <p:sldId id="412" r:id="rId54"/>
    <p:sldId id="413" r:id="rId55"/>
    <p:sldId id="426" r:id="rId56"/>
    <p:sldId id="297" r:id="rId57"/>
    <p:sldId id="287" r:id="rId58"/>
    <p:sldId id="399" r:id="rId59"/>
  </p:sldIdLst>
  <p:sldSz cx="12192000" cy="6858000"/>
  <p:notesSz cx="12192000" cy="6858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93CE91FC-33D8-49BC-B6BC-25E973A6B31F}">
          <p14:sldIdLst>
            <p14:sldId id="256"/>
            <p14:sldId id="257"/>
          </p14:sldIdLst>
        </p14:section>
        <p14:section name="UTILIDAD" id="{84FCCA78-2CD4-4F7F-AEC4-1F73D73137E8}">
          <p14:sldIdLst>
            <p14:sldId id="416"/>
            <p14:sldId id="289"/>
            <p14:sldId id="415"/>
            <p14:sldId id="288"/>
            <p14:sldId id="258"/>
          </p14:sldIdLst>
        </p14:section>
        <p14:section name="TRANSFORMACIÓN" id="{CB2F2C08-53B8-4927-8AC8-BED5439F422B}">
          <p14:sldIdLst>
            <p14:sldId id="259"/>
            <p14:sldId id="260"/>
            <p14:sldId id="380"/>
            <p14:sldId id="381"/>
            <p14:sldId id="382"/>
            <p14:sldId id="384"/>
            <p14:sldId id="385"/>
            <p14:sldId id="374"/>
            <p14:sldId id="386"/>
            <p14:sldId id="387"/>
            <p14:sldId id="389"/>
            <p14:sldId id="388"/>
            <p14:sldId id="375"/>
            <p14:sldId id="390"/>
            <p14:sldId id="391"/>
            <p14:sldId id="392"/>
            <p14:sldId id="393"/>
            <p14:sldId id="376"/>
            <p14:sldId id="394"/>
            <p14:sldId id="395"/>
            <p14:sldId id="396"/>
            <p14:sldId id="397"/>
            <p14:sldId id="398"/>
            <p14:sldId id="377"/>
            <p14:sldId id="400"/>
            <p14:sldId id="402"/>
            <p14:sldId id="378"/>
            <p14:sldId id="418"/>
            <p14:sldId id="417"/>
            <p14:sldId id="419"/>
            <p14:sldId id="420"/>
            <p14:sldId id="421"/>
            <p14:sldId id="422"/>
            <p14:sldId id="423"/>
            <p14:sldId id="424"/>
            <p14:sldId id="425"/>
            <p14:sldId id="401"/>
            <p14:sldId id="403"/>
            <p14:sldId id="404"/>
            <p14:sldId id="405"/>
            <p14:sldId id="406"/>
            <p14:sldId id="407"/>
            <p14:sldId id="410"/>
            <p14:sldId id="408"/>
            <p14:sldId id="411"/>
            <p14:sldId id="412"/>
            <p14:sldId id="413"/>
          </p14:sldIdLst>
        </p14:section>
        <p14:section name="PRACTICA" id="{81865FC8-FBF0-452C-A5FE-CA516384528D}">
          <p14:sldIdLst>
            <p14:sldId id="426"/>
          </p14:sldIdLst>
        </p14:section>
        <p14:section name="CIERRE" id="{A5FC579F-3669-4281-8DA7-9545B3A76DDE}">
          <p14:sldIdLst>
            <p14:sldId id="297"/>
            <p14:sldId id="287"/>
          </p14:sldIdLst>
        </p14:section>
        <p14:section name="ANEXOS" id="{80D2DC64-D8D8-493B-BF3F-CFB3A32B9A5F}">
          <p14:sldIdLst>
            <p14:sldId id="39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18" autoAdjust="0"/>
    <p:restoredTop sz="85794" autoAdjust="0"/>
  </p:normalViewPr>
  <p:slideViewPr>
    <p:cSldViewPr>
      <p:cViewPr varScale="1">
        <p:scale>
          <a:sx n="99" d="100"/>
          <a:sy n="99" d="100"/>
        </p:scale>
        <p:origin x="354" y="84"/>
      </p:cViewPr>
      <p:guideLst>
        <p:guide orient="horz" pos="2880"/>
        <p:guide pos="2160"/>
      </p:guideLst>
    </p:cSldViewPr>
  </p:slideViewPr>
  <p:notesTextViewPr>
    <p:cViewPr>
      <p:scale>
        <a:sx n="3" d="2"/>
        <a:sy n="3" d="2"/>
      </p:scale>
      <p:origin x="0" y="0"/>
    </p:cViewPr>
  </p:notesTextViewPr>
  <p:notesViewPr>
    <p:cSldViewPr>
      <p:cViewPr varScale="1">
        <p:scale>
          <a:sx n="68" d="100"/>
          <a:sy n="68" d="100"/>
        </p:scale>
        <p:origin x="882"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F7E37B-62C7-4E1F-AAB2-C8391A2D3D0D}" type="doc">
      <dgm:prSet loTypeId="urn:microsoft.com/office/officeart/2005/8/layout/gear1" loCatId="cycle" qsTypeId="urn:microsoft.com/office/officeart/2005/8/quickstyle/simple1" qsCatId="simple" csTypeId="urn:microsoft.com/office/officeart/2005/8/colors/accent1_2" csCatId="accent1" phldr="1"/>
      <dgm:spPr/>
    </dgm:pt>
    <dgm:pt modelId="{E9E15175-D362-418C-88E5-F4B8583CA2D5}">
      <dgm:prSet phldrT="[Texto]"/>
      <dgm:spPr/>
      <dgm:t>
        <a:bodyPr/>
        <a:lstStyle/>
        <a:p>
          <a:r>
            <a:rPr lang="es-PE" dirty="0"/>
            <a:t>¿Que determinan las características estáticas y dinámicas de un sensor?</a:t>
          </a:r>
        </a:p>
      </dgm:t>
    </dgm:pt>
    <dgm:pt modelId="{CFD75E86-23FF-4958-B578-879ABF8C0F51}" type="parTrans" cxnId="{E17FAC54-C433-4263-A124-28D380165E93}">
      <dgm:prSet/>
      <dgm:spPr/>
      <dgm:t>
        <a:bodyPr/>
        <a:lstStyle/>
        <a:p>
          <a:endParaRPr lang="es-PE"/>
        </a:p>
      </dgm:t>
    </dgm:pt>
    <dgm:pt modelId="{BB7AD91E-6CDD-4011-9D76-552D32C2CD7D}" type="sibTrans" cxnId="{E17FAC54-C433-4263-A124-28D380165E93}">
      <dgm:prSet/>
      <dgm:spPr/>
      <dgm:t>
        <a:bodyPr/>
        <a:lstStyle/>
        <a:p>
          <a:endParaRPr lang="es-PE"/>
        </a:p>
      </dgm:t>
    </dgm:pt>
    <dgm:pt modelId="{9A295023-05D9-44C4-91CC-A80063A2F98C}">
      <dgm:prSet phldrT="[Texto]"/>
      <dgm:spPr/>
      <dgm:t>
        <a:bodyPr/>
        <a:lstStyle/>
        <a:p>
          <a:r>
            <a:rPr lang="es-PE" dirty="0"/>
            <a:t>Ejemplo de elemento final de Control</a:t>
          </a:r>
        </a:p>
      </dgm:t>
    </dgm:pt>
    <dgm:pt modelId="{1F2AD5CD-310C-4B1B-A2D0-EA3086CDCFEB}" type="parTrans" cxnId="{C175627F-413A-4A31-A71B-F29D39B963F9}">
      <dgm:prSet/>
      <dgm:spPr/>
      <dgm:t>
        <a:bodyPr/>
        <a:lstStyle/>
        <a:p>
          <a:endParaRPr lang="es-PE"/>
        </a:p>
      </dgm:t>
    </dgm:pt>
    <dgm:pt modelId="{9DDA6232-CDA7-4CAA-A04C-3604E97C3FE0}" type="sibTrans" cxnId="{C175627F-413A-4A31-A71B-F29D39B963F9}">
      <dgm:prSet/>
      <dgm:spPr/>
      <dgm:t>
        <a:bodyPr/>
        <a:lstStyle/>
        <a:p>
          <a:endParaRPr lang="es-PE"/>
        </a:p>
      </dgm:t>
    </dgm:pt>
    <dgm:pt modelId="{523E9C5D-310F-48B9-B252-9D609DE3571E}">
      <dgm:prSet phldrT="[Texto]"/>
      <dgm:spPr/>
      <dgm:t>
        <a:bodyPr/>
        <a:lstStyle/>
        <a:p>
          <a:r>
            <a:rPr lang="es-PE" dirty="0"/>
            <a:t>¿Diferencia entre sensor y transductor?</a:t>
          </a:r>
        </a:p>
      </dgm:t>
    </dgm:pt>
    <dgm:pt modelId="{6A030387-B22C-4D22-9A74-9F86A3426F39}" type="parTrans" cxnId="{D7779961-7975-4D09-9A36-3F057F1C5E1B}">
      <dgm:prSet/>
      <dgm:spPr/>
      <dgm:t>
        <a:bodyPr/>
        <a:lstStyle/>
        <a:p>
          <a:endParaRPr lang="es-PE"/>
        </a:p>
      </dgm:t>
    </dgm:pt>
    <dgm:pt modelId="{E5F7895B-9F4E-4CA7-BE97-7722AD4EBF67}" type="sibTrans" cxnId="{D7779961-7975-4D09-9A36-3F057F1C5E1B}">
      <dgm:prSet/>
      <dgm:spPr/>
      <dgm:t>
        <a:bodyPr/>
        <a:lstStyle/>
        <a:p>
          <a:endParaRPr lang="es-PE"/>
        </a:p>
      </dgm:t>
    </dgm:pt>
    <dgm:pt modelId="{FDE6C8EA-5226-4A38-9FFA-D99D4A12A905}" type="pres">
      <dgm:prSet presAssocID="{F9F7E37B-62C7-4E1F-AAB2-C8391A2D3D0D}" presName="composite" presStyleCnt="0">
        <dgm:presLayoutVars>
          <dgm:chMax val="3"/>
          <dgm:animLvl val="lvl"/>
          <dgm:resizeHandles val="exact"/>
        </dgm:presLayoutVars>
      </dgm:prSet>
      <dgm:spPr/>
    </dgm:pt>
    <dgm:pt modelId="{67448C87-94BA-46AC-A3B4-07D3339847F1}" type="pres">
      <dgm:prSet presAssocID="{E9E15175-D362-418C-88E5-F4B8583CA2D5}" presName="gear1" presStyleLbl="node1" presStyleIdx="0" presStyleCnt="3">
        <dgm:presLayoutVars>
          <dgm:chMax val="1"/>
          <dgm:bulletEnabled val="1"/>
        </dgm:presLayoutVars>
      </dgm:prSet>
      <dgm:spPr/>
    </dgm:pt>
    <dgm:pt modelId="{C7D09828-8815-42DC-9ECE-46F32DF47938}" type="pres">
      <dgm:prSet presAssocID="{E9E15175-D362-418C-88E5-F4B8583CA2D5}" presName="gear1srcNode" presStyleLbl="node1" presStyleIdx="0" presStyleCnt="3"/>
      <dgm:spPr/>
    </dgm:pt>
    <dgm:pt modelId="{A7896180-08E3-468C-B7BC-E063B6C52B05}" type="pres">
      <dgm:prSet presAssocID="{E9E15175-D362-418C-88E5-F4B8583CA2D5}" presName="gear1dstNode" presStyleLbl="node1" presStyleIdx="0" presStyleCnt="3"/>
      <dgm:spPr/>
    </dgm:pt>
    <dgm:pt modelId="{7668EBA2-8D77-4828-BBE3-D53BB541520F}" type="pres">
      <dgm:prSet presAssocID="{9A295023-05D9-44C4-91CC-A80063A2F98C}" presName="gear2" presStyleLbl="node1" presStyleIdx="1" presStyleCnt="3">
        <dgm:presLayoutVars>
          <dgm:chMax val="1"/>
          <dgm:bulletEnabled val="1"/>
        </dgm:presLayoutVars>
      </dgm:prSet>
      <dgm:spPr/>
    </dgm:pt>
    <dgm:pt modelId="{F1C58B3A-037A-467E-A23C-D35C83F138B3}" type="pres">
      <dgm:prSet presAssocID="{9A295023-05D9-44C4-91CC-A80063A2F98C}" presName="gear2srcNode" presStyleLbl="node1" presStyleIdx="1" presStyleCnt="3"/>
      <dgm:spPr/>
    </dgm:pt>
    <dgm:pt modelId="{BDDEED22-ADE8-4362-B88C-9410F6742C02}" type="pres">
      <dgm:prSet presAssocID="{9A295023-05D9-44C4-91CC-A80063A2F98C}" presName="gear2dstNode" presStyleLbl="node1" presStyleIdx="1" presStyleCnt="3"/>
      <dgm:spPr/>
    </dgm:pt>
    <dgm:pt modelId="{9945B21D-5D77-42FB-8F84-4A4FCCA13A2C}" type="pres">
      <dgm:prSet presAssocID="{523E9C5D-310F-48B9-B252-9D609DE3571E}" presName="gear3" presStyleLbl="node1" presStyleIdx="2" presStyleCnt="3"/>
      <dgm:spPr/>
    </dgm:pt>
    <dgm:pt modelId="{C05D9B4E-0419-4F51-90F1-B2A749D90F3D}" type="pres">
      <dgm:prSet presAssocID="{523E9C5D-310F-48B9-B252-9D609DE3571E}" presName="gear3tx" presStyleLbl="node1" presStyleIdx="2" presStyleCnt="3">
        <dgm:presLayoutVars>
          <dgm:chMax val="1"/>
          <dgm:bulletEnabled val="1"/>
        </dgm:presLayoutVars>
      </dgm:prSet>
      <dgm:spPr/>
    </dgm:pt>
    <dgm:pt modelId="{F61ED13C-54AC-4323-BFDD-1E97F7C5B0A8}" type="pres">
      <dgm:prSet presAssocID="{523E9C5D-310F-48B9-B252-9D609DE3571E}" presName="gear3srcNode" presStyleLbl="node1" presStyleIdx="2" presStyleCnt="3"/>
      <dgm:spPr/>
    </dgm:pt>
    <dgm:pt modelId="{CA04A53D-E30A-4C7F-94D7-A78F6FF7BE36}" type="pres">
      <dgm:prSet presAssocID="{523E9C5D-310F-48B9-B252-9D609DE3571E}" presName="gear3dstNode" presStyleLbl="node1" presStyleIdx="2" presStyleCnt="3"/>
      <dgm:spPr/>
    </dgm:pt>
    <dgm:pt modelId="{142357A7-AAB0-45A0-9D29-2C82567E5CD0}" type="pres">
      <dgm:prSet presAssocID="{BB7AD91E-6CDD-4011-9D76-552D32C2CD7D}" presName="connector1" presStyleLbl="sibTrans2D1" presStyleIdx="0" presStyleCnt="3"/>
      <dgm:spPr/>
    </dgm:pt>
    <dgm:pt modelId="{5F56F3D7-B5BF-4A32-9ECE-B05C6BF46CBB}" type="pres">
      <dgm:prSet presAssocID="{9DDA6232-CDA7-4CAA-A04C-3604E97C3FE0}" presName="connector2" presStyleLbl="sibTrans2D1" presStyleIdx="1" presStyleCnt="3"/>
      <dgm:spPr/>
    </dgm:pt>
    <dgm:pt modelId="{8FE94EEC-6C64-4230-A0F9-CD3F44A3B5FD}" type="pres">
      <dgm:prSet presAssocID="{E5F7895B-9F4E-4CA7-BE97-7722AD4EBF67}" presName="connector3" presStyleLbl="sibTrans2D1" presStyleIdx="2" presStyleCnt="3"/>
      <dgm:spPr/>
    </dgm:pt>
  </dgm:ptLst>
  <dgm:cxnLst>
    <dgm:cxn modelId="{3EA55302-A169-4D98-8F8B-E0E4DF5A2CD6}" type="presOf" srcId="{E9E15175-D362-418C-88E5-F4B8583CA2D5}" destId="{C7D09828-8815-42DC-9ECE-46F32DF47938}" srcOrd="1" destOrd="0" presId="urn:microsoft.com/office/officeart/2005/8/layout/gear1"/>
    <dgm:cxn modelId="{05360318-B808-46AB-8562-C198A02E6FA3}" type="presOf" srcId="{523E9C5D-310F-48B9-B252-9D609DE3571E}" destId="{F61ED13C-54AC-4323-BFDD-1E97F7C5B0A8}" srcOrd="2" destOrd="0" presId="urn:microsoft.com/office/officeart/2005/8/layout/gear1"/>
    <dgm:cxn modelId="{7DA8FA36-F815-4819-93C5-EEEC850D2B4D}" type="presOf" srcId="{9A295023-05D9-44C4-91CC-A80063A2F98C}" destId="{7668EBA2-8D77-4828-BBE3-D53BB541520F}" srcOrd="0" destOrd="0" presId="urn:microsoft.com/office/officeart/2005/8/layout/gear1"/>
    <dgm:cxn modelId="{5E3B8D5B-A4C2-4C41-BD3B-7A1B7527AF64}" type="presOf" srcId="{F9F7E37B-62C7-4E1F-AAB2-C8391A2D3D0D}" destId="{FDE6C8EA-5226-4A38-9FFA-D99D4A12A905}" srcOrd="0" destOrd="0" presId="urn:microsoft.com/office/officeart/2005/8/layout/gear1"/>
    <dgm:cxn modelId="{C78D515D-D3D6-4488-AE8B-B09C21F8A36B}" type="presOf" srcId="{523E9C5D-310F-48B9-B252-9D609DE3571E}" destId="{C05D9B4E-0419-4F51-90F1-B2A749D90F3D}" srcOrd="1" destOrd="0" presId="urn:microsoft.com/office/officeart/2005/8/layout/gear1"/>
    <dgm:cxn modelId="{D7779961-7975-4D09-9A36-3F057F1C5E1B}" srcId="{F9F7E37B-62C7-4E1F-AAB2-C8391A2D3D0D}" destId="{523E9C5D-310F-48B9-B252-9D609DE3571E}" srcOrd="2" destOrd="0" parTransId="{6A030387-B22C-4D22-9A74-9F86A3426F39}" sibTransId="{E5F7895B-9F4E-4CA7-BE97-7722AD4EBF67}"/>
    <dgm:cxn modelId="{26E38368-D21A-420C-982C-A66591260C0C}" type="presOf" srcId="{9A295023-05D9-44C4-91CC-A80063A2F98C}" destId="{BDDEED22-ADE8-4362-B88C-9410F6742C02}" srcOrd="2" destOrd="0" presId="urn:microsoft.com/office/officeart/2005/8/layout/gear1"/>
    <dgm:cxn modelId="{74982F6A-A5B1-49BE-A6D5-3AB262AA29FE}" type="presOf" srcId="{E5F7895B-9F4E-4CA7-BE97-7722AD4EBF67}" destId="{8FE94EEC-6C64-4230-A0F9-CD3F44A3B5FD}" srcOrd="0" destOrd="0" presId="urn:microsoft.com/office/officeart/2005/8/layout/gear1"/>
    <dgm:cxn modelId="{FA5E0F73-5733-4BC5-86F2-94DE82166CAB}" type="presOf" srcId="{E9E15175-D362-418C-88E5-F4B8583CA2D5}" destId="{A7896180-08E3-468C-B7BC-E063B6C52B05}" srcOrd="2" destOrd="0" presId="urn:microsoft.com/office/officeart/2005/8/layout/gear1"/>
    <dgm:cxn modelId="{E17FAC54-C433-4263-A124-28D380165E93}" srcId="{F9F7E37B-62C7-4E1F-AAB2-C8391A2D3D0D}" destId="{E9E15175-D362-418C-88E5-F4B8583CA2D5}" srcOrd="0" destOrd="0" parTransId="{CFD75E86-23FF-4958-B578-879ABF8C0F51}" sibTransId="{BB7AD91E-6CDD-4011-9D76-552D32C2CD7D}"/>
    <dgm:cxn modelId="{A2F52A77-E6DC-4D47-861B-D19713FC8161}" type="presOf" srcId="{BB7AD91E-6CDD-4011-9D76-552D32C2CD7D}" destId="{142357A7-AAB0-45A0-9D29-2C82567E5CD0}" srcOrd="0" destOrd="0" presId="urn:microsoft.com/office/officeart/2005/8/layout/gear1"/>
    <dgm:cxn modelId="{C175627F-413A-4A31-A71B-F29D39B963F9}" srcId="{F9F7E37B-62C7-4E1F-AAB2-C8391A2D3D0D}" destId="{9A295023-05D9-44C4-91CC-A80063A2F98C}" srcOrd="1" destOrd="0" parTransId="{1F2AD5CD-310C-4B1B-A2D0-EA3086CDCFEB}" sibTransId="{9DDA6232-CDA7-4CAA-A04C-3604E97C3FE0}"/>
    <dgm:cxn modelId="{E58A8A89-EA5A-41E6-9DE8-FE9D14E5C8C6}" type="presOf" srcId="{523E9C5D-310F-48B9-B252-9D609DE3571E}" destId="{9945B21D-5D77-42FB-8F84-4A4FCCA13A2C}" srcOrd="0" destOrd="0" presId="urn:microsoft.com/office/officeart/2005/8/layout/gear1"/>
    <dgm:cxn modelId="{3F54CF95-27DA-40DC-A5C9-04154E7B1C6F}" type="presOf" srcId="{E9E15175-D362-418C-88E5-F4B8583CA2D5}" destId="{67448C87-94BA-46AC-A3B4-07D3339847F1}" srcOrd="0" destOrd="0" presId="urn:microsoft.com/office/officeart/2005/8/layout/gear1"/>
    <dgm:cxn modelId="{FF3F5C97-3401-4948-BE82-0866DE709832}" type="presOf" srcId="{523E9C5D-310F-48B9-B252-9D609DE3571E}" destId="{CA04A53D-E30A-4C7F-94D7-A78F6FF7BE36}" srcOrd="3" destOrd="0" presId="urn:microsoft.com/office/officeart/2005/8/layout/gear1"/>
    <dgm:cxn modelId="{884313ED-37D9-49DE-8645-D3C7C0E30D5A}" type="presOf" srcId="{9A295023-05D9-44C4-91CC-A80063A2F98C}" destId="{F1C58B3A-037A-467E-A23C-D35C83F138B3}" srcOrd="1" destOrd="0" presId="urn:microsoft.com/office/officeart/2005/8/layout/gear1"/>
    <dgm:cxn modelId="{8BC3DFEE-B0D6-4354-B13E-3E6A8F6AFC75}" type="presOf" srcId="{9DDA6232-CDA7-4CAA-A04C-3604E97C3FE0}" destId="{5F56F3D7-B5BF-4A32-9ECE-B05C6BF46CBB}" srcOrd="0" destOrd="0" presId="urn:microsoft.com/office/officeart/2005/8/layout/gear1"/>
    <dgm:cxn modelId="{6622737A-2D37-470B-B47F-B93134031BAD}" type="presParOf" srcId="{FDE6C8EA-5226-4A38-9FFA-D99D4A12A905}" destId="{67448C87-94BA-46AC-A3B4-07D3339847F1}" srcOrd="0" destOrd="0" presId="urn:microsoft.com/office/officeart/2005/8/layout/gear1"/>
    <dgm:cxn modelId="{0C49E275-DFA8-4CDE-A185-D1A9E9B4F5E1}" type="presParOf" srcId="{FDE6C8EA-5226-4A38-9FFA-D99D4A12A905}" destId="{C7D09828-8815-42DC-9ECE-46F32DF47938}" srcOrd="1" destOrd="0" presId="urn:microsoft.com/office/officeart/2005/8/layout/gear1"/>
    <dgm:cxn modelId="{F4EE55D7-8D48-40FE-A68F-783D5C29AA9F}" type="presParOf" srcId="{FDE6C8EA-5226-4A38-9FFA-D99D4A12A905}" destId="{A7896180-08E3-468C-B7BC-E063B6C52B05}" srcOrd="2" destOrd="0" presId="urn:microsoft.com/office/officeart/2005/8/layout/gear1"/>
    <dgm:cxn modelId="{D08DA729-DB9F-4697-9813-2821337001AA}" type="presParOf" srcId="{FDE6C8EA-5226-4A38-9FFA-D99D4A12A905}" destId="{7668EBA2-8D77-4828-BBE3-D53BB541520F}" srcOrd="3" destOrd="0" presId="urn:microsoft.com/office/officeart/2005/8/layout/gear1"/>
    <dgm:cxn modelId="{8AF20544-859E-4347-A03F-35DBD06F35FE}" type="presParOf" srcId="{FDE6C8EA-5226-4A38-9FFA-D99D4A12A905}" destId="{F1C58B3A-037A-467E-A23C-D35C83F138B3}" srcOrd="4" destOrd="0" presId="urn:microsoft.com/office/officeart/2005/8/layout/gear1"/>
    <dgm:cxn modelId="{B8C64F6A-B94F-466B-9BBE-39058ABA6C29}" type="presParOf" srcId="{FDE6C8EA-5226-4A38-9FFA-D99D4A12A905}" destId="{BDDEED22-ADE8-4362-B88C-9410F6742C02}" srcOrd="5" destOrd="0" presId="urn:microsoft.com/office/officeart/2005/8/layout/gear1"/>
    <dgm:cxn modelId="{2EF6170F-B13F-4CB2-8760-51387FD674C2}" type="presParOf" srcId="{FDE6C8EA-5226-4A38-9FFA-D99D4A12A905}" destId="{9945B21D-5D77-42FB-8F84-4A4FCCA13A2C}" srcOrd="6" destOrd="0" presId="urn:microsoft.com/office/officeart/2005/8/layout/gear1"/>
    <dgm:cxn modelId="{4BCA3AB8-7FE3-4A0A-9576-8D762C8148BF}" type="presParOf" srcId="{FDE6C8EA-5226-4A38-9FFA-D99D4A12A905}" destId="{C05D9B4E-0419-4F51-90F1-B2A749D90F3D}" srcOrd="7" destOrd="0" presId="urn:microsoft.com/office/officeart/2005/8/layout/gear1"/>
    <dgm:cxn modelId="{E1E8A26E-56CB-4941-8592-7BB87E436EFC}" type="presParOf" srcId="{FDE6C8EA-5226-4A38-9FFA-D99D4A12A905}" destId="{F61ED13C-54AC-4323-BFDD-1E97F7C5B0A8}" srcOrd="8" destOrd="0" presId="urn:microsoft.com/office/officeart/2005/8/layout/gear1"/>
    <dgm:cxn modelId="{6267B249-6489-4EDB-A39F-204B5C4DB310}" type="presParOf" srcId="{FDE6C8EA-5226-4A38-9FFA-D99D4A12A905}" destId="{CA04A53D-E30A-4C7F-94D7-A78F6FF7BE36}" srcOrd="9" destOrd="0" presId="urn:microsoft.com/office/officeart/2005/8/layout/gear1"/>
    <dgm:cxn modelId="{22DB762B-CACB-4E94-8C99-F5369BA15B4C}" type="presParOf" srcId="{FDE6C8EA-5226-4A38-9FFA-D99D4A12A905}" destId="{142357A7-AAB0-45A0-9D29-2C82567E5CD0}" srcOrd="10" destOrd="0" presId="urn:microsoft.com/office/officeart/2005/8/layout/gear1"/>
    <dgm:cxn modelId="{570E6587-BF70-4555-99C0-384298B5B1F7}" type="presParOf" srcId="{FDE6C8EA-5226-4A38-9FFA-D99D4A12A905}" destId="{5F56F3D7-B5BF-4A32-9ECE-B05C6BF46CBB}" srcOrd="11" destOrd="0" presId="urn:microsoft.com/office/officeart/2005/8/layout/gear1"/>
    <dgm:cxn modelId="{591983C8-CDF3-4616-A3B2-4B0DDF311439}" type="presParOf" srcId="{FDE6C8EA-5226-4A38-9FFA-D99D4A12A905}" destId="{8FE94EEC-6C64-4230-A0F9-CD3F44A3B5FD}"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448C87-94BA-46AC-A3B4-07D3339847F1}">
      <dsp:nvSpPr>
        <dsp:cNvPr id="0" name=""/>
        <dsp:cNvSpPr/>
      </dsp:nvSpPr>
      <dsp:spPr>
        <a:xfrm>
          <a:off x="4137450" y="2310744"/>
          <a:ext cx="2824243" cy="2824243"/>
        </a:xfrm>
        <a:prstGeom prst="gear9">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s-PE" sz="1600" kern="1200" dirty="0"/>
            <a:t>¿Que determinan las características estáticas y dinámicas de un sensor?</a:t>
          </a:r>
        </a:p>
      </dsp:txBody>
      <dsp:txXfrm>
        <a:off x="4705248" y="2972309"/>
        <a:ext cx="1688647" cy="1451720"/>
      </dsp:txXfrm>
    </dsp:sp>
    <dsp:sp modelId="{7668EBA2-8D77-4828-BBE3-D53BB541520F}">
      <dsp:nvSpPr>
        <dsp:cNvPr id="0" name=""/>
        <dsp:cNvSpPr/>
      </dsp:nvSpPr>
      <dsp:spPr>
        <a:xfrm>
          <a:off x="2494254" y="1643196"/>
          <a:ext cx="2053995" cy="2053995"/>
        </a:xfrm>
        <a:prstGeom prst="gear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s-PE" sz="1600" kern="1200" dirty="0"/>
            <a:t>Ejemplo de elemento final de Control</a:t>
          </a:r>
        </a:p>
      </dsp:txBody>
      <dsp:txXfrm>
        <a:off x="3011353" y="2163421"/>
        <a:ext cx="1019797" cy="1013545"/>
      </dsp:txXfrm>
    </dsp:sp>
    <dsp:sp modelId="{9945B21D-5D77-42FB-8F84-4A4FCCA13A2C}">
      <dsp:nvSpPr>
        <dsp:cNvPr id="0" name=""/>
        <dsp:cNvSpPr/>
      </dsp:nvSpPr>
      <dsp:spPr>
        <a:xfrm rot="20700000">
          <a:off x="3644701" y="226149"/>
          <a:ext cx="2012496" cy="2012496"/>
        </a:xfrm>
        <a:prstGeom prst="gear6">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s-PE" sz="1600" kern="1200" dirty="0"/>
            <a:t>¿Diferencia entre sensor y transductor?</a:t>
          </a:r>
        </a:p>
      </dsp:txBody>
      <dsp:txXfrm rot="-20700000">
        <a:off x="4086100" y="667548"/>
        <a:ext cx="1129697" cy="1129697"/>
      </dsp:txXfrm>
    </dsp:sp>
    <dsp:sp modelId="{142357A7-AAB0-45A0-9D29-2C82567E5CD0}">
      <dsp:nvSpPr>
        <dsp:cNvPr id="0" name=""/>
        <dsp:cNvSpPr/>
      </dsp:nvSpPr>
      <dsp:spPr>
        <a:xfrm>
          <a:off x="3930750" y="1878593"/>
          <a:ext cx="3615031" cy="3615031"/>
        </a:xfrm>
        <a:prstGeom prst="circularArrow">
          <a:avLst>
            <a:gd name="adj1" fmla="val 4687"/>
            <a:gd name="adj2" fmla="val 299029"/>
            <a:gd name="adj3" fmla="val 2534828"/>
            <a:gd name="adj4" fmla="val 15821645"/>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F56F3D7-B5BF-4A32-9ECE-B05C6BF46CBB}">
      <dsp:nvSpPr>
        <dsp:cNvPr id="0" name=""/>
        <dsp:cNvSpPr/>
      </dsp:nvSpPr>
      <dsp:spPr>
        <a:xfrm>
          <a:off x="2130495" y="1184687"/>
          <a:ext cx="2626546" cy="2626546"/>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FE94EEC-6C64-4230-A0F9-CD3F44A3B5FD}">
      <dsp:nvSpPr>
        <dsp:cNvPr id="0" name=""/>
        <dsp:cNvSpPr/>
      </dsp:nvSpPr>
      <dsp:spPr>
        <a:xfrm>
          <a:off x="3179190" y="-218700"/>
          <a:ext cx="2831945" cy="2831945"/>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9977DB3-81DA-13D4-B97B-259F61B7E57D}"/>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15715211-36EA-AC0F-D820-C0C847831F77}"/>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DFEC0EBA-D133-4017-9C73-EAB2A5D02149}" type="datetimeFigureOut">
              <a:rPr lang="es-PE" smtClean="0"/>
              <a:t>30/08/2025</a:t>
            </a:fld>
            <a:endParaRPr lang="es-PE"/>
          </a:p>
        </p:txBody>
      </p:sp>
      <p:sp>
        <p:nvSpPr>
          <p:cNvPr id="4" name="Marcador de pie de página 3">
            <a:extLst>
              <a:ext uri="{FF2B5EF4-FFF2-40B4-BE49-F238E27FC236}">
                <a16:creationId xmlns:a16="http://schemas.microsoft.com/office/drawing/2014/main" id="{6FF2823A-E11D-4BC1-3AEC-E7E6039994DD}"/>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84257280-6B6A-C83F-C509-D36E2A9BEF18}"/>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ED89674C-EE4B-46DA-BB25-F8EF23695799}" type="slidenum">
              <a:rPr lang="es-PE" smtClean="0"/>
              <a:t>‹Nº›</a:t>
            </a:fld>
            <a:endParaRPr lang="es-PE"/>
          </a:p>
        </p:txBody>
      </p:sp>
    </p:spTree>
    <p:extLst>
      <p:ext uri="{BB962C8B-B14F-4D97-AF65-F5344CB8AC3E}">
        <p14:creationId xmlns:p14="http://schemas.microsoft.com/office/powerpoint/2010/main" val="6002890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C0665C3-3854-4D22-A0C9-0F8F7CDBA1C2}" type="datetimeFigureOut">
              <a:rPr lang="es-PE" smtClean="0"/>
              <a:t>30/08/2025</a:t>
            </a:fld>
            <a:endParaRPr lang="es-PE"/>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982DFD32-1F63-4192-BC75-4F02DA87ECD5}" type="slidenum">
              <a:rPr lang="es-PE" smtClean="0"/>
              <a:t>‹Nº›</a:t>
            </a:fld>
            <a:endParaRPr lang="es-PE"/>
          </a:p>
        </p:txBody>
      </p:sp>
    </p:spTree>
    <p:extLst>
      <p:ext uri="{BB962C8B-B14F-4D97-AF65-F5344CB8AC3E}">
        <p14:creationId xmlns:p14="http://schemas.microsoft.com/office/powerpoint/2010/main" val="3417761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t>Análisis de tipos de mediciones (analógicas, digitales, comparativas) y errores inherentes a los procesos de medición industrial.</a:t>
            </a:r>
          </a:p>
        </p:txBody>
      </p:sp>
      <p:sp>
        <p:nvSpPr>
          <p:cNvPr id="4" name="Marcador de número de diapositiva 3"/>
          <p:cNvSpPr>
            <a:spLocks noGrp="1"/>
          </p:cNvSpPr>
          <p:nvPr>
            <p:ph type="sldNum" sz="quarter" idx="5"/>
          </p:nvPr>
        </p:nvSpPr>
        <p:spPr/>
        <p:txBody>
          <a:bodyPr/>
          <a:lstStyle/>
          <a:p>
            <a:fld id="{982DFD32-1F63-4192-BC75-4F02DA87ECD5}" type="slidenum">
              <a:rPr lang="es-PE" smtClean="0"/>
              <a:t>1</a:t>
            </a:fld>
            <a:endParaRPr lang="es-PE"/>
          </a:p>
        </p:txBody>
      </p:sp>
    </p:spTree>
    <p:extLst>
      <p:ext uri="{BB962C8B-B14F-4D97-AF65-F5344CB8AC3E}">
        <p14:creationId xmlns:p14="http://schemas.microsoft.com/office/powerpoint/2010/main" val="2286479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err="1"/>
              <a:t>Maria</a:t>
            </a:r>
            <a:r>
              <a:rPr lang="es-PE" dirty="0"/>
              <a:t> Jose Bazo – Presidenta </a:t>
            </a:r>
            <a:r>
              <a:rPr lang="es-PE" dirty="0" err="1"/>
              <a:t>Cluster</a:t>
            </a:r>
            <a:r>
              <a:rPr lang="es-PE" dirty="0"/>
              <a:t> – </a:t>
            </a:r>
            <a:r>
              <a:rPr lang="es-PE" dirty="0" err="1"/>
              <a:t>Scheneider</a:t>
            </a:r>
            <a:r>
              <a:rPr lang="es-PE" dirty="0"/>
              <a:t> </a:t>
            </a:r>
            <a:r>
              <a:rPr lang="es-PE" dirty="0" err="1"/>
              <a:t>Centroamerica</a:t>
            </a:r>
            <a:r>
              <a:rPr lang="es-PE"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s-PE" dirty="0"/>
              <a:t>En resumen, la instrumentación avanzada es la base de la Industria 4.0, ya que proporciona los datos necesarios para la automatización, el control y la toma de decisiones en tiempo real, garantizando así la eficiencia, seguridad y sostenibilidad en los procesos de manufactura.</a:t>
            </a:r>
          </a:p>
          <a:p>
            <a:endParaRPr lang="es-PE" b="1" dirty="0"/>
          </a:p>
          <a:p>
            <a:r>
              <a:rPr lang="es-PE" b="1" dirty="0"/>
              <a:t>Componentes de la instrumentación avanzada</a:t>
            </a:r>
          </a:p>
          <a:p>
            <a:r>
              <a:rPr lang="es-PE" dirty="0"/>
              <a:t>La instrumentación avanzada utiliza dispositivos como:</a:t>
            </a:r>
          </a:p>
          <a:p>
            <a:r>
              <a:rPr lang="es-PE" b="1" dirty="0"/>
              <a:t>Sensores y transmisores:</a:t>
            </a:r>
            <a:r>
              <a:rPr lang="es-PE" dirty="0"/>
              <a:t> para monitorear variables críticas como la presión, temperatura, nivel y flujo.</a:t>
            </a:r>
          </a:p>
          <a:p>
            <a:r>
              <a:rPr lang="es-PE" b="1" dirty="0"/>
              <a:t>Controladores:</a:t>
            </a:r>
            <a:r>
              <a:rPr lang="es-PE" dirty="0"/>
              <a:t> que procesan las señales de los sensores y toman decisiones para mantener los procesos dentro de los parámetros deseados.</a:t>
            </a:r>
          </a:p>
          <a:p>
            <a:r>
              <a:rPr lang="es-PE" b="1" dirty="0"/>
              <a:t>Interfaces de operación:</a:t>
            </a:r>
            <a:r>
              <a:rPr lang="es-PE" dirty="0"/>
              <a:t> que permiten el monitoreo y control en tiempo real.</a:t>
            </a:r>
          </a:p>
          <a:p>
            <a:r>
              <a:rPr lang="es-PE" dirty="0"/>
              <a:t>Además de los parámetros de proceso, esta instrumentación también integra sensores para monitorear la </a:t>
            </a:r>
            <a:r>
              <a:rPr lang="es-PE" b="1" dirty="0"/>
              <a:t>calidad de la energía</a:t>
            </a:r>
            <a:r>
              <a:rPr lang="es-PE" dirty="0"/>
              <a:t> (voltaje, corriente, potencia). Una instrumentación precisa permite detectar variaciones o disturbios eléctricos de manera temprana, facilitando acciones correctivas a través de sistemas de control automatizado. Esto asegura una operación estable y eficiente, y contribuye a la sostenibilidad de los procesos industriales.</a:t>
            </a:r>
          </a:p>
          <a:p>
            <a:endParaRPr lang="es-PE" dirty="0"/>
          </a:p>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2</a:t>
            </a:fld>
            <a:endParaRPr lang="es-PE"/>
          </a:p>
        </p:txBody>
      </p:sp>
    </p:spTree>
    <p:extLst>
      <p:ext uri="{BB962C8B-B14F-4D97-AF65-F5344CB8AC3E}">
        <p14:creationId xmlns:p14="http://schemas.microsoft.com/office/powerpoint/2010/main" val="921801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dirty="0"/>
              <a:t>Un sensor detecta directamente una magnitud física y produce una señal proporcional. Un transductor convierte una forma de energía en otra; puede ser sensor (cuando detecta) o actuador (cuando ejecuta). Ejemplo: un termopar (sensor y transductor) detecta temperatura y la convierte en voltaje</a:t>
            </a:r>
            <a:endParaRPr lang="es-PE" dirty="0"/>
          </a:p>
          <a:p>
            <a:endParaRPr lang="es-PE" dirty="0"/>
          </a:p>
          <a:p>
            <a:r>
              <a:rPr lang="es-PE" sz="1200" dirty="0"/>
              <a:t>Una válvula neumática modulante en un sistema de vapor. Recibe una señal de 4–20 mA del controlador y ajusta su apertura para regular el flujo de vapor, manteniendo estable la temperatura</a:t>
            </a:r>
          </a:p>
          <a:p>
            <a:endParaRPr lang="es-PE"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s-PE" dirty="0"/>
              <a:t>Las características estáticas y dinámicas determinan la confiabilidad y la velocidad de respuesta de los instrumentos, impactando directamente en la calidad y seguridad de los procesos.</a:t>
            </a:r>
          </a:p>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3</a:t>
            </a:fld>
            <a:endParaRPr lang="es-PE"/>
          </a:p>
        </p:txBody>
      </p:sp>
    </p:spTree>
    <p:extLst>
      <p:ext uri="{BB962C8B-B14F-4D97-AF65-F5344CB8AC3E}">
        <p14:creationId xmlns:p14="http://schemas.microsoft.com/office/powerpoint/2010/main" val="1486513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7</a:t>
            </a:fld>
            <a:endParaRPr lang="es-PE"/>
          </a:p>
        </p:txBody>
      </p:sp>
    </p:spTree>
    <p:extLst>
      <p:ext uri="{BB962C8B-B14F-4D97-AF65-F5344CB8AC3E}">
        <p14:creationId xmlns:p14="http://schemas.microsoft.com/office/powerpoint/2010/main" val="2729034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t>Una </a:t>
            </a:r>
            <a:r>
              <a:rPr lang="es-PE" b="1" dirty="0"/>
              <a:t>medición analógica</a:t>
            </a:r>
            <a:r>
              <a:rPr lang="es-PE" dirty="0"/>
              <a:t> representa la variable de forma continua (</a:t>
            </a:r>
            <a:r>
              <a:rPr lang="es-PE" dirty="0" err="1"/>
              <a:t>ej</a:t>
            </a:r>
            <a:r>
              <a:rPr lang="es-PE" dirty="0"/>
              <a:t>: 0–10 V, 4–20 mA).</a:t>
            </a:r>
          </a:p>
          <a:p>
            <a:r>
              <a:rPr lang="es-PE" dirty="0"/>
              <a:t>Se basa en magnitudes físicas que varían progresivamente (temperatura, presión, velocidad).</a:t>
            </a:r>
          </a:p>
          <a:p>
            <a:r>
              <a:rPr lang="es-PE" b="1" dirty="0"/>
              <a:t>Analogía</a:t>
            </a:r>
            <a:r>
              <a:rPr lang="es-PE" dirty="0"/>
              <a:t>: Es como un </a:t>
            </a:r>
            <a:r>
              <a:rPr lang="es-PE" dirty="0" err="1"/>
              <a:t>dimmer</a:t>
            </a:r>
            <a:r>
              <a:rPr lang="es-PE" dirty="0"/>
              <a:t> de luz que regula la intensidad de manera suave, sin saltos.</a:t>
            </a:r>
          </a:p>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9</a:t>
            </a:fld>
            <a:endParaRPr lang="es-PE"/>
          </a:p>
        </p:txBody>
      </p:sp>
    </p:spTree>
    <p:extLst>
      <p:ext uri="{BB962C8B-B14F-4D97-AF65-F5344CB8AC3E}">
        <p14:creationId xmlns:p14="http://schemas.microsoft.com/office/powerpoint/2010/main" val="115103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391E5-8761-99E3-7728-DE10A05D5B4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8BB4DC-FA29-AEA7-F3C6-FBB1FB64DE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8CC1B7-6293-1620-CF16-D8FC373F593D}"/>
              </a:ext>
            </a:extLst>
          </p:cNvPr>
          <p:cNvSpPr>
            <a:spLocks noGrp="1"/>
          </p:cNvSpPr>
          <p:nvPr>
            <p:ph type="body" idx="1"/>
          </p:nvPr>
        </p:nvSpPr>
        <p:spPr/>
        <p:txBody>
          <a:bodyPr/>
          <a:lstStyle/>
          <a:p>
            <a:r>
              <a:rPr lang="es-PE" dirty="0"/>
              <a:t>Una </a:t>
            </a:r>
            <a:r>
              <a:rPr lang="es-PE" b="1" dirty="0"/>
              <a:t>medición analógica</a:t>
            </a:r>
            <a:r>
              <a:rPr lang="es-PE" dirty="0"/>
              <a:t> representa la variable de forma continua (</a:t>
            </a:r>
            <a:r>
              <a:rPr lang="es-PE" dirty="0" err="1"/>
              <a:t>ej</a:t>
            </a:r>
            <a:r>
              <a:rPr lang="es-PE" dirty="0"/>
              <a:t>: 0–10 V, 4–20 mA).</a:t>
            </a:r>
          </a:p>
          <a:p>
            <a:r>
              <a:rPr lang="es-PE" dirty="0"/>
              <a:t>Se basa en magnitudes físicas que varían progresivamente (temperatura, presión, velocidad).</a:t>
            </a:r>
          </a:p>
          <a:p>
            <a:r>
              <a:rPr lang="es-PE" b="1" dirty="0"/>
              <a:t>Analogía</a:t>
            </a:r>
            <a:r>
              <a:rPr lang="es-PE" dirty="0"/>
              <a:t>: Es como un </a:t>
            </a:r>
            <a:r>
              <a:rPr lang="es-PE" dirty="0" err="1"/>
              <a:t>dimmer</a:t>
            </a:r>
            <a:r>
              <a:rPr lang="es-PE" dirty="0"/>
              <a:t> de luz que regula la intensidad de manera suave, sin saltos.</a:t>
            </a:r>
          </a:p>
          <a:p>
            <a:endParaRPr lang="es-PE" dirty="0"/>
          </a:p>
        </p:txBody>
      </p:sp>
      <p:sp>
        <p:nvSpPr>
          <p:cNvPr id="4" name="Marcador de número de diapositiva 3">
            <a:extLst>
              <a:ext uri="{FF2B5EF4-FFF2-40B4-BE49-F238E27FC236}">
                <a16:creationId xmlns:a16="http://schemas.microsoft.com/office/drawing/2014/main" id="{477F065E-8950-3A1F-8B56-57BE0D43D44F}"/>
              </a:ext>
            </a:extLst>
          </p:cNvPr>
          <p:cNvSpPr>
            <a:spLocks noGrp="1"/>
          </p:cNvSpPr>
          <p:nvPr>
            <p:ph type="sldNum" sz="quarter" idx="5"/>
          </p:nvPr>
        </p:nvSpPr>
        <p:spPr/>
        <p:txBody>
          <a:bodyPr/>
          <a:lstStyle/>
          <a:p>
            <a:fld id="{982DFD32-1F63-4192-BC75-4F02DA87ECD5}" type="slidenum">
              <a:rPr lang="es-PE" smtClean="0"/>
              <a:t>10</a:t>
            </a:fld>
            <a:endParaRPr lang="es-PE"/>
          </a:p>
        </p:txBody>
      </p:sp>
    </p:spTree>
    <p:extLst>
      <p:ext uri="{BB962C8B-B14F-4D97-AF65-F5344CB8AC3E}">
        <p14:creationId xmlns:p14="http://schemas.microsoft.com/office/powerpoint/2010/main" val="3746254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E69CC-7316-3B90-BB6A-B55E054764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12AB212-844D-6BFE-9027-76E9CF44F33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8A5EEC8-272E-4AEE-E4AF-EF746AE88431}"/>
              </a:ext>
            </a:extLst>
          </p:cNvPr>
          <p:cNvSpPr>
            <a:spLocks noGrp="1"/>
          </p:cNvSpPr>
          <p:nvPr>
            <p:ph type="body" idx="1"/>
          </p:nvPr>
        </p:nvSpPr>
        <p:spPr/>
        <p:txBody>
          <a:bodyPr/>
          <a:lstStyle/>
          <a:p>
            <a:r>
              <a:rPr lang="es-PE" dirty="0"/>
              <a:t>Una </a:t>
            </a:r>
            <a:r>
              <a:rPr lang="es-PE" b="1" dirty="0"/>
              <a:t>medición analógica</a:t>
            </a:r>
            <a:r>
              <a:rPr lang="es-PE" dirty="0"/>
              <a:t> representa la variable de forma continua (</a:t>
            </a:r>
            <a:r>
              <a:rPr lang="es-PE" dirty="0" err="1"/>
              <a:t>ej</a:t>
            </a:r>
            <a:r>
              <a:rPr lang="es-PE" dirty="0"/>
              <a:t>: 0–10 V, 4–20 mA).</a:t>
            </a:r>
          </a:p>
          <a:p>
            <a:r>
              <a:rPr lang="es-PE" dirty="0"/>
              <a:t>Se basa en magnitudes físicas que varían progresivamente (temperatura, presión, velocidad).</a:t>
            </a:r>
          </a:p>
          <a:p>
            <a:r>
              <a:rPr lang="es-PE" b="1" dirty="0"/>
              <a:t>Analogía</a:t>
            </a:r>
            <a:r>
              <a:rPr lang="es-PE" dirty="0"/>
              <a:t>: Es como un </a:t>
            </a:r>
            <a:r>
              <a:rPr lang="es-PE" dirty="0" err="1"/>
              <a:t>dimmer</a:t>
            </a:r>
            <a:r>
              <a:rPr lang="es-PE" dirty="0"/>
              <a:t> de luz que regula la intensidad de manera suave, sin saltos.</a:t>
            </a:r>
          </a:p>
          <a:p>
            <a:endParaRPr lang="es-PE" dirty="0"/>
          </a:p>
        </p:txBody>
      </p:sp>
      <p:sp>
        <p:nvSpPr>
          <p:cNvPr id="4" name="Marcador de número de diapositiva 3">
            <a:extLst>
              <a:ext uri="{FF2B5EF4-FFF2-40B4-BE49-F238E27FC236}">
                <a16:creationId xmlns:a16="http://schemas.microsoft.com/office/drawing/2014/main" id="{1D87DBE2-E555-F214-A2A4-97AA4261E374}"/>
              </a:ext>
            </a:extLst>
          </p:cNvPr>
          <p:cNvSpPr>
            <a:spLocks noGrp="1"/>
          </p:cNvSpPr>
          <p:nvPr>
            <p:ph type="sldNum" sz="quarter" idx="5"/>
          </p:nvPr>
        </p:nvSpPr>
        <p:spPr/>
        <p:txBody>
          <a:bodyPr/>
          <a:lstStyle/>
          <a:p>
            <a:fld id="{982DFD32-1F63-4192-BC75-4F02DA87ECD5}" type="slidenum">
              <a:rPr lang="es-PE" smtClean="0"/>
              <a:t>11</a:t>
            </a:fld>
            <a:endParaRPr lang="es-PE"/>
          </a:p>
        </p:txBody>
      </p:sp>
    </p:spTree>
    <p:extLst>
      <p:ext uri="{BB962C8B-B14F-4D97-AF65-F5344CB8AC3E}">
        <p14:creationId xmlns:p14="http://schemas.microsoft.com/office/powerpoint/2010/main" val="1868114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dirty="0"/>
              <a:t>https://www.alab.com.pe/calibracion.php</a:t>
            </a:r>
          </a:p>
        </p:txBody>
      </p:sp>
      <p:sp>
        <p:nvSpPr>
          <p:cNvPr id="4" name="Marcador de número de diapositiva 3"/>
          <p:cNvSpPr>
            <a:spLocks noGrp="1"/>
          </p:cNvSpPr>
          <p:nvPr>
            <p:ph type="sldNum" sz="quarter" idx="5"/>
          </p:nvPr>
        </p:nvSpPr>
        <p:spPr/>
        <p:txBody>
          <a:bodyPr/>
          <a:lstStyle/>
          <a:p>
            <a:fld id="{982DFD32-1F63-4192-BC75-4F02DA87ECD5}" type="slidenum">
              <a:rPr lang="es-PE" smtClean="0"/>
              <a:t>34</a:t>
            </a:fld>
            <a:endParaRPr lang="es-PE"/>
          </a:p>
        </p:txBody>
      </p:sp>
    </p:spTree>
    <p:extLst>
      <p:ext uri="{BB962C8B-B14F-4D97-AF65-F5344CB8AC3E}">
        <p14:creationId xmlns:p14="http://schemas.microsoft.com/office/powerpoint/2010/main" val="13803568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AAC12-C6DF-0FF3-5B56-5671348D06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1FAD36-2ED7-C514-9A32-0604A27406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274315F-571A-04AC-61D9-E9FEC432E1E4}"/>
              </a:ext>
            </a:extLst>
          </p:cNvPr>
          <p:cNvSpPr>
            <a:spLocks noGrp="1"/>
          </p:cNvSpPr>
          <p:nvPr>
            <p:ph type="body" idx="1"/>
          </p:nvPr>
        </p:nvSpPr>
        <p:spPr/>
        <p:txBody>
          <a:bodyPr/>
          <a:lstStyle/>
          <a:p>
            <a:r>
              <a:rPr lang="es-PE" dirty="0"/>
              <a:t>https://www.alab.com.pe/calibracion.php</a:t>
            </a:r>
          </a:p>
        </p:txBody>
      </p:sp>
      <p:sp>
        <p:nvSpPr>
          <p:cNvPr id="4" name="Marcador de número de diapositiva 3">
            <a:extLst>
              <a:ext uri="{FF2B5EF4-FFF2-40B4-BE49-F238E27FC236}">
                <a16:creationId xmlns:a16="http://schemas.microsoft.com/office/drawing/2014/main" id="{F73EF654-2D3A-AC23-C516-A14E7615266F}"/>
              </a:ext>
            </a:extLst>
          </p:cNvPr>
          <p:cNvSpPr>
            <a:spLocks noGrp="1"/>
          </p:cNvSpPr>
          <p:nvPr>
            <p:ph type="sldNum" sz="quarter" idx="5"/>
          </p:nvPr>
        </p:nvSpPr>
        <p:spPr/>
        <p:txBody>
          <a:bodyPr/>
          <a:lstStyle/>
          <a:p>
            <a:fld id="{982DFD32-1F63-4192-BC75-4F02DA87ECD5}" type="slidenum">
              <a:rPr lang="es-PE" smtClean="0"/>
              <a:t>35</a:t>
            </a:fld>
            <a:endParaRPr lang="es-PE"/>
          </a:p>
        </p:txBody>
      </p:sp>
    </p:spTree>
    <p:extLst>
      <p:ext uri="{BB962C8B-B14F-4D97-AF65-F5344CB8AC3E}">
        <p14:creationId xmlns:p14="http://schemas.microsoft.com/office/powerpoint/2010/main" val="2897578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39149-C923-2A69-7E45-A80876BF0DC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63876A-4104-0D0D-6684-637D9257B4F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E0D9079-8D6B-C751-3E24-E8C800281AEA}"/>
              </a:ext>
            </a:extLst>
          </p:cNvPr>
          <p:cNvSpPr>
            <a:spLocks noGrp="1"/>
          </p:cNvSpPr>
          <p:nvPr>
            <p:ph type="body" idx="1"/>
          </p:nvPr>
        </p:nvSpPr>
        <p:spPr/>
        <p:txBody>
          <a:bodyPr/>
          <a:lstStyle/>
          <a:p>
            <a:r>
              <a:rPr lang="es-PE" dirty="0"/>
              <a:t>https://www.alab.com.pe/calibracion.php</a:t>
            </a:r>
          </a:p>
        </p:txBody>
      </p:sp>
      <p:sp>
        <p:nvSpPr>
          <p:cNvPr id="4" name="Marcador de número de diapositiva 3">
            <a:extLst>
              <a:ext uri="{FF2B5EF4-FFF2-40B4-BE49-F238E27FC236}">
                <a16:creationId xmlns:a16="http://schemas.microsoft.com/office/drawing/2014/main" id="{D908139F-1D58-3F8D-FC57-C31D4C6B4703}"/>
              </a:ext>
            </a:extLst>
          </p:cNvPr>
          <p:cNvSpPr>
            <a:spLocks noGrp="1"/>
          </p:cNvSpPr>
          <p:nvPr>
            <p:ph type="sldNum" sz="quarter" idx="5"/>
          </p:nvPr>
        </p:nvSpPr>
        <p:spPr/>
        <p:txBody>
          <a:bodyPr/>
          <a:lstStyle/>
          <a:p>
            <a:fld id="{982DFD32-1F63-4192-BC75-4F02DA87ECD5}" type="slidenum">
              <a:rPr lang="es-PE" smtClean="0"/>
              <a:t>36</a:t>
            </a:fld>
            <a:endParaRPr lang="es-PE"/>
          </a:p>
        </p:txBody>
      </p:sp>
    </p:spTree>
    <p:extLst>
      <p:ext uri="{BB962C8B-B14F-4D97-AF65-F5344CB8AC3E}">
        <p14:creationId xmlns:p14="http://schemas.microsoft.com/office/powerpoint/2010/main" val="2764534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E8C92-1F19-644B-B7EF-1E3AA0D984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A2136C-67E2-5336-A0B4-8C42BFA2168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6F2B9E-3DE8-3528-1ADB-858718725F4B}"/>
              </a:ext>
            </a:extLst>
          </p:cNvPr>
          <p:cNvSpPr>
            <a:spLocks noGrp="1"/>
          </p:cNvSpPr>
          <p:nvPr>
            <p:ph type="body" idx="1"/>
          </p:nvPr>
        </p:nvSpPr>
        <p:spPr/>
        <p:txBody>
          <a:bodyPr/>
          <a:lstStyle/>
          <a:p>
            <a:r>
              <a:rPr lang="es-PE" dirty="0"/>
              <a:t>https://www.alab.com.pe/calibracion.php</a:t>
            </a:r>
          </a:p>
        </p:txBody>
      </p:sp>
      <p:sp>
        <p:nvSpPr>
          <p:cNvPr id="4" name="Marcador de número de diapositiva 3">
            <a:extLst>
              <a:ext uri="{FF2B5EF4-FFF2-40B4-BE49-F238E27FC236}">
                <a16:creationId xmlns:a16="http://schemas.microsoft.com/office/drawing/2014/main" id="{BA5964C8-B363-18D5-06EA-432E9EC1C401}"/>
              </a:ext>
            </a:extLst>
          </p:cNvPr>
          <p:cNvSpPr>
            <a:spLocks noGrp="1"/>
          </p:cNvSpPr>
          <p:nvPr>
            <p:ph type="sldNum" sz="quarter" idx="5"/>
          </p:nvPr>
        </p:nvSpPr>
        <p:spPr/>
        <p:txBody>
          <a:bodyPr/>
          <a:lstStyle/>
          <a:p>
            <a:fld id="{982DFD32-1F63-4192-BC75-4F02DA87ECD5}" type="slidenum">
              <a:rPr lang="es-PE" smtClean="0"/>
              <a:t>37</a:t>
            </a:fld>
            <a:endParaRPr lang="es-PE"/>
          </a:p>
        </p:txBody>
      </p:sp>
    </p:spTree>
    <p:extLst>
      <p:ext uri="{BB962C8B-B14F-4D97-AF65-F5344CB8AC3E}">
        <p14:creationId xmlns:p14="http://schemas.microsoft.com/office/powerpoint/2010/main" val="35689984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751A8-F801-D49F-2487-2C3BBA553D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CD5CB8-FE7C-72A0-3579-63E5377543F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BC2CF3B-55EA-EE32-D03E-E36C450B7726}"/>
              </a:ext>
            </a:extLst>
          </p:cNvPr>
          <p:cNvSpPr>
            <a:spLocks noGrp="1"/>
          </p:cNvSpPr>
          <p:nvPr>
            <p:ph type="body" idx="1"/>
          </p:nvPr>
        </p:nvSpPr>
        <p:spPr/>
        <p:txBody>
          <a:bodyPr/>
          <a:lstStyle/>
          <a:p>
            <a:r>
              <a:rPr lang="es-PE" dirty="0"/>
              <a:t>https://www.alab.com.pe/calibracion.php</a:t>
            </a:r>
          </a:p>
        </p:txBody>
      </p:sp>
      <p:sp>
        <p:nvSpPr>
          <p:cNvPr id="4" name="Marcador de número de diapositiva 3">
            <a:extLst>
              <a:ext uri="{FF2B5EF4-FFF2-40B4-BE49-F238E27FC236}">
                <a16:creationId xmlns:a16="http://schemas.microsoft.com/office/drawing/2014/main" id="{EAA452D0-ABCA-4F37-B9DF-1D58F5EFD65D}"/>
              </a:ext>
            </a:extLst>
          </p:cNvPr>
          <p:cNvSpPr>
            <a:spLocks noGrp="1"/>
          </p:cNvSpPr>
          <p:nvPr>
            <p:ph type="sldNum" sz="quarter" idx="5"/>
          </p:nvPr>
        </p:nvSpPr>
        <p:spPr/>
        <p:txBody>
          <a:bodyPr/>
          <a:lstStyle/>
          <a:p>
            <a:fld id="{982DFD32-1F63-4192-BC75-4F02DA87ECD5}" type="slidenum">
              <a:rPr lang="es-PE" smtClean="0"/>
              <a:t>38</a:t>
            </a:fld>
            <a:endParaRPr lang="es-PE"/>
          </a:p>
        </p:txBody>
      </p:sp>
    </p:spTree>
    <p:extLst>
      <p:ext uri="{BB962C8B-B14F-4D97-AF65-F5344CB8AC3E}">
        <p14:creationId xmlns:p14="http://schemas.microsoft.com/office/powerpoint/2010/main" val="268123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13AAF-8183-5D31-475A-B1D7FB61E54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04E113A-1357-DB54-219B-8A06931591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B8B68F-2A65-71FC-BC9E-02E83909AA89}"/>
              </a:ext>
            </a:extLst>
          </p:cNvPr>
          <p:cNvSpPr>
            <a:spLocks noGrp="1"/>
          </p:cNvSpPr>
          <p:nvPr>
            <p:ph type="body" idx="1"/>
          </p:nvPr>
        </p:nvSpPr>
        <p:spPr/>
        <p:txBody>
          <a:bodyPr/>
          <a:lstStyle/>
          <a:p>
            <a:r>
              <a:rPr lang="es-PE" dirty="0"/>
              <a:t>https://www.alab.com.pe/calibracion.php</a:t>
            </a:r>
          </a:p>
        </p:txBody>
      </p:sp>
      <p:sp>
        <p:nvSpPr>
          <p:cNvPr id="4" name="Marcador de número de diapositiva 3">
            <a:extLst>
              <a:ext uri="{FF2B5EF4-FFF2-40B4-BE49-F238E27FC236}">
                <a16:creationId xmlns:a16="http://schemas.microsoft.com/office/drawing/2014/main" id="{106997CC-7686-B427-61AD-00DD6CA2F4AF}"/>
              </a:ext>
            </a:extLst>
          </p:cNvPr>
          <p:cNvSpPr>
            <a:spLocks noGrp="1"/>
          </p:cNvSpPr>
          <p:nvPr>
            <p:ph type="sldNum" sz="quarter" idx="5"/>
          </p:nvPr>
        </p:nvSpPr>
        <p:spPr/>
        <p:txBody>
          <a:bodyPr/>
          <a:lstStyle/>
          <a:p>
            <a:fld id="{982DFD32-1F63-4192-BC75-4F02DA87ECD5}" type="slidenum">
              <a:rPr lang="es-PE" smtClean="0"/>
              <a:t>39</a:t>
            </a:fld>
            <a:endParaRPr lang="es-PE"/>
          </a:p>
        </p:txBody>
      </p:sp>
    </p:spTree>
    <p:extLst>
      <p:ext uri="{BB962C8B-B14F-4D97-AF65-F5344CB8AC3E}">
        <p14:creationId xmlns:p14="http://schemas.microsoft.com/office/powerpoint/2010/main" val="32302801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AC62C-DE0F-A5EE-0F7B-80D032962C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2A7BBC-B560-8093-4D07-302DC463AB1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265B32-BCE9-8671-7EEB-994C8C777156}"/>
              </a:ext>
            </a:extLst>
          </p:cNvPr>
          <p:cNvSpPr>
            <a:spLocks noGrp="1"/>
          </p:cNvSpPr>
          <p:nvPr>
            <p:ph type="body" idx="1"/>
          </p:nvPr>
        </p:nvSpPr>
        <p:spPr/>
        <p:txBody>
          <a:bodyPr/>
          <a:lstStyle/>
          <a:p>
            <a:r>
              <a:rPr lang="es-PE" dirty="0"/>
              <a:t>https://www.alab.com.pe/calibracion.php</a:t>
            </a:r>
          </a:p>
        </p:txBody>
      </p:sp>
      <p:sp>
        <p:nvSpPr>
          <p:cNvPr id="4" name="Marcador de número de diapositiva 3">
            <a:extLst>
              <a:ext uri="{FF2B5EF4-FFF2-40B4-BE49-F238E27FC236}">
                <a16:creationId xmlns:a16="http://schemas.microsoft.com/office/drawing/2014/main" id="{850CC51D-4BC6-4AA4-9256-3F16FC98BA7E}"/>
              </a:ext>
            </a:extLst>
          </p:cNvPr>
          <p:cNvSpPr>
            <a:spLocks noGrp="1"/>
          </p:cNvSpPr>
          <p:nvPr>
            <p:ph type="sldNum" sz="quarter" idx="5"/>
          </p:nvPr>
        </p:nvSpPr>
        <p:spPr/>
        <p:txBody>
          <a:bodyPr/>
          <a:lstStyle/>
          <a:p>
            <a:fld id="{982DFD32-1F63-4192-BC75-4F02DA87ECD5}" type="slidenum">
              <a:rPr lang="es-PE" smtClean="0"/>
              <a:t>40</a:t>
            </a:fld>
            <a:endParaRPr lang="es-PE"/>
          </a:p>
        </p:txBody>
      </p:sp>
    </p:spTree>
    <p:extLst>
      <p:ext uri="{BB962C8B-B14F-4D97-AF65-F5344CB8AC3E}">
        <p14:creationId xmlns:p14="http://schemas.microsoft.com/office/powerpoint/2010/main" val="17224864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9C07B-B244-4CDE-FCB9-ED19FCB86F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88759B-654A-2199-06DA-DCA1EB79986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7BF631F-B584-DE8A-74D2-29E384D4ADE2}"/>
              </a:ext>
            </a:extLst>
          </p:cNvPr>
          <p:cNvSpPr>
            <a:spLocks noGrp="1"/>
          </p:cNvSpPr>
          <p:nvPr>
            <p:ph type="body" idx="1"/>
          </p:nvPr>
        </p:nvSpPr>
        <p:spPr/>
        <p:txBody>
          <a:bodyPr/>
          <a:lstStyle/>
          <a:p>
            <a:r>
              <a:rPr lang="es-PE" dirty="0"/>
              <a:t>https://www.alab.com.pe/calibracion.php</a:t>
            </a:r>
          </a:p>
        </p:txBody>
      </p:sp>
      <p:sp>
        <p:nvSpPr>
          <p:cNvPr id="4" name="Marcador de número de diapositiva 3">
            <a:extLst>
              <a:ext uri="{FF2B5EF4-FFF2-40B4-BE49-F238E27FC236}">
                <a16:creationId xmlns:a16="http://schemas.microsoft.com/office/drawing/2014/main" id="{ECAA5731-B685-06A1-E27B-86A915B4D667}"/>
              </a:ext>
            </a:extLst>
          </p:cNvPr>
          <p:cNvSpPr>
            <a:spLocks noGrp="1"/>
          </p:cNvSpPr>
          <p:nvPr>
            <p:ph type="sldNum" sz="quarter" idx="5"/>
          </p:nvPr>
        </p:nvSpPr>
        <p:spPr/>
        <p:txBody>
          <a:bodyPr/>
          <a:lstStyle/>
          <a:p>
            <a:fld id="{982DFD32-1F63-4192-BC75-4F02DA87ECD5}" type="slidenum">
              <a:rPr lang="es-PE" smtClean="0"/>
              <a:t>41</a:t>
            </a:fld>
            <a:endParaRPr lang="es-PE"/>
          </a:p>
        </p:txBody>
      </p:sp>
    </p:spTree>
    <p:extLst>
      <p:ext uri="{BB962C8B-B14F-4D97-AF65-F5344CB8AC3E}">
        <p14:creationId xmlns:p14="http://schemas.microsoft.com/office/powerpoint/2010/main" val="1172750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B9A95-EB78-260F-0254-C2C63A8FFFB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DE06E7-161F-342E-3EE3-5784FEA36B3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8B9BCA1-CBAB-1F0E-C7A4-C7B178B461FF}"/>
              </a:ext>
            </a:extLst>
          </p:cNvPr>
          <p:cNvSpPr>
            <a:spLocks noGrp="1"/>
          </p:cNvSpPr>
          <p:nvPr>
            <p:ph type="body" idx="1"/>
          </p:nvPr>
        </p:nvSpPr>
        <p:spPr/>
        <p:txBody>
          <a:bodyPr/>
          <a:lstStyle/>
          <a:p>
            <a:r>
              <a:rPr lang="es-PE" dirty="0"/>
              <a:t>https://www.alab.com.pe/calibracion.php,</a:t>
            </a:r>
          </a:p>
          <a:p>
            <a:endParaRPr lang="es-PE" dirty="0"/>
          </a:p>
          <a:p>
            <a:r>
              <a:rPr lang="es-PE" sz="1200" b="0" i="0" kern="1200" dirty="0">
                <a:solidFill>
                  <a:schemeClr val="tx1"/>
                </a:solidFill>
                <a:effectLst/>
                <a:latin typeface="+mn-lt"/>
                <a:ea typeface="+mn-ea"/>
                <a:cs typeface="+mn-cs"/>
              </a:rPr>
              <a:t>Por ejemplo, un proceso puede operar actualmente en un rango de 0 a 30 bar, pero los cambios en el funcionamiento de la aplicación requerirán que opere en un nuevo rango de 0 a 300 mbar.</a:t>
            </a:r>
          </a:p>
          <a:p>
            <a:r>
              <a:rPr lang="es-PE" sz="1200" b="0" i="0" kern="1200" dirty="0">
                <a:solidFill>
                  <a:schemeClr val="tx1"/>
                </a:solidFill>
                <a:effectLst/>
                <a:latin typeface="+mn-lt"/>
                <a:ea typeface="+mn-ea"/>
                <a:cs typeface="+mn-cs"/>
              </a:rPr>
              <a:t>Para evitar este tipo de error, es importante considerar detenidamente las características del sensor en relación con las condiciones del proceso antes de elegir un modelo adecuado para una aplicación concreta.</a:t>
            </a:r>
          </a:p>
          <a:p>
            <a:endParaRPr lang="es-PE" dirty="0"/>
          </a:p>
        </p:txBody>
      </p:sp>
      <p:sp>
        <p:nvSpPr>
          <p:cNvPr id="4" name="Marcador de número de diapositiva 3">
            <a:extLst>
              <a:ext uri="{FF2B5EF4-FFF2-40B4-BE49-F238E27FC236}">
                <a16:creationId xmlns:a16="http://schemas.microsoft.com/office/drawing/2014/main" id="{6294B26A-4DB1-4D1A-D335-BE368DDF046C}"/>
              </a:ext>
            </a:extLst>
          </p:cNvPr>
          <p:cNvSpPr>
            <a:spLocks noGrp="1"/>
          </p:cNvSpPr>
          <p:nvPr>
            <p:ph type="sldNum" sz="quarter" idx="5"/>
          </p:nvPr>
        </p:nvSpPr>
        <p:spPr/>
        <p:txBody>
          <a:bodyPr/>
          <a:lstStyle/>
          <a:p>
            <a:fld id="{982DFD32-1F63-4192-BC75-4F02DA87ECD5}" type="slidenum">
              <a:rPr lang="es-PE" smtClean="0"/>
              <a:t>42</a:t>
            </a:fld>
            <a:endParaRPr lang="es-PE"/>
          </a:p>
        </p:txBody>
      </p:sp>
    </p:spTree>
    <p:extLst>
      <p:ext uri="{BB962C8B-B14F-4D97-AF65-F5344CB8AC3E}">
        <p14:creationId xmlns:p14="http://schemas.microsoft.com/office/powerpoint/2010/main" val="42872494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53D18-29D3-3043-A163-F59C5AD338F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DC35F3-369C-FCB8-DAF8-A8BC0BB67FD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36EE9E-A11E-58BC-9F4A-0F58738D2B3F}"/>
              </a:ext>
            </a:extLst>
          </p:cNvPr>
          <p:cNvSpPr>
            <a:spLocks noGrp="1"/>
          </p:cNvSpPr>
          <p:nvPr>
            <p:ph type="body" idx="1"/>
          </p:nvPr>
        </p:nvSpPr>
        <p:spPr/>
        <p:txBody>
          <a:bodyPr/>
          <a:lstStyle/>
          <a:p>
            <a:r>
              <a:rPr lang="es-PE" dirty="0"/>
              <a:t>https://www.alab.com.pe/calibracion.php,</a:t>
            </a:r>
          </a:p>
          <a:p>
            <a:endParaRPr lang="es-PE" dirty="0"/>
          </a:p>
          <a:p>
            <a:r>
              <a:rPr lang="es-PE" sz="1200" b="0" i="0" kern="1200" dirty="0">
                <a:solidFill>
                  <a:schemeClr val="tx1"/>
                </a:solidFill>
                <a:effectLst/>
                <a:latin typeface="+mn-lt"/>
                <a:ea typeface="+mn-ea"/>
                <a:cs typeface="+mn-cs"/>
              </a:rPr>
              <a:t>Por ejemplo, un proceso puede operar actualmente en un rango de 0 a 30 bar, pero los cambios en el funcionamiento de la aplicación requerirán que opere en un nuevo rango de 0 a 300 mbar.</a:t>
            </a:r>
          </a:p>
          <a:p>
            <a:r>
              <a:rPr lang="es-PE" sz="1200" b="0" i="0" kern="1200" dirty="0">
                <a:solidFill>
                  <a:schemeClr val="tx1"/>
                </a:solidFill>
                <a:effectLst/>
                <a:latin typeface="+mn-lt"/>
                <a:ea typeface="+mn-ea"/>
                <a:cs typeface="+mn-cs"/>
              </a:rPr>
              <a:t>Para evitar este tipo de error, es importante considerar detenidamente las características del sensor en relación con las condiciones del proceso antes de elegir un modelo adecuado para una aplicación concreta.</a:t>
            </a:r>
          </a:p>
          <a:p>
            <a:endParaRPr lang="es-PE" dirty="0"/>
          </a:p>
        </p:txBody>
      </p:sp>
      <p:sp>
        <p:nvSpPr>
          <p:cNvPr id="4" name="Marcador de número de diapositiva 3">
            <a:extLst>
              <a:ext uri="{FF2B5EF4-FFF2-40B4-BE49-F238E27FC236}">
                <a16:creationId xmlns:a16="http://schemas.microsoft.com/office/drawing/2014/main" id="{3E7ECB81-4E27-82F1-32B4-4464A6C1FCDD}"/>
              </a:ext>
            </a:extLst>
          </p:cNvPr>
          <p:cNvSpPr>
            <a:spLocks noGrp="1"/>
          </p:cNvSpPr>
          <p:nvPr>
            <p:ph type="sldNum" sz="quarter" idx="5"/>
          </p:nvPr>
        </p:nvSpPr>
        <p:spPr/>
        <p:txBody>
          <a:bodyPr/>
          <a:lstStyle/>
          <a:p>
            <a:fld id="{982DFD32-1F63-4192-BC75-4F02DA87ECD5}" type="slidenum">
              <a:rPr lang="es-PE" smtClean="0"/>
              <a:t>43</a:t>
            </a:fld>
            <a:endParaRPr lang="es-PE"/>
          </a:p>
        </p:txBody>
      </p:sp>
    </p:spTree>
    <p:extLst>
      <p:ext uri="{BB962C8B-B14F-4D97-AF65-F5344CB8AC3E}">
        <p14:creationId xmlns:p14="http://schemas.microsoft.com/office/powerpoint/2010/main" val="1269123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PE" sz="1200" b="0" i="0" kern="1200" dirty="0">
                <a:solidFill>
                  <a:schemeClr val="tx1"/>
                </a:solidFill>
                <a:effectLst/>
                <a:latin typeface="+mn-lt"/>
                <a:ea typeface="+mn-ea"/>
                <a:cs typeface="+mn-cs"/>
              </a:rPr>
              <a:t>Para evitar este tipo de error, es esencial instalar, utilizar y mantener correctamente los transmisores de presión.</a:t>
            </a:r>
            <a:br>
              <a:rPr lang="es-PE" dirty="0"/>
            </a:br>
            <a:r>
              <a:rPr lang="es-PE" sz="1200" b="0" i="0" kern="1200" dirty="0">
                <a:solidFill>
                  <a:schemeClr val="tx1"/>
                </a:solidFill>
                <a:effectLst/>
                <a:latin typeface="+mn-lt"/>
                <a:ea typeface="+mn-ea"/>
                <a:cs typeface="+mn-cs"/>
              </a:rPr>
              <a:t>Compruebe regularmente si los sensores de presión presentan desgaste mecánico o daños para descartar este error</a:t>
            </a:r>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44</a:t>
            </a:fld>
            <a:endParaRPr lang="es-PE"/>
          </a:p>
        </p:txBody>
      </p:sp>
    </p:spTree>
    <p:extLst>
      <p:ext uri="{BB962C8B-B14F-4D97-AF65-F5344CB8AC3E}">
        <p14:creationId xmlns:p14="http://schemas.microsoft.com/office/powerpoint/2010/main" val="36351753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514350" indent="-514350">
              <a:buFont typeface="+mj-lt"/>
              <a:buAutoNum type="arabicParenR"/>
            </a:pPr>
            <a:r>
              <a:rPr lang="es-PE" dirty="0"/>
              <a:t>Los tipos de medición (analógica, digital y comparativa) ofrecen distintas ventajas y limitaciones; su correcta elección depende del sistema industrial y del nivel de precisión requerido.</a:t>
            </a:r>
          </a:p>
          <a:p>
            <a:pPr marL="514350" indent="-514350">
              <a:buFont typeface="+mj-lt"/>
              <a:buAutoNum type="arabicParenR"/>
            </a:pPr>
            <a:endParaRPr lang="es-PE" dirty="0"/>
          </a:p>
          <a:p>
            <a:pPr marL="514350" indent="-514350">
              <a:buFont typeface="+mj-lt"/>
              <a:buAutoNum type="arabicParenR"/>
            </a:pPr>
            <a:r>
              <a:rPr lang="es-PE" dirty="0"/>
              <a:t>Los errores de medición (sistemáticos, aleatorios y groseros) son inevitables, pero comprender su origen y magnitud permite diseñar sistemas más confiables.</a:t>
            </a:r>
          </a:p>
          <a:p>
            <a:pPr marL="514350" indent="-514350">
              <a:buFont typeface="+mj-lt"/>
              <a:buAutoNum type="arabicParenR"/>
            </a:pPr>
            <a:endParaRPr lang="es-PE" dirty="0"/>
          </a:p>
          <a:p>
            <a:pPr marL="514350" indent="-514350">
              <a:buFont typeface="+mj-lt"/>
              <a:buAutoNum type="arabicParenR"/>
            </a:pPr>
            <a:r>
              <a:rPr lang="es-PE" dirty="0"/>
              <a:t>La integración de estrategias de corrección y calibración es esencial para garantizar que la información medida sea confiable, asegurando calidad, seguridad y eficiencia en sistemas mecatrónicos y electrónicos.</a:t>
            </a:r>
          </a:p>
          <a:p>
            <a:endParaRPr lang="es-PE" dirty="0"/>
          </a:p>
        </p:txBody>
      </p:sp>
      <p:sp>
        <p:nvSpPr>
          <p:cNvPr id="4" name="Marcador de número de diapositiva 3"/>
          <p:cNvSpPr>
            <a:spLocks noGrp="1"/>
          </p:cNvSpPr>
          <p:nvPr>
            <p:ph type="sldNum" sz="quarter" idx="5"/>
          </p:nvPr>
        </p:nvSpPr>
        <p:spPr/>
        <p:txBody>
          <a:bodyPr/>
          <a:lstStyle/>
          <a:p>
            <a:fld id="{982DFD32-1F63-4192-BC75-4F02DA87ECD5}" type="slidenum">
              <a:rPr lang="es-PE" smtClean="0"/>
              <a:t>56</a:t>
            </a:fld>
            <a:endParaRPr lang="es-PE"/>
          </a:p>
        </p:txBody>
      </p:sp>
    </p:spTree>
    <p:extLst>
      <p:ext uri="{BB962C8B-B14F-4D97-AF65-F5344CB8AC3E}">
        <p14:creationId xmlns:p14="http://schemas.microsoft.com/office/powerpoint/2010/main" val="1586054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18" Type="http://schemas.microsoft.com/office/2007/relationships/hdphoto" Target="../media/hdphoto7.wdp"/><Relationship Id="rId3" Type="http://schemas.openxmlformats.org/officeDocument/2006/relationships/image" Target="../media/image1.jpg"/><Relationship Id="rId7" Type="http://schemas.microsoft.com/office/2007/relationships/hdphoto" Target="../media/hdphoto2.wdp"/><Relationship Id="rId12" Type="http://schemas.microsoft.com/office/2007/relationships/hdphoto" Target="../media/hdphoto4.wdp"/><Relationship Id="rId17" Type="http://schemas.openxmlformats.org/officeDocument/2006/relationships/image" Target="../media/image10.png"/><Relationship Id="rId2" Type="http://schemas.openxmlformats.org/officeDocument/2006/relationships/image" Target="../media/image2.jpg"/><Relationship Id="rId16" Type="http://schemas.microsoft.com/office/2007/relationships/hdphoto" Target="../media/hdphoto6.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microsoft.com/office/2007/relationships/hdphoto" Target="../media/hdphoto1.wdp"/><Relationship Id="rId1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microsoft.com/office/2007/relationships/hdphoto" Target="../media/hdphoto5.wdp"/></Relationships>
</file>

<file path=ppt/slideLayouts/_rels/slideLayout4.xml.rels><?xml version="1.0" encoding="UTF-8" standalone="yes"?>
<Relationships xmlns="http://schemas.openxmlformats.org/package/2006/relationships"><Relationship Id="rId8" Type="http://schemas.microsoft.com/office/2007/relationships/hdphoto" Target="../media/hdphoto3.wdp"/><Relationship Id="rId13" Type="http://schemas.microsoft.com/office/2007/relationships/hdphoto" Target="../media/hdphoto5.wdp"/><Relationship Id="rId18" Type="http://schemas.openxmlformats.org/officeDocument/2006/relationships/image" Target="../media/image1.jp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17" Type="http://schemas.microsoft.com/office/2007/relationships/hdphoto" Target="../media/hdphoto7.wdp"/><Relationship Id="rId2" Type="http://schemas.openxmlformats.org/officeDocument/2006/relationships/image" Target="../media/image2.jpg"/><Relationship Id="rId16" Type="http://schemas.openxmlformats.org/officeDocument/2006/relationships/image" Target="../media/image10.png"/><Relationship Id="rId1" Type="http://schemas.openxmlformats.org/officeDocument/2006/relationships/slideMaster" Target="../slideMasters/slideMaster1.xml"/><Relationship Id="rId6" Type="http://schemas.microsoft.com/office/2007/relationships/hdphoto" Target="../media/hdphoto2.wdp"/><Relationship Id="rId11" Type="http://schemas.microsoft.com/office/2007/relationships/hdphoto" Target="../media/hdphoto4.wdp"/><Relationship Id="rId5" Type="http://schemas.openxmlformats.org/officeDocument/2006/relationships/image" Target="../media/image4.png"/><Relationship Id="rId15" Type="http://schemas.microsoft.com/office/2007/relationships/hdphoto" Target="../media/hdphoto6.wdp"/><Relationship Id="rId10"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6.png"/><Relationship Id="rId1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8" Type="http://schemas.microsoft.com/office/2007/relationships/hdphoto" Target="../media/hdphoto3.wdp"/><Relationship Id="rId13" Type="http://schemas.microsoft.com/office/2007/relationships/hdphoto" Target="../media/hdphoto5.wdp"/><Relationship Id="rId18" Type="http://schemas.openxmlformats.org/officeDocument/2006/relationships/image" Target="../media/image1.jp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17" Type="http://schemas.microsoft.com/office/2007/relationships/hdphoto" Target="../media/hdphoto7.wdp"/><Relationship Id="rId2" Type="http://schemas.openxmlformats.org/officeDocument/2006/relationships/image" Target="../media/image2.jpg"/><Relationship Id="rId16" Type="http://schemas.openxmlformats.org/officeDocument/2006/relationships/image" Target="../media/image10.png"/><Relationship Id="rId1" Type="http://schemas.openxmlformats.org/officeDocument/2006/relationships/slideMaster" Target="../slideMasters/slideMaster1.xml"/><Relationship Id="rId6" Type="http://schemas.microsoft.com/office/2007/relationships/hdphoto" Target="../media/hdphoto2.wdp"/><Relationship Id="rId11" Type="http://schemas.microsoft.com/office/2007/relationships/hdphoto" Target="../media/hdphoto4.wdp"/><Relationship Id="rId5" Type="http://schemas.openxmlformats.org/officeDocument/2006/relationships/image" Target="../media/image4.png"/><Relationship Id="rId15" Type="http://schemas.microsoft.com/office/2007/relationships/hdphoto" Target="../media/hdphoto6.wdp"/><Relationship Id="rId10"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6.png"/><Relationship Id="rId1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18" Type="http://schemas.microsoft.com/office/2007/relationships/hdphoto" Target="../media/hdphoto7.wdp"/><Relationship Id="rId3" Type="http://schemas.openxmlformats.org/officeDocument/2006/relationships/image" Target="../media/image1.jpg"/><Relationship Id="rId7" Type="http://schemas.microsoft.com/office/2007/relationships/hdphoto" Target="../media/hdphoto2.wdp"/><Relationship Id="rId12" Type="http://schemas.microsoft.com/office/2007/relationships/hdphoto" Target="../media/hdphoto4.wdp"/><Relationship Id="rId17" Type="http://schemas.openxmlformats.org/officeDocument/2006/relationships/image" Target="../media/image10.png"/><Relationship Id="rId2" Type="http://schemas.openxmlformats.org/officeDocument/2006/relationships/image" Target="../media/image2.jpg"/><Relationship Id="rId16" Type="http://schemas.microsoft.com/office/2007/relationships/hdphoto" Target="../media/hdphoto6.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microsoft.com/office/2007/relationships/hdphoto" Target="../media/hdphoto1.wdp"/><Relationship Id="rId1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microsoft.com/office/2007/relationships/hdphoto" Target="../media/hdphoto5.wdp"/></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18" Type="http://schemas.microsoft.com/office/2007/relationships/hdphoto" Target="../media/hdphoto7.wdp"/><Relationship Id="rId3" Type="http://schemas.openxmlformats.org/officeDocument/2006/relationships/image" Target="../media/image1.jpg"/><Relationship Id="rId7" Type="http://schemas.microsoft.com/office/2007/relationships/hdphoto" Target="../media/hdphoto2.wdp"/><Relationship Id="rId12" Type="http://schemas.microsoft.com/office/2007/relationships/hdphoto" Target="../media/hdphoto4.wdp"/><Relationship Id="rId17" Type="http://schemas.openxmlformats.org/officeDocument/2006/relationships/image" Target="../media/image10.png"/><Relationship Id="rId2" Type="http://schemas.openxmlformats.org/officeDocument/2006/relationships/image" Target="../media/image2.jpg"/><Relationship Id="rId16" Type="http://schemas.microsoft.com/office/2007/relationships/hdphoto" Target="../media/hdphoto6.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microsoft.com/office/2007/relationships/hdphoto" Target="../media/hdphoto1.wdp"/><Relationship Id="rId1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microsoft.com/office/2007/relationships/hdphoto" Target="../media/hdphoto5.wdp"/></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microsoft.com/office/2007/relationships/hdphoto" Target="../media/hdphoto5.wdp"/><Relationship Id="rId3" Type="http://schemas.openxmlformats.org/officeDocument/2006/relationships/image" Target="../media/image1.jpg"/><Relationship Id="rId7" Type="http://schemas.microsoft.com/office/2007/relationships/hdphoto" Target="../media/hdphoto2.wdp"/><Relationship Id="rId12" Type="http://schemas.microsoft.com/office/2007/relationships/hdphoto" Target="../media/hdphoto6.wdp"/><Relationship Id="rId17" Type="http://schemas.openxmlformats.org/officeDocument/2006/relationships/image" Target="../media/image8.png"/><Relationship Id="rId2" Type="http://schemas.openxmlformats.org/officeDocument/2006/relationships/image" Target="../media/image2.jpg"/><Relationship Id="rId16" Type="http://schemas.microsoft.com/office/2007/relationships/hdphoto" Target="../media/hdphoto4.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9.png"/><Relationship Id="rId5" Type="http://schemas.microsoft.com/office/2007/relationships/hdphoto" Target="../media/hdphoto1.wdp"/><Relationship Id="rId15" Type="http://schemas.openxmlformats.org/officeDocument/2006/relationships/image" Target="../media/image7.png"/><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microsoft.com/office/2007/relationships/hdphoto" Target="../media/hdphoto7.wdp"/></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18" Type="http://schemas.microsoft.com/office/2007/relationships/hdphoto" Target="../media/hdphoto7.wdp"/><Relationship Id="rId3" Type="http://schemas.openxmlformats.org/officeDocument/2006/relationships/image" Target="../media/image1.jpg"/><Relationship Id="rId7" Type="http://schemas.microsoft.com/office/2007/relationships/hdphoto" Target="../media/hdphoto2.wdp"/><Relationship Id="rId12" Type="http://schemas.microsoft.com/office/2007/relationships/hdphoto" Target="../media/hdphoto4.wdp"/><Relationship Id="rId17" Type="http://schemas.openxmlformats.org/officeDocument/2006/relationships/image" Target="../media/image10.png"/><Relationship Id="rId2" Type="http://schemas.openxmlformats.org/officeDocument/2006/relationships/image" Target="../media/image2.jpg"/><Relationship Id="rId16" Type="http://schemas.microsoft.com/office/2007/relationships/hdphoto" Target="../media/hdphoto6.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microsoft.com/office/2007/relationships/hdphoto" Target="../media/hdphoto1.wdp"/><Relationship Id="rId1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microsoft.com/office/2007/relationships/hdphoto" Target="../media/hdphoto5.wdp"/></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8.png"/><Relationship Id="rId18" Type="http://schemas.microsoft.com/office/2007/relationships/hdphoto" Target="../media/hdphoto7.wdp"/><Relationship Id="rId3" Type="http://schemas.openxmlformats.org/officeDocument/2006/relationships/image" Target="../media/image1.jpg"/><Relationship Id="rId7" Type="http://schemas.microsoft.com/office/2007/relationships/hdphoto" Target="../media/hdphoto2.wdp"/><Relationship Id="rId12" Type="http://schemas.microsoft.com/office/2007/relationships/hdphoto" Target="../media/hdphoto4.wdp"/><Relationship Id="rId17" Type="http://schemas.openxmlformats.org/officeDocument/2006/relationships/image" Target="../media/image10.png"/><Relationship Id="rId2" Type="http://schemas.openxmlformats.org/officeDocument/2006/relationships/image" Target="../media/image2.jpg"/><Relationship Id="rId16" Type="http://schemas.microsoft.com/office/2007/relationships/hdphoto" Target="../media/hdphoto6.wdp"/><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7.png"/><Relationship Id="rId5" Type="http://schemas.microsoft.com/office/2007/relationships/hdphoto" Target="../media/hdphoto1.wdp"/><Relationship Id="rId15" Type="http://schemas.openxmlformats.org/officeDocument/2006/relationships/image" Target="../media/image9.png"/><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3.wdp"/><Relationship Id="rId14" Type="http://schemas.microsoft.com/office/2007/relationships/hdphoto" Target="../media/hdphoto5.wdp"/></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microsoft.com/office/2007/relationships/hdphoto" Target="../media/hdphoto3.wdp"/><Relationship Id="rId13" Type="http://schemas.microsoft.com/office/2007/relationships/hdphoto" Target="../media/hdphoto5.wdp"/><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17" Type="http://schemas.microsoft.com/office/2007/relationships/hdphoto" Target="../media/hdphoto7.wdp"/><Relationship Id="rId2" Type="http://schemas.openxmlformats.org/officeDocument/2006/relationships/image" Target="../media/image1.jpg"/><Relationship Id="rId16" Type="http://schemas.openxmlformats.org/officeDocument/2006/relationships/image" Target="../media/image10.png"/><Relationship Id="rId1" Type="http://schemas.openxmlformats.org/officeDocument/2006/relationships/slideMaster" Target="../slideMasters/slideMaster1.xml"/><Relationship Id="rId6" Type="http://schemas.microsoft.com/office/2007/relationships/hdphoto" Target="../media/hdphoto2.wdp"/><Relationship Id="rId11" Type="http://schemas.microsoft.com/office/2007/relationships/hdphoto" Target="../media/hdphoto4.wdp"/><Relationship Id="rId5" Type="http://schemas.openxmlformats.org/officeDocument/2006/relationships/image" Target="../media/image4.png"/><Relationship Id="rId15" Type="http://schemas.microsoft.com/office/2007/relationships/hdphoto" Target="../media/hdphoto6.wdp"/><Relationship Id="rId10"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6.png"/><Relationship Id="rId1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Nombre del curso y Tema">
    <p:bg>
      <p:bgPr>
        <a:solidFill>
          <a:schemeClr val="bg1"/>
        </a:solidFill>
        <a:effectLst/>
      </p:bgPr>
    </p:bg>
    <p:spTree>
      <p:nvGrpSpPr>
        <p:cNvPr id="1" name=""/>
        <p:cNvGrpSpPr/>
        <p:nvPr/>
      </p:nvGrpSpPr>
      <p:grpSpPr>
        <a:xfrm>
          <a:off x="0" y="0"/>
          <a:ext cx="0" cy="0"/>
          <a:chOff x="0" y="0"/>
          <a:chExt cx="0" cy="0"/>
        </a:xfrm>
      </p:grpSpPr>
      <p:pic>
        <p:nvPicPr>
          <p:cNvPr id="16" name="bg object 16"/>
          <p:cNvPicPr/>
          <p:nvPr userDrawn="1"/>
        </p:nvPicPr>
        <p:blipFill>
          <a:blip r:embed="rId2" cstate="print"/>
          <a:stretch>
            <a:fillRect/>
          </a:stretch>
        </p:blipFill>
        <p:spPr>
          <a:xfrm>
            <a:off x="4572" y="0"/>
            <a:ext cx="8121904" cy="6857997"/>
          </a:xfrm>
          <a:prstGeom prst="rect">
            <a:avLst/>
          </a:prstGeom>
        </p:spPr>
      </p:pic>
      <p:sp>
        <p:nvSpPr>
          <p:cNvPr id="2" name="Holder 2"/>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b="1" kern="1200">
                <a:solidFill>
                  <a:srgbClr val="C00000"/>
                </a:solidFill>
                <a:latin typeface="+mj-lt"/>
                <a:ea typeface="+mj-ea"/>
                <a:cs typeface="+mj-cs"/>
              </a:defRPr>
            </a:lvl1pPr>
          </a:lstStyle>
          <a:p>
            <a:r>
              <a:rPr lang="es-ES" dirty="0"/>
              <a:t>Haga clic para modificar el estilo de título del patrón</a:t>
            </a:r>
            <a:endParaRPr dirty="0"/>
          </a:p>
        </p:txBody>
      </p:sp>
      <p:sp>
        <p:nvSpPr>
          <p:cNvPr id="5" name="Holder 5"/>
          <p:cNvSpPr>
            <a:spLocks noGrp="1"/>
          </p:cNvSpPr>
          <p:nvPr>
            <p:ph type="sldNum" sz="quarter" idx="7"/>
          </p:nvPr>
        </p:nvSpPr>
        <p:spPr>
          <a:xfrm>
            <a:off x="8610600" y="6356350"/>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5C935D5-6D3E-4FF0-877B-AA27AB4CF1C1}" type="slidenum">
              <a:rPr lang="es-PE" smtClean="0"/>
              <a:pPr/>
              <a:t>‹Nº›</a:t>
            </a:fld>
            <a:endParaRPr/>
          </a:p>
        </p:txBody>
      </p:sp>
      <p:sp>
        <p:nvSpPr>
          <p:cNvPr id="7" name="Holder 3">
            <a:extLst>
              <a:ext uri="{FF2B5EF4-FFF2-40B4-BE49-F238E27FC236}">
                <a16:creationId xmlns:a16="http://schemas.microsoft.com/office/drawing/2014/main" id="{3F8A92E3-7833-D5B6-A3E0-B25F3D9B2D3C}"/>
              </a:ext>
            </a:extLst>
          </p:cNvPr>
          <p:cNvSpPr>
            <a:spLocks noGrp="1"/>
          </p:cNvSpPr>
          <p:nvPr>
            <p:ph type="subTitle" idx="4" hasCustomPrompt="1"/>
          </p:nvPr>
        </p:nvSpPr>
        <p:spPr>
          <a:xfrm>
            <a:off x="838200" y="1825625"/>
            <a:ext cx="10515600" cy="4351338"/>
          </a:xfrm>
          <a:prstGeom prst="rect">
            <a:avLst/>
          </a:prstGeom>
        </p:spPr>
        <p:txBody>
          <a:bodyPr vert="horz" wrap="square"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dirty="0"/>
          </a:p>
        </p:txBody>
      </p:sp>
    </p:spTree>
    <p:extLst>
      <p:ext uri="{BB962C8B-B14F-4D97-AF65-F5344CB8AC3E}">
        <p14:creationId xmlns:p14="http://schemas.microsoft.com/office/powerpoint/2010/main" val="3598608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UDAS">
    <p:spTree>
      <p:nvGrpSpPr>
        <p:cNvPr id="1" name=""/>
        <p:cNvGrpSpPr/>
        <p:nvPr/>
      </p:nvGrpSpPr>
      <p:grpSpPr>
        <a:xfrm>
          <a:off x="0" y="0"/>
          <a:ext cx="0" cy="0"/>
          <a:chOff x="0" y="0"/>
          <a:chExt cx="0" cy="0"/>
        </a:xfrm>
      </p:grpSpPr>
      <p:pic>
        <p:nvPicPr>
          <p:cNvPr id="33" name="Imagen 32">
            <a:extLst>
              <a:ext uri="{FF2B5EF4-FFF2-40B4-BE49-F238E27FC236}">
                <a16:creationId xmlns:a16="http://schemas.microsoft.com/office/drawing/2014/main" id="{DF497077-C168-57F5-151E-786107B89C5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4194" y="855472"/>
            <a:ext cx="5105400" cy="6002528"/>
          </a:xfrm>
          <a:prstGeom prst="rect">
            <a:avLst/>
          </a:prstGeom>
        </p:spPr>
      </p:pic>
      <p:pic>
        <p:nvPicPr>
          <p:cNvPr id="34" name="bg object 16">
            <a:extLst>
              <a:ext uri="{FF2B5EF4-FFF2-40B4-BE49-F238E27FC236}">
                <a16:creationId xmlns:a16="http://schemas.microsoft.com/office/drawing/2014/main" id="{6A517272-C42D-C03B-742E-BE2F811E8CD3}"/>
              </a:ext>
            </a:extLst>
          </p:cNvPr>
          <p:cNvPicPr>
            <a:picLocks noChangeAspect="1"/>
          </p:cNvPicPr>
          <p:nvPr userDrawn="1"/>
        </p:nvPicPr>
        <p:blipFill rotWithShape="1">
          <a:blip r:embed="rId3" cstate="print"/>
          <a:srcRect l="50331" t="76667" b="11111"/>
          <a:stretch/>
        </p:blipFill>
        <p:spPr>
          <a:xfrm>
            <a:off x="4518787" y="6318000"/>
            <a:ext cx="2598874" cy="540000"/>
          </a:xfrm>
          <a:prstGeom prst="rect">
            <a:avLst/>
          </a:prstGeom>
        </p:spPr>
      </p:pic>
      <p:sp>
        <p:nvSpPr>
          <p:cNvPr id="5" name="Rectángulo 4">
            <a:extLst>
              <a:ext uri="{FF2B5EF4-FFF2-40B4-BE49-F238E27FC236}">
                <a16:creationId xmlns:a16="http://schemas.microsoft.com/office/drawing/2014/main" id="{B63C1180-4408-4669-B7D8-2C705D3E0CED}"/>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3F2E9854-F4C5-0687-4D18-C0DA63C4A9B8}"/>
              </a:ext>
            </a:extLst>
          </p:cNvPr>
          <p:cNvSpPr/>
          <p:nvPr userDrawn="1"/>
        </p:nvSpPr>
        <p:spPr>
          <a:xfrm>
            <a:off x="11349733" y="-1974"/>
            <a:ext cx="863564" cy="105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8" name="Picture 8">
            <a:extLst>
              <a:ext uri="{FF2B5EF4-FFF2-40B4-BE49-F238E27FC236}">
                <a16:creationId xmlns:a16="http://schemas.microsoft.com/office/drawing/2014/main" id="{5F45EDAC-9217-AD2B-E61E-3EAA3C7BAD46}"/>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Marca de verificación en blanco y negro Gratis Dibujos Animados  Imágene｜Illustoon ES">
            <a:extLst>
              <a:ext uri="{FF2B5EF4-FFF2-40B4-BE49-F238E27FC236}">
                <a16:creationId xmlns:a16="http://schemas.microsoft.com/office/drawing/2014/main" id="{10AF4D9E-8A60-4136-A9C4-86C2CF65FAF0}"/>
              </a:ext>
            </a:extLst>
          </p:cNvPr>
          <p:cNvPicPr>
            <a:picLocks noChangeAspect="1" noChangeArrowheads="1"/>
          </p:cNvPicPr>
          <p:nvPr userDrawn="1"/>
        </p:nvPicPr>
        <p:blipFill rotWithShape="1">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Bombilla, Bombilla incandescente, Luz eléctrica, Lámpara, Negro, Blanco y  negro, Línea, silueta, ligero, negro, En blanco y negro png | PNGWing">
            <a:extLst>
              <a:ext uri="{FF2B5EF4-FFF2-40B4-BE49-F238E27FC236}">
                <a16:creationId xmlns:a16="http://schemas.microsoft.com/office/drawing/2014/main" id="{C4721AD4-0A99-6619-FE8D-100B47F6E109}"/>
              </a:ext>
            </a:extLst>
          </p:cNvPr>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Piezas de rompecabezas en variante blanco y negro - Iconos gratis de">
            <a:extLst>
              <a:ext uri="{FF2B5EF4-FFF2-40B4-BE49-F238E27FC236}">
                <a16:creationId xmlns:a16="http://schemas.microsoft.com/office/drawing/2014/main" id="{D18D9D4D-1F5E-47CA-F904-626181D15B72}"/>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FFC5D09D-33AB-E513-3078-6A315BCB7EAC}"/>
              </a:ext>
            </a:extLst>
          </p:cNvPr>
          <p:cNvPicPr>
            <a:picLocks noChangeAspect="1" noChangeArrowheads="1"/>
          </p:cNvPicPr>
          <p:nvPr userDrawn="1"/>
        </p:nvPicPr>
        <p:blipFill rotWithShape="1">
          <a:blip r:embed="rId11" cstate="print">
            <a:extLst>
              <a:ext uri="{BEBA8EAE-BF5A-486C-A8C5-ECC9F3942E4B}">
                <a14:imgProps xmlns:a14="http://schemas.microsoft.com/office/drawing/2010/main">
                  <a14:imgLayer r:embed="rId12">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Grupo de iconos del equipo trabajo grupo de trabajo, texto, grupo social,  silueta png | PNGWing">
            <a:extLst>
              <a:ext uri="{FF2B5EF4-FFF2-40B4-BE49-F238E27FC236}">
                <a16:creationId xmlns:a16="http://schemas.microsoft.com/office/drawing/2014/main" id="{C4FA21B4-6DDC-8F90-A7E3-23AAC3816DF4}"/>
              </a:ext>
            </a:extLst>
          </p:cNvPr>
          <p:cNvPicPr>
            <a:picLocks noChangeAspect="1" noChangeArrowheads="1"/>
          </p:cNvPicPr>
          <p:nvPr userDrawn="1"/>
        </p:nvPicPr>
        <p:blipFill rotWithShape="1">
          <a:blip r:embed="rId13" cstate="print">
            <a:extLst>
              <a:ext uri="{BEBA8EAE-BF5A-486C-A8C5-ECC9F3942E4B}">
                <a14:imgProps xmlns:a14="http://schemas.microsoft.com/office/drawing/2010/main">
                  <a14:imgLayer r:embed="rId14">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a:extLst>
              <a:ext uri="{FF2B5EF4-FFF2-40B4-BE49-F238E27FC236}">
                <a16:creationId xmlns:a16="http://schemas.microsoft.com/office/drawing/2014/main" id="{39E13929-9F0F-71A6-71F8-793A7C7118A6}"/>
              </a:ext>
            </a:extLst>
          </p:cNvPr>
          <p:cNvPicPr>
            <a:picLocks noChangeAspect="1" noChangeArrowheads="1"/>
          </p:cNvPicPr>
          <p:nvPr userDrawn="1"/>
        </p:nvPicPr>
        <p:blipFill rotWithShape="1">
          <a:blip r:embed="rId15" cstate="print">
            <a:extLst>
              <a:ext uri="{BEBA8EAE-BF5A-486C-A8C5-ECC9F3942E4B}">
                <a14:imgProps xmlns:a14="http://schemas.microsoft.com/office/drawing/2010/main">
                  <a14:imgLayer r:embed="rId16">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39">
            <a:extLst>
              <a:ext uri="{FF2B5EF4-FFF2-40B4-BE49-F238E27FC236}">
                <a16:creationId xmlns:a16="http://schemas.microsoft.com/office/drawing/2014/main" id="{6A17A6BD-78D4-3A47-92FD-A1549CF86C99}"/>
              </a:ext>
            </a:extLst>
          </p:cNvPr>
          <p:cNvSpPr txBox="1"/>
          <p:nvPr userDrawn="1"/>
        </p:nvSpPr>
        <p:spPr>
          <a:xfrm>
            <a:off x="11389032" y="771916"/>
            <a:ext cx="824265" cy="307777"/>
          </a:xfrm>
          <a:prstGeom prst="rect">
            <a:avLst/>
          </a:prstGeom>
          <a:noFill/>
        </p:spPr>
        <p:txBody>
          <a:bodyPr wrap="none" rtlCol="0">
            <a:spAutoFit/>
          </a:bodyPr>
          <a:lstStyle/>
          <a:p>
            <a:r>
              <a:rPr lang="es-PE" sz="1400" b="1" i="1" dirty="0">
                <a:latin typeface="Arial" panose="020B0604020202020204" pitchFamily="34" charset="0"/>
                <a:cs typeface="Arial" panose="020B0604020202020204" pitchFamily="34" charset="0"/>
              </a:rPr>
              <a:t>DUDAS</a:t>
            </a:r>
          </a:p>
        </p:txBody>
      </p:sp>
      <p:pic>
        <p:nvPicPr>
          <p:cNvPr id="2" name="Picture 2" descr="Ilustración de Icono De Cese Cierre Conclusión Logotipo Vectorial ...">
            <a:extLst>
              <a:ext uri="{FF2B5EF4-FFF2-40B4-BE49-F238E27FC236}">
                <a16:creationId xmlns:a16="http://schemas.microsoft.com/office/drawing/2014/main" id="{92D6F3D3-EE82-9850-04E5-6EEDC401EF2E}"/>
              </a:ext>
            </a:extLst>
          </p:cNvPr>
          <p:cNvPicPr>
            <a:picLocks noChangeAspect="1" noChangeArrowheads="1"/>
          </p:cNvPicPr>
          <p:nvPr userDrawn="1"/>
        </p:nvPicPr>
        <p:blipFill rotWithShape="1">
          <a:blip r:embed="rId17" cstate="print">
            <a:extLst>
              <a:ext uri="{BEBA8EAE-BF5A-486C-A8C5-ECC9F3942E4B}">
                <a14:imgProps xmlns:a14="http://schemas.microsoft.com/office/drawing/2010/main">
                  <a14:imgLayer r:embed="rId18">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9" name="Marcador de contenido 2">
            <a:extLst>
              <a:ext uri="{FF2B5EF4-FFF2-40B4-BE49-F238E27FC236}">
                <a16:creationId xmlns:a16="http://schemas.microsoft.com/office/drawing/2014/main" id="{E1CD0D04-47B7-916D-70A4-FA6F279A56D2}"/>
              </a:ext>
            </a:extLst>
          </p:cNvPr>
          <p:cNvSpPr>
            <a:spLocks noGrp="1"/>
          </p:cNvSpPr>
          <p:nvPr>
            <p:ph idx="1"/>
          </p:nvPr>
        </p:nvSpPr>
        <p:spPr>
          <a:xfrm>
            <a:off x="914400" y="1585424"/>
            <a:ext cx="9525000" cy="45312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0" name="Marcador de fecha 3">
            <a:extLst>
              <a:ext uri="{FF2B5EF4-FFF2-40B4-BE49-F238E27FC236}">
                <a16:creationId xmlns:a16="http://schemas.microsoft.com/office/drawing/2014/main" id="{3942D783-7D18-9F40-7018-63E62800E09C}"/>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18" name="Marcador de número de diapositiva 5">
            <a:extLst>
              <a:ext uri="{FF2B5EF4-FFF2-40B4-BE49-F238E27FC236}">
                <a16:creationId xmlns:a16="http://schemas.microsoft.com/office/drawing/2014/main" id="{3A3904C8-4F23-30AA-AFC7-2C25E6F90314}"/>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6" name="Título 1">
            <a:extLst>
              <a:ext uri="{FF2B5EF4-FFF2-40B4-BE49-F238E27FC236}">
                <a16:creationId xmlns:a16="http://schemas.microsoft.com/office/drawing/2014/main" id="{DD421450-4D7F-E743-C690-FAE421AD9AD4}"/>
              </a:ext>
            </a:extLst>
          </p:cNvPr>
          <p:cNvSpPr>
            <a:spLocks noGrp="1"/>
          </p:cNvSpPr>
          <p:nvPr>
            <p:ph type="title"/>
          </p:nvPr>
        </p:nvSpPr>
        <p:spPr>
          <a:xfrm>
            <a:off x="914400" y="628903"/>
            <a:ext cx="9525000" cy="72995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
        <p:nvSpPr>
          <p:cNvPr id="3" name="Rectángulo: esquinas redondeadas 2">
            <a:extLst>
              <a:ext uri="{FF2B5EF4-FFF2-40B4-BE49-F238E27FC236}">
                <a16:creationId xmlns:a16="http://schemas.microsoft.com/office/drawing/2014/main" id="{C6400613-041A-7158-EF50-6ECE1509B281}"/>
              </a:ext>
            </a:extLst>
          </p:cNvPr>
          <p:cNvSpPr/>
          <p:nvPr userDrawn="1"/>
        </p:nvSpPr>
        <p:spPr>
          <a:xfrm>
            <a:off x="11340435" y="25669"/>
            <a:ext cx="863564" cy="1030374"/>
          </a:xfrm>
          <a:prstGeom prst="roundRect">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58913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OGROS">
    <p:spTree>
      <p:nvGrpSpPr>
        <p:cNvPr id="1" name=""/>
        <p:cNvGrpSpPr/>
        <p:nvPr/>
      </p:nvGrpSpPr>
      <p:grpSpPr>
        <a:xfrm>
          <a:off x="0" y="0"/>
          <a:ext cx="0" cy="0"/>
          <a:chOff x="0" y="0"/>
          <a:chExt cx="0" cy="0"/>
        </a:xfrm>
      </p:grpSpPr>
      <p:pic>
        <p:nvPicPr>
          <p:cNvPr id="33" name="Imagen 32">
            <a:extLst>
              <a:ext uri="{FF2B5EF4-FFF2-40B4-BE49-F238E27FC236}">
                <a16:creationId xmlns:a16="http://schemas.microsoft.com/office/drawing/2014/main" id="{DF497077-C168-57F5-151E-786107B89C5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sp>
        <p:nvSpPr>
          <p:cNvPr id="5" name="Rectángulo 4">
            <a:extLst>
              <a:ext uri="{FF2B5EF4-FFF2-40B4-BE49-F238E27FC236}">
                <a16:creationId xmlns:a16="http://schemas.microsoft.com/office/drawing/2014/main" id="{B63C1180-4408-4669-B7D8-2C705D3E0CED}"/>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7" name="Rectángulo 6">
            <a:extLst>
              <a:ext uri="{FF2B5EF4-FFF2-40B4-BE49-F238E27FC236}">
                <a16:creationId xmlns:a16="http://schemas.microsoft.com/office/drawing/2014/main" id="{3F2E9854-F4C5-0687-4D18-C0DA63C4A9B8}"/>
              </a:ext>
            </a:extLst>
          </p:cNvPr>
          <p:cNvSpPr/>
          <p:nvPr userDrawn="1"/>
        </p:nvSpPr>
        <p:spPr>
          <a:xfrm>
            <a:off x="11349733" y="1051933"/>
            <a:ext cx="863564" cy="105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8" name="Picture 8">
            <a:extLst>
              <a:ext uri="{FF2B5EF4-FFF2-40B4-BE49-F238E27FC236}">
                <a16:creationId xmlns:a16="http://schemas.microsoft.com/office/drawing/2014/main" id="{5F45EDAC-9217-AD2B-E61E-3EAA3C7BAD46}"/>
              </a:ext>
            </a:extLst>
          </p:cNvPr>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Marca de verificación en blanco y negro Gratis Dibujos Animados  Imágene｜Illustoon ES">
            <a:extLst>
              <a:ext uri="{FF2B5EF4-FFF2-40B4-BE49-F238E27FC236}">
                <a16:creationId xmlns:a16="http://schemas.microsoft.com/office/drawing/2014/main" id="{10AF4D9E-8A60-4136-A9C4-86C2CF65FAF0}"/>
              </a:ext>
            </a:extLst>
          </p:cNvPr>
          <p:cNvPicPr>
            <a:picLocks noChangeAspect="1" noChangeArrowheads="1"/>
          </p:cNvPicPr>
          <p:nvPr userDrawn="1"/>
        </p:nvPicPr>
        <p:blipFill rotWithShape="1">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Bombilla, Bombilla incandescente, Luz eléctrica, Lámpara, Negro, Blanco y  negro, Línea, silueta, ligero, negro, En blanco y negro png | PNGWing">
            <a:extLst>
              <a:ext uri="{FF2B5EF4-FFF2-40B4-BE49-F238E27FC236}">
                <a16:creationId xmlns:a16="http://schemas.microsoft.com/office/drawing/2014/main" id="{C4721AD4-0A99-6619-FE8D-100B47F6E109}"/>
              </a:ext>
            </a:extLst>
          </p:cNvPr>
          <p:cNvPicPr>
            <a:picLocks noChangeAspect="1" noChangeArrowheads="1"/>
          </p:cNvPicPr>
          <p:nvPr userDrawn="1"/>
        </p:nvPicPr>
        <p:blipFill>
          <a:blip r:embed="rId7" cstate="print">
            <a:extLst>
              <a:ext uri="{BEBA8EAE-BF5A-486C-A8C5-ECC9F3942E4B}">
                <a14:imgProps xmlns:a14="http://schemas.microsoft.com/office/drawing/2010/main">
                  <a14:imgLayer r:embed="rId8">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Piezas de rompecabezas en variante blanco y negro - Iconos gratis de">
            <a:extLst>
              <a:ext uri="{FF2B5EF4-FFF2-40B4-BE49-F238E27FC236}">
                <a16:creationId xmlns:a16="http://schemas.microsoft.com/office/drawing/2014/main" id="{D18D9D4D-1F5E-47CA-F904-626181D15B72}"/>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FFC5D09D-33AB-E513-3078-6A315BCB7EAC}"/>
              </a:ext>
            </a:extLst>
          </p:cNvPr>
          <p:cNvPicPr>
            <a:picLocks noChangeAspect="1" noChangeArrowheads="1"/>
          </p:cNvPicPr>
          <p:nvPr userDrawn="1"/>
        </p:nvPicPr>
        <p:blipFill rotWithShape="1">
          <a:blip r:embed="rId10" cstate="print">
            <a:extLst>
              <a:ext uri="{BEBA8EAE-BF5A-486C-A8C5-ECC9F3942E4B}">
                <a14:imgProps xmlns:a14="http://schemas.microsoft.com/office/drawing/2010/main">
                  <a14:imgLayer r:embed="rId11">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Grupo de iconos del equipo trabajo grupo de trabajo, texto, grupo social,  silueta png | PNGWing">
            <a:extLst>
              <a:ext uri="{FF2B5EF4-FFF2-40B4-BE49-F238E27FC236}">
                <a16:creationId xmlns:a16="http://schemas.microsoft.com/office/drawing/2014/main" id="{C4FA21B4-6DDC-8F90-A7E3-23AAC3816DF4}"/>
              </a:ext>
            </a:extLst>
          </p:cNvPr>
          <p:cNvPicPr>
            <a:picLocks noChangeAspect="1" noChangeArrowheads="1"/>
          </p:cNvPicPr>
          <p:nvPr userDrawn="1"/>
        </p:nvPicPr>
        <p:blipFill rotWithShape="1">
          <a:blip r:embed="rId12" cstate="print">
            <a:extLst>
              <a:ext uri="{BEBA8EAE-BF5A-486C-A8C5-ECC9F3942E4B}">
                <a14:imgProps xmlns:a14="http://schemas.microsoft.com/office/drawing/2010/main">
                  <a14:imgLayer r:embed="rId13">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a:extLst>
              <a:ext uri="{FF2B5EF4-FFF2-40B4-BE49-F238E27FC236}">
                <a16:creationId xmlns:a16="http://schemas.microsoft.com/office/drawing/2014/main" id="{39E13929-9F0F-71A6-71F8-793A7C7118A6}"/>
              </a:ext>
            </a:extLst>
          </p:cNvPr>
          <p:cNvPicPr>
            <a:picLocks noChangeAspect="1" noChangeArrowheads="1"/>
          </p:cNvPicPr>
          <p:nvPr userDrawn="1"/>
        </p:nvPicPr>
        <p:blipFill rotWithShape="1">
          <a:blip r:embed="rId14" cstate="print">
            <a:extLst>
              <a:ext uri="{BEBA8EAE-BF5A-486C-A8C5-ECC9F3942E4B}">
                <a14:imgProps xmlns:a14="http://schemas.microsoft.com/office/drawing/2010/main">
                  <a14:imgLayer r:embed="rId15">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39">
            <a:extLst>
              <a:ext uri="{FF2B5EF4-FFF2-40B4-BE49-F238E27FC236}">
                <a16:creationId xmlns:a16="http://schemas.microsoft.com/office/drawing/2014/main" id="{6A17A6BD-78D4-3A47-92FD-A1549CF86C99}"/>
              </a:ext>
            </a:extLst>
          </p:cNvPr>
          <p:cNvSpPr txBox="1"/>
          <p:nvPr userDrawn="1"/>
        </p:nvSpPr>
        <p:spPr>
          <a:xfrm>
            <a:off x="11349734" y="1825823"/>
            <a:ext cx="863563" cy="276999"/>
          </a:xfrm>
          <a:prstGeom prst="rect">
            <a:avLst/>
          </a:prstGeom>
          <a:noFill/>
        </p:spPr>
        <p:txBody>
          <a:bodyPr wrap="square" rtlCol="0">
            <a:spAutoFit/>
          </a:bodyPr>
          <a:lstStyle/>
          <a:p>
            <a:pPr algn="ctr"/>
            <a:r>
              <a:rPr lang="es-PE" sz="1200" b="1" i="1" dirty="0">
                <a:latin typeface="Arial" panose="020B0604020202020204" pitchFamily="34" charset="0"/>
                <a:cs typeface="Arial" panose="020B0604020202020204" pitchFamily="34" charset="0"/>
              </a:rPr>
              <a:t>LOGROS</a:t>
            </a:r>
            <a:endParaRPr lang="es-PE" sz="1400" b="1" i="1" dirty="0">
              <a:latin typeface="Arial" panose="020B0604020202020204" pitchFamily="34" charset="0"/>
              <a:cs typeface="Arial" panose="020B0604020202020204" pitchFamily="34" charset="0"/>
            </a:endParaRPr>
          </a:p>
        </p:txBody>
      </p:sp>
      <p:pic>
        <p:nvPicPr>
          <p:cNvPr id="2" name="Picture 2" descr="Ilustración de Icono De Cese Cierre Conclusión Logotipo Vectorial ...">
            <a:extLst>
              <a:ext uri="{FF2B5EF4-FFF2-40B4-BE49-F238E27FC236}">
                <a16:creationId xmlns:a16="http://schemas.microsoft.com/office/drawing/2014/main" id="{7C51BE66-2F82-50BA-1D76-1FFFAB8F0D12}"/>
              </a:ext>
            </a:extLst>
          </p:cNvPr>
          <p:cNvPicPr>
            <a:picLocks noChangeAspect="1" noChangeArrowheads="1"/>
          </p:cNvPicPr>
          <p:nvPr userDrawn="1"/>
        </p:nvPicPr>
        <p:blipFill rotWithShape="1">
          <a:blip r:embed="rId16" cstate="print">
            <a:extLst>
              <a:ext uri="{BEBA8EAE-BF5A-486C-A8C5-ECC9F3942E4B}">
                <a14:imgProps xmlns:a14="http://schemas.microsoft.com/office/drawing/2010/main">
                  <a14:imgLayer r:embed="rId17">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pic>
        <p:nvPicPr>
          <p:cNvPr id="3" name="bg object 16">
            <a:extLst>
              <a:ext uri="{FF2B5EF4-FFF2-40B4-BE49-F238E27FC236}">
                <a16:creationId xmlns:a16="http://schemas.microsoft.com/office/drawing/2014/main" id="{504E29FB-52C4-103F-85BE-4D74E346BA02}"/>
              </a:ext>
            </a:extLst>
          </p:cNvPr>
          <p:cNvPicPr>
            <a:picLocks noChangeAspect="1"/>
          </p:cNvPicPr>
          <p:nvPr userDrawn="1"/>
        </p:nvPicPr>
        <p:blipFill rotWithShape="1">
          <a:blip r:embed="rId18" cstate="print"/>
          <a:srcRect l="50331" t="76667" b="11111"/>
          <a:stretch/>
        </p:blipFill>
        <p:spPr>
          <a:xfrm>
            <a:off x="4518787" y="6318000"/>
            <a:ext cx="2598874" cy="540000"/>
          </a:xfrm>
          <a:prstGeom prst="rect">
            <a:avLst/>
          </a:prstGeom>
        </p:spPr>
      </p:pic>
      <p:sp>
        <p:nvSpPr>
          <p:cNvPr id="10" name="Marcador de contenido 2">
            <a:extLst>
              <a:ext uri="{FF2B5EF4-FFF2-40B4-BE49-F238E27FC236}">
                <a16:creationId xmlns:a16="http://schemas.microsoft.com/office/drawing/2014/main" id="{1F7ADEBC-526C-909A-359D-715C6FF86FFC}"/>
              </a:ext>
            </a:extLst>
          </p:cNvPr>
          <p:cNvSpPr>
            <a:spLocks noGrp="1"/>
          </p:cNvSpPr>
          <p:nvPr>
            <p:ph idx="1"/>
          </p:nvPr>
        </p:nvSpPr>
        <p:spPr>
          <a:xfrm>
            <a:off x="914400" y="1389055"/>
            <a:ext cx="9525000" cy="4727583"/>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16" name="Marcador de fecha 3">
            <a:extLst>
              <a:ext uri="{FF2B5EF4-FFF2-40B4-BE49-F238E27FC236}">
                <a16:creationId xmlns:a16="http://schemas.microsoft.com/office/drawing/2014/main" id="{6660AD97-7685-8200-4DC6-6A3893333856}"/>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18" name="Marcador de número de diapositiva 5">
            <a:extLst>
              <a:ext uri="{FF2B5EF4-FFF2-40B4-BE49-F238E27FC236}">
                <a16:creationId xmlns:a16="http://schemas.microsoft.com/office/drawing/2014/main" id="{8D37A306-DE74-343E-FDE8-3C3EB97A847C}"/>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6" name="Título 1">
            <a:extLst>
              <a:ext uri="{FF2B5EF4-FFF2-40B4-BE49-F238E27FC236}">
                <a16:creationId xmlns:a16="http://schemas.microsoft.com/office/drawing/2014/main" id="{297CB0DC-E22F-A185-8B35-15E12868296C}"/>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
        <p:nvSpPr>
          <p:cNvPr id="4" name="Rectángulo: esquinas redondeadas 3">
            <a:extLst>
              <a:ext uri="{FF2B5EF4-FFF2-40B4-BE49-F238E27FC236}">
                <a16:creationId xmlns:a16="http://schemas.microsoft.com/office/drawing/2014/main" id="{6B9F9760-702C-B79C-FCF2-6E6484CCC4F1}"/>
              </a:ext>
            </a:extLst>
          </p:cNvPr>
          <p:cNvSpPr/>
          <p:nvPr userDrawn="1"/>
        </p:nvSpPr>
        <p:spPr>
          <a:xfrm>
            <a:off x="11349733" y="1047188"/>
            <a:ext cx="863564" cy="3448611"/>
          </a:xfrm>
          <a:prstGeom prst="roundRect">
            <a:avLst/>
          </a:prstGeom>
          <a:noFill/>
          <a:ln w="76200">
            <a:solidFill>
              <a:srgbClr val="00A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853498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TILIDAD_">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B71EA2DE-AF8D-DE82-E6DE-D3A42E714D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sp>
        <p:nvSpPr>
          <p:cNvPr id="21" name="Rectángulo 20">
            <a:extLst>
              <a:ext uri="{FF2B5EF4-FFF2-40B4-BE49-F238E27FC236}">
                <a16:creationId xmlns:a16="http://schemas.microsoft.com/office/drawing/2014/main" id="{964BACD1-B9BC-7087-9408-CC20D6D8F42F}"/>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2" name="Rectángulo 21">
            <a:extLst>
              <a:ext uri="{FF2B5EF4-FFF2-40B4-BE49-F238E27FC236}">
                <a16:creationId xmlns:a16="http://schemas.microsoft.com/office/drawing/2014/main" id="{77CF3B5A-704C-09C0-CF92-39249AD7244C}"/>
              </a:ext>
            </a:extLst>
          </p:cNvPr>
          <p:cNvSpPr/>
          <p:nvPr userDrawn="1"/>
        </p:nvSpPr>
        <p:spPr>
          <a:xfrm>
            <a:off x="11349733" y="2133600"/>
            <a:ext cx="863564" cy="105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23" name="Picture 8">
            <a:extLst>
              <a:ext uri="{FF2B5EF4-FFF2-40B4-BE49-F238E27FC236}">
                <a16:creationId xmlns:a16="http://schemas.microsoft.com/office/drawing/2014/main" id="{DFAD0A1F-5137-01D4-4E8D-E256245536B8}"/>
              </a:ext>
            </a:extLst>
          </p:cNvPr>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Marca de verificación en blanco y negro Gratis Dibujos Animados  Imágene｜Illustoon ES">
            <a:extLst>
              <a:ext uri="{FF2B5EF4-FFF2-40B4-BE49-F238E27FC236}">
                <a16:creationId xmlns:a16="http://schemas.microsoft.com/office/drawing/2014/main" id="{2C043277-3B0B-C1F0-7590-877627C29EB5}"/>
              </a:ext>
            </a:extLst>
          </p:cNvPr>
          <p:cNvPicPr>
            <a:picLocks noChangeAspect="1" noChangeArrowheads="1"/>
          </p:cNvPicPr>
          <p:nvPr userDrawn="1"/>
        </p:nvPicPr>
        <p:blipFill rotWithShape="1">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Bombilla, Bombilla incandescente, Luz eléctrica, Lámpara, Negro, Blanco y  negro, Línea, silueta, ligero, negro, En blanco y negro png | PNGWing">
            <a:extLst>
              <a:ext uri="{FF2B5EF4-FFF2-40B4-BE49-F238E27FC236}">
                <a16:creationId xmlns:a16="http://schemas.microsoft.com/office/drawing/2014/main" id="{0A44A542-4CDD-AC2F-0B6C-AEB99E3C2F13}"/>
              </a:ext>
            </a:extLst>
          </p:cNvPr>
          <p:cNvPicPr>
            <a:picLocks noChangeAspect="1" noChangeArrowheads="1"/>
          </p:cNvPicPr>
          <p:nvPr userDrawn="1"/>
        </p:nvPicPr>
        <p:blipFill>
          <a:blip r:embed="rId7" cstate="print">
            <a:extLst>
              <a:ext uri="{BEBA8EAE-BF5A-486C-A8C5-ECC9F3942E4B}">
                <a14:imgProps xmlns:a14="http://schemas.microsoft.com/office/drawing/2010/main">
                  <a14:imgLayer r:embed="rId8">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Piezas de rompecabezas en variante blanco y negro - Iconos gratis de">
            <a:extLst>
              <a:ext uri="{FF2B5EF4-FFF2-40B4-BE49-F238E27FC236}">
                <a16:creationId xmlns:a16="http://schemas.microsoft.com/office/drawing/2014/main" id="{A9E85E49-F4BE-1DA0-A596-8C7970C7273A}"/>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BC1AD608-658F-B7DD-79D5-909326A4D992}"/>
              </a:ext>
            </a:extLst>
          </p:cNvPr>
          <p:cNvPicPr>
            <a:picLocks noChangeAspect="1" noChangeArrowheads="1"/>
          </p:cNvPicPr>
          <p:nvPr userDrawn="1"/>
        </p:nvPicPr>
        <p:blipFill rotWithShape="1">
          <a:blip r:embed="rId10" cstate="print">
            <a:extLst>
              <a:ext uri="{BEBA8EAE-BF5A-486C-A8C5-ECC9F3942E4B}">
                <a14:imgProps xmlns:a14="http://schemas.microsoft.com/office/drawing/2010/main">
                  <a14:imgLayer r:embed="rId11">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Grupo de iconos del equipo trabajo grupo de trabajo, texto, grupo social,  silueta png | PNGWing">
            <a:extLst>
              <a:ext uri="{FF2B5EF4-FFF2-40B4-BE49-F238E27FC236}">
                <a16:creationId xmlns:a16="http://schemas.microsoft.com/office/drawing/2014/main" id="{54832530-CB8D-1C73-2E4E-808E6617544F}"/>
              </a:ext>
            </a:extLst>
          </p:cNvPr>
          <p:cNvPicPr>
            <a:picLocks noChangeAspect="1" noChangeArrowheads="1"/>
          </p:cNvPicPr>
          <p:nvPr userDrawn="1"/>
        </p:nvPicPr>
        <p:blipFill rotWithShape="1">
          <a:blip r:embed="rId12" cstate="print">
            <a:extLst>
              <a:ext uri="{BEBA8EAE-BF5A-486C-A8C5-ECC9F3942E4B}">
                <a14:imgProps xmlns:a14="http://schemas.microsoft.com/office/drawing/2010/main">
                  <a14:imgLayer r:embed="rId13">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a:extLst>
              <a:ext uri="{FF2B5EF4-FFF2-40B4-BE49-F238E27FC236}">
                <a16:creationId xmlns:a16="http://schemas.microsoft.com/office/drawing/2014/main" id="{A8564C68-464A-3E9E-2B91-E4A9F3A6738C}"/>
              </a:ext>
            </a:extLst>
          </p:cNvPr>
          <p:cNvPicPr>
            <a:picLocks noChangeAspect="1" noChangeArrowheads="1"/>
          </p:cNvPicPr>
          <p:nvPr userDrawn="1"/>
        </p:nvPicPr>
        <p:blipFill rotWithShape="1">
          <a:blip r:embed="rId14" cstate="print">
            <a:extLst>
              <a:ext uri="{BEBA8EAE-BF5A-486C-A8C5-ECC9F3942E4B}">
                <a14:imgProps xmlns:a14="http://schemas.microsoft.com/office/drawing/2010/main">
                  <a14:imgLayer r:embed="rId15">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39">
            <a:extLst>
              <a:ext uri="{FF2B5EF4-FFF2-40B4-BE49-F238E27FC236}">
                <a16:creationId xmlns:a16="http://schemas.microsoft.com/office/drawing/2014/main" id="{2CE84DB7-FFC5-DF52-2837-0031183DA268}"/>
              </a:ext>
            </a:extLst>
          </p:cNvPr>
          <p:cNvSpPr txBox="1"/>
          <p:nvPr userDrawn="1"/>
        </p:nvSpPr>
        <p:spPr>
          <a:xfrm>
            <a:off x="11342256" y="2907490"/>
            <a:ext cx="895404" cy="276999"/>
          </a:xfrm>
          <a:prstGeom prst="rect">
            <a:avLst/>
          </a:prstGeom>
          <a:noFill/>
        </p:spPr>
        <p:txBody>
          <a:bodyPr wrap="square" rtlCol="0">
            <a:spAutoFit/>
          </a:bodyPr>
          <a:lstStyle/>
          <a:p>
            <a:r>
              <a:rPr lang="es-PE" sz="1200" b="1" i="1" dirty="0">
                <a:latin typeface="Arial" panose="020B0604020202020204" pitchFamily="34" charset="0"/>
                <a:cs typeface="Arial" panose="020B0604020202020204" pitchFamily="34" charset="0"/>
              </a:rPr>
              <a:t>UTILIDAD</a:t>
            </a:r>
            <a:endParaRPr lang="es-PE" sz="1400" b="1" i="1" dirty="0">
              <a:latin typeface="Arial" panose="020B0604020202020204" pitchFamily="34" charset="0"/>
              <a:cs typeface="Arial" panose="020B0604020202020204" pitchFamily="34" charset="0"/>
            </a:endParaRPr>
          </a:p>
        </p:txBody>
      </p:sp>
      <p:pic>
        <p:nvPicPr>
          <p:cNvPr id="2" name="Picture 2" descr="Ilustración de Icono De Cese Cierre Conclusión Logotipo Vectorial ...">
            <a:extLst>
              <a:ext uri="{FF2B5EF4-FFF2-40B4-BE49-F238E27FC236}">
                <a16:creationId xmlns:a16="http://schemas.microsoft.com/office/drawing/2014/main" id="{82902FFA-F416-1968-1CBC-B545C61F8B36}"/>
              </a:ext>
            </a:extLst>
          </p:cNvPr>
          <p:cNvPicPr>
            <a:picLocks noChangeAspect="1" noChangeArrowheads="1"/>
          </p:cNvPicPr>
          <p:nvPr userDrawn="1"/>
        </p:nvPicPr>
        <p:blipFill rotWithShape="1">
          <a:blip r:embed="rId16" cstate="print">
            <a:extLst>
              <a:ext uri="{BEBA8EAE-BF5A-486C-A8C5-ECC9F3942E4B}">
                <a14:imgProps xmlns:a14="http://schemas.microsoft.com/office/drawing/2010/main">
                  <a14:imgLayer r:embed="rId17">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pic>
        <p:nvPicPr>
          <p:cNvPr id="3" name="bg object 16">
            <a:extLst>
              <a:ext uri="{FF2B5EF4-FFF2-40B4-BE49-F238E27FC236}">
                <a16:creationId xmlns:a16="http://schemas.microsoft.com/office/drawing/2014/main" id="{E28B11B6-4775-E9A0-4A91-C810578C657C}"/>
              </a:ext>
            </a:extLst>
          </p:cNvPr>
          <p:cNvPicPr>
            <a:picLocks noChangeAspect="1"/>
          </p:cNvPicPr>
          <p:nvPr userDrawn="1"/>
        </p:nvPicPr>
        <p:blipFill rotWithShape="1">
          <a:blip r:embed="rId18" cstate="print"/>
          <a:srcRect l="50331" t="76667" b="11111"/>
          <a:stretch/>
        </p:blipFill>
        <p:spPr>
          <a:xfrm>
            <a:off x="4518787" y="6318000"/>
            <a:ext cx="2598874" cy="540000"/>
          </a:xfrm>
          <a:prstGeom prst="rect">
            <a:avLst/>
          </a:prstGeom>
        </p:spPr>
      </p:pic>
      <p:sp>
        <p:nvSpPr>
          <p:cNvPr id="7" name="Marcador de contenido 2">
            <a:extLst>
              <a:ext uri="{FF2B5EF4-FFF2-40B4-BE49-F238E27FC236}">
                <a16:creationId xmlns:a16="http://schemas.microsoft.com/office/drawing/2014/main" id="{6B663B13-839D-CDAC-6A6D-C409DD088D88}"/>
              </a:ext>
            </a:extLst>
          </p:cNvPr>
          <p:cNvSpPr>
            <a:spLocks noGrp="1"/>
          </p:cNvSpPr>
          <p:nvPr>
            <p:ph idx="1"/>
          </p:nvPr>
        </p:nvSpPr>
        <p:spPr>
          <a:xfrm>
            <a:off x="914400" y="1389054"/>
            <a:ext cx="9525000" cy="21923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r>
              <a:rPr lang="es-ES" dirty="0"/>
              <a:t>Haga clic para modificar los estilos de texto del patrón</a:t>
            </a:r>
          </a:p>
          <a:p>
            <a:r>
              <a:rPr lang="es-ES" dirty="0"/>
              <a:t>Haga clic para modificar los estilos de texto del patrón</a:t>
            </a:r>
            <a:endParaRPr lang="es-PE" dirty="0"/>
          </a:p>
        </p:txBody>
      </p:sp>
      <p:sp>
        <p:nvSpPr>
          <p:cNvPr id="8" name="Marcador de fecha 3">
            <a:extLst>
              <a:ext uri="{FF2B5EF4-FFF2-40B4-BE49-F238E27FC236}">
                <a16:creationId xmlns:a16="http://schemas.microsoft.com/office/drawing/2014/main" id="{54E5711C-6DFD-4D21-9043-E521CC8A8367}"/>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9" name="Marcador de número de diapositiva 5">
            <a:extLst>
              <a:ext uri="{FF2B5EF4-FFF2-40B4-BE49-F238E27FC236}">
                <a16:creationId xmlns:a16="http://schemas.microsoft.com/office/drawing/2014/main" id="{458C3309-76B7-5E28-F3F8-800452731698}"/>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10" name="Marcador de posición de imagen 2">
            <a:extLst>
              <a:ext uri="{FF2B5EF4-FFF2-40B4-BE49-F238E27FC236}">
                <a16:creationId xmlns:a16="http://schemas.microsoft.com/office/drawing/2014/main" id="{0EDB6A82-2E13-A7E7-9E90-B4BFDFF59551}"/>
              </a:ext>
            </a:extLst>
          </p:cNvPr>
          <p:cNvSpPr>
            <a:spLocks noGrp="1"/>
          </p:cNvSpPr>
          <p:nvPr>
            <p:ph type="pic" idx="10"/>
          </p:nvPr>
        </p:nvSpPr>
        <p:spPr>
          <a:xfrm>
            <a:off x="3164761" y="3788961"/>
            <a:ext cx="5306926" cy="231628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Título 1">
            <a:extLst>
              <a:ext uri="{FF2B5EF4-FFF2-40B4-BE49-F238E27FC236}">
                <a16:creationId xmlns:a16="http://schemas.microsoft.com/office/drawing/2014/main" id="{9490F63A-D19C-1E13-BF6F-18CC8F03F18A}"/>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
        <p:nvSpPr>
          <p:cNvPr id="5" name="Rectángulo: esquinas redondeadas 4">
            <a:extLst>
              <a:ext uri="{FF2B5EF4-FFF2-40B4-BE49-F238E27FC236}">
                <a16:creationId xmlns:a16="http://schemas.microsoft.com/office/drawing/2014/main" id="{869459A4-EDB7-F961-70EC-AB3A99E97312}"/>
              </a:ext>
            </a:extLst>
          </p:cNvPr>
          <p:cNvSpPr/>
          <p:nvPr userDrawn="1"/>
        </p:nvSpPr>
        <p:spPr>
          <a:xfrm>
            <a:off x="11349733" y="1047188"/>
            <a:ext cx="863564" cy="3448611"/>
          </a:xfrm>
          <a:prstGeom prst="roundRect">
            <a:avLst/>
          </a:prstGeom>
          <a:noFill/>
          <a:ln w="76200">
            <a:solidFill>
              <a:srgbClr val="00A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2156739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BERES">
    <p:spTree>
      <p:nvGrpSpPr>
        <p:cNvPr id="1" name=""/>
        <p:cNvGrpSpPr/>
        <p:nvPr/>
      </p:nvGrpSpPr>
      <p:grpSpPr>
        <a:xfrm>
          <a:off x="0" y="0"/>
          <a:ext cx="0" cy="0"/>
          <a:chOff x="0" y="0"/>
          <a:chExt cx="0" cy="0"/>
        </a:xfrm>
      </p:grpSpPr>
      <p:pic>
        <p:nvPicPr>
          <p:cNvPr id="27" name="Imagen 26">
            <a:extLst>
              <a:ext uri="{FF2B5EF4-FFF2-40B4-BE49-F238E27FC236}">
                <a16:creationId xmlns:a16="http://schemas.microsoft.com/office/drawing/2014/main" id="{78976DD2-6490-1A98-4C77-699BC2385D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pic>
        <p:nvPicPr>
          <p:cNvPr id="13" name="bg object 16">
            <a:extLst>
              <a:ext uri="{FF2B5EF4-FFF2-40B4-BE49-F238E27FC236}">
                <a16:creationId xmlns:a16="http://schemas.microsoft.com/office/drawing/2014/main" id="{4A958BBF-AF54-42EF-9942-F0AB911197B3}"/>
              </a:ext>
            </a:extLst>
          </p:cNvPr>
          <p:cNvPicPr>
            <a:picLocks noChangeAspect="1"/>
          </p:cNvPicPr>
          <p:nvPr userDrawn="1"/>
        </p:nvPicPr>
        <p:blipFill rotWithShape="1">
          <a:blip r:embed="rId3" cstate="print"/>
          <a:srcRect l="50331" t="76667" b="11111"/>
          <a:stretch/>
        </p:blipFill>
        <p:spPr>
          <a:xfrm>
            <a:off x="4518787" y="6318000"/>
            <a:ext cx="2598874" cy="540000"/>
          </a:xfrm>
          <a:prstGeom prst="rect">
            <a:avLst/>
          </a:prstGeom>
        </p:spPr>
      </p:pic>
      <p:sp>
        <p:nvSpPr>
          <p:cNvPr id="7" name="Rectángulo 6">
            <a:extLst>
              <a:ext uri="{FF2B5EF4-FFF2-40B4-BE49-F238E27FC236}">
                <a16:creationId xmlns:a16="http://schemas.microsoft.com/office/drawing/2014/main" id="{90C5E238-D02B-5E3C-AB04-4DF8387DF70C}"/>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8" name="Rectángulo 7">
            <a:extLst>
              <a:ext uri="{FF2B5EF4-FFF2-40B4-BE49-F238E27FC236}">
                <a16:creationId xmlns:a16="http://schemas.microsoft.com/office/drawing/2014/main" id="{F572675C-AAFA-1549-B208-DC67E2B1DF71}"/>
              </a:ext>
            </a:extLst>
          </p:cNvPr>
          <p:cNvSpPr/>
          <p:nvPr userDrawn="1"/>
        </p:nvSpPr>
        <p:spPr>
          <a:xfrm>
            <a:off x="11349733" y="3414133"/>
            <a:ext cx="863564" cy="105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10" name="Picture 8">
            <a:extLst>
              <a:ext uri="{FF2B5EF4-FFF2-40B4-BE49-F238E27FC236}">
                <a16:creationId xmlns:a16="http://schemas.microsoft.com/office/drawing/2014/main" id="{BE9CE0C0-D841-0490-02E7-16C040D3AFCC}"/>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Marca de verificación en blanco y negro Gratis Dibujos Animados  Imágene｜Illustoon ES">
            <a:extLst>
              <a:ext uri="{FF2B5EF4-FFF2-40B4-BE49-F238E27FC236}">
                <a16:creationId xmlns:a16="http://schemas.microsoft.com/office/drawing/2014/main" id="{93834D8D-C489-84C6-A18F-6A69114BC625}"/>
              </a:ext>
            </a:extLst>
          </p:cNvPr>
          <p:cNvPicPr>
            <a:picLocks noChangeAspect="1" noChangeArrowheads="1"/>
          </p:cNvPicPr>
          <p:nvPr userDrawn="1"/>
        </p:nvPicPr>
        <p:blipFill rotWithShape="1">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Bombilla, Bombilla incandescente, Luz eléctrica, Lámpara, Negro, Blanco y  negro, Línea, silueta, ligero, negro, En blanco y negro png | PNGWing">
            <a:extLst>
              <a:ext uri="{FF2B5EF4-FFF2-40B4-BE49-F238E27FC236}">
                <a16:creationId xmlns:a16="http://schemas.microsoft.com/office/drawing/2014/main" id="{15AF2559-2FF2-D9F9-0515-0C86BAC53E2A}"/>
              </a:ext>
            </a:extLst>
          </p:cNvPr>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Piezas de rompecabezas en variante blanco y negro - Iconos gratis de">
            <a:extLst>
              <a:ext uri="{FF2B5EF4-FFF2-40B4-BE49-F238E27FC236}">
                <a16:creationId xmlns:a16="http://schemas.microsoft.com/office/drawing/2014/main" id="{3946312D-BC2C-2F17-C8A6-4D503D5B2EAC}"/>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B043BA98-2044-E217-45C8-95096E267C4F}"/>
              </a:ext>
            </a:extLst>
          </p:cNvPr>
          <p:cNvPicPr>
            <a:picLocks noChangeAspect="1" noChangeArrowheads="1"/>
          </p:cNvPicPr>
          <p:nvPr userDrawn="1"/>
        </p:nvPicPr>
        <p:blipFill rotWithShape="1">
          <a:blip r:embed="rId11" cstate="print">
            <a:extLst>
              <a:ext uri="{BEBA8EAE-BF5A-486C-A8C5-ECC9F3942E4B}">
                <a14:imgProps xmlns:a14="http://schemas.microsoft.com/office/drawing/2010/main">
                  <a14:imgLayer r:embed="rId12">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Grupo de iconos del equipo trabajo grupo de trabajo, texto, grupo social,  silueta png | PNGWing">
            <a:extLst>
              <a:ext uri="{FF2B5EF4-FFF2-40B4-BE49-F238E27FC236}">
                <a16:creationId xmlns:a16="http://schemas.microsoft.com/office/drawing/2014/main" id="{538AA17D-BA9A-08C4-C224-5FF2809372FC}"/>
              </a:ext>
            </a:extLst>
          </p:cNvPr>
          <p:cNvPicPr>
            <a:picLocks noChangeAspect="1" noChangeArrowheads="1"/>
          </p:cNvPicPr>
          <p:nvPr userDrawn="1"/>
        </p:nvPicPr>
        <p:blipFill rotWithShape="1">
          <a:blip r:embed="rId13" cstate="print">
            <a:extLst>
              <a:ext uri="{BEBA8EAE-BF5A-486C-A8C5-ECC9F3942E4B}">
                <a14:imgProps xmlns:a14="http://schemas.microsoft.com/office/drawing/2010/main">
                  <a14:imgLayer r:embed="rId14">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a:extLst>
              <a:ext uri="{FF2B5EF4-FFF2-40B4-BE49-F238E27FC236}">
                <a16:creationId xmlns:a16="http://schemas.microsoft.com/office/drawing/2014/main" id="{E25C6D5E-6C58-B416-446E-A9AA1D56881B}"/>
              </a:ext>
            </a:extLst>
          </p:cNvPr>
          <p:cNvPicPr>
            <a:picLocks noChangeAspect="1" noChangeArrowheads="1"/>
          </p:cNvPicPr>
          <p:nvPr userDrawn="1"/>
        </p:nvPicPr>
        <p:blipFill rotWithShape="1">
          <a:blip r:embed="rId15" cstate="print">
            <a:extLst>
              <a:ext uri="{BEBA8EAE-BF5A-486C-A8C5-ECC9F3942E4B}">
                <a14:imgProps xmlns:a14="http://schemas.microsoft.com/office/drawing/2010/main">
                  <a14:imgLayer r:embed="rId16">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22" name="CuadroTexto 21">
            <a:extLst>
              <a:ext uri="{FF2B5EF4-FFF2-40B4-BE49-F238E27FC236}">
                <a16:creationId xmlns:a16="http://schemas.microsoft.com/office/drawing/2014/main" id="{7384297B-AB5D-9104-C1C7-EB44607C37D5}"/>
              </a:ext>
            </a:extLst>
          </p:cNvPr>
          <p:cNvSpPr txBox="1"/>
          <p:nvPr userDrawn="1"/>
        </p:nvSpPr>
        <p:spPr>
          <a:xfrm>
            <a:off x="11326556" y="4186771"/>
            <a:ext cx="1166529" cy="276999"/>
          </a:xfrm>
          <a:prstGeom prst="rect">
            <a:avLst/>
          </a:prstGeom>
          <a:noFill/>
        </p:spPr>
        <p:txBody>
          <a:bodyPr wrap="square" rtlCol="0">
            <a:spAutoFit/>
          </a:bodyPr>
          <a:lstStyle/>
          <a:p>
            <a:r>
              <a:rPr lang="es-PE" sz="1200" b="1" i="1" dirty="0">
                <a:latin typeface="Arial" panose="020B0604020202020204" pitchFamily="34" charset="0"/>
                <a:cs typeface="Arial" panose="020B0604020202020204" pitchFamily="34" charset="0"/>
              </a:rPr>
              <a:t>SABERES</a:t>
            </a:r>
            <a:endParaRPr lang="es-PE" sz="1400" b="1" i="1" dirty="0">
              <a:latin typeface="Arial" panose="020B0604020202020204" pitchFamily="34" charset="0"/>
              <a:cs typeface="Arial" panose="020B0604020202020204" pitchFamily="34" charset="0"/>
            </a:endParaRPr>
          </a:p>
        </p:txBody>
      </p:sp>
      <p:pic>
        <p:nvPicPr>
          <p:cNvPr id="2" name="Picture 2" descr="Ilustración de Icono De Cese Cierre Conclusión Logotipo Vectorial ...">
            <a:extLst>
              <a:ext uri="{FF2B5EF4-FFF2-40B4-BE49-F238E27FC236}">
                <a16:creationId xmlns:a16="http://schemas.microsoft.com/office/drawing/2014/main" id="{45C9A3BE-9CEA-94FA-CEF3-692C771C99B1}"/>
              </a:ext>
            </a:extLst>
          </p:cNvPr>
          <p:cNvPicPr>
            <a:picLocks noChangeAspect="1" noChangeArrowheads="1"/>
          </p:cNvPicPr>
          <p:nvPr userDrawn="1"/>
        </p:nvPicPr>
        <p:blipFill rotWithShape="1">
          <a:blip r:embed="rId17" cstate="print">
            <a:extLst>
              <a:ext uri="{BEBA8EAE-BF5A-486C-A8C5-ECC9F3942E4B}">
                <a14:imgProps xmlns:a14="http://schemas.microsoft.com/office/drawing/2010/main">
                  <a14:imgLayer r:embed="rId18">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2">
            <a:extLst>
              <a:ext uri="{FF2B5EF4-FFF2-40B4-BE49-F238E27FC236}">
                <a16:creationId xmlns:a16="http://schemas.microsoft.com/office/drawing/2014/main" id="{42CE5D56-13EA-6569-762A-14D9A58F6BD7}"/>
              </a:ext>
            </a:extLst>
          </p:cNvPr>
          <p:cNvSpPr>
            <a:spLocks noGrp="1"/>
          </p:cNvSpPr>
          <p:nvPr>
            <p:ph idx="1"/>
          </p:nvPr>
        </p:nvSpPr>
        <p:spPr>
          <a:xfrm>
            <a:off x="914400" y="1389055"/>
            <a:ext cx="9525000" cy="4727583"/>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9" name="Marcador de fecha 3">
            <a:extLst>
              <a:ext uri="{FF2B5EF4-FFF2-40B4-BE49-F238E27FC236}">
                <a16:creationId xmlns:a16="http://schemas.microsoft.com/office/drawing/2014/main" id="{BAE8BBD7-04CB-CEF4-108F-4CCDCF6893A0}"/>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16" name="Marcador de número de diapositiva 5">
            <a:extLst>
              <a:ext uri="{FF2B5EF4-FFF2-40B4-BE49-F238E27FC236}">
                <a16:creationId xmlns:a16="http://schemas.microsoft.com/office/drawing/2014/main" id="{FD51DB9E-8482-DE69-14E5-280B79A92592}"/>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4" name="Título 1">
            <a:extLst>
              <a:ext uri="{FF2B5EF4-FFF2-40B4-BE49-F238E27FC236}">
                <a16:creationId xmlns:a16="http://schemas.microsoft.com/office/drawing/2014/main" id="{0D4D80F2-DFD0-D6E2-61B4-060CCBBC409E}"/>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
        <p:nvSpPr>
          <p:cNvPr id="3" name="Rectángulo: esquinas redondeadas 2">
            <a:extLst>
              <a:ext uri="{FF2B5EF4-FFF2-40B4-BE49-F238E27FC236}">
                <a16:creationId xmlns:a16="http://schemas.microsoft.com/office/drawing/2014/main" id="{8548B2D7-7ED2-9F40-589C-DBDC73CC6286}"/>
              </a:ext>
            </a:extLst>
          </p:cNvPr>
          <p:cNvSpPr/>
          <p:nvPr userDrawn="1"/>
        </p:nvSpPr>
        <p:spPr>
          <a:xfrm>
            <a:off x="11349733" y="1047188"/>
            <a:ext cx="863564" cy="3448611"/>
          </a:xfrm>
          <a:prstGeom prst="roundRect">
            <a:avLst/>
          </a:prstGeom>
          <a:noFill/>
          <a:ln w="76200">
            <a:solidFill>
              <a:srgbClr val="00A8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516317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ANSFORMACION">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DF3D0E70-AB08-E016-86AE-6E8350DC1EF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pic>
        <p:nvPicPr>
          <p:cNvPr id="13" name="bg object 16">
            <a:extLst>
              <a:ext uri="{FF2B5EF4-FFF2-40B4-BE49-F238E27FC236}">
                <a16:creationId xmlns:a16="http://schemas.microsoft.com/office/drawing/2014/main" id="{4A958BBF-AF54-42EF-9942-F0AB911197B3}"/>
              </a:ext>
            </a:extLst>
          </p:cNvPr>
          <p:cNvPicPr>
            <a:picLocks noChangeAspect="1"/>
          </p:cNvPicPr>
          <p:nvPr userDrawn="1"/>
        </p:nvPicPr>
        <p:blipFill rotWithShape="1">
          <a:blip r:embed="rId3" cstate="print"/>
          <a:srcRect l="50331" t="76667" b="11111"/>
          <a:stretch/>
        </p:blipFill>
        <p:spPr>
          <a:xfrm>
            <a:off x="4518787" y="6318000"/>
            <a:ext cx="2598874" cy="540000"/>
          </a:xfrm>
          <a:prstGeom prst="rect">
            <a:avLst/>
          </a:prstGeom>
        </p:spPr>
      </p:pic>
      <p:sp>
        <p:nvSpPr>
          <p:cNvPr id="22" name="Rectángulo 21">
            <a:extLst>
              <a:ext uri="{FF2B5EF4-FFF2-40B4-BE49-F238E27FC236}">
                <a16:creationId xmlns:a16="http://schemas.microsoft.com/office/drawing/2014/main" id="{66D8FE5E-0BE4-6220-20D7-A52C11F72D45}"/>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3" name="Rectángulo 22">
            <a:extLst>
              <a:ext uri="{FF2B5EF4-FFF2-40B4-BE49-F238E27FC236}">
                <a16:creationId xmlns:a16="http://schemas.microsoft.com/office/drawing/2014/main" id="{CA998CFD-EB67-629F-11AC-1120E5B69A57}"/>
              </a:ext>
            </a:extLst>
          </p:cNvPr>
          <p:cNvSpPr/>
          <p:nvPr userDrawn="1"/>
        </p:nvSpPr>
        <p:spPr>
          <a:xfrm>
            <a:off x="11349733" y="4267200"/>
            <a:ext cx="863564" cy="105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25" name="Picture 8">
            <a:extLst>
              <a:ext uri="{FF2B5EF4-FFF2-40B4-BE49-F238E27FC236}">
                <a16:creationId xmlns:a16="http://schemas.microsoft.com/office/drawing/2014/main" id="{C5E1DF90-30F4-06B4-0E12-EAD2C461E626}"/>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Marca de verificación en blanco y negro Gratis Dibujos Animados  Imágene｜Illustoon ES">
            <a:extLst>
              <a:ext uri="{FF2B5EF4-FFF2-40B4-BE49-F238E27FC236}">
                <a16:creationId xmlns:a16="http://schemas.microsoft.com/office/drawing/2014/main" id="{FB612E47-FB04-E290-D57A-7A249830547D}"/>
              </a:ext>
            </a:extLst>
          </p:cNvPr>
          <p:cNvPicPr>
            <a:picLocks noChangeAspect="1" noChangeArrowheads="1"/>
          </p:cNvPicPr>
          <p:nvPr userDrawn="1"/>
        </p:nvPicPr>
        <p:blipFill rotWithShape="1">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2" descr="Bombilla, Bombilla incandescente, Luz eléctrica, Lámpara, Negro, Blanco y  negro, Línea, silueta, ligero, negro, En blanco y negro png | PNGWing">
            <a:extLst>
              <a:ext uri="{FF2B5EF4-FFF2-40B4-BE49-F238E27FC236}">
                <a16:creationId xmlns:a16="http://schemas.microsoft.com/office/drawing/2014/main" id="{A8406A99-F8F4-36CD-6B14-1785246D0A3E}"/>
              </a:ext>
            </a:extLst>
          </p:cNvPr>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Piezas de rompecabezas en variante blanco y negro - Iconos gratis de">
            <a:extLst>
              <a:ext uri="{FF2B5EF4-FFF2-40B4-BE49-F238E27FC236}">
                <a16:creationId xmlns:a16="http://schemas.microsoft.com/office/drawing/2014/main" id="{7AA0CACD-0E08-7690-E8AB-6219B9000551}"/>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6FEA18BD-3D96-D714-0793-C2A751A5937D}"/>
              </a:ext>
            </a:extLst>
          </p:cNvPr>
          <p:cNvPicPr>
            <a:picLocks noChangeAspect="1" noChangeArrowheads="1"/>
          </p:cNvPicPr>
          <p:nvPr userDrawn="1"/>
        </p:nvPicPr>
        <p:blipFill rotWithShape="1">
          <a:blip r:embed="rId11" cstate="print">
            <a:extLst>
              <a:ext uri="{BEBA8EAE-BF5A-486C-A8C5-ECC9F3942E4B}">
                <a14:imgProps xmlns:a14="http://schemas.microsoft.com/office/drawing/2010/main">
                  <a14:imgLayer r:embed="rId12">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Grupo de iconos del equipo trabajo grupo de trabajo, texto, grupo social,  silueta png | PNGWing">
            <a:extLst>
              <a:ext uri="{FF2B5EF4-FFF2-40B4-BE49-F238E27FC236}">
                <a16:creationId xmlns:a16="http://schemas.microsoft.com/office/drawing/2014/main" id="{A4F378DA-989D-5181-C5DC-57DF469D6C82}"/>
              </a:ext>
            </a:extLst>
          </p:cNvPr>
          <p:cNvPicPr>
            <a:picLocks noChangeAspect="1" noChangeArrowheads="1"/>
          </p:cNvPicPr>
          <p:nvPr userDrawn="1"/>
        </p:nvPicPr>
        <p:blipFill rotWithShape="1">
          <a:blip r:embed="rId13" cstate="print">
            <a:extLst>
              <a:ext uri="{BEBA8EAE-BF5A-486C-A8C5-ECC9F3942E4B}">
                <a14:imgProps xmlns:a14="http://schemas.microsoft.com/office/drawing/2010/main">
                  <a14:imgLayer r:embed="rId14">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a:extLst>
              <a:ext uri="{FF2B5EF4-FFF2-40B4-BE49-F238E27FC236}">
                <a16:creationId xmlns:a16="http://schemas.microsoft.com/office/drawing/2014/main" id="{7A69B007-F9B1-A8A6-F2E0-FB416F727E45}"/>
              </a:ext>
            </a:extLst>
          </p:cNvPr>
          <p:cNvPicPr>
            <a:picLocks noChangeAspect="1" noChangeArrowheads="1"/>
          </p:cNvPicPr>
          <p:nvPr userDrawn="1"/>
        </p:nvPicPr>
        <p:blipFill rotWithShape="1">
          <a:blip r:embed="rId15" cstate="print">
            <a:extLst>
              <a:ext uri="{BEBA8EAE-BF5A-486C-A8C5-ECC9F3942E4B}">
                <a14:imgProps xmlns:a14="http://schemas.microsoft.com/office/drawing/2010/main">
                  <a14:imgLayer r:embed="rId16">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40" name="CuadroTexto 39">
            <a:extLst>
              <a:ext uri="{FF2B5EF4-FFF2-40B4-BE49-F238E27FC236}">
                <a16:creationId xmlns:a16="http://schemas.microsoft.com/office/drawing/2014/main" id="{96EAC5CB-DE09-459A-D893-D45306B4EA6A}"/>
              </a:ext>
            </a:extLst>
          </p:cNvPr>
          <p:cNvSpPr txBox="1"/>
          <p:nvPr userDrawn="1"/>
        </p:nvSpPr>
        <p:spPr>
          <a:xfrm>
            <a:off x="11342255" y="5052597"/>
            <a:ext cx="959206" cy="307777"/>
          </a:xfrm>
          <a:prstGeom prst="rect">
            <a:avLst/>
          </a:prstGeom>
          <a:noFill/>
        </p:spPr>
        <p:txBody>
          <a:bodyPr wrap="square" rtlCol="0">
            <a:spAutoFit/>
          </a:bodyPr>
          <a:lstStyle/>
          <a:p>
            <a:r>
              <a:rPr lang="es-PE" sz="1400" b="1" i="1" dirty="0" err="1">
                <a:latin typeface="Arial" panose="020B0604020202020204" pitchFamily="34" charset="0"/>
                <a:cs typeface="Arial" panose="020B0604020202020204" pitchFamily="34" charset="0"/>
              </a:rPr>
              <a:t>TRANSF</a:t>
            </a:r>
            <a:endParaRPr lang="es-PE" sz="1400" b="1" i="1" dirty="0">
              <a:latin typeface="Arial" panose="020B0604020202020204" pitchFamily="34" charset="0"/>
              <a:cs typeface="Arial" panose="020B0604020202020204" pitchFamily="34" charset="0"/>
            </a:endParaRPr>
          </a:p>
        </p:txBody>
      </p:sp>
      <p:pic>
        <p:nvPicPr>
          <p:cNvPr id="2" name="Picture 2" descr="Ilustración de Icono De Cese Cierre Conclusión Logotipo Vectorial ...">
            <a:extLst>
              <a:ext uri="{FF2B5EF4-FFF2-40B4-BE49-F238E27FC236}">
                <a16:creationId xmlns:a16="http://schemas.microsoft.com/office/drawing/2014/main" id="{B81451FC-5229-86FA-A3A5-E94C5417312C}"/>
              </a:ext>
            </a:extLst>
          </p:cNvPr>
          <p:cNvPicPr>
            <a:picLocks noChangeAspect="1" noChangeArrowheads="1"/>
          </p:cNvPicPr>
          <p:nvPr userDrawn="1"/>
        </p:nvPicPr>
        <p:blipFill rotWithShape="1">
          <a:blip r:embed="rId17" cstate="print">
            <a:extLst>
              <a:ext uri="{BEBA8EAE-BF5A-486C-A8C5-ECC9F3942E4B}">
                <a14:imgProps xmlns:a14="http://schemas.microsoft.com/office/drawing/2010/main">
                  <a14:imgLayer r:embed="rId18">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7F0DACF7-9F27-DD79-5A66-C1A96E4319FA}"/>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
        <p:nvSpPr>
          <p:cNvPr id="5" name="Marcador de contenido 2">
            <a:extLst>
              <a:ext uri="{FF2B5EF4-FFF2-40B4-BE49-F238E27FC236}">
                <a16:creationId xmlns:a16="http://schemas.microsoft.com/office/drawing/2014/main" id="{811AADAF-9512-01E7-B76B-FA8896C61ED1}"/>
              </a:ext>
            </a:extLst>
          </p:cNvPr>
          <p:cNvSpPr>
            <a:spLocks noGrp="1"/>
          </p:cNvSpPr>
          <p:nvPr>
            <p:ph idx="1"/>
          </p:nvPr>
        </p:nvSpPr>
        <p:spPr>
          <a:xfrm>
            <a:off x="914400" y="1389055"/>
            <a:ext cx="9525000" cy="4727583"/>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7" name="Marcador de fecha 3">
            <a:extLst>
              <a:ext uri="{FF2B5EF4-FFF2-40B4-BE49-F238E27FC236}">
                <a16:creationId xmlns:a16="http://schemas.microsoft.com/office/drawing/2014/main" id="{CA150DD3-2A73-C2AF-02E5-78FEBECE13A3}"/>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8" name="Marcador de número de diapositiva 5">
            <a:extLst>
              <a:ext uri="{FF2B5EF4-FFF2-40B4-BE49-F238E27FC236}">
                <a16:creationId xmlns:a16="http://schemas.microsoft.com/office/drawing/2014/main" id="{515D26F2-B5A2-FE51-8E14-5F5EA0BA3A76}"/>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4" name="Rectángulo: esquinas redondeadas 3">
            <a:extLst>
              <a:ext uri="{FF2B5EF4-FFF2-40B4-BE49-F238E27FC236}">
                <a16:creationId xmlns:a16="http://schemas.microsoft.com/office/drawing/2014/main" id="{E37330D7-525E-B9F0-81AF-18BD28CC96E4}"/>
              </a:ext>
            </a:extLst>
          </p:cNvPr>
          <p:cNvSpPr/>
          <p:nvPr userDrawn="1"/>
        </p:nvSpPr>
        <p:spPr>
          <a:xfrm>
            <a:off x="11349733" y="4267201"/>
            <a:ext cx="863564" cy="1088732"/>
          </a:xfrm>
          <a:prstGeom prst="roundRect">
            <a:avLst/>
          </a:prstGeom>
          <a:noFill/>
          <a:ln w="7620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067939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ANSFORMACION PRACTICA">
    <p:spTree>
      <p:nvGrpSpPr>
        <p:cNvPr id="1" name=""/>
        <p:cNvGrpSpPr/>
        <p:nvPr/>
      </p:nvGrpSpPr>
      <p:grpSpPr>
        <a:xfrm>
          <a:off x="0" y="0"/>
          <a:ext cx="0" cy="0"/>
          <a:chOff x="0" y="0"/>
          <a:chExt cx="0" cy="0"/>
        </a:xfrm>
      </p:grpSpPr>
      <p:pic>
        <p:nvPicPr>
          <p:cNvPr id="23" name="Imagen 22">
            <a:extLst>
              <a:ext uri="{FF2B5EF4-FFF2-40B4-BE49-F238E27FC236}">
                <a16:creationId xmlns:a16="http://schemas.microsoft.com/office/drawing/2014/main" id="{7CB7C3D8-55D3-7601-B945-29FF1EA75CD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pic>
        <p:nvPicPr>
          <p:cNvPr id="13" name="bg object 16">
            <a:extLst>
              <a:ext uri="{FF2B5EF4-FFF2-40B4-BE49-F238E27FC236}">
                <a16:creationId xmlns:a16="http://schemas.microsoft.com/office/drawing/2014/main" id="{4A958BBF-AF54-42EF-9942-F0AB911197B3}"/>
              </a:ext>
            </a:extLst>
          </p:cNvPr>
          <p:cNvPicPr>
            <a:picLocks noChangeAspect="1"/>
          </p:cNvPicPr>
          <p:nvPr userDrawn="1"/>
        </p:nvPicPr>
        <p:blipFill rotWithShape="1">
          <a:blip r:embed="rId3" cstate="print"/>
          <a:srcRect l="50331" t="76667" b="11111"/>
          <a:stretch/>
        </p:blipFill>
        <p:spPr>
          <a:xfrm>
            <a:off x="4518787" y="6318000"/>
            <a:ext cx="2598874" cy="540000"/>
          </a:xfrm>
          <a:prstGeom prst="rect">
            <a:avLst/>
          </a:prstGeom>
        </p:spPr>
      </p:pic>
      <p:sp>
        <p:nvSpPr>
          <p:cNvPr id="26" name="Rectángulo 25">
            <a:extLst>
              <a:ext uri="{FF2B5EF4-FFF2-40B4-BE49-F238E27FC236}">
                <a16:creationId xmlns:a16="http://schemas.microsoft.com/office/drawing/2014/main" id="{CDA52E8F-6193-E3EA-4F00-2188F9A5E885}"/>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31" name="Picture 8">
            <a:extLst>
              <a:ext uri="{FF2B5EF4-FFF2-40B4-BE49-F238E27FC236}">
                <a16:creationId xmlns:a16="http://schemas.microsoft.com/office/drawing/2014/main" id="{3DD5A69F-C36E-3377-5F81-4678D6C7C53D}"/>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Marca de verificación en blanco y negro Gratis Dibujos Animados  Imágene｜Illustoon ES">
            <a:extLst>
              <a:ext uri="{FF2B5EF4-FFF2-40B4-BE49-F238E27FC236}">
                <a16:creationId xmlns:a16="http://schemas.microsoft.com/office/drawing/2014/main" id="{A582C456-7463-946D-8AEF-5C883574B02A}"/>
              </a:ext>
            </a:extLst>
          </p:cNvPr>
          <p:cNvPicPr>
            <a:picLocks noChangeAspect="1" noChangeArrowheads="1"/>
          </p:cNvPicPr>
          <p:nvPr userDrawn="1"/>
        </p:nvPicPr>
        <p:blipFill rotWithShape="1">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Bombilla, Bombilla incandescente, Luz eléctrica, Lámpara, Negro, Blanco y  negro, Línea, silueta, ligero, negro, En blanco y negro png | PNGWing">
            <a:extLst>
              <a:ext uri="{FF2B5EF4-FFF2-40B4-BE49-F238E27FC236}">
                <a16:creationId xmlns:a16="http://schemas.microsoft.com/office/drawing/2014/main" id="{DC08C414-520C-AB05-C735-FCDB45954BCD}"/>
              </a:ext>
            </a:extLst>
          </p:cNvPr>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Piezas de rompecabezas en variante blanco y negro - Iconos gratis de">
            <a:extLst>
              <a:ext uri="{FF2B5EF4-FFF2-40B4-BE49-F238E27FC236}">
                <a16:creationId xmlns:a16="http://schemas.microsoft.com/office/drawing/2014/main" id="{0058D272-FF78-FA3D-1FFE-FD52BF915086}"/>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a:extLst>
              <a:ext uri="{FF2B5EF4-FFF2-40B4-BE49-F238E27FC236}">
                <a16:creationId xmlns:a16="http://schemas.microsoft.com/office/drawing/2014/main" id="{354E8B6B-894A-4025-260C-AE3BB633730D}"/>
              </a:ext>
            </a:extLst>
          </p:cNvPr>
          <p:cNvPicPr>
            <a:picLocks noChangeAspect="1" noChangeArrowheads="1"/>
          </p:cNvPicPr>
          <p:nvPr userDrawn="1"/>
        </p:nvPicPr>
        <p:blipFill rotWithShape="1">
          <a:blip r:embed="rId11" cstate="print">
            <a:extLst>
              <a:ext uri="{BEBA8EAE-BF5A-486C-A8C5-ECC9F3942E4B}">
                <a14:imgProps xmlns:a14="http://schemas.microsoft.com/office/drawing/2010/main">
                  <a14:imgLayer r:embed="rId12">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Ilustración de Icono De Cese Cierre Conclusión Logotipo Vectorial ...">
            <a:extLst>
              <a:ext uri="{FF2B5EF4-FFF2-40B4-BE49-F238E27FC236}">
                <a16:creationId xmlns:a16="http://schemas.microsoft.com/office/drawing/2014/main" id="{1875088F-0053-852B-1ED2-89DCD3E0F785}"/>
              </a:ext>
            </a:extLst>
          </p:cNvPr>
          <p:cNvPicPr>
            <a:picLocks noChangeAspect="1" noChangeArrowheads="1"/>
          </p:cNvPicPr>
          <p:nvPr userDrawn="1"/>
        </p:nvPicPr>
        <p:blipFill rotWithShape="1">
          <a:blip r:embed="rId13" cstate="print">
            <a:extLst>
              <a:ext uri="{BEBA8EAE-BF5A-486C-A8C5-ECC9F3942E4B}">
                <a14:imgProps xmlns:a14="http://schemas.microsoft.com/office/drawing/2010/main">
                  <a14:imgLayer r:embed="rId14">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2">
            <a:extLst>
              <a:ext uri="{FF2B5EF4-FFF2-40B4-BE49-F238E27FC236}">
                <a16:creationId xmlns:a16="http://schemas.microsoft.com/office/drawing/2014/main" id="{A9CB2844-3F5E-A9A9-C635-716CA1E2A9BF}"/>
              </a:ext>
            </a:extLst>
          </p:cNvPr>
          <p:cNvSpPr>
            <a:spLocks noGrp="1"/>
          </p:cNvSpPr>
          <p:nvPr>
            <p:ph idx="1"/>
          </p:nvPr>
        </p:nvSpPr>
        <p:spPr>
          <a:xfrm>
            <a:off x="4518787" y="1316442"/>
            <a:ext cx="5920614" cy="1731558"/>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endParaRPr lang="es-PE" dirty="0"/>
          </a:p>
        </p:txBody>
      </p:sp>
      <p:sp>
        <p:nvSpPr>
          <p:cNvPr id="7" name="Marcador de fecha 3">
            <a:extLst>
              <a:ext uri="{FF2B5EF4-FFF2-40B4-BE49-F238E27FC236}">
                <a16:creationId xmlns:a16="http://schemas.microsoft.com/office/drawing/2014/main" id="{D5E28F44-D4EC-6A8D-0F81-A400FF3DCACF}"/>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8" name="Marcador de número de diapositiva 5">
            <a:extLst>
              <a:ext uri="{FF2B5EF4-FFF2-40B4-BE49-F238E27FC236}">
                <a16:creationId xmlns:a16="http://schemas.microsoft.com/office/drawing/2014/main" id="{B0E5138A-F5A9-C2DC-235F-3EB9D552E858}"/>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9" name="Marcador de posición de imagen 2">
            <a:extLst>
              <a:ext uri="{FF2B5EF4-FFF2-40B4-BE49-F238E27FC236}">
                <a16:creationId xmlns:a16="http://schemas.microsoft.com/office/drawing/2014/main" id="{997C22DC-415E-2CC9-AF12-1CBD952D7F68}"/>
              </a:ext>
            </a:extLst>
          </p:cNvPr>
          <p:cNvSpPr>
            <a:spLocks noGrp="1"/>
          </p:cNvSpPr>
          <p:nvPr>
            <p:ph type="pic" idx="10"/>
          </p:nvPr>
        </p:nvSpPr>
        <p:spPr>
          <a:xfrm>
            <a:off x="914400" y="1316442"/>
            <a:ext cx="3463748" cy="4800196"/>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contenido 2">
            <a:extLst>
              <a:ext uri="{FF2B5EF4-FFF2-40B4-BE49-F238E27FC236}">
                <a16:creationId xmlns:a16="http://schemas.microsoft.com/office/drawing/2014/main" id="{C06184B0-CDB4-5142-66EE-CE024BEFA639}"/>
              </a:ext>
            </a:extLst>
          </p:cNvPr>
          <p:cNvSpPr>
            <a:spLocks noGrp="1"/>
          </p:cNvSpPr>
          <p:nvPr>
            <p:ph idx="11"/>
          </p:nvPr>
        </p:nvSpPr>
        <p:spPr>
          <a:xfrm>
            <a:off x="4518785" y="3186710"/>
            <a:ext cx="5920615" cy="2929928"/>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p>
          <a:p>
            <a:pPr lvl="3"/>
            <a:r>
              <a:rPr lang="es-ES" dirty="0"/>
              <a:t>Cuarto nivel</a:t>
            </a:r>
            <a:endParaRPr lang="es-PE" dirty="0"/>
          </a:p>
        </p:txBody>
      </p:sp>
      <p:sp>
        <p:nvSpPr>
          <p:cNvPr id="6" name="Título 1">
            <a:extLst>
              <a:ext uri="{FF2B5EF4-FFF2-40B4-BE49-F238E27FC236}">
                <a16:creationId xmlns:a16="http://schemas.microsoft.com/office/drawing/2014/main" id="{629EC0EE-C3C3-2759-F095-B1703E1D6E3C}"/>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
        <p:nvSpPr>
          <p:cNvPr id="10" name="Rectángulo 9">
            <a:extLst>
              <a:ext uri="{FF2B5EF4-FFF2-40B4-BE49-F238E27FC236}">
                <a16:creationId xmlns:a16="http://schemas.microsoft.com/office/drawing/2014/main" id="{FFEDFAA5-7823-6CC7-443F-7725F52F29D1}"/>
              </a:ext>
            </a:extLst>
          </p:cNvPr>
          <p:cNvSpPr/>
          <p:nvPr userDrawn="1"/>
        </p:nvSpPr>
        <p:spPr>
          <a:xfrm>
            <a:off x="11349733" y="4267200"/>
            <a:ext cx="863564" cy="10580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11"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B52CE09E-6E4A-1923-9F83-0489B21B7EB0}"/>
              </a:ext>
            </a:extLst>
          </p:cNvPr>
          <p:cNvPicPr>
            <a:picLocks noChangeAspect="1" noChangeArrowheads="1"/>
          </p:cNvPicPr>
          <p:nvPr userDrawn="1"/>
        </p:nvPicPr>
        <p:blipFill rotWithShape="1">
          <a:blip r:embed="rId15" cstate="print">
            <a:extLst>
              <a:ext uri="{BEBA8EAE-BF5A-486C-A8C5-ECC9F3942E4B}">
                <a14:imgProps xmlns:a14="http://schemas.microsoft.com/office/drawing/2010/main">
                  <a14:imgLayer r:embed="rId16">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Grupo de iconos del equipo trabajo grupo de trabajo, texto, grupo social,  silueta png | PNGWing">
            <a:extLst>
              <a:ext uri="{FF2B5EF4-FFF2-40B4-BE49-F238E27FC236}">
                <a16:creationId xmlns:a16="http://schemas.microsoft.com/office/drawing/2014/main" id="{DDB58D5A-B7E9-23EE-A65B-114A3C8D5001}"/>
              </a:ext>
            </a:extLst>
          </p:cNvPr>
          <p:cNvPicPr>
            <a:picLocks noChangeAspect="1" noChangeArrowheads="1"/>
          </p:cNvPicPr>
          <p:nvPr userDrawn="1"/>
        </p:nvPicPr>
        <p:blipFill rotWithShape="1">
          <a:blip r:embed="rId17" cstate="print">
            <a:extLst>
              <a:ext uri="{BEBA8EAE-BF5A-486C-A8C5-ECC9F3942E4B}">
                <a14:imgProps xmlns:a14="http://schemas.microsoft.com/office/drawing/2010/main">
                  <a14:imgLayer r:embed="rId18">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sp>
        <p:nvSpPr>
          <p:cNvPr id="14" name="CuadroTexto 13">
            <a:extLst>
              <a:ext uri="{FF2B5EF4-FFF2-40B4-BE49-F238E27FC236}">
                <a16:creationId xmlns:a16="http://schemas.microsoft.com/office/drawing/2014/main" id="{D761290A-16F8-B782-1D22-585CE122C946}"/>
              </a:ext>
            </a:extLst>
          </p:cNvPr>
          <p:cNvSpPr txBox="1"/>
          <p:nvPr userDrawn="1"/>
        </p:nvSpPr>
        <p:spPr>
          <a:xfrm>
            <a:off x="11342255" y="5052597"/>
            <a:ext cx="959206" cy="307777"/>
          </a:xfrm>
          <a:prstGeom prst="rect">
            <a:avLst/>
          </a:prstGeom>
          <a:noFill/>
        </p:spPr>
        <p:txBody>
          <a:bodyPr wrap="square" rtlCol="0">
            <a:spAutoFit/>
          </a:bodyPr>
          <a:lstStyle/>
          <a:p>
            <a:r>
              <a:rPr lang="es-PE" sz="1400" b="1" i="1" dirty="0" err="1">
                <a:latin typeface="Arial" panose="020B0604020202020204" pitchFamily="34" charset="0"/>
                <a:cs typeface="Arial" panose="020B0604020202020204" pitchFamily="34" charset="0"/>
              </a:rPr>
              <a:t>TRANSF</a:t>
            </a:r>
            <a:endParaRPr lang="es-PE" sz="1400" b="1" i="1" dirty="0">
              <a:latin typeface="Arial" panose="020B0604020202020204" pitchFamily="34" charset="0"/>
              <a:cs typeface="Arial" panose="020B0604020202020204" pitchFamily="34" charset="0"/>
            </a:endParaRPr>
          </a:p>
        </p:txBody>
      </p:sp>
      <p:sp>
        <p:nvSpPr>
          <p:cNvPr id="3" name="Rectángulo: esquinas redondeadas 2">
            <a:extLst>
              <a:ext uri="{FF2B5EF4-FFF2-40B4-BE49-F238E27FC236}">
                <a16:creationId xmlns:a16="http://schemas.microsoft.com/office/drawing/2014/main" id="{688E602D-94CB-991D-4F91-34A24FB7FC59}"/>
              </a:ext>
            </a:extLst>
          </p:cNvPr>
          <p:cNvSpPr/>
          <p:nvPr userDrawn="1"/>
        </p:nvSpPr>
        <p:spPr>
          <a:xfrm>
            <a:off x="11365343" y="4272302"/>
            <a:ext cx="840476" cy="1083629"/>
          </a:xfrm>
          <a:prstGeom prst="round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517148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 calcmode="lin" valueType="num">
                                      <p:cBhvr>
                                        <p:cTn id="15"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17" dur="500"/>
                                        <p:tgtEl>
                                          <p:spTgt spid="4">
                                            <p:txEl>
                                              <p:pRg st="0" end="0"/>
                                            </p:txEl>
                                          </p:spTgt>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 calcmode="lin" valueType="num">
                                      <p:cBhvr>
                                        <p:cTn id="20"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21"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22" dur="500"/>
                                        <p:tgtEl>
                                          <p:spTgt spid="4">
                                            <p:txEl>
                                              <p:pRg st="1" end="1"/>
                                            </p:txEl>
                                          </p:spTgt>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 calcmode="lin" valueType="num">
                                      <p:cBhvr>
                                        <p:cTn id="25"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27" dur="500"/>
                                        <p:tgtEl>
                                          <p:spTgt spid="4">
                                            <p:txEl>
                                              <p:pRg st="2" end="2"/>
                                            </p:txEl>
                                          </p:spTgt>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 calcmode="lin" valueType="num">
                                      <p:cBhvr>
                                        <p:cTn id="30"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31"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3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 presetClass="entr" presetSubtype="0" fill="hold" nodeType="click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childTnLst>
                </p:cTn>
              </p:par>
            </p:tnLst>
          </p:tmpl>
        </p:tmplLst>
      </p:bldP>
      <p:bldP spid="4" grpId="0" build="p">
        <p:tmplLst>
          <p:tmpl lvl="1">
            <p:tnLst>
              <p:par>
                <p:cTn presetID="53" presetClass="entr" presetSubtype="16" fill="hold" nodeType="click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p:cTn dur="500" fill="hold"/>
                        <p:tgtEl>
                          <p:spTgt spid="4"/>
                        </p:tgtEl>
                        <p:attrNameLst>
                          <p:attrName>ppt_w</p:attrName>
                        </p:attrNameLst>
                      </p:cBhvr>
                      <p:tavLst>
                        <p:tav tm="0">
                          <p:val>
                            <p:fltVal val="0"/>
                          </p:val>
                        </p:tav>
                        <p:tav tm="100000">
                          <p:val>
                            <p:strVal val="#ppt_w"/>
                          </p:val>
                        </p:tav>
                      </p:tavLst>
                    </p:anim>
                    <p:anim calcmode="lin" valueType="num">
                      <p:cBhvr>
                        <p:cTn dur="500" fill="hold"/>
                        <p:tgtEl>
                          <p:spTgt spid="4"/>
                        </p:tgtEl>
                        <p:attrNameLst>
                          <p:attrName>ppt_h</p:attrName>
                        </p:attrNameLst>
                      </p:cBhvr>
                      <p:tavLst>
                        <p:tav tm="0">
                          <p:val>
                            <p:fltVal val="0"/>
                          </p:val>
                        </p:tav>
                        <p:tav tm="100000">
                          <p:val>
                            <p:strVal val="#ppt_h"/>
                          </p:val>
                        </p:tav>
                      </p:tavLst>
                    </p:anim>
                    <p:animEffect transition="in" filter="fade">
                      <p:cBhvr>
                        <p:cTn dur="500"/>
                        <p:tgtEl>
                          <p:spTgt spid="4"/>
                        </p:tgtEl>
                      </p:cBhvr>
                    </p:animEffect>
                  </p:childTnLst>
                </p:cTn>
              </p:par>
            </p:tnLst>
          </p:tmpl>
          <p:tmpl lvl="2">
            <p:tnLst>
              <p:par>
                <p:cTn presetID="53" presetClass="entr" presetSubtype="16" fill="hold" nodeType="with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p:cTn dur="500" fill="hold"/>
                        <p:tgtEl>
                          <p:spTgt spid="4"/>
                        </p:tgtEl>
                        <p:attrNameLst>
                          <p:attrName>ppt_w</p:attrName>
                        </p:attrNameLst>
                      </p:cBhvr>
                      <p:tavLst>
                        <p:tav tm="0">
                          <p:val>
                            <p:fltVal val="0"/>
                          </p:val>
                        </p:tav>
                        <p:tav tm="100000">
                          <p:val>
                            <p:strVal val="#ppt_w"/>
                          </p:val>
                        </p:tav>
                      </p:tavLst>
                    </p:anim>
                    <p:anim calcmode="lin" valueType="num">
                      <p:cBhvr>
                        <p:cTn dur="500" fill="hold"/>
                        <p:tgtEl>
                          <p:spTgt spid="4"/>
                        </p:tgtEl>
                        <p:attrNameLst>
                          <p:attrName>ppt_h</p:attrName>
                        </p:attrNameLst>
                      </p:cBhvr>
                      <p:tavLst>
                        <p:tav tm="0">
                          <p:val>
                            <p:fltVal val="0"/>
                          </p:val>
                        </p:tav>
                        <p:tav tm="100000">
                          <p:val>
                            <p:strVal val="#ppt_h"/>
                          </p:val>
                        </p:tav>
                      </p:tavLst>
                    </p:anim>
                    <p:animEffect transition="in" filter="fade">
                      <p:cBhvr>
                        <p:cTn dur="500"/>
                        <p:tgtEl>
                          <p:spTgt spid="4"/>
                        </p:tgtEl>
                      </p:cBhvr>
                    </p:animEffect>
                  </p:childTnLst>
                </p:cTn>
              </p:par>
            </p:tnLst>
          </p:tmpl>
          <p:tmpl lvl="3">
            <p:tnLst>
              <p:par>
                <p:cTn presetID="53" presetClass="entr" presetSubtype="16" fill="hold" nodeType="with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p:cTn dur="500" fill="hold"/>
                        <p:tgtEl>
                          <p:spTgt spid="4"/>
                        </p:tgtEl>
                        <p:attrNameLst>
                          <p:attrName>ppt_w</p:attrName>
                        </p:attrNameLst>
                      </p:cBhvr>
                      <p:tavLst>
                        <p:tav tm="0">
                          <p:val>
                            <p:fltVal val="0"/>
                          </p:val>
                        </p:tav>
                        <p:tav tm="100000">
                          <p:val>
                            <p:strVal val="#ppt_w"/>
                          </p:val>
                        </p:tav>
                      </p:tavLst>
                    </p:anim>
                    <p:anim calcmode="lin" valueType="num">
                      <p:cBhvr>
                        <p:cTn dur="500" fill="hold"/>
                        <p:tgtEl>
                          <p:spTgt spid="4"/>
                        </p:tgtEl>
                        <p:attrNameLst>
                          <p:attrName>ppt_h</p:attrName>
                        </p:attrNameLst>
                      </p:cBhvr>
                      <p:tavLst>
                        <p:tav tm="0">
                          <p:val>
                            <p:fltVal val="0"/>
                          </p:val>
                        </p:tav>
                        <p:tav tm="100000">
                          <p:val>
                            <p:strVal val="#ppt_h"/>
                          </p:val>
                        </p:tav>
                      </p:tavLst>
                    </p:anim>
                    <p:animEffect transition="in" filter="fade">
                      <p:cBhvr>
                        <p:cTn dur="500"/>
                        <p:tgtEl>
                          <p:spTgt spid="4"/>
                        </p:tgtEl>
                      </p:cBhvr>
                    </p:animEffect>
                  </p:childTnLst>
                </p:cTn>
              </p:par>
            </p:tnLst>
          </p:tmpl>
          <p:tmpl lvl="4">
            <p:tnLst>
              <p:par>
                <p:cTn presetID="53" presetClass="entr" presetSubtype="16" fill="hold" nodeType="with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p:cTn dur="500" fill="hold"/>
                        <p:tgtEl>
                          <p:spTgt spid="4"/>
                        </p:tgtEl>
                        <p:attrNameLst>
                          <p:attrName>ppt_w</p:attrName>
                        </p:attrNameLst>
                      </p:cBhvr>
                      <p:tavLst>
                        <p:tav tm="0">
                          <p:val>
                            <p:fltVal val="0"/>
                          </p:val>
                        </p:tav>
                        <p:tav tm="100000">
                          <p:val>
                            <p:strVal val="#ppt_w"/>
                          </p:val>
                        </p:tav>
                      </p:tavLst>
                    </p:anim>
                    <p:anim calcmode="lin" valueType="num">
                      <p:cBhvr>
                        <p:cTn dur="500" fill="hold"/>
                        <p:tgtEl>
                          <p:spTgt spid="4"/>
                        </p:tgtEl>
                        <p:attrNameLst>
                          <p:attrName>ppt_h</p:attrName>
                        </p:attrNameLst>
                      </p:cBhvr>
                      <p:tavLst>
                        <p:tav tm="0">
                          <p:val>
                            <p:fltVal val="0"/>
                          </p:val>
                        </p:tav>
                        <p:tav tm="100000">
                          <p:val>
                            <p:strVal val="#ppt_h"/>
                          </p:val>
                        </p:tav>
                      </p:tavLst>
                    </p:anim>
                    <p:animEffect transition="in" filter="fade">
                      <p:cBhvr>
                        <p:cTn dur="500"/>
                        <p:tgtEl>
                          <p:spTgt spid="4"/>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RACTICA">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A1F24B5-1A87-B5A5-A1E9-235527E4D40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pic>
        <p:nvPicPr>
          <p:cNvPr id="4" name="bg object 16">
            <a:extLst>
              <a:ext uri="{FF2B5EF4-FFF2-40B4-BE49-F238E27FC236}">
                <a16:creationId xmlns:a16="http://schemas.microsoft.com/office/drawing/2014/main" id="{ADF7B5DC-0A3E-99F6-A099-E0C63D1CCD4F}"/>
              </a:ext>
            </a:extLst>
          </p:cNvPr>
          <p:cNvPicPr>
            <a:picLocks noChangeAspect="1"/>
          </p:cNvPicPr>
          <p:nvPr userDrawn="1"/>
        </p:nvPicPr>
        <p:blipFill rotWithShape="1">
          <a:blip r:embed="rId3" cstate="print"/>
          <a:srcRect l="50331" t="76667" b="11111"/>
          <a:stretch/>
        </p:blipFill>
        <p:spPr>
          <a:xfrm>
            <a:off x="4518787" y="6318000"/>
            <a:ext cx="2598874" cy="540000"/>
          </a:xfrm>
          <a:prstGeom prst="rect">
            <a:avLst/>
          </a:prstGeom>
        </p:spPr>
      </p:pic>
      <p:sp>
        <p:nvSpPr>
          <p:cNvPr id="5" name="Rectángulo 4">
            <a:extLst>
              <a:ext uri="{FF2B5EF4-FFF2-40B4-BE49-F238E27FC236}">
                <a16:creationId xmlns:a16="http://schemas.microsoft.com/office/drawing/2014/main" id="{4ACA082A-84D9-9B4D-B5C3-DE00C1F6D53F}"/>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6" name="Rectángulo 5">
            <a:extLst>
              <a:ext uri="{FF2B5EF4-FFF2-40B4-BE49-F238E27FC236}">
                <a16:creationId xmlns:a16="http://schemas.microsoft.com/office/drawing/2014/main" id="{4AEDB962-D472-BF1D-9BC1-4E15BD6A51AE}"/>
              </a:ext>
            </a:extLst>
          </p:cNvPr>
          <p:cNvSpPr/>
          <p:nvPr userDrawn="1"/>
        </p:nvSpPr>
        <p:spPr>
          <a:xfrm>
            <a:off x="11349733" y="5245196"/>
            <a:ext cx="863564" cy="8420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7" name="Picture 8">
            <a:extLst>
              <a:ext uri="{FF2B5EF4-FFF2-40B4-BE49-F238E27FC236}">
                <a16:creationId xmlns:a16="http://schemas.microsoft.com/office/drawing/2014/main" id="{DA36E1C1-CFBD-1EA5-4614-A4CEF8AE4377}"/>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Marca de verificación en blanco y negro Gratis Dibujos Animados  Imágene｜Illustoon ES">
            <a:extLst>
              <a:ext uri="{FF2B5EF4-FFF2-40B4-BE49-F238E27FC236}">
                <a16:creationId xmlns:a16="http://schemas.microsoft.com/office/drawing/2014/main" id="{31B70C60-AFED-30F7-EF61-7E22D081089E}"/>
              </a:ext>
            </a:extLst>
          </p:cNvPr>
          <p:cNvPicPr>
            <a:picLocks noChangeAspect="1" noChangeArrowheads="1"/>
          </p:cNvPicPr>
          <p:nvPr userDrawn="1"/>
        </p:nvPicPr>
        <p:blipFill rotWithShape="1">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Bombilla, Bombilla incandescente, Luz eléctrica, Lámpara, Negro, Blanco y  negro, Línea, silueta, ligero, negro, En blanco y negro png | PNGWing">
            <a:extLst>
              <a:ext uri="{FF2B5EF4-FFF2-40B4-BE49-F238E27FC236}">
                <a16:creationId xmlns:a16="http://schemas.microsoft.com/office/drawing/2014/main" id="{8D8F5062-1275-5CBD-325A-691D6A05F328}"/>
              </a:ext>
            </a:extLst>
          </p:cNvPr>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Piezas de rompecabezas en variante blanco y negro - Iconos gratis de">
            <a:extLst>
              <a:ext uri="{FF2B5EF4-FFF2-40B4-BE49-F238E27FC236}">
                <a16:creationId xmlns:a16="http://schemas.microsoft.com/office/drawing/2014/main" id="{B86F3A87-3F2F-5BDC-0E64-D9CE65FDDC02}"/>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72F36A24-6DFD-A031-DD00-434234624F69}"/>
              </a:ext>
            </a:extLst>
          </p:cNvPr>
          <p:cNvPicPr>
            <a:picLocks noChangeAspect="1" noChangeArrowheads="1"/>
          </p:cNvPicPr>
          <p:nvPr userDrawn="1"/>
        </p:nvPicPr>
        <p:blipFill rotWithShape="1">
          <a:blip r:embed="rId11" cstate="print">
            <a:extLst>
              <a:ext uri="{BEBA8EAE-BF5A-486C-A8C5-ECC9F3942E4B}">
                <a14:imgProps xmlns:a14="http://schemas.microsoft.com/office/drawing/2010/main">
                  <a14:imgLayer r:embed="rId12">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Grupo de iconos del equipo trabajo grupo de trabajo, texto, grupo social,  silueta png | PNGWing">
            <a:extLst>
              <a:ext uri="{FF2B5EF4-FFF2-40B4-BE49-F238E27FC236}">
                <a16:creationId xmlns:a16="http://schemas.microsoft.com/office/drawing/2014/main" id="{5CBE6B32-F48C-C7B9-31A7-F23BFAC0FC4F}"/>
              </a:ext>
            </a:extLst>
          </p:cNvPr>
          <p:cNvPicPr>
            <a:picLocks noChangeAspect="1" noChangeArrowheads="1"/>
          </p:cNvPicPr>
          <p:nvPr userDrawn="1"/>
        </p:nvPicPr>
        <p:blipFill rotWithShape="1">
          <a:blip r:embed="rId13" cstate="print">
            <a:extLst>
              <a:ext uri="{BEBA8EAE-BF5A-486C-A8C5-ECC9F3942E4B}">
                <a14:imgProps xmlns:a14="http://schemas.microsoft.com/office/drawing/2010/main">
                  <a14:imgLayer r:embed="rId14">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ACE8944B-2FBF-6617-7EA2-9E411E5FBA29}"/>
              </a:ext>
            </a:extLst>
          </p:cNvPr>
          <p:cNvPicPr>
            <a:picLocks noChangeAspect="1" noChangeArrowheads="1"/>
          </p:cNvPicPr>
          <p:nvPr userDrawn="1"/>
        </p:nvPicPr>
        <p:blipFill rotWithShape="1">
          <a:blip r:embed="rId15" cstate="print">
            <a:extLst>
              <a:ext uri="{BEBA8EAE-BF5A-486C-A8C5-ECC9F3942E4B}">
                <a14:imgProps xmlns:a14="http://schemas.microsoft.com/office/drawing/2010/main">
                  <a14:imgLayer r:embed="rId16">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lustración de Icono De Cese Cierre Conclusión Logotipo Vectorial ...">
            <a:extLst>
              <a:ext uri="{FF2B5EF4-FFF2-40B4-BE49-F238E27FC236}">
                <a16:creationId xmlns:a16="http://schemas.microsoft.com/office/drawing/2014/main" id="{3B690281-5B97-982D-4412-EB470159EC11}"/>
              </a:ext>
            </a:extLst>
          </p:cNvPr>
          <p:cNvPicPr>
            <a:picLocks noChangeAspect="1" noChangeArrowheads="1"/>
          </p:cNvPicPr>
          <p:nvPr userDrawn="1"/>
        </p:nvPicPr>
        <p:blipFill rotWithShape="1">
          <a:blip r:embed="rId17" cstate="print">
            <a:extLst>
              <a:ext uri="{BEBA8EAE-BF5A-486C-A8C5-ECC9F3942E4B}">
                <a14:imgProps xmlns:a14="http://schemas.microsoft.com/office/drawing/2010/main">
                  <a14:imgLayer r:embed="rId18">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15" name="Marcador de contenido 2">
            <a:extLst>
              <a:ext uri="{FF2B5EF4-FFF2-40B4-BE49-F238E27FC236}">
                <a16:creationId xmlns:a16="http://schemas.microsoft.com/office/drawing/2014/main" id="{8EBFEC84-B7E7-98BC-61B3-7982806C865E}"/>
              </a:ext>
            </a:extLst>
          </p:cNvPr>
          <p:cNvSpPr>
            <a:spLocks noGrp="1"/>
          </p:cNvSpPr>
          <p:nvPr>
            <p:ph idx="1"/>
          </p:nvPr>
        </p:nvSpPr>
        <p:spPr>
          <a:xfrm>
            <a:off x="914400" y="1316442"/>
            <a:ext cx="9525001" cy="1731558"/>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endParaRPr lang="es-PE" dirty="0"/>
          </a:p>
        </p:txBody>
      </p:sp>
      <p:sp>
        <p:nvSpPr>
          <p:cNvPr id="16" name="Marcador de fecha 3">
            <a:extLst>
              <a:ext uri="{FF2B5EF4-FFF2-40B4-BE49-F238E27FC236}">
                <a16:creationId xmlns:a16="http://schemas.microsoft.com/office/drawing/2014/main" id="{7F3025AC-F40C-E2C4-2493-08B2D79E2FC9}"/>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17" name="Marcador de número de diapositiva 5">
            <a:extLst>
              <a:ext uri="{FF2B5EF4-FFF2-40B4-BE49-F238E27FC236}">
                <a16:creationId xmlns:a16="http://schemas.microsoft.com/office/drawing/2014/main" id="{D2D6A5A0-9D99-E951-2486-A08AF4C109D2}"/>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a:p>
        </p:txBody>
      </p:sp>
      <p:sp>
        <p:nvSpPr>
          <p:cNvPr id="19" name="Marcador de contenido 2">
            <a:extLst>
              <a:ext uri="{FF2B5EF4-FFF2-40B4-BE49-F238E27FC236}">
                <a16:creationId xmlns:a16="http://schemas.microsoft.com/office/drawing/2014/main" id="{1B21388C-6359-78C4-FC85-93F4D6ECAB8F}"/>
              </a:ext>
            </a:extLst>
          </p:cNvPr>
          <p:cNvSpPr>
            <a:spLocks noGrp="1"/>
          </p:cNvSpPr>
          <p:nvPr>
            <p:ph idx="11"/>
          </p:nvPr>
        </p:nvSpPr>
        <p:spPr>
          <a:xfrm>
            <a:off x="914401" y="3186710"/>
            <a:ext cx="9525000" cy="2929928"/>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a:p>
            <a:pPr lvl="1"/>
            <a:r>
              <a:rPr lang="es-ES" dirty="0"/>
              <a:t>Segundo nivel</a:t>
            </a:r>
          </a:p>
          <a:p>
            <a:pPr lvl="2"/>
            <a:r>
              <a:rPr lang="es-ES" dirty="0"/>
              <a:t>Tercer nivel</a:t>
            </a:r>
          </a:p>
          <a:p>
            <a:pPr lvl="3"/>
            <a:r>
              <a:rPr lang="es-ES" dirty="0"/>
              <a:t>Cuarto nivel</a:t>
            </a:r>
            <a:endParaRPr lang="es-PE" dirty="0"/>
          </a:p>
        </p:txBody>
      </p:sp>
      <p:sp>
        <p:nvSpPr>
          <p:cNvPr id="20" name="Título 1">
            <a:extLst>
              <a:ext uri="{FF2B5EF4-FFF2-40B4-BE49-F238E27FC236}">
                <a16:creationId xmlns:a16="http://schemas.microsoft.com/office/drawing/2014/main" id="{DD263D60-5042-5826-D38C-BAF015D1C0DB}"/>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
        <p:nvSpPr>
          <p:cNvPr id="21" name="Rectángulo: esquinas redondeadas 20">
            <a:extLst>
              <a:ext uri="{FF2B5EF4-FFF2-40B4-BE49-F238E27FC236}">
                <a16:creationId xmlns:a16="http://schemas.microsoft.com/office/drawing/2014/main" id="{D874C873-67B8-2705-20F1-D213FAAD0FC7}"/>
              </a:ext>
            </a:extLst>
          </p:cNvPr>
          <p:cNvSpPr/>
          <p:nvPr userDrawn="1"/>
        </p:nvSpPr>
        <p:spPr>
          <a:xfrm>
            <a:off x="11369382" y="5197649"/>
            <a:ext cx="863564" cy="850698"/>
          </a:xfrm>
          <a:prstGeom prst="roundRect">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470549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9">
                                            <p:txEl>
                                              <p:pRg st="0" end="0"/>
                                            </p:txEl>
                                          </p:spTgt>
                                        </p:tgtEl>
                                        <p:attrNameLst>
                                          <p:attrName>style.visibility</p:attrName>
                                        </p:attrNameLst>
                                      </p:cBhvr>
                                      <p:to>
                                        <p:strVal val="visible"/>
                                      </p:to>
                                    </p:set>
                                    <p:anim calcmode="lin" valueType="num">
                                      <p:cBhvr>
                                        <p:cTn id="15" dur="500" fill="hold"/>
                                        <p:tgtEl>
                                          <p:spTgt spid="19">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19">
                                            <p:txEl>
                                              <p:pRg st="0" end="0"/>
                                            </p:txEl>
                                          </p:spTgt>
                                        </p:tgtEl>
                                        <p:attrNameLst>
                                          <p:attrName>ppt_h</p:attrName>
                                        </p:attrNameLst>
                                      </p:cBhvr>
                                      <p:tavLst>
                                        <p:tav tm="0">
                                          <p:val>
                                            <p:fltVal val="0"/>
                                          </p:val>
                                        </p:tav>
                                        <p:tav tm="100000">
                                          <p:val>
                                            <p:strVal val="#ppt_h"/>
                                          </p:val>
                                        </p:tav>
                                      </p:tavLst>
                                    </p:anim>
                                    <p:animEffect transition="in" filter="fade">
                                      <p:cBhvr>
                                        <p:cTn id="17" dur="500"/>
                                        <p:tgtEl>
                                          <p:spTgt spid="19">
                                            <p:txEl>
                                              <p:pRg st="0" end="0"/>
                                            </p:txEl>
                                          </p:spTgt>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9">
                                            <p:txEl>
                                              <p:pRg st="1" end="1"/>
                                            </p:txEl>
                                          </p:spTgt>
                                        </p:tgtEl>
                                        <p:attrNameLst>
                                          <p:attrName>style.visibility</p:attrName>
                                        </p:attrNameLst>
                                      </p:cBhvr>
                                      <p:to>
                                        <p:strVal val="visible"/>
                                      </p:to>
                                    </p:set>
                                    <p:anim calcmode="lin" valueType="num">
                                      <p:cBhvr>
                                        <p:cTn id="20" dur="500" fill="hold"/>
                                        <p:tgtEl>
                                          <p:spTgt spid="19">
                                            <p:txEl>
                                              <p:pRg st="1" end="1"/>
                                            </p:txEl>
                                          </p:spTgt>
                                        </p:tgtEl>
                                        <p:attrNameLst>
                                          <p:attrName>ppt_w</p:attrName>
                                        </p:attrNameLst>
                                      </p:cBhvr>
                                      <p:tavLst>
                                        <p:tav tm="0">
                                          <p:val>
                                            <p:fltVal val="0"/>
                                          </p:val>
                                        </p:tav>
                                        <p:tav tm="100000">
                                          <p:val>
                                            <p:strVal val="#ppt_w"/>
                                          </p:val>
                                        </p:tav>
                                      </p:tavLst>
                                    </p:anim>
                                    <p:anim calcmode="lin" valueType="num">
                                      <p:cBhvr>
                                        <p:cTn id="21" dur="500" fill="hold"/>
                                        <p:tgtEl>
                                          <p:spTgt spid="19">
                                            <p:txEl>
                                              <p:pRg st="1" end="1"/>
                                            </p:txEl>
                                          </p:spTgt>
                                        </p:tgtEl>
                                        <p:attrNameLst>
                                          <p:attrName>ppt_h</p:attrName>
                                        </p:attrNameLst>
                                      </p:cBhvr>
                                      <p:tavLst>
                                        <p:tav tm="0">
                                          <p:val>
                                            <p:fltVal val="0"/>
                                          </p:val>
                                        </p:tav>
                                        <p:tav tm="100000">
                                          <p:val>
                                            <p:strVal val="#ppt_h"/>
                                          </p:val>
                                        </p:tav>
                                      </p:tavLst>
                                    </p:anim>
                                    <p:animEffect transition="in" filter="fade">
                                      <p:cBhvr>
                                        <p:cTn id="22" dur="500"/>
                                        <p:tgtEl>
                                          <p:spTgt spid="19">
                                            <p:txEl>
                                              <p:pRg st="1" end="1"/>
                                            </p:txEl>
                                          </p:spTgt>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9">
                                            <p:txEl>
                                              <p:pRg st="2" end="2"/>
                                            </p:txEl>
                                          </p:spTgt>
                                        </p:tgtEl>
                                        <p:attrNameLst>
                                          <p:attrName>style.visibility</p:attrName>
                                        </p:attrNameLst>
                                      </p:cBhvr>
                                      <p:to>
                                        <p:strVal val="visible"/>
                                      </p:to>
                                    </p:set>
                                    <p:anim calcmode="lin" valueType="num">
                                      <p:cBhvr>
                                        <p:cTn id="25" dur="500" fill="hold"/>
                                        <p:tgtEl>
                                          <p:spTgt spid="19">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9">
                                            <p:txEl>
                                              <p:pRg st="2" end="2"/>
                                            </p:txEl>
                                          </p:spTgt>
                                        </p:tgtEl>
                                        <p:attrNameLst>
                                          <p:attrName>ppt_h</p:attrName>
                                        </p:attrNameLst>
                                      </p:cBhvr>
                                      <p:tavLst>
                                        <p:tav tm="0">
                                          <p:val>
                                            <p:fltVal val="0"/>
                                          </p:val>
                                        </p:tav>
                                        <p:tav tm="100000">
                                          <p:val>
                                            <p:strVal val="#ppt_h"/>
                                          </p:val>
                                        </p:tav>
                                      </p:tavLst>
                                    </p:anim>
                                    <p:animEffect transition="in" filter="fade">
                                      <p:cBhvr>
                                        <p:cTn id="27" dur="500"/>
                                        <p:tgtEl>
                                          <p:spTgt spid="19">
                                            <p:txEl>
                                              <p:pRg st="2" end="2"/>
                                            </p:txEl>
                                          </p:spTgt>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9">
                                            <p:txEl>
                                              <p:pRg st="3" end="3"/>
                                            </p:txEl>
                                          </p:spTgt>
                                        </p:tgtEl>
                                        <p:attrNameLst>
                                          <p:attrName>style.visibility</p:attrName>
                                        </p:attrNameLst>
                                      </p:cBhvr>
                                      <p:to>
                                        <p:strVal val="visible"/>
                                      </p:to>
                                    </p:set>
                                    <p:anim calcmode="lin" valueType="num">
                                      <p:cBhvr>
                                        <p:cTn id="30" dur="500" fill="hold"/>
                                        <p:tgtEl>
                                          <p:spTgt spid="19">
                                            <p:txEl>
                                              <p:pRg st="3" end="3"/>
                                            </p:txEl>
                                          </p:spTgt>
                                        </p:tgtEl>
                                        <p:attrNameLst>
                                          <p:attrName>ppt_w</p:attrName>
                                        </p:attrNameLst>
                                      </p:cBhvr>
                                      <p:tavLst>
                                        <p:tav tm="0">
                                          <p:val>
                                            <p:fltVal val="0"/>
                                          </p:val>
                                        </p:tav>
                                        <p:tav tm="100000">
                                          <p:val>
                                            <p:strVal val="#ppt_w"/>
                                          </p:val>
                                        </p:tav>
                                      </p:tavLst>
                                    </p:anim>
                                    <p:anim calcmode="lin" valueType="num">
                                      <p:cBhvr>
                                        <p:cTn id="31" dur="500" fill="hold"/>
                                        <p:tgtEl>
                                          <p:spTgt spid="19">
                                            <p:txEl>
                                              <p:pRg st="3" end="3"/>
                                            </p:txEl>
                                          </p:spTgt>
                                        </p:tgtEl>
                                        <p:attrNameLst>
                                          <p:attrName>ppt_h</p:attrName>
                                        </p:attrNameLst>
                                      </p:cBhvr>
                                      <p:tavLst>
                                        <p:tav tm="0">
                                          <p:val>
                                            <p:fltVal val="0"/>
                                          </p:val>
                                        </p:tav>
                                        <p:tav tm="100000">
                                          <p:val>
                                            <p:strVal val="#ppt_h"/>
                                          </p:val>
                                        </p:tav>
                                      </p:tavLst>
                                    </p:anim>
                                    <p:animEffect transition="in" filter="fade">
                                      <p:cBhvr>
                                        <p:cTn id="32" dur="500"/>
                                        <p:tgtEl>
                                          <p:spTgt spid="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9" grpId="0" build="p">
        <p:tmplLst>
          <p:tmpl lvl="1">
            <p:tnLst>
              <p:par>
                <p:cTn presetID="53" presetClass="entr" presetSubtype="16" fill="hold" nodeType="click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p:cTn dur="500" fill="hold"/>
                        <p:tgtEl>
                          <p:spTgt spid="19"/>
                        </p:tgtEl>
                        <p:attrNameLst>
                          <p:attrName>ppt_w</p:attrName>
                        </p:attrNameLst>
                      </p:cBhvr>
                      <p:tavLst>
                        <p:tav tm="0">
                          <p:val>
                            <p:fltVal val="0"/>
                          </p:val>
                        </p:tav>
                        <p:tav tm="100000">
                          <p:val>
                            <p:strVal val="#ppt_w"/>
                          </p:val>
                        </p:tav>
                      </p:tavLst>
                    </p:anim>
                    <p:anim calcmode="lin" valueType="num">
                      <p:cBhvr>
                        <p:cTn dur="500" fill="hold"/>
                        <p:tgtEl>
                          <p:spTgt spid="19"/>
                        </p:tgtEl>
                        <p:attrNameLst>
                          <p:attrName>ppt_h</p:attrName>
                        </p:attrNameLst>
                      </p:cBhvr>
                      <p:tavLst>
                        <p:tav tm="0">
                          <p:val>
                            <p:fltVal val="0"/>
                          </p:val>
                        </p:tav>
                        <p:tav tm="100000">
                          <p:val>
                            <p:strVal val="#ppt_h"/>
                          </p:val>
                        </p:tav>
                      </p:tavLst>
                    </p:anim>
                    <p:animEffect transition="in" filter="fade">
                      <p:cBhvr>
                        <p:cTn dur="500"/>
                        <p:tgtEl>
                          <p:spTgt spid="19"/>
                        </p:tgtEl>
                      </p:cBhvr>
                    </p:animEffect>
                  </p:childTnLst>
                </p:cTn>
              </p:par>
            </p:tnLst>
          </p:tmpl>
          <p:tmpl lvl="2">
            <p:tnLst>
              <p:par>
                <p:cTn presetID="53" presetClass="entr" presetSubtype="16" fill="hold" nodeType="with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p:cTn dur="500" fill="hold"/>
                        <p:tgtEl>
                          <p:spTgt spid="19"/>
                        </p:tgtEl>
                        <p:attrNameLst>
                          <p:attrName>ppt_w</p:attrName>
                        </p:attrNameLst>
                      </p:cBhvr>
                      <p:tavLst>
                        <p:tav tm="0">
                          <p:val>
                            <p:fltVal val="0"/>
                          </p:val>
                        </p:tav>
                        <p:tav tm="100000">
                          <p:val>
                            <p:strVal val="#ppt_w"/>
                          </p:val>
                        </p:tav>
                      </p:tavLst>
                    </p:anim>
                    <p:anim calcmode="lin" valueType="num">
                      <p:cBhvr>
                        <p:cTn dur="500" fill="hold"/>
                        <p:tgtEl>
                          <p:spTgt spid="19"/>
                        </p:tgtEl>
                        <p:attrNameLst>
                          <p:attrName>ppt_h</p:attrName>
                        </p:attrNameLst>
                      </p:cBhvr>
                      <p:tavLst>
                        <p:tav tm="0">
                          <p:val>
                            <p:fltVal val="0"/>
                          </p:val>
                        </p:tav>
                        <p:tav tm="100000">
                          <p:val>
                            <p:strVal val="#ppt_h"/>
                          </p:val>
                        </p:tav>
                      </p:tavLst>
                    </p:anim>
                    <p:animEffect transition="in" filter="fade">
                      <p:cBhvr>
                        <p:cTn dur="500"/>
                        <p:tgtEl>
                          <p:spTgt spid="19"/>
                        </p:tgtEl>
                      </p:cBhvr>
                    </p:animEffect>
                  </p:childTnLst>
                </p:cTn>
              </p:par>
            </p:tnLst>
          </p:tmpl>
          <p:tmpl lvl="3">
            <p:tnLst>
              <p:par>
                <p:cTn presetID="53" presetClass="entr" presetSubtype="16" fill="hold" nodeType="with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p:cTn dur="500" fill="hold"/>
                        <p:tgtEl>
                          <p:spTgt spid="19"/>
                        </p:tgtEl>
                        <p:attrNameLst>
                          <p:attrName>ppt_w</p:attrName>
                        </p:attrNameLst>
                      </p:cBhvr>
                      <p:tavLst>
                        <p:tav tm="0">
                          <p:val>
                            <p:fltVal val="0"/>
                          </p:val>
                        </p:tav>
                        <p:tav tm="100000">
                          <p:val>
                            <p:strVal val="#ppt_w"/>
                          </p:val>
                        </p:tav>
                      </p:tavLst>
                    </p:anim>
                    <p:anim calcmode="lin" valueType="num">
                      <p:cBhvr>
                        <p:cTn dur="500" fill="hold"/>
                        <p:tgtEl>
                          <p:spTgt spid="19"/>
                        </p:tgtEl>
                        <p:attrNameLst>
                          <p:attrName>ppt_h</p:attrName>
                        </p:attrNameLst>
                      </p:cBhvr>
                      <p:tavLst>
                        <p:tav tm="0">
                          <p:val>
                            <p:fltVal val="0"/>
                          </p:val>
                        </p:tav>
                        <p:tav tm="100000">
                          <p:val>
                            <p:strVal val="#ppt_h"/>
                          </p:val>
                        </p:tav>
                      </p:tavLst>
                    </p:anim>
                    <p:animEffect transition="in" filter="fade">
                      <p:cBhvr>
                        <p:cTn dur="500"/>
                        <p:tgtEl>
                          <p:spTgt spid="19"/>
                        </p:tgtEl>
                      </p:cBhvr>
                    </p:animEffect>
                  </p:childTnLst>
                </p:cTn>
              </p:par>
            </p:tnLst>
          </p:tmpl>
          <p:tmpl lvl="4">
            <p:tnLst>
              <p:par>
                <p:cTn presetID="53" presetClass="entr" presetSubtype="16" fill="hold" nodeType="withEffect">
                  <p:stCondLst>
                    <p:cond delay="0"/>
                  </p:stCondLst>
                  <p:childTnLst>
                    <p:set>
                      <p:cBhvr>
                        <p:cTn dur="1" fill="hold">
                          <p:stCondLst>
                            <p:cond delay="0"/>
                          </p:stCondLst>
                        </p:cTn>
                        <p:tgtEl>
                          <p:spTgt spid="19"/>
                        </p:tgtEl>
                        <p:attrNameLst>
                          <p:attrName>style.visibility</p:attrName>
                        </p:attrNameLst>
                      </p:cBhvr>
                      <p:to>
                        <p:strVal val="visible"/>
                      </p:to>
                    </p:set>
                    <p:anim calcmode="lin" valueType="num">
                      <p:cBhvr>
                        <p:cTn dur="500" fill="hold"/>
                        <p:tgtEl>
                          <p:spTgt spid="19"/>
                        </p:tgtEl>
                        <p:attrNameLst>
                          <p:attrName>ppt_w</p:attrName>
                        </p:attrNameLst>
                      </p:cBhvr>
                      <p:tavLst>
                        <p:tav tm="0">
                          <p:val>
                            <p:fltVal val="0"/>
                          </p:val>
                        </p:tav>
                        <p:tav tm="100000">
                          <p:val>
                            <p:strVal val="#ppt_w"/>
                          </p:val>
                        </p:tav>
                      </p:tavLst>
                    </p:anim>
                    <p:anim calcmode="lin" valueType="num">
                      <p:cBhvr>
                        <p:cTn dur="500" fill="hold"/>
                        <p:tgtEl>
                          <p:spTgt spid="19"/>
                        </p:tgtEl>
                        <p:attrNameLst>
                          <p:attrName>ppt_h</p:attrName>
                        </p:attrNameLst>
                      </p:cBhvr>
                      <p:tavLst>
                        <p:tav tm="0">
                          <p:val>
                            <p:fltVal val="0"/>
                          </p:val>
                        </p:tav>
                        <p:tav tm="100000">
                          <p:val>
                            <p:strVal val="#ppt_h"/>
                          </p:val>
                        </p:tav>
                      </p:tavLst>
                    </p:anim>
                    <p:animEffect transition="in" filter="fade">
                      <p:cBhvr>
                        <p:cTn dur="500"/>
                        <p:tgtEl>
                          <p:spTgt spid="19"/>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IERRE_">
    <p:spTree>
      <p:nvGrpSpPr>
        <p:cNvPr id="1" name=""/>
        <p:cNvGrpSpPr/>
        <p:nvPr/>
      </p:nvGrpSpPr>
      <p:grpSpPr>
        <a:xfrm>
          <a:off x="0" y="0"/>
          <a:ext cx="0" cy="0"/>
          <a:chOff x="0" y="0"/>
          <a:chExt cx="0" cy="0"/>
        </a:xfrm>
      </p:grpSpPr>
      <p:pic>
        <p:nvPicPr>
          <p:cNvPr id="23" name="Imagen 22">
            <a:extLst>
              <a:ext uri="{FF2B5EF4-FFF2-40B4-BE49-F238E27FC236}">
                <a16:creationId xmlns:a16="http://schemas.microsoft.com/office/drawing/2014/main" id="{7CB7C3D8-55D3-7601-B945-29FF1EA75CD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25" t="337" r="58750" b="10285"/>
          <a:stretch/>
        </p:blipFill>
        <p:spPr>
          <a:xfrm>
            <a:off x="-22569" y="855472"/>
            <a:ext cx="5105400" cy="6002528"/>
          </a:xfrm>
          <a:prstGeom prst="rect">
            <a:avLst/>
          </a:prstGeom>
        </p:spPr>
      </p:pic>
      <p:pic>
        <p:nvPicPr>
          <p:cNvPr id="13" name="bg object 16">
            <a:extLst>
              <a:ext uri="{FF2B5EF4-FFF2-40B4-BE49-F238E27FC236}">
                <a16:creationId xmlns:a16="http://schemas.microsoft.com/office/drawing/2014/main" id="{4A958BBF-AF54-42EF-9942-F0AB911197B3}"/>
              </a:ext>
            </a:extLst>
          </p:cNvPr>
          <p:cNvPicPr>
            <a:picLocks noChangeAspect="1"/>
          </p:cNvPicPr>
          <p:nvPr userDrawn="1"/>
        </p:nvPicPr>
        <p:blipFill rotWithShape="1">
          <a:blip r:embed="rId3" cstate="print"/>
          <a:srcRect l="50331" t="76667" b="11111"/>
          <a:stretch/>
        </p:blipFill>
        <p:spPr>
          <a:xfrm>
            <a:off x="4518787" y="6318000"/>
            <a:ext cx="2598874" cy="540000"/>
          </a:xfrm>
          <a:prstGeom prst="rect">
            <a:avLst/>
          </a:prstGeom>
        </p:spPr>
      </p:pic>
      <p:sp>
        <p:nvSpPr>
          <p:cNvPr id="25" name="Rectángulo 24">
            <a:extLst>
              <a:ext uri="{FF2B5EF4-FFF2-40B4-BE49-F238E27FC236}">
                <a16:creationId xmlns:a16="http://schemas.microsoft.com/office/drawing/2014/main" id="{C4F4E1B1-20BD-1C00-D3C8-E606FC314D61}"/>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9" name="Rectángulo 28">
            <a:extLst>
              <a:ext uri="{FF2B5EF4-FFF2-40B4-BE49-F238E27FC236}">
                <a16:creationId xmlns:a16="http://schemas.microsoft.com/office/drawing/2014/main" id="{DC9AF322-711F-7FF1-32BE-E27A6F922221}"/>
              </a:ext>
            </a:extLst>
          </p:cNvPr>
          <p:cNvSpPr/>
          <p:nvPr userDrawn="1"/>
        </p:nvSpPr>
        <p:spPr>
          <a:xfrm>
            <a:off x="11349733" y="5943600"/>
            <a:ext cx="863564" cy="913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30" name="Picture 8">
            <a:extLst>
              <a:ext uri="{FF2B5EF4-FFF2-40B4-BE49-F238E27FC236}">
                <a16:creationId xmlns:a16="http://schemas.microsoft.com/office/drawing/2014/main" id="{C3E80837-C51A-97D0-5C1B-C2623197EC9E}"/>
              </a:ext>
            </a:extLst>
          </p:cNvPr>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Marca de verificación en blanco y negro Gratis Dibujos Animados  Imágene｜Illustoon ES">
            <a:extLst>
              <a:ext uri="{FF2B5EF4-FFF2-40B4-BE49-F238E27FC236}">
                <a16:creationId xmlns:a16="http://schemas.microsoft.com/office/drawing/2014/main" id="{C7999A11-E50C-D63C-7E2F-78E8AFF43CF4}"/>
              </a:ext>
            </a:extLst>
          </p:cNvPr>
          <p:cNvPicPr>
            <a:picLocks noChangeAspect="1" noChangeArrowheads="1"/>
          </p:cNvPicPr>
          <p:nvPr userDrawn="1"/>
        </p:nvPicPr>
        <p:blipFill rotWithShape="1">
          <a:blip r:embed="rId6" cstate="print">
            <a:extLst>
              <a:ext uri="{BEBA8EAE-BF5A-486C-A8C5-ECC9F3942E4B}">
                <a14:imgProps xmlns:a14="http://schemas.microsoft.com/office/drawing/2010/main">
                  <a14:imgLayer r:embed="rId7">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Bombilla, Bombilla incandescente, Luz eléctrica, Lámpara, Negro, Blanco y  negro, Línea, silueta, ligero, negro, En blanco y negro png | PNGWing">
            <a:extLst>
              <a:ext uri="{FF2B5EF4-FFF2-40B4-BE49-F238E27FC236}">
                <a16:creationId xmlns:a16="http://schemas.microsoft.com/office/drawing/2014/main" id="{E39B8510-C7B3-3565-C723-400A044ACF7B}"/>
              </a:ext>
            </a:extLst>
          </p:cNvPr>
          <p:cNvPicPr>
            <a:picLocks noChangeAspect="1" noChangeArrowheads="1"/>
          </p:cNvPicPr>
          <p:nvPr userDrawn="1"/>
        </p:nvPicPr>
        <p:blipFill>
          <a:blip r:embed="rId8" cstate="print">
            <a:extLst>
              <a:ext uri="{BEBA8EAE-BF5A-486C-A8C5-ECC9F3942E4B}">
                <a14:imgProps xmlns:a14="http://schemas.microsoft.com/office/drawing/2010/main">
                  <a14:imgLayer r:embed="rId9">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6" descr="Piezas de rompecabezas en variante blanco y negro - Iconos gratis de">
            <a:extLst>
              <a:ext uri="{FF2B5EF4-FFF2-40B4-BE49-F238E27FC236}">
                <a16:creationId xmlns:a16="http://schemas.microsoft.com/office/drawing/2014/main" id="{CB8849C2-5494-8CCA-456D-112314628EDE}"/>
              </a:ext>
            </a:extLst>
          </p:cNvPr>
          <p:cNvPicPr>
            <a:picLocks noChangeAspect="1" noChangeArrowheads="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320E258B-D854-61C3-A280-A6147BB3A20B}"/>
              </a:ext>
            </a:extLst>
          </p:cNvPr>
          <p:cNvPicPr>
            <a:picLocks noChangeAspect="1" noChangeArrowheads="1"/>
          </p:cNvPicPr>
          <p:nvPr userDrawn="1"/>
        </p:nvPicPr>
        <p:blipFill rotWithShape="1">
          <a:blip r:embed="rId11" cstate="print">
            <a:extLst>
              <a:ext uri="{BEBA8EAE-BF5A-486C-A8C5-ECC9F3942E4B}">
                <a14:imgProps xmlns:a14="http://schemas.microsoft.com/office/drawing/2010/main">
                  <a14:imgLayer r:embed="rId12">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Grupo de iconos del equipo trabajo grupo de trabajo, texto, grupo social,  silueta png | PNGWing">
            <a:extLst>
              <a:ext uri="{FF2B5EF4-FFF2-40B4-BE49-F238E27FC236}">
                <a16:creationId xmlns:a16="http://schemas.microsoft.com/office/drawing/2014/main" id="{43704638-5F6B-F61D-2F40-CB73CD21D920}"/>
              </a:ext>
            </a:extLst>
          </p:cNvPr>
          <p:cNvPicPr>
            <a:picLocks noChangeAspect="1" noChangeArrowheads="1"/>
          </p:cNvPicPr>
          <p:nvPr userDrawn="1"/>
        </p:nvPicPr>
        <p:blipFill rotWithShape="1">
          <a:blip r:embed="rId13" cstate="print">
            <a:extLst>
              <a:ext uri="{BEBA8EAE-BF5A-486C-A8C5-ECC9F3942E4B}">
                <a14:imgProps xmlns:a14="http://schemas.microsoft.com/office/drawing/2010/main">
                  <a14:imgLayer r:embed="rId14">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a:extLst>
              <a:ext uri="{FF2B5EF4-FFF2-40B4-BE49-F238E27FC236}">
                <a16:creationId xmlns:a16="http://schemas.microsoft.com/office/drawing/2014/main" id="{DA346D84-360A-757C-DE61-3190483687A7}"/>
              </a:ext>
            </a:extLst>
          </p:cNvPr>
          <p:cNvPicPr>
            <a:picLocks noChangeAspect="1" noChangeArrowheads="1"/>
          </p:cNvPicPr>
          <p:nvPr userDrawn="1"/>
        </p:nvPicPr>
        <p:blipFill rotWithShape="1">
          <a:blip r:embed="rId15" cstate="print">
            <a:extLst>
              <a:ext uri="{BEBA8EAE-BF5A-486C-A8C5-ECC9F3942E4B}">
                <a14:imgProps xmlns:a14="http://schemas.microsoft.com/office/drawing/2010/main">
                  <a14:imgLayer r:embed="rId16">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38" name="CuadroTexto 37">
            <a:extLst>
              <a:ext uri="{FF2B5EF4-FFF2-40B4-BE49-F238E27FC236}">
                <a16:creationId xmlns:a16="http://schemas.microsoft.com/office/drawing/2014/main" id="{40F6DDD3-E307-A095-5169-588BAA62AA4C}"/>
              </a:ext>
            </a:extLst>
          </p:cNvPr>
          <p:cNvSpPr txBox="1"/>
          <p:nvPr userDrawn="1"/>
        </p:nvSpPr>
        <p:spPr>
          <a:xfrm>
            <a:off x="11378460" y="6534806"/>
            <a:ext cx="864339" cy="307777"/>
          </a:xfrm>
          <a:prstGeom prst="rect">
            <a:avLst/>
          </a:prstGeom>
          <a:noFill/>
        </p:spPr>
        <p:txBody>
          <a:bodyPr wrap="none" rtlCol="0">
            <a:spAutoFit/>
          </a:bodyPr>
          <a:lstStyle/>
          <a:p>
            <a:r>
              <a:rPr lang="es-PE" sz="1400" b="1" i="1" dirty="0">
                <a:latin typeface="Arial" panose="020B0604020202020204" pitchFamily="34" charset="0"/>
                <a:cs typeface="Arial" panose="020B0604020202020204" pitchFamily="34" charset="0"/>
              </a:rPr>
              <a:t>CIERRE</a:t>
            </a:r>
          </a:p>
        </p:txBody>
      </p:sp>
      <p:pic>
        <p:nvPicPr>
          <p:cNvPr id="2" name="Picture 2" descr="Ilustración de Icono De Cese Cierre Conclusión Logotipo Vectorial ...">
            <a:extLst>
              <a:ext uri="{FF2B5EF4-FFF2-40B4-BE49-F238E27FC236}">
                <a16:creationId xmlns:a16="http://schemas.microsoft.com/office/drawing/2014/main" id="{60024693-CBFD-1014-52E6-DD189C3BE711}"/>
              </a:ext>
            </a:extLst>
          </p:cNvPr>
          <p:cNvPicPr>
            <a:picLocks noChangeAspect="1" noChangeArrowheads="1"/>
          </p:cNvPicPr>
          <p:nvPr userDrawn="1"/>
        </p:nvPicPr>
        <p:blipFill rotWithShape="1">
          <a:blip r:embed="rId17" cstate="print">
            <a:extLst>
              <a:ext uri="{BEBA8EAE-BF5A-486C-A8C5-ECC9F3942E4B}">
                <a14:imgProps xmlns:a14="http://schemas.microsoft.com/office/drawing/2010/main">
                  <a14:imgLayer r:embed="rId18">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19800"/>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2">
            <a:extLst>
              <a:ext uri="{FF2B5EF4-FFF2-40B4-BE49-F238E27FC236}">
                <a16:creationId xmlns:a16="http://schemas.microsoft.com/office/drawing/2014/main" id="{8D2A4DB5-4944-5E0D-B064-CF67535DD9C2}"/>
              </a:ext>
            </a:extLst>
          </p:cNvPr>
          <p:cNvSpPr>
            <a:spLocks noGrp="1"/>
          </p:cNvSpPr>
          <p:nvPr>
            <p:ph idx="1"/>
          </p:nvPr>
        </p:nvSpPr>
        <p:spPr>
          <a:xfrm>
            <a:off x="914400" y="1389055"/>
            <a:ext cx="9525000" cy="4727583"/>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Haga clic para modificar los estilos de texto del patrón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dirty="0"/>
              <a:t>Haga clic para modificar los estilos de texto del patrón</a:t>
            </a:r>
          </a:p>
        </p:txBody>
      </p:sp>
      <p:sp>
        <p:nvSpPr>
          <p:cNvPr id="7" name="Marcador de fecha 3">
            <a:extLst>
              <a:ext uri="{FF2B5EF4-FFF2-40B4-BE49-F238E27FC236}">
                <a16:creationId xmlns:a16="http://schemas.microsoft.com/office/drawing/2014/main" id="{6C866F58-0F06-5975-A918-D03B1C931BBC}"/>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8" name="Marcador de número de diapositiva 5">
            <a:extLst>
              <a:ext uri="{FF2B5EF4-FFF2-40B4-BE49-F238E27FC236}">
                <a16:creationId xmlns:a16="http://schemas.microsoft.com/office/drawing/2014/main" id="{E5AE400E-46A2-4AAF-357B-24DC41A662AD}"/>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dirty="0"/>
          </a:p>
        </p:txBody>
      </p:sp>
      <p:sp>
        <p:nvSpPr>
          <p:cNvPr id="4" name="Título 1">
            <a:extLst>
              <a:ext uri="{FF2B5EF4-FFF2-40B4-BE49-F238E27FC236}">
                <a16:creationId xmlns:a16="http://schemas.microsoft.com/office/drawing/2014/main" id="{E9A9DDFE-D2D1-6B34-A76A-DA10C287CE48}"/>
              </a:ext>
            </a:extLst>
          </p:cNvPr>
          <p:cNvSpPr>
            <a:spLocks noGrp="1"/>
          </p:cNvSpPr>
          <p:nvPr>
            <p:ph type="title"/>
          </p:nvPr>
        </p:nvSpPr>
        <p:spPr>
          <a:xfrm>
            <a:off x="914400" y="407103"/>
            <a:ext cx="9525000" cy="7299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1" kern="1200">
                <a:solidFill>
                  <a:srgbClr val="C00000"/>
                </a:solidFill>
                <a:latin typeface="+mj-lt"/>
                <a:ea typeface="+mj-ea"/>
                <a:cs typeface="+mj-cs"/>
              </a:defRPr>
            </a:lvl1pPr>
          </a:lstStyle>
          <a:p>
            <a:r>
              <a:rPr lang="es-ES" dirty="0"/>
              <a:t>Haga clic para modificar</a:t>
            </a:r>
            <a:endParaRPr lang="es-PE" dirty="0"/>
          </a:p>
        </p:txBody>
      </p:sp>
      <p:sp>
        <p:nvSpPr>
          <p:cNvPr id="3" name="Rectángulo: esquinas redondeadas 2">
            <a:extLst>
              <a:ext uri="{FF2B5EF4-FFF2-40B4-BE49-F238E27FC236}">
                <a16:creationId xmlns:a16="http://schemas.microsoft.com/office/drawing/2014/main" id="{1724A10E-E331-1DAF-CC6C-D67E8D6CA483}"/>
              </a:ext>
            </a:extLst>
          </p:cNvPr>
          <p:cNvSpPr/>
          <p:nvPr userDrawn="1"/>
        </p:nvSpPr>
        <p:spPr>
          <a:xfrm>
            <a:off x="11369382" y="5943600"/>
            <a:ext cx="863564" cy="914400"/>
          </a:xfrm>
          <a:prstGeom prst="roundRect">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227521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42"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anim calcmode="lin" valueType="num">
                      <p:cBhvr>
                        <p:cTn dur="1000" fill="hold"/>
                        <p:tgtEl>
                          <p:spTgt spid="5"/>
                        </p:tgtEl>
                        <p:attrNameLst>
                          <p:attrName>ppt_x</p:attrName>
                        </p:attrNameLst>
                      </p:cBhvr>
                      <p:tavLst>
                        <p:tav tm="0">
                          <p:val>
                            <p:strVal val="#ppt_x"/>
                          </p:val>
                        </p:tav>
                        <p:tav tm="100000">
                          <p:val>
                            <p:strVal val="#ppt_x"/>
                          </p:val>
                        </p:tav>
                      </p:tavLst>
                    </p:anim>
                    <p:anim calcmode="lin" valueType="num">
                      <p:cBhvr>
                        <p:cTn dur="1000" fill="hold"/>
                        <p:tgtEl>
                          <p:spTgt spid="5"/>
                        </p:tgtEl>
                        <p:attrNameLst>
                          <p:attrName>ppt_y</p:attrName>
                        </p:attrNameLst>
                      </p:cBhvr>
                      <p:tavLst>
                        <p:tav tm="0">
                          <p:val>
                            <p:strVal val="#ppt_y+.1"/>
                          </p:val>
                        </p:tav>
                        <p:tav tm="100000">
                          <p:val>
                            <p:strVal val="#ppt_y"/>
                          </p:val>
                        </p:tav>
                      </p:tavLst>
                    </p:anim>
                  </p:childTnLst>
                </p:cTn>
              </p:par>
            </p:tnLst>
          </p:tmpl>
          <p:tmpl lvl="2">
            <p:tnLst>
              <p:par>
                <p:cTn presetID="42"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anim calcmode="lin" valueType="num">
                      <p:cBhvr>
                        <p:cTn dur="1000" fill="hold"/>
                        <p:tgtEl>
                          <p:spTgt spid="5"/>
                        </p:tgtEl>
                        <p:attrNameLst>
                          <p:attrName>ppt_x</p:attrName>
                        </p:attrNameLst>
                      </p:cBhvr>
                      <p:tavLst>
                        <p:tav tm="0">
                          <p:val>
                            <p:strVal val="#ppt_x"/>
                          </p:val>
                        </p:tav>
                        <p:tav tm="100000">
                          <p:val>
                            <p:strVal val="#ppt_x"/>
                          </p:val>
                        </p:tav>
                      </p:tavLst>
                    </p:anim>
                    <p:anim calcmode="lin" valueType="num">
                      <p:cBhvr>
                        <p:cTn dur="1000" fill="hold"/>
                        <p:tgtEl>
                          <p:spTgt spid="5"/>
                        </p:tgtEl>
                        <p:attrNameLst>
                          <p:attrName>ppt_y</p:attrName>
                        </p:attrNameLst>
                      </p:cBhvr>
                      <p:tavLst>
                        <p:tav tm="0">
                          <p:val>
                            <p:strVal val="#ppt_y+.1"/>
                          </p:val>
                        </p:tav>
                        <p:tav tm="100000">
                          <p:val>
                            <p:strVal val="#ppt_y"/>
                          </p:val>
                        </p:tav>
                      </p:tavLst>
                    </p:anim>
                  </p:childTnLst>
                </p:cTn>
              </p:par>
            </p:tnLst>
          </p:tmpl>
          <p:tmpl lvl="3">
            <p:tnLst>
              <p:par>
                <p:cTn presetID="42"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anim calcmode="lin" valueType="num">
                      <p:cBhvr>
                        <p:cTn dur="1000" fill="hold"/>
                        <p:tgtEl>
                          <p:spTgt spid="5"/>
                        </p:tgtEl>
                        <p:attrNameLst>
                          <p:attrName>ppt_x</p:attrName>
                        </p:attrNameLst>
                      </p:cBhvr>
                      <p:tavLst>
                        <p:tav tm="0">
                          <p:val>
                            <p:strVal val="#ppt_x"/>
                          </p:val>
                        </p:tav>
                        <p:tav tm="100000">
                          <p:val>
                            <p:strVal val="#ppt_x"/>
                          </p:val>
                        </p:tav>
                      </p:tavLst>
                    </p:anim>
                    <p:anim calcmode="lin" valueType="num">
                      <p:cBhvr>
                        <p:cTn dur="1000" fill="hold"/>
                        <p:tgtEl>
                          <p:spTgt spid="5"/>
                        </p:tgtEl>
                        <p:attrNameLst>
                          <p:attrName>ppt_y</p:attrName>
                        </p:attrNameLst>
                      </p:cBhvr>
                      <p:tavLst>
                        <p:tav tm="0">
                          <p:val>
                            <p:strVal val="#ppt_y+.1"/>
                          </p:val>
                        </p:tav>
                        <p:tav tm="100000">
                          <p:val>
                            <p:strVal val="#ppt_y"/>
                          </p:val>
                        </p:tav>
                      </p:tavLst>
                    </p:anim>
                  </p:childTnLst>
                </p:cTn>
              </p:par>
            </p:tnLst>
          </p:tmpl>
          <p:tmpl lvl="4">
            <p:tnLst>
              <p:par>
                <p:cTn presetID="42"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anim calcmode="lin" valueType="num">
                      <p:cBhvr>
                        <p:cTn dur="1000" fill="hold"/>
                        <p:tgtEl>
                          <p:spTgt spid="5"/>
                        </p:tgtEl>
                        <p:attrNameLst>
                          <p:attrName>ppt_x</p:attrName>
                        </p:attrNameLst>
                      </p:cBhvr>
                      <p:tavLst>
                        <p:tav tm="0">
                          <p:val>
                            <p:strVal val="#ppt_x"/>
                          </p:val>
                        </p:tav>
                        <p:tav tm="100000">
                          <p:val>
                            <p:strVal val="#ppt_x"/>
                          </p:val>
                        </p:tav>
                      </p:tavLst>
                    </p:anim>
                    <p:anim calcmode="lin" valueType="num">
                      <p:cBhvr>
                        <p:cTn dur="1000" fill="hold"/>
                        <p:tgtEl>
                          <p:spTgt spid="5"/>
                        </p:tgtEl>
                        <p:attrNameLst>
                          <p:attrName>ppt_y</p:attrName>
                        </p:attrNameLst>
                      </p:cBhvr>
                      <p:tavLst>
                        <p:tav tm="0">
                          <p:val>
                            <p:strVal val="#ppt_y+.1"/>
                          </p:val>
                        </p:tav>
                        <p:tav tm="100000">
                          <p:val>
                            <p:strVal val="#ppt_y"/>
                          </p:val>
                        </p:tav>
                      </p:tavLst>
                    </p:anim>
                  </p:childTnLst>
                </p:cTn>
              </p:par>
            </p:tnLst>
          </p:tmpl>
          <p:tmpl lvl="5">
            <p:tnLst>
              <p:par>
                <p:cTn presetID="42"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1000"/>
                        <p:tgtEl>
                          <p:spTgt spid="5"/>
                        </p:tgtEl>
                      </p:cBhvr>
                    </p:animEffect>
                    <p:anim calcmode="lin" valueType="num">
                      <p:cBhvr>
                        <p:cTn dur="1000" fill="hold"/>
                        <p:tgtEl>
                          <p:spTgt spid="5"/>
                        </p:tgtEl>
                        <p:attrNameLst>
                          <p:attrName>ppt_x</p:attrName>
                        </p:attrNameLst>
                      </p:cBhvr>
                      <p:tavLst>
                        <p:tav tm="0">
                          <p:val>
                            <p:strVal val="#ppt_x"/>
                          </p:val>
                        </p:tav>
                        <p:tav tm="100000">
                          <p:val>
                            <p:strVal val="#ppt_x"/>
                          </p:val>
                        </p:tav>
                      </p:tavLst>
                    </p:anim>
                    <p:anim calcmode="lin" valueType="num">
                      <p:cBhvr>
                        <p:cTn dur="1000" fill="hold"/>
                        <p:tgtEl>
                          <p:spTgt spid="5"/>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ACIAS">
    <p:bg>
      <p:bgPr>
        <a:solidFill>
          <a:schemeClr val="bg1"/>
        </a:solidFill>
        <a:effectLst/>
      </p:bgPr>
    </p:bg>
    <p:spTree>
      <p:nvGrpSpPr>
        <p:cNvPr id="1" name=""/>
        <p:cNvGrpSpPr/>
        <p:nvPr/>
      </p:nvGrpSpPr>
      <p:grpSpPr>
        <a:xfrm>
          <a:off x="0" y="0"/>
          <a:ext cx="0" cy="0"/>
          <a:chOff x="0" y="0"/>
          <a:chExt cx="0" cy="0"/>
        </a:xfrm>
      </p:grpSpPr>
      <p:sp>
        <p:nvSpPr>
          <p:cNvPr id="4" name="object 4"/>
          <p:cNvSpPr/>
          <p:nvPr userDrawn="1"/>
        </p:nvSpPr>
        <p:spPr>
          <a:xfrm>
            <a:off x="0" y="76200"/>
            <a:ext cx="12192000" cy="6858000"/>
          </a:xfrm>
          <a:prstGeom prst="rect">
            <a:avLst/>
          </a:prstGeom>
          <a:blipFill>
            <a:blip r:embed="rId2" cstate="print"/>
            <a:stretch>
              <a:fillRect/>
            </a:stretch>
          </a:blipFill>
        </p:spPr>
        <p:txBody>
          <a:bodyPr wrap="square" lIns="0" tIns="0" rIns="0" bIns="0" rtlCol="0">
            <a:noAutofit/>
          </a:bodyPr>
          <a:lstStyle/>
          <a:p>
            <a:endParaRPr/>
          </a:p>
        </p:txBody>
      </p:sp>
      <p:sp>
        <p:nvSpPr>
          <p:cNvPr id="3" name="Rectángulo 2">
            <a:extLst>
              <a:ext uri="{FF2B5EF4-FFF2-40B4-BE49-F238E27FC236}">
                <a16:creationId xmlns:a16="http://schemas.microsoft.com/office/drawing/2014/main" id="{29A47087-91EB-3914-3287-5AD291A090CC}"/>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 name="Título 1">
            <a:extLst>
              <a:ext uri="{FF2B5EF4-FFF2-40B4-BE49-F238E27FC236}">
                <a16:creationId xmlns:a16="http://schemas.microsoft.com/office/drawing/2014/main" id="{643CB07E-CD56-2078-08DB-9F46D185F303}"/>
              </a:ext>
            </a:extLst>
          </p:cNvPr>
          <p:cNvSpPr>
            <a:spLocks noGrp="1"/>
          </p:cNvSpPr>
          <p:nvPr>
            <p:ph type="ctrTitle" hasCustomPrompt="1"/>
          </p:nvPr>
        </p:nvSpPr>
        <p:spPr>
          <a:xfrm>
            <a:off x="826656" y="415528"/>
            <a:ext cx="8545944" cy="2387600"/>
          </a:xfrm>
          <a:prstGeom prst="rect">
            <a:avLst/>
          </a:prstGeom>
        </p:spPr>
        <p:txBody>
          <a:bodyPr anchor="b"/>
          <a:lstStyle>
            <a:lvl1pPr algn="ctr">
              <a:defRPr sz="6000" b="1">
                <a:solidFill>
                  <a:srgbClr val="C00000"/>
                </a:solidFill>
              </a:defRPr>
            </a:lvl1pPr>
          </a:lstStyle>
          <a:p>
            <a:r>
              <a:rPr lang="es-ES" dirty="0"/>
              <a:t>GRACIAS</a:t>
            </a:r>
            <a:endParaRPr lang="es-PE" dirty="0"/>
          </a:p>
        </p:txBody>
      </p:sp>
      <p:sp>
        <p:nvSpPr>
          <p:cNvPr id="6" name="Subtítulo 2">
            <a:extLst>
              <a:ext uri="{FF2B5EF4-FFF2-40B4-BE49-F238E27FC236}">
                <a16:creationId xmlns:a16="http://schemas.microsoft.com/office/drawing/2014/main" id="{9CA8813C-11C0-0297-5357-0247B8403112}"/>
              </a:ext>
            </a:extLst>
          </p:cNvPr>
          <p:cNvSpPr>
            <a:spLocks noGrp="1"/>
          </p:cNvSpPr>
          <p:nvPr>
            <p:ph type="subTitle" idx="1"/>
          </p:nvPr>
        </p:nvSpPr>
        <p:spPr>
          <a:xfrm>
            <a:off x="826656" y="4424363"/>
            <a:ext cx="8545944" cy="1214437"/>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Haga clic para modificar el estilo de subtítulo del patrón</a:t>
            </a:r>
            <a:endParaRPr lang="es-PE" dirty="0"/>
          </a:p>
        </p:txBody>
      </p:sp>
      <p:sp>
        <p:nvSpPr>
          <p:cNvPr id="8" name="Marcador de fecha 3">
            <a:extLst>
              <a:ext uri="{FF2B5EF4-FFF2-40B4-BE49-F238E27FC236}">
                <a16:creationId xmlns:a16="http://schemas.microsoft.com/office/drawing/2014/main" id="{B63A8F81-51EE-9043-ED6C-E69F00E541B8}"/>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9" name="Marcador de número de diapositiva 5">
            <a:extLst>
              <a:ext uri="{FF2B5EF4-FFF2-40B4-BE49-F238E27FC236}">
                <a16:creationId xmlns:a16="http://schemas.microsoft.com/office/drawing/2014/main" id="{7FA57BB9-8B63-E112-97EA-B40133AE83E5}"/>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dirty="0"/>
          </a:p>
        </p:txBody>
      </p:sp>
    </p:spTree>
    <p:extLst>
      <p:ext uri="{BB962C8B-B14F-4D97-AF65-F5344CB8AC3E}">
        <p14:creationId xmlns:p14="http://schemas.microsoft.com/office/powerpoint/2010/main" val="779108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OR CORREGIR">
    <p:bg>
      <p:bgPr>
        <a:solidFill>
          <a:schemeClr val="bg1"/>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6D37F00B-6444-3BE1-D3FB-58BCBD724D4C}"/>
              </a:ext>
            </a:extLst>
          </p:cNvPr>
          <p:cNvSpPr/>
          <p:nvPr userDrawn="1"/>
        </p:nvSpPr>
        <p:spPr>
          <a:xfrm>
            <a:off x="0" y="-1"/>
            <a:ext cx="11365344" cy="6857997"/>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3" name="Rectángulo 2">
            <a:extLst>
              <a:ext uri="{FF2B5EF4-FFF2-40B4-BE49-F238E27FC236}">
                <a16:creationId xmlns:a16="http://schemas.microsoft.com/office/drawing/2014/main" id="{29A47087-91EB-3914-3287-5AD291A090CC}"/>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7" name="bg object 16">
            <a:extLst>
              <a:ext uri="{FF2B5EF4-FFF2-40B4-BE49-F238E27FC236}">
                <a16:creationId xmlns:a16="http://schemas.microsoft.com/office/drawing/2014/main" id="{8640EAFD-7DED-DD37-7285-052394D0D345}"/>
              </a:ext>
            </a:extLst>
          </p:cNvPr>
          <p:cNvPicPr>
            <a:picLocks noChangeAspect="1"/>
          </p:cNvPicPr>
          <p:nvPr userDrawn="1"/>
        </p:nvPicPr>
        <p:blipFill rotWithShape="1">
          <a:blip r:embed="rId2" cstate="print"/>
          <a:srcRect l="50331" t="76667" b="11111"/>
          <a:stretch/>
        </p:blipFill>
        <p:spPr>
          <a:xfrm>
            <a:off x="4518787" y="6318000"/>
            <a:ext cx="2598874" cy="540000"/>
          </a:xfrm>
          <a:prstGeom prst="rect">
            <a:avLst/>
          </a:prstGeom>
        </p:spPr>
      </p:pic>
      <p:sp>
        <p:nvSpPr>
          <p:cNvPr id="8" name="Rectángulo 7">
            <a:extLst>
              <a:ext uri="{FF2B5EF4-FFF2-40B4-BE49-F238E27FC236}">
                <a16:creationId xmlns:a16="http://schemas.microsoft.com/office/drawing/2014/main" id="{9906CA8F-12A1-58C8-FB3A-CD466193D4CC}"/>
              </a:ext>
            </a:extLst>
          </p:cNvPr>
          <p:cNvSpPr/>
          <p:nvPr userDrawn="1"/>
        </p:nvSpPr>
        <p:spPr>
          <a:xfrm>
            <a:off x="11365344" y="0"/>
            <a:ext cx="8386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pic>
        <p:nvPicPr>
          <p:cNvPr id="10" name="Picture 8">
            <a:extLst>
              <a:ext uri="{FF2B5EF4-FFF2-40B4-BE49-F238E27FC236}">
                <a16:creationId xmlns:a16="http://schemas.microsoft.com/office/drawing/2014/main" id="{F181EE87-EC3E-854C-B572-851F0F5546CD}"/>
              </a:ext>
            </a:extLst>
          </p:cNvPr>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3591" t="15739" r="21930" b="9594"/>
          <a:stretch/>
        </p:blipFill>
        <p:spPr bwMode="auto">
          <a:xfrm>
            <a:off x="11489883" y="59100"/>
            <a:ext cx="572848" cy="72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Marca de verificación en blanco y negro Gratis Dibujos Animados  Imágene｜Illustoon ES">
            <a:extLst>
              <a:ext uri="{FF2B5EF4-FFF2-40B4-BE49-F238E27FC236}">
                <a16:creationId xmlns:a16="http://schemas.microsoft.com/office/drawing/2014/main" id="{097158EA-9A98-AC6F-B6A4-A190CA6ED709}"/>
              </a:ext>
            </a:extLst>
          </p:cNvPr>
          <p:cNvPicPr>
            <a:picLocks noChangeAspect="1" noChangeArrowheads="1"/>
          </p:cNvPicPr>
          <p:nvPr userDrawn="1"/>
        </p:nvPicPr>
        <p:blipFill rotWithShape="1">
          <a:blip r:embed="rId5" cstate="print">
            <a:extLst>
              <a:ext uri="{BEBA8EAE-BF5A-486C-A8C5-ECC9F3942E4B}">
                <a14:imgProps xmlns:a14="http://schemas.microsoft.com/office/drawing/2010/main">
                  <a14:imgLayer r:embed="rId6">
                    <a14:imgEffect>
                      <a14:backgroundRemoval t="10000" b="90000" l="10000" r="90000"/>
                    </a14:imgEffect>
                  </a14:imgLayer>
                </a14:imgProps>
              </a:ext>
              <a:ext uri="{28A0092B-C50C-407E-A947-70E740481C1C}">
                <a14:useLocalDpi xmlns:a14="http://schemas.microsoft.com/office/drawing/2010/main" val="0"/>
              </a:ext>
            </a:extLst>
          </a:blip>
          <a:srcRect l="11504" t="12222" r="11504" b="12222"/>
          <a:stretch/>
        </p:blipFill>
        <p:spPr bwMode="auto">
          <a:xfrm>
            <a:off x="11890806" y="1137055"/>
            <a:ext cx="256786" cy="252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Bombilla, Bombilla incandescente, Luz eléctrica, Lámpara, Negro, Blanco y  negro, Línea, silueta, ligero, negro, En blanco y negro png | PNGWing">
            <a:extLst>
              <a:ext uri="{FF2B5EF4-FFF2-40B4-BE49-F238E27FC236}">
                <a16:creationId xmlns:a16="http://schemas.microsoft.com/office/drawing/2014/main" id="{12D11473-D315-C7D0-7B99-F972FE1FAB45}"/>
              </a:ext>
            </a:extLst>
          </p:cNvPr>
          <p:cNvPicPr>
            <a:picLocks noChangeAspect="1" noChangeArrowheads="1"/>
          </p:cNvPicPr>
          <p:nvPr userDrawn="1"/>
        </p:nvPicPr>
        <p:blipFill>
          <a:blip r:embed="rId7" cstate="print">
            <a:extLst>
              <a:ext uri="{BEBA8EAE-BF5A-486C-A8C5-ECC9F3942E4B}">
                <a14:imgProps xmlns:a14="http://schemas.microsoft.com/office/drawing/2010/main">
                  <a14:imgLayer r:embed="rId8">
                    <a14:imgEffect>
                      <a14:backgroundRemoval t="3878" b="98367" l="6522" r="93696">
                        <a14:foregroundMark x1="44239" y1="86224" x2="55000" y2="86224"/>
                        <a14:foregroundMark x1="47391" y1="93776" x2="54891" y2="94694"/>
                        <a14:foregroundMark x1="78696" y1="71122" x2="81739" y2="73265"/>
                        <a14:foregroundMark x1="91413" y1="45612" x2="93913" y2="45408"/>
                        <a14:foregroundMark x1="80543" y1="15102" x2="77065" y2="18469"/>
                        <a14:foregroundMark x1="51196" y1="3878" x2="49891" y2="10408"/>
                        <a14:foregroundMark x1="19783" y1="16735" x2="22500" y2="19490"/>
                        <a14:foregroundMark x1="6522" y1="45000" x2="13043" y2="45408"/>
                        <a14:foregroundMark x1="24457" y1="67857" x2="18696" y2="72959"/>
                        <a14:foregroundMark x1="48043" y1="98061" x2="51413" y2="98367"/>
                      </a14:backgroundRemoval>
                    </a14:imgEffect>
                  </a14:imgLayer>
                </a14:imgProps>
              </a:ext>
              <a:ext uri="{28A0092B-C50C-407E-A947-70E740481C1C}">
                <a14:useLocalDpi xmlns:a14="http://schemas.microsoft.com/office/drawing/2010/main" val="0"/>
              </a:ext>
            </a:extLst>
          </a:blip>
          <a:srcRect/>
          <a:stretch>
            <a:fillRect/>
          </a:stretch>
        </p:blipFill>
        <p:spPr bwMode="auto">
          <a:xfrm>
            <a:off x="11423385" y="3428961"/>
            <a:ext cx="676001" cy="720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Piezas de rompecabezas en variante blanco y negro - Iconos gratis de">
            <a:extLst>
              <a:ext uri="{FF2B5EF4-FFF2-40B4-BE49-F238E27FC236}">
                <a16:creationId xmlns:a16="http://schemas.microsoft.com/office/drawing/2014/main" id="{C56188C5-2E13-7740-CA6C-64E7FF646ABE}"/>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11430000" y="2188824"/>
            <a:ext cx="720000" cy="720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Libro en blanco y negro, Club de discusión de libros, Logotipo, Autor,  Lectura guiada, Demasiado cerca para respirar una novela, Próximamente del  Libro de Mormón, Publicación, Blog, ángulo, autor png | PNGWing">
            <a:extLst>
              <a:ext uri="{FF2B5EF4-FFF2-40B4-BE49-F238E27FC236}">
                <a16:creationId xmlns:a16="http://schemas.microsoft.com/office/drawing/2014/main" id="{02358743-0859-B8C8-0910-C12D1C6CB5EE}"/>
              </a:ext>
            </a:extLst>
          </p:cNvPr>
          <p:cNvPicPr>
            <a:picLocks noChangeAspect="1" noChangeArrowheads="1"/>
          </p:cNvPicPr>
          <p:nvPr userDrawn="1"/>
        </p:nvPicPr>
        <p:blipFill rotWithShape="1">
          <a:blip r:embed="rId10" cstate="print">
            <a:extLst>
              <a:ext uri="{BEBA8EAE-BF5A-486C-A8C5-ECC9F3942E4B}">
                <a14:imgProps xmlns:a14="http://schemas.microsoft.com/office/drawing/2010/main">
                  <a14:imgLayer r:embed="rId11">
                    <a14:imgEffect>
                      <a14:backgroundRemoval t="10000" b="90000" l="10000" r="90000">
                        <a14:foregroundMark x1="33804" y1="18505" x2="31739" y2="23738"/>
                        <a14:foregroundMark x1="26630" y1="55327" x2="26413" y2="56262"/>
                        <a14:foregroundMark x1="23587" y1="63738" x2="23804" y2="66355"/>
                      </a14:backgroundRemoval>
                    </a14:imgEffect>
                  </a14:imgLayer>
                </a14:imgProps>
              </a:ext>
              <a:ext uri="{28A0092B-C50C-407E-A947-70E740481C1C}">
                <a14:useLocalDpi xmlns:a14="http://schemas.microsoft.com/office/drawing/2010/main" val="0"/>
              </a:ext>
            </a:extLst>
          </a:blip>
          <a:srcRect l="19565" t="8130" r="20435" b="6454"/>
          <a:stretch/>
        </p:blipFill>
        <p:spPr bwMode="auto">
          <a:xfrm>
            <a:off x="11427592" y="4553871"/>
            <a:ext cx="720000" cy="43230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Grupo de iconos del equipo trabajo grupo de trabajo, texto, grupo social,  silueta png | PNGWing">
            <a:extLst>
              <a:ext uri="{FF2B5EF4-FFF2-40B4-BE49-F238E27FC236}">
                <a16:creationId xmlns:a16="http://schemas.microsoft.com/office/drawing/2014/main" id="{E57A6DDC-3E7B-9171-C4BB-CAA2C763D31D}"/>
              </a:ext>
            </a:extLst>
          </p:cNvPr>
          <p:cNvPicPr>
            <a:picLocks noChangeAspect="1" noChangeArrowheads="1"/>
          </p:cNvPicPr>
          <p:nvPr userDrawn="1"/>
        </p:nvPicPr>
        <p:blipFill rotWithShape="1">
          <a:blip r:embed="rId12" cstate="print">
            <a:extLst>
              <a:ext uri="{BEBA8EAE-BF5A-486C-A8C5-ECC9F3942E4B}">
                <a14:imgProps xmlns:a14="http://schemas.microsoft.com/office/drawing/2010/main">
                  <a14:imgLayer r:embed="rId13">
                    <a14:imgEffect>
                      <a14:backgroundRemoval t="10000" b="90000" l="2500" r="96196">
                        <a14:foregroundMark x1="91630" y1="43370" x2="92391" y2="46304"/>
                        <a14:foregroundMark x1="89565" y1="32283" x2="91087" y2="33152"/>
                        <a14:foregroundMark x1="96196" y1="51739" x2="96413" y2="54457"/>
                        <a14:foregroundMark x1="11087" y1="32609" x2="11196" y2="31196"/>
                        <a14:foregroundMark x1="7065" y1="46196" x2="9891" y2="44891"/>
                        <a14:foregroundMark x1="3587" y1="61522" x2="2500" y2="63152"/>
                        <a14:foregroundMark x1="50652" y1="29674" x2="55435" y2="30435"/>
                        <a14:foregroundMark x1="51739" y1="17283" x2="51304" y2="15652"/>
                        <a14:foregroundMark x1="51196" y1="44457" x2="51630" y2="46087"/>
                        <a14:backgroundMark x1="10000" y1="52174" x2="11848" y2="52174"/>
                        <a14:backgroundMark x1="89457" y1="52283" x2="91522" y2="52283"/>
                      </a14:backgroundRemoval>
                    </a14:imgEffect>
                  </a14:imgLayer>
                </a14:imgProps>
              </a:ext>
              <a:ext uri="{28A0092B-C50C-407E-A947-70E740481C1C}">
                <a14:useLocalDpi xmlns:a14="http://schemas.microsoft.com/office/drawing/2010/main" val="0"/>
              </a:ext>
            </a:extLst>
          </a:blip>
          <a:srcRect t="12693" b="12474"/>
          <a:stretch/>
        </p:blipFill>
        <p:spPr bwMode="auto">
          <a:xfrm>
            <a:off x="11416307" y="5391090"/>
            <a:ext cx="720000" cy="38916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a:extLst>
              <a:ext uri="{FF2B5EF4-FFF2-40B4-BE49-F238E27FC236}">
                <a16:creationId xmlns:a16="http://schemas.microsoft.com/office/drawing/2014/main" id="{C890FE3A-E766-0FBA-86CD-D646571AB9C1}"/>
              </a:ext>
            </a:extLst>
          </p:cNvPr>
          <p:cNvPicPr>
            <a:picLocks noChangeAspect="1" noChangeArrowheads="1"/>
          </p:cNvPicPr>
          <p:nvPr userDrawn="1"/>
        </p:nvPicPr>
        <p:blipFill rotWithShape="1">
          <a:blip r:embed="rId14" cstate="print">
            <a:extLst>
              <a:ext uri="{BEBA8EAE-BF5A-486C-A8C5-ECC9F3942E4B}">
                <a14:imgProps xmlns:a14="http://schemas.microsoft.com/office/drawing/2010/main">
                  <a14:imgLayer r:embed="rId15">
                    <a14:imgEffect>
                      <a14:backgroundRemoval t="7960" b="89552" l="9960" r="89641">
                        <a14:foregroundMark x1="54183" y1="10448" x2="51394" y2="7960"/>
                        <a14:foregroundMark x1="63745" y1="9453" x2="63347" y2="11443"/>
                        <a14:foregroundMark x1="59761" y1="88557" x2="59761" y2="88557"/>
                      </a14:backgroundRemoval>
                    </a14:imgEffect>
                  </a14:imgLayer>
                </a14:imgProps>
              </a:ext>
              <a:ext uri="{28A0092B-C50C-407E-A947-70E740481C1C}">
                <a14:useLocalDpi xmlns:a14="http://schemas.microsoft.com/office/drawing/2010/main" val="0"/>
              </a:ext>
            </a:extLst>
          </a:blip>
          <a:srcRect l="18128" r="21315"/>
          <a:stretch/>
        </p:blipFill>
        <p:spPr bwMode="auto">
          <a:xfrm>
            <a:off x="11365343" y="1056042"/>
            <a:ext cx="544478" cy="720000"/>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3E19A59A-D176-A4B5-550B-A109E74986A1}"/>
              </a:ext>
            </a:extLst>
          </p:cNvPr>
          <p:cNvSpPr txBox="1"/>
          <p:nvPr userDrawn="1"/>
        </p:nvSpPr>
        <p:spPr>
          <a:xfrm>
            <a:off x="11389032" y="771916"/>
            <a:ext cx="824265" cy="307777"/>
          </a:xfrm>
          <a:prstGeom prst="rect">
            <a:avLst/>
          </a:prstGeom>
          <a:noFill/>
        </p:spPr>
        <p:txBody>
          <a:bodyPr wrap="none" rtlCol="0">
            <a:spAutoFit/>
          </a:bodyPr>
          <a:lstStyle/>
          <a:p>
            <a:r>
              <a:rPr lang="es-PE" sz="1400" b="1" i="1" dirty="0">
                <a:latin typeface="Arial" panose="020B0604020202020204" pitchFamily="34" charset="0"/>
                <a:cs typeface="Arial" panose="020B0604020202020204" pitchFamily="34" charset="0"/>
              </a:rPr>
              <a:t>DUDAS</a:t>
            </a:r>
          </a:p>
        </p:txBody>
      </p:sp>
      <p:pic>
        <p:nvPicPr>
          <p:cNvPr id="21" name="Picture 2" descr="Ilustración de Icono De Cese Cierre Conclusión Logotipo Vectorial ...">
            <a:extLst>
              <a:ext uri="{FF2B5EF4-FFF2-40B4-BE49-F238E27FC236}">
                <a16:creationId xmlns:a16="http://schemas.microsoft.com/office/drawing/2014/main" id="{54FC650D-02E7-C7B9-0D5E-F8F5C15857ED}"/>
              </a:ext>
            </a:extLst>
          </p:cNvPr>
          <p:cNvPicPr>
            <a:picLocks noChangeAspect="1" noChangeArrowheads="1"/>
          </p:cNvPicPr>
          <p:nvPr userDrawn="1"/>
        </p:nvPicPr>
        <p:blipFill rotWithShape="1">
          <a:blip r:embed="rId16" cstate="print">
            <a:extLst>
              <a:ext uri="{BEBA8EAE-BF5A-486C-A8C5-ECC9F3942E4B}">
                <a14:imgProps xmlns:a14="http://schemas.microsoft.com/office/drawing/2010/main">
                  <a14:imgLayer r:embed="rId17">
                    <a14:imgEffect>
                      <a14:backgroundRemoval t="23505" b="91501" l="16176" r="90686">
                        <a14:foregroundMark x1="26471" y1="27124" x2="42647" y2="24020"/>
                        <a14:foregroundMark x1="17974" y1="31536" x2="16667" y2="62908"/>
                        <a14:foregroundMark x1="34477" y1="46078" x2="34477" y2="46078"/>
                        <a14:foregroundMark x1="47876" y1="44608" x2="47876" y2="44608"/>
                        <a14:foregroundMark x1="58497" y1="48529" x2="58497" y2="48529"/>
                        <a14:foregroundMark x1="55882" y1="58333" x2="55882" y2="58333"/>
                        <a14:foregroundMark x1="44281" y1="63889" x2="44281" y2="63889"/>
                        <a14:foregroundMark x1="48203" y1="69444" x2="48203" y2="69444"/>
                      </a14:backgroundRemoval>
                    </a14:imgEffect>
                  </a14:imgLayer>
                </a14:imgProps>
              </a:ext>
              <a:ext uri="{28A0092B-C50C-407E-A947-70E740481C1C}">
                <a14:useLocalDpi xmlns:a14="http://schemas.microsoft.com/office/drawing/2010/main" val="0"/>
              </a:ext>
            </a:extLst>
          </a:blip>
          <a:srcRect l="13399" t="19933" r="12092" b="19936"/>
          <a:stretch/>
        </p:blipFill>
        <p:spPr bwMode="auto">
          <a:xfrm>
            <a:off x="11441164" y="6048347"/>
            <a:ext cx="720000" cy="581053"/>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fecha 3">
            <a:extLst>
              <a:ext uri="{FF2B5EF4-FFF2-40B4-BE49-F238E27FC236}">
                <a16:creationId xmlns:a16="http://schemas.microsoft.com/office/drawing/2014/main" id="{2BF1E378-1703-2E23-755B-F43FEAC6B103}"/>
              </a:ext>
            </a:extLst>
          </p:cNvPr>
          <p:cNvSpPr txBox="1">
            <a:spLocks/>
          </p:cNvSpPr>
          <p:nvPr userDrawn="1"/>
        </p:nvSpPr>
        <p:spPr>
          <a:xfrm>
            <a:off x="457200" y="6296025"/>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PE" dirty="0" err="1"/>
              <a:t>Mag</a:t>
            </a:r>
            <a:r>
              <a:rPr lang="es-PE" dirty="0"/>
              <a:t>. Ing. Anibal Sanchez</a:t>
            </a:r>
          </a:p>
        </p:txBody>
      </p:sp>
      <p:sp>
        <p:nvSpPr>
          <p:cNvPr id="9" name="Marcador de número de diapositiva 5">
            <a:extLst>
              <a:ext uri="{FF2B5EF4-FFF2-40B4-BE49-F238E27FC236}">
                <a16:creationId xmlns:a16="http://schemas.microsoft.com/office/drawing/2014/main" id="{77FF17BD-BCF1-64F1-F9AF-068FB1986934}"/>
              </a:ext>
            </a:extLst>
          </p:cNvPr>
          <p:cNvSpPr txBox="1">
            <a:spLocks/>
          </p:cNvSpPr>
          <p:nvPr userDrawn="1"/>
        </p:nvSpPr>
        <p:spPr>
          <a:xfrm>
            <a:off x="8229600" y="6296025"/>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FFC0A3E-C53C-4F5C-A9FF-D1AB34158564}" type="slidenum">
              <a:rPr lang="es-PE" smtClean="0"/>
              <a:pPr/>
              <a:t>‹Nº›</a:t>
            </a:fld>
            <a:endParaRPr lang="es-PE" dirty="0"/>
          </a:p>
        </p:txBody>
      </p:sp>
    </p:spTree>
    <p:extLst>
      <p:ext uri="{BB962C8B-B14F-4D97-AF65-F5344CB8AC3E}">
        <p14:creationId xmlns:p14="http://schemas.microsoft.com/office/powerpoint/2010/main" val="2617946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6" r:id="rId9"/>
    <p:sldLayoutId id="2147483657"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eg"/><Relationship Id="rId1" Type="http://schemas.openxmlformats.org/officeDocument/2006/relationships/slideLayout" Target="../slideLayouts/slideLayout5.xml"/><Relationship Id="rId4" Type="http://schemas.openxmlformats.org/officeDocument/2006/relationships/hyperlink" Target="https://www.ralphsmeatcompany.com.au/2021/03/reasons-to-have-precision-farming-technology.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video" Target="https://www.youtube.com/embed/DD3Z5JfA9z0?feature=oembed" TargetMode="External"/><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3.jpeg"/></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 Target="slide7.xml"/><Relationship Id="rId7" Type="http://schemas.openxmlformats.org/officeDocument/2006/relationships/slide" Target="slide11.xml"/><Relationship Id="rId2" Type="http://schemas.openxmlformats.org/officeDocument/2006/relationships/image" Target="../media/image44.png"/><Relationship Id="rId1" Type="http://schemas.openxmlformats.org/officeDocument/2006/relationships/slideLayout" Target="../slideLayouts/slideLayout1.xml"/><Relationship Id="rId6" Type="http://schemas.openxmlformats.org/officeDocument/2006/relationships/slide" Target="slide9.xml"/><Relationship Id="rId11" Type="http://schemas.openxmlformats.org/officeDocument/2006/relationships/slide" Target="slide1.xml"/><Relationship Id="rId5" Type="http://schemas.openxmlformats.org/officeDocument/2006/relationships/slide" Target="slide4.xml"/><Relationship Id="rId10" Type="http://schemas.openxmlformats.org/officeDocument/2006/relationships/slide" Target="slide17.xml"/><Relationship Id="rId4" Type="http://schemas.openxmlformats.org/officeDocument/2006/relationships/slide" Target="slide6.xml"/><Relationship Id="rId9" Type="http://schemas.openxmlformats.org/officeDocument/2006/relationships/slide" Target="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p:nvPr/>
        </p:nvSpPr>
        <p:spPr>
          <a:xfrm>
            <a:off x="3911420" y="3067812"/>
            <a:ext cx="5477181" cy="787145"/>
          </a:xfrm>
          <a:prstGeom prst="rect">
            <a:avLst/>
          </a:prstGeom>
        </p:spPr>
        <p:txBody>
          <a:bodyPr wrap="square" lIns="0" tIns="9503" rIns="0" bIns="0" rtlCol="0">
            <a:noAutofit/>
          </a:bodyPr>
          <a:lstStyle/>
          <a:p>
            <a:pPr>
              <a:lnSpc>
                <a:spcPts val="1300"/>
              </a:lnSpc>
            </a:pPr>
            <a:endParaRPr lang="es-PE" sz="1300" noProof="0" dirty="0"/>
          </a:p>
          <a:p>
            <a:pPr>
              <a:lnSpc>
                <a:spcPct val="95825"/>
              </a:lnSpc>
            </a:pPr>
            <a:r>
              <a:rPr lang="es-PE" sz="2400" b="1" noProof="0" dirty="0">
                <a:solidFill>
                  <a:srgbClr val="006FC0"/>
                </a:solidFill>
                <a:latin typeface="Arial"/>
                <a:cs typeface="Arial"/>
              </a:rPr>
              <a:t>O:</a:t>
            </a:r>
            <a:endParaRPr lang="es-PE" sz="2400" noProof="0" dirty="0">
              <a:latin typeface="Arial"/>
              <a:cs typeface="Arial"/>
            </a:endParaRPr>
          </a:p>
        </p:txBody>
      </p:sp>
      <p:sp>
        <p:nvSpPr>
          <p:cNvPr id="8" name="object 8"/>
          <p:cNvSpPr/>
          <p:nvPr/>
        </p:nvSpPr>
        <p:spPr>
          <a:xfrm>
            <a:off x="4572" y="0"/>
            <a:ext cx="12182856" cy="6858000"/>
          </a:xfrm>
          <a:prstGeom prst="rect">
            <a:avLst/>
          </a:prstGeom>
          <a:blipFill>
            <a:blip r:embed="rId3" cstate="print"/>
            <a:stretch>
              <a:fillRect/>
            </a:stretch>
          </a:blipFill>
        </p:spPr>
        <p:txBody>
          <a:bodyPr wrap="square" lIns="0" tIns="0" rIns="0" bIns="0" rtlCol="0">
            <a:noAutofit/>
          </a:bodyPr>
          <a:lstStyle/>
          <a:p>
            <a:endParaRPr lang="es-PE" noProof="0" dirty="0"/>
          </a:p>
        </p:txBody>
      </p:sp>
      <p:sp>
        <p:nvSpPr>
          <p:cNvPr id="7" name="object 7"/>
          <p:cNvSpPr txBox="1"/>
          <p:nvPr/>
        </p:nvSpPr>
        <p:spPr>
          <a:xfrm>
            <a:off x="1839849" y="1015362"/>
            <a:ext cx="8544596" cy="493973"/>
          </a:xfrm>
          <a:prstGeom prst="rect">
            <a:avLst/>
          </a:prstGeom>
        </p:spPr>
        <p:txBody>
          <a:bodyPr wrap="square" lIns="0" tIns="26574" rIns="0" bIns="0" rtlCol="0">
            <a:noAutofit/>
          </a:bodyPr>
          <a:lstStyle/>
          <a:p>
            <a:pPr marL="3403511" marR="3434872" algn="ctr">
              <a:lnSpc>
                <a:spcPts val="4185"/>
              </a:lnSpc>
            </a:pPr>
            <a:r>
              <a:rPr lang="es-PE" sz="4000" b="1" spc="-28" noProof="0" dirty="0">
                <a:solidFill>
                  <a:schemeClr val="accent2">
                    <a:lumMod val="75000"/>
                  </a:schemeClr>
                </a:solidFill>
                <a:latin typeface="Arial"/>
                <a:cs typeface="Arial"/>
              </a:rPr>
              <a:t>TEMA:</a:t>
            </a:r>
            <a:endParaRPr lang="es-PE" sz="3600" noProof="0" dirty="0">
              <a:solidFill>
                <a:schemeClr val="accent2">
                  <a:lumMod val="75000"/>
                </a:schemeClr>
              </a:solidFill>
              <a:latin typeface="Arial"/>
              <a:cs typeface="Arial"/>
            </a:endParaRPr>
          </a:p>
        </p:txBody>
      </p:sp>
      <p:sp>
        <p:nvSpPr>
          <p:cNvPr id="6" name="object 6"/>
          <p:cNvSpPr txBox="1"/>
          <p:nvPr/>
        </p:nvSpPr>
        <p:spPr>
          <a:xfrm>
            <a:off x="2513457" y="1509335"/>
            <a:ext cx="6851319" cy="1029378"/>
          </a:xfrm>
          <a:prstGeom prst="rect">
            <a:avLst/>
          </a:prstGeom>
        </p:spPr>
        <p:txBody>
          <a:bodyPr wrap="square" lIns="0" tIns="24003" rIns="0" bIns="0" rtlCol="0">
            <a:noAutofit/>
          </a:bodyPr>
          <a:lstStyle/>
          <a:p>
            <a:pPr marL="12700" algn="ctr">
              <a:lnSpc>
                <a:spcPts val="3779"/>
              </a:lnSpc>
            </a:pPr>
            <a:endParaRPr lang="es-PE" sz="4000" b="1" spc="0" noProof="0" dirty="0">
              <a:solidFill>
                <a:srgbClr val="890000"/>
              </a:solidFill>
              <a:latin typeface="Arial"/>
              <a:cs typeface="Arial"/>
            </a:endParaRPr>
          </a:p>
          <a:p>
            <a:pPr marL="12700" algn="ctr">
              <a:lnSpc>
                <a:spcPts val="3779"/>
              </a:lnSpc>
            </a:pPr>
            <a:r>
              <a:rPr lang="es-PE" sz="4000" b="1" dirty="0">
                <a:solidFill>
                  <a:srgbClr val="890000"/>
                </a:solidFill>
                <a:latin typeface="Arial"/>
                <a:cs typeface="Arial"/>
              </a:rPr>
              <a:t>ANÁLISIS DE TIPOS DE MEDICIONES</a:t>
            </a:r>
            <a:endParaRPr lang="es-PE" sz="4000" noProof="0" dirty="0">
              <a:latin typeface="Arial"/>
              <a:cs typeface="Arial"/>
            </a:endParaRPr>
          </a:p>
        </p:txBody>
      </p:sp>
      <p:sp>
        <p:nvSpPr>
          <p:cNvPr id="4" name="object 4"/>
          <p:cNvSpPr txBox="1"/>
          <p:nvPr/>
        </p:nvSpPr>
        <p:spPr>
          <a:xfrm>
            <a:off x="4324350" y="3227630"/>
            <a:ext cx="4882963" cy="380796"/>
          </a:xfrm>
          <a:prstGeom prst="rect">
            <a:avLst/>
          </a:prstGeom>
        </p:spPr>
        <p:txBody>
          <a:bodyPr wrap="square" lIns="0" tIns="18796" rIns="0" bIns="0" rtlCol="0">
            <a:noAutofit/>
          </a:bodyPr>
          <a:lstStyle/>
          <a:p>
            <a:pPr marL="12700">
              <a:lnSpc>
                <a:spcPts val="2960"/>
              </a:lnSpc>
            </a:pPr>
            <a:r>
              <a:rPr lang="es-PE" sz="2800" b="1" spc="-2" noProof="0" dirty="0">
                <a:solidFill>
                  <a:srgbClr val="006FC0"/>
                </a:solidFill>
                <a:latin typeface="Arial"/>
                <a:cs typeface="Arial"/>
              </a:rPr>
              <a:t>Instrumentación Industrial</a:t>
            </a:r>
            <a:endParaRPr lang="es-PE" sz="2800" noProof="0" dirty="0">
              <a:latin typeface="Arial"/>
              <a:cs typeface="Arial"/>
            </a:endParaRPr>
          </a:p>
        </p:txBody>
      </p:sp>
      <p:sp>
        <p:nvSpPr>
          <p:cNvPr id="3" name="object 3"/>
          <p:cNvSpPr txBox="1"/>
          <p:nvPr/>
        </p:nvSpPr>
        <p:spPr>
          <a:xfrm>
            <a:off x="3036188" y="3268383"/>
            <a:ext cx="1231011" cy="330504"/>
          </a:xfrm>
          <a:prstGeom prst="rect">
            <a:avLst/>
          </a:prstGeom>
        </p:spPr>
        <p:txBody>
          <a:bodyPr wrap="square" lIns="0" tIns="16224" rIns="0" bIns="0" rtlCol="0">
            <a:noAutofit/>
          </a:bodyPr>
          <a:lstStyle/>
          <a:p>
            <a:pPr marL="12700">
              <a:lnSpc>
                <a:spcPts val="2555"/>
              </a:lnSpc>
            </a:pPr>
            <a:r>
              <a:rPr lang="es-PE" sz="2400" b="1" spc="-1" noProof="0" dirty="0">
                <a:solidFill>
                  <a:srgbClr val="006FC0"/>
                </a:solidFill>
                <a:latin typeface="Arial"/>
                <a:cs typeface="Arial"/>
              </a:rPr>
              <a:t>CURSO:</a:t>
            </a:r>
            <a:endParaRPr lang="es-PE" sz="2400" noProof="0" dirty="0">
              <a:latin typeface="Arial"/>
              <a:cs typeface="Arial"/>
            </a:endParaRPr>
          </a:p>
        </p:txBody>
      </p:sp>
      <p:sp>
        <p:nvSpPr>
          <p:cNvPr id="2" name="object 2"/>
          <p:cNvSpPr txBox="1"/>
          <p:nvPr/>
        </p:nvSpPr>
        <p:spPr>
          <a:xfrm>
            <a:off x="3961257" y="4129682"/>
            <a:ext cx="4496943" cy="280212"/>
          </a:xfrm>
          <a:prstGeom prst="rect">
            <a:avLst/>
          </a:prstGeom>
        </p:spPr>
        <p:txBody>
          <a:bodyPr wrap="square" lIns="0" tIns="13652" rIns="0" bIns="0" rtlCol="0">
            <a:noAutofit/>
          </a:bodyPr>
          <a:lstStyle/>
          <a:p>
            <a:pPr marL="12700" algn="ctr">
              <a:lnSpc>
                <a:spcPts val="2150"/>
              </a:lnSpc>
            </a:pPr>
            <a:r>
              <a:rPr lang="es-PE" sz="2000" b="1" spc="-3" noProof="0" dirty="0">
                <a:solidFill>
                  <a:srgbClr val="001F5F"/>
                </a:solidFill>
                <a:latin typeface="Arial"/>
                <a:cs typeface="Arial"/>
              </a:rPr>
              <a:t>Docente: </a:t>
            </a:r>
            <a:r>
              <a:rPr lang="es-PE" sz="2000" b="1" spc="-3" noProof="0" dirty="0" err="1">
                <a:solidFill>
                  <a:srgbClr val="001F5F"/>
                </a:solidFill>
                <a:latin typeface="Arial"/>
                <a:cs typeface="Arial"/>
              </a:rPr>
              <a:t>Mag</a:t>
            </a:r>
            <a:r>
              <a:rPr lang="es-PE" sz="2000" b="1" spc="-3" noProof="0" dirty="0">
                <a:solidFill>
                  <a:srgbClr val="001F5F"/>
                </a:solidFill>
                <a:latin typeface="Arial"/>
                <a:cs typeface="Arial"/>
              </a:rPr>
              <a:t>. Ing. Anibal Sanchez J</a:t>
            </a:r>
            <a:endParaRPr lang="es-PE" sz="1600" noProof="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Marcador de contenido 5">
            <a:extLst>
              <a:ext uri="{FF2B5EF4-FFF2-40B4-BE49-F238E27FC236}">
                <a16:creationId xmlns:a16="http://schemas.microsoft.com/office/drawing/2014/main" id="{0AA9416A-07DD-E948-C827-092742E58A84}"/>
              </a:ext>
            </a:extLst>
          </p:cNvPr>
          <p:cNvPicPr>
            <a:picLocks noGrp="1" noChangeAspect="1"/>
          </p:cNvPicPr>
          <p:nvPr>
            <p:ph idx="1"/>
          </p:nvPr>
        </p:nvPicPr>
        <p:blipFill>
          <a:blip r:embed="rId3"/>
          <a:stretch>
            <a:fillRect/>
          </a:stretch>
        </p:blipFill>
        <p:spPr>
          <a:xfrm>
            <a:off x="1133234" y="1752600"/>
            <a:ext cx="9525000" cy="3610517"/>
          </a:xfrm>
          <a:prstGeom prst="rect">
            <a:avLst/>
          </a:prstGeom>
        </p:spPr>
      </p:pic>
      <p:sp>
        <p:nvSpPr>
          <p:cNvPr id="8" name="Título 7">
            <a:extLst>
              <a:ext uri="{FF2B5EF4-FFF2-40B4-BE49-F238E27FC236}">
                <a16:creationId xmlns:a16="http://schemas.microsoft.com/office/drawing/2014/main" id="{CECFD88E-DCD5-0BF9-DB24-288B3494A90A}"/>
              </a:ext>
            </a:extLst>
          </p:cNvPr>
          <p:cNvSpPr>
            <a:spLocks noGrp="1"/>
          </p:cNvSpPr>
          <p:nvPr>
            <p:ph type="title"/>
          </p:nvPr>
        </p:nvSpPr>
        <p:spPr/>
        <p:txBody>
          <a:bodyPr/>
          <a:lstStyle/>
          <a:p>
            <a:r>
              <a:rPr lang="es-PE" dirty="0"/>
              <a:t>Noticias de Hoy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133F3-7E7E-748F-6F86-9575DB9BCAD3}"/>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7C0CB300-EECC-80F4-4609-7E04ABEFDAC0}"/>
              </a:ext>
            </a:extLst>
          </p:cNvPr>
          <p:cNvSpPr>
            <a:spLocks noGrp="1"/>
          </p:cNvSpPr>
          <p:nvPr>
            <p:ph type="title"/>
          </p:nvPr>
        </p:nvSpPr>
        <p:spPr/>
        <p:txBody>
          <a:bodyPr>
            <a:normAutofit/>
          </a:bodyPr>
          <a:lstStyle/>
          <a:p>
            <a:r>
              <a:rPr lang="es-PE" dirty="0"/>
              <a:t>¿Dudas de la sesión anterior?</a:t>
            </a:r>
          </a:p>
        </p:txBody>
      </p:sp>
      <p:graphicFrame>
        <p:nvGraphicFramePr>
          <p:cNvPr id="10" name="Diagrama 9">
            <a:extLst>
              <a:ext uri="{FF2B5EF4-FFF2-40B4-BE49-F238E27FC236}">
                <a16:creationId xmlns:a16="http://schemas.microsoft.com/office/drawing/2014/main" id="{41556DF6-01FE-1F1B-DAC7-E01F447B067C}"/>
              </a:ext>
            </a:extLst>
          </p:cNvPr>
          <p:cNvGraphicFramePr/>
          <p:nvPr>
            <p:extLst>
              <p:ext uri="{D42A27DB-BD31-4B8C-83A1-F6EECF244321}">
                <p14:modId xmlns:p14="http://schemas.microsoft.com/office/powerpoint/2010/main" val="3028943859"/>
              </p:ext>
            </p:extLst>
          </p:nvPr>
        </p:nvGraphicFramePr>
        <p:xfrm>
          <a:off x="1981200" y="1219201"/>
          <a:ext cx="8788400" cy="51349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2259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23BD-9F55-9473-17A0-3C9DA3B820D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1CBFAF7-9344-3FE0-318B-76744F67AA87}"/>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sp>
        <p:nvSpPr>
          <p:cNvPr id="4" name="Marcador de contenido 3">
            <a:extLst>
              <a:ext uri="{FF2B5EF4-FFF2-40B4-BE49-F238E27FC236}">
                <a16:creationId xmlns:a16="http://schemas.microsoft.com/office/drawing/2014/main" id="{B681B3EA-5182-DF2F-D2A7-ED6B97F5D81D}"/>
              </a:ext>
            </a:extLst>
          </p:cNvPr>
          <p:cNvSpPr>
            <a:spLocks noGrp="1"/>
          </p:cNvSpPr>
          <p:nvPr>
            <p:ph idx="1"/>
          </p:nvPr>
        </p:nvSpPr>
        <p:spPr>
          <a:xfrm>
            <a:off x="914400" y="1371600"/>
            <a:ext cx="9525000" cy="4727583"/>
          </a:xfrm>
        </p:spPr>
        <p:txBody>
          <a:bodyPr/>
          <a:lstStyle/>
          <a:p>
            <a:pPr marL="355600" indent="-342900">
              <a:lnSpc>
                <a:spcPct val="95825"/>
              </a:lnSpc>
              <a:spcBef>
                <a:spcPts val="1434"/>
              </a:spcBef>
            </a:pPr>
            <a:r>
              <a:rPr lang="es-PE" dirty="0">
                <a:latin typeface="Arial"/>
                <a:cs typeface="Arial"/>
              </a:rPr>
              <a:t>¿Que tipos de Mediaciones conocen?</a:t>
            </a:r>
          </a:p>
          <a:p>
            <a:pPr marL="355600" indent="-342900">
              <a:lnSpc>
                <a:spcPct val="95825"/>
              </a:lnSpc>
              <a:spcBef>
                <a:spcPts val="1434"/>
              </a:spcBef>
            </a:pPr>
            <a:r>
              <a:rPr lang="es-PE" dirty="0">
                <a:latin typeface="Arial"/>
                <a:cs typeface="Arial"/>
              </a:rPr>
              <a:t>¿Trabajaron con un multímetro análogo?</a:t>
            </a:r>
          </a:p>
          <a:p>
            <a:pPr marL="355600" indent="-342900">
              <a:lnSpc>
                <a:spcPct val="95825"/>
              </a:lnSpc>
              <a:spcBef>
                <a:spcPts val="1434"/>
              </a:spcBef>
            </a:pPr>
            <a:r>
              <a:rPr lang="es-PE" dirty="0">
                <a:latin typeface="Arial"/>
                <a:cs typeface="Arial"/>
              </a:rPr>
              <a:t>¿Trabajaron con un multímetro digital?</a:t>
            </a:r>
          </a:p>
          <a:p>
            <a:pPr marL="355600" indent="-342900">
              <a:lnSpc>
                <a:spcPct val="95825"/>
              </a:lnSpc>
              <a:spcBef>
                <a:spcPts val="1434"/>
              </a:spcBef>
            </a:pPr>
            <a:r>
              <a:rPr lang="es-PE" dirty="0">
                <a:latin typeface="Arial"/>
                <a:cs typeface="Arial"/>
              </a:rPr>
              <a:t>¿Qué diferencias existen?</a:t>
            </a:r>
          </a:p>
        </p:txBody>
      </p:sp>
      <p:sp>
        <p:nvSpPr>
          <p:cNvPr id="3" name="Título 2">
            <a:extLst>
              <a:ext uri="{FF2B5EF4-FFF2-40B4-BE49-F238E27FC236}">
                <a16:creationId xmlns:a16="http://schemas.microsoft.com/office/drawing/2014/main" id="{8C2230DB-FC29-047C-EA0A-13671E24841D}"/>
              </a:ext>
            </a:extLst>
          </p:cNvPr>
          <p:cNvSpPr>
            <a:spLocks noGrp="1"/>
          </p:cNvSpPr>
          <p:nvPr>
            <p:ph type="title"/>
          </p:nvPr>
        </p:nvSpPr>
        <p:spPr/>
        <p:txBody>
          <a:bodyPr>
            <a:normAutofit/>
          </a:bodyPr>
          <a:lstStyle/>
          <a:p>
            <a:r>
              <a:rPr lang="es-PE" dirty="0"/>
              <a:t>Saberes Previos: Análisis de Tipos de Mediciones</a:t>
            </a:r>
          </a:p>
        </p:txBody>
      </p:sp>
    </p:spTree>
    <p:extLst>
      <p:ext uri="{BB962C8B-B14F-4D97-AF65-F5344CB8AC3E}">
        <p14:creationId xmlns:p14="http://schemas.microsoft.com/office/powerpoint/2010/main" val="2579873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BCC23-AF21-ED35-4B96-8E5CBA20A4D9}"/>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3D87173B-C0C1-8A7A-8CBF-B407D7BB37D2}"/>
              </a:ext>
            </a:extLst>
          </p:cNvPr>
          <p:cNvSpPr>
            <a:spLocks noGrp="1"/>
          </p:cNvSpPr>
          <p:nvPr>
            <p:ph type="title"/>
          </p:nvPr>
        </p:nvSpPr>
        <p:spPr/>
        <p:txBody>
          <a:bodyPr>
            <a:normAutofit/>
          </a:bodyPr>
          <a:lstStyle/>
          <a:p>
            <a:r>
              <a:rPr lang="es-PE" dirty="0"/>
              <a:t>¿Qué se puede apreciar en la imagen?</a:t>
            </a:r>
          </a:p>
        </p:txBody>
      </p:sp>
      <p:pic>
        <p:nvPicPr>
          <p:cNvPr id="1026" name="Picture 2">
            <a:extLst>
              <a:ext uri="{FF2B5EF4-FFF2-40B4-BE49-F238E27FC236}">
                <a16:creationId xmlns:a16="http://schemas.microsoft.com/office/drawing/2014/main" id="{62EB543D-9613-8550-9574-F5340A1B2EA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 r="3825" b="44727"/>
          <a:stretch>
            <a:fillRect/>
          </a:stretch>
        </p:blipFill>
        <p:spPr bwMode="auto">
          <a:xfrm>
            <a:off x="609600" y="1752600"/>
            <a:ext cx="3264567" cy="281939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873C5C5-3CAE-D828-07D9-D46AF0FC8E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1498" y="3048000"/>
            <a:ext cx="2328472" cy="2342584"/>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CF95BC18-7491-F581-E95A-9D90B57421A5}"/>
              </a:ext>
            </a:extLst>
          </p:cNvPr>
          <p:cNvSpPr txBox="1"/>
          <p:nvPr/>
        </p:nvSpPr>
        <p:spPr>
          <a:xfrm>
            <a:off x="4676534" y="5501395"/>
            <a:ext cx="2438400" cy="430887"/>
          </a:xfrm>
          <a:prstGeom prst="rect">
            <a:avLst/>
          </a:prstGeom>
          <a:noFill/>
        </p:spPr>
        <p:txBody>
          <a:bodyPr wrap="square" rtlCol="0">
            <a:spAutoFit/>
          </a:bodyPr>
          <a:lstStyle/>
          <a:p>
            <a:r>
              <a:rPr lang="es-PE" sz="1100" dirty="0"/>
              <a:t>Diezmillonésima parte de la distancia más corta desde el polo norte (1789)</a:t>
            </a:r>
          </a:p>
        </p:txBody>
      </p:sp>
      <p:pic>
        <p:nvPicPr>
          <p:cNvPr id="1030" name="Picture 6" descr="PESAS PATRON 1g – 2 kg CON ESTUCHE – Mi Nutritienda">
            <a:extLst>
              <a:ext uri="{FF2B5EF4-FFF2-40B4-BE49-F238E27FC236}">
                <a16:creationId xmlns:a16="http://schemas.microsoft.com/office/drawing/2014/main" id="{61E6365F-1DC1-A12B-4543-00A5B42122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23338" y="1676400"/>
            <a:ext cx="2508517" cy="2342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338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4BF1F-6877-3A0D-AC5B-D826C7B0BA3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3D0698A-1161-C777-8227-DFFF00F5E98F}"/>
              </a:ext>
            </a:extLst>
          </p:cNvPr>
          <p:cNvSpPr txBox="1"/>
          <p:nvPr/>
        </p:nvSpPr>
        <p:spPr>
          <a:xfrm>
            <a:off x="9635464" y="4154455"/>
            <a:ext cx="1120241" cy="330200"/>
          </a:xfrm>
          <a:prstGeom prst="rect">
            <a:avLst/>
          </a:prstGeom>
        </p:spPr>
        <p:txBody>
          <a:bodyPr wrap="square" lIns="0" tIns="16224" rIns="0" bIns="0" rtlCol="0">
            <a:noAutofit/>
          </a:bodyPr>
          <a:lstStyle/>
          <a:p>
            <a:pPr marL="12700">
              <a:lnSpc>
                <a:spcPts val="2555"/>
              </a:lnSpc>
            </a:pPr>
            <a:endParaRPr sz="2400" dirty="0">
              <a:latin typeface="Arial"/>
              <a:cs typeface="Arial"/>
            </a:endParaRPr>
          </a:p>
        </p:txBody>
      </p:sp>
      <p:sp>
        <p:nvSpPr>
          <p:cNvPr id="2" name="object 2">
            <a:extLst>
              <a:ext uri="{FF2B5EF4-FFF2-40B4-BE49-F238E27FC236}">
                <a16:creationId xmlns:a16="http://schemas.microsoft.com/office/drawing/2014/main" id="{5484000A-DD76-1049-66D0-CFDD54D9B3E2}"/>
              </a:ext>
            </a:extLst>
          </p:cNvPr>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pic>
        <p:nvPicPr>
          <p:cNvPr id="1026" name="Picture 2" descr="ANÁLISIS PROFUNDO: LAS MARCAS LÍDERES EN ROBÓTICA INDUSTRIAL Y SU IMPACTO  EN DIVERSOS SECTORES - Eurobots News">
            <a:extLst>
              <a:ext uri="{FF2B5EF4-FFF2-40B4-BE49-F238E27FC236}">
                <a16:creationId xmlns:a16="http://schemas.microsoft.com/office/drawing/2014/main" id="{FE0772CD-9DFE-803F-990E-8B13211D1E8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8709" y="4265070"/>
            <a:ext cx="4343400" cy="1715869"/>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4">
            <a:extLst>
              <a:ext uri="{FF2B5EF4-FFF2-40B4-BE49-F238E27FC236}">
                <a16:creationId xmlns:a16="http://schemas.microsoft.com/office/drawing/2014/main" id="{D8FA7B40-3BAA-C244-EE20-B5D93E96DC98}"/>
              </a:ext>
            </a:extLst>
          </p:cNvPr>
          <p:cNvSpPr>
            <a:spLocks noGrp="1"/>
          </p:cNvSpPr>
          <p:nvPr>
            <p:ph idx="1"/>
          </p:nvPr>
        </p:nvSpPr>
        <p:spPr>
          <a:xfrm>
            <a:off x="914400" y="1389054"/>
            <a:ext cx="9525000" cy="2576176"/>
          </a:xfrm>
        </p:spPr>
        <p:txBody>
          <a:bodyPr>
            <a:noAutofit/>
          </a:bodyPr>
          <a:lstStyle/>
          <a:p>
            <a:pPr marL="0" indent="0">
              <a:buNone/>
            </a:pPr>
            <a:r>
              <a:rPr lang="es-PE" dirty="0"/>
              <a:t>La capacidad de analizar mediciones y sus errores es fundamental en la formación de ingenieros mecatrónicos y electrónicos, ya que constituye la base de cualquier sistema de control, automatización o monitoreo:</a:t>
            </a:r>
          </a:p>
          <a:p>
            <a:pPr marL="342900" indent="-342900"/>
            <a:r>
              <a:rPr lang="es-PE" dirty="0"/>
              <a:t>En un </a:t>
            </a:r>
            <a:r>
              <a:rPr lang="es-PE" b="1" dirty="0"/>
              <a:t>robot industrial</a:t>
            </a:r>
            <a:r>
              <a:rPr lang="es-PE" dirty="0"/>
              <a:t>, los </a:t>
            </a:r>
            <a:r>
              <a:rPr lang="es-PE" dirty="0" err="1"/>
              <a:t>encoders</a:t>
            </a:r>
            <a:r>
              <a:rPr lang="es-PE" dirty="0"/>
              <a:t> digitales permiten controlar la posición de los ejes con precisión micrométrica.</a:t>
            </a:r>
          </a:p>
          <a:p>
            <a:pPr marL="342900" indent="-342900"/>
            <a:r>
              <a:rPr lang="es-PE" dirty="0"/>
              <a:t>En un </a:t>
            </a:r>
            <a:r>
              <a:rPr lang="es-PE" b="1" dirty="0" err="1"/>
              <a:t>drone</a:t>
            </a:r>
            <a:r>
              <a:rPr lang="es-PE" dirty="0"/>
              <a:t>, la fusión de sensores (</a:t>
            </a:r>
            <a:r>
              <a:rPr lang="es-PE" dirty="0" err="1"/>
              <a:t>IMU</a:t>
            </a:r>
            <a:r>
              <a:rPr lang="es-PE" dirty="0"/>
              <a:t>, giroscopio, acelerómetro) exige distinguir entre errores sistemáticos y aleatorios.</a:t>
            </a:r>
            <a:endParaRPr lang="es-ES" dirty="0">
              <a:latin typeface="Arial"/>
              <a:cs typeface="Arial"/>
            </a:endParaRPr>
          </a:p>
        </p:txBody>
      </p:sp>
      <p:pic>
        <p:nvPicPr>
          <p:cNvPr id="7" name="Marcador de posición de imagen 6">
            <a:extLst>
              <a:ext uri="{FF2B5EF4-FFF2-40B4-BE49-F238E27FC236}">
                <a16:creationId xmlns:a16="http://schemas.microsoft.com/office/drawing/2014/main" id="{F7B319F0-0A92-4086-B771-501D48CC3891}"/>
              </a:ext>
            </a:extLst>
          </p:cNvPr>
          <p:cNvPicPr>
            <a:picLocks noGrp="1" noChangeAspect="1"/>
          </p:cNvPicPr>
          <p:nvPr>
            <p:ph type="pic" idx="10"/>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4915" b="14915"/>
          <a:stretch>
            <a:fillRect/>
          </a:stretch>
        </p:blipFill>
        <p:spPr>
          <a:xfrm>
            <a:off x="6117879" y="4167281"/>
            <a:ext cx="5205412" cy="2063750"/>
          </a:xfrm>
        </p:spPr>
      </p:pic>
      <p:sp>
        <p:nvSpPr>
          <p:cNvPr id="3" name="Título 2">
            <a:extLst>
              <a:ext uri="{FF2B5EF4-FFF2-40B4-BE49-F238E27FC236}">
                <a16:creationId xmlns:a16="http://schemas.microsoft.com/office/drawing/2014/main" id="{3E83585D-0616-BFAB-59A3-8A9785369A47}"/>
              </a:ext>
            </a:extLst>
          </p:cNvPr>
          <p:cNvSpPr>
            <a:spLocks noGrp="1"/>
          </p:cNvSpPr>
          <p:nvPr>
            <p:ph type="title"/>
          </p:nvPr>
        </p:nvSpPr>
        <p:spPr/>
        <p:txBody>
          <a:bodyPr/>
          <a:lstStyle/>
          <a:p>
            <a:r>
              <a:rPr lang="es-PE" spc="-2" dirty="0">
                <a:latin typeface="Arial"/>
                <a:cs typeface="Arial"/>
              </a:rPr>
              <a:t>Utilidad</a:t>
            </a:r>
            <a:endParaRPr lang="es-PE" dirty="0"/>
          </a:p>
        </p:txBody>
      </p:sp>
    </p:spTree>
    <p:extLst>
      <p:ext uri="{BB962C8B-B14F-4D97-AF65-F5344CB8AC3E}">
        <p14:creationId xmlns:p14="http://schemas.microsoft.com/office/powerpoint/2010/main" val="1824607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sp>
        <p:nvSpPr>
          <p:cNvPr id="4" name="Marcador de contenido 3">
            <a:extLst>
              <a:ext uri="{FF2B5EF4-FFF2-40B4-BE49-F238E27FC236}">
                <a16:creationId xmlns:a16="http://schemas.microsoft.com/office/drawing/2014/main" id="{1A35B4F6-737D-200F-66E4-B1366B5C0455}"/>
              </a:ext>
            </a:extLst>
          </p:cNvPr>
          <p:cNvSpPr>
            <a:spLocks noGrp="1"/>
          </p:cNvSpPr>
          <p:nvPr>
            <p:ph idx="1"/>
          </p:nvPr>
        </p:nvSpPr>
        <p:spPr/>
        <p:txBody>
          <a:bodyPr/>
          <a:lstStyle/>
          <a:p>
            <a:r>
              <a:rPr lang="es-PE" dirty="0"/>
              <a:t>Al finalizar esta sesión, los estudiantes estarán en capacidad de analizar los diferentes tipos de mediciones (analógicas, digitales y comparativas), identificando sus características, ventajas y limitaciones, bajo condiciones de aplicación en sistemas mecatrónicos y electrónicos para garantizar precisión y confiabilidad en procesos industriales.</a:t>
            </a:r>
          </a:p>
        </p:txBody>
      </p:sp>
      <p:sp>
        <p:nvSpPr>
          <p:cNvPr id="3" name="Título 2">
            <a:extLst>
              <a:ext uri="{FF2B5EF4-FFF2-40B4-BE49-F238E27FC236}">
                <a16:creationId xmlns:a16="http://schemas.microsoft.com/office/drawing/2014/main" id="{36998E31-8BFE-0103-4F45-D0E56BDC3DFD}"/>
              </a:ext>
            </a:extLst>
          </p:cNvPr>
          <p:cNvSpPr>
            <a:spLocks noGrp="1"/>
          </p:cNvSpPr>
          <p:nvPr>
            <p:ph type="title"/>
          </p:nvPr>
        </p:nvSpPr>
        <p:spPr/>
        <p:txBody>
          <a:bodyPr>
            <a:normAutofit/>
          </a:bodyPr>
          <a:lstStyle/>
          <a:p>
            <a:r>
              <a:rPr lang="es-PE" spc="-2" dirty="0">
                <a:latin typeface="Arial"/>
                <a:cs typeface="Arial"/>
              </a:rPr>
              <a:t>Logro de la sesión:</a:t>
            </a:r>
            <a:endParaRPr lang="es-PE" dirty="0"/>
          </a:p>
        </p:txBody>
      </p:sp>
      <p:pic>
        <p:nvPicPr>
          <p:cNvPr id="1026" name="Picture 2">
            <a:extLst>
              <a:ext uri="{FF2B5EF4-FFF2-40B4-BE49-F238E27FC236}">
                <a16:creationId xmlns:a16="http://schemas.microsoft.com/office/drawing/2014/main" id="{9FDCDDB0-38B4-BDF3-93D7-DFE86646C1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3505200"/>
            <a:ext cx="3581400" cy="23856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0844" y="6524421"/>
            <a:ext cx="1592312" cy="203708"/>
          </a:xfrm>
          <a:prstGeom prst="rect">
            <a:avLst/>
          </a:prstGeom>
        </p:spPr>
        <p:txBody>
          <a:bodyPr wrap="square" lIns="0" tIns="9556" rIns="0" bIns="0" rtlCol="0">
            <a:noAutofit/>
          </a:bodyPr>
          <a:lstStyle/>
          <a:p>
            <a:pPr marL="12700">
              <a:lnSpc>
                <a:spcPts val="1505"/>
              </a:lnSpc>
            </a:pPr>
            <a:r>
              <a:rPr sz="1400" spc="-2" dirty="0">
                <a:solidFill>
                  <a:srgbClr val="FFFFFF"/>
                </a:solidFill>
                <a:latin typeface="Calibri"/>
                <a:cs typeface="Calibri"/>
              </a:rPr>
              <a:t>Datos/Observaciones</a:t>
            </a:r>
            <a:endParaRPr sz="1400">
              <a:latin typeface="Calibri"/>
              <a:cs typeface="Calibri"/>
            </a:endParaRPr>
          </a:p>
        </p:txBody>
      </p:sp>
      <p:sp>
        <p:nvSpPr>
          <p:cNvPr id="11" name="Título 10">
            <a:extLst>
              <a:ext uri="{FF2B5EF4-FFF2-40B4-BE49-F238E27FC236}">
                <a16:creationId xmlns:a16="http://schemas.microsoft.com/office/drawing/2014/main" id="{1EA0BD83-9646-CBDA-65E2-9AC7CF2863F3}"/>
              </a:ext>
            </a:extLst>
          </p:cNvPr>
          <p:cNvSpPr>
            <a:spLocks noGrp="1"/>
          </p:cNvSpPr>
          <p:nvPr>
            <p:ph type="title"/>
          </p:nvPr>
        </p:nvSpPr>
        <p:spPr/>
        <p:txBody>
          <a:bodyPr/>
          <a:lstStyle/>
          <a:p>
            <a:r>
              <a:rPr lang="es-PE" b="1" dirty="0"/>
              <a:t>Temas:</a:t>
            </a:r>
          </a:p>
        </p:txBody>
      </p:sp>
      <p:sp>
        <p:nvSpPr>
          <p:cNvPr id="13" name="Marcador de contenido 12">
            <a:extLst>
              <a:ext uri="{FF2B5EF4-FFF2-40B4-BE49-F238E27FC236}">
                <a16:creationId xmlns:a16="http://schemas.microsoft.com/office/drawing/2014/main" id="{6E2F94FA-9EA7-A718-8BB9-0917FF920302}"/>
              </a:ext>
            </a:extLst>
          </p:cNvPr>
          <p:cNvSpPr>
            <a:spLocks noGrp="1"/>
          </p:cNvSpPr>
          <p:nvPr>
            <p:ph idx="1"/>
          </p:nvPr>
        </p:nvSpPr>
        <p:spPr/>
        <p:txBody>
          <a:bodyPr/>
          <a:lstStyle/>
          <a:p>
            <a:pPr marL="0" lvl="0" indent="0">
              <a:buNone/>
            </a:pPr>
            <a:r>
              <a:rPr lang="es-PE" b="1" dirty="0"/>
              <a:t>1) Tipos de medición en instrumentación industrial.</a:t>
            </a:r>
            <a:endParaRPr lang="es-PE" dirty="0"/>
          </a:p>
          <a:p>
            <a:pPr lvl="1"/>
            <a:r>
              <a:rPr lang="es-PE" dirty="0"/>
              <a:t>Definición de medición y magnitudes físicas.</a:t>
            </a:r>
          </a:p>
          <a:p>
            <a:pPr lvl="1"/>
            <a:r>
              <a:rPr lang="es-PE" dirty="0"/>
              <a:t>Clasificación de mediciones: analógicas, digitales y comparativas.</a:t>
            </a:r>
          </a:p>
          <a:p>
            <a:pPr marL="0" lvl="0" indent="0">
              <a:buNone/>
            </a:pPr>
            <a:r>
              <a:rPr lang="es-PE" b="1" dirty="0"/>
              <a:t>2) Errores en los procesos de medición.</a:t>
            </a:r>
            <a:endParaRPr lang="es-PE" dirty="0"/>
          </a:p>
          <a:p>
            <a:pPr lvl="1"/>
            <a:r>
              <a:rPr lang="es-PE" dirty="0"/>
              <a:t>Definición de error de medición.</a:t>
            </a:r>
          </a:p>
          <a:p>
            <a:pPr lvl="1"/>
            <a:r>
              <a:rPr lang="es-PE" dirty="0"/>
              <a:t>Clasificación de errores.</a:t>
            </a:r>
          </a:p>
          <a:p>
            <a:pPr lvl="1"/>
            <a:r>
              <a:rPr lang="es-PE" dirty="0"/>
              <a:t>Impacto de los errores en el control y automatización.</a:t>
            </a:r>
          </a:p>
          <a:p>
            <a:endParaRPr lang="es-PE"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ítulo 43">
            <a:extLst>
              <a:ext uri="{FF2B5EF4-FFF2-40B4-BE49-F238E27FC236}">
                <a16:creationId xmlns:a16="http://schemas.microsoft.com/office/drawing/2014/main" id="{12444505-93DA-D167-A1DD-A491C0D09CFA}"/>
              </a:ext>
            </a:extLst>
          </p:cNvPr>
          <p:cNvSpPr>
            <a:spLocks noGrp="1"/>
          </p:cNvSpPr>
          <p:nvPr>
            <p:ph type="title"/>
          </p:nvPr>
        </p:nvSpPr>
        <p:spPr/>
        <p:txBody>
          <a:bodyPr>
            <a:normAutofit/>
          </a:bodyPr>
          <a:lstStyle/>
          <a:p>
            <a:r>
              <a:rPr lang="es-PE" dirty="0"/>
              <a:t>Medición Analógica</a:t>
            </a:r>
          </a:p>
        </p:txBody>
      </p:sp>
      <p:sp>
        <p:nvSpPr>
          <p:cNvPr id="45" name="Marcador de contenido 44">
            <a:extLst>
              <a:ext uri="{FF2B5EF4-FFF2-40B4-BE49-F238E27FC236}">
                <a16:creationId xmlns:a16="http://schemas.microsoft.com/office/drawing/2014/main" id="{2B659355-CB0C-0507-763A-7EC3357DE739}"/>
              </a:ext>
            </a:extLst>
          </p:cNvPr>
          <p:cNvSpPr>
            <a:spLocks noGrp="1"/>
          </p:cNvSpPr>
          <p:nvPr>
            <p:ph idx="1"/>
          </p:nvPr>
        </p:nvSpPr>
        <p:spPr/>
        <p:txBody>
          <a:bodyPr/>
          <a:lstStyle/>
          <a:p>
            <a:r>
              <a:rPr lang="es-PE" dirty="0"/>
              <a:t>Una medición analógica representa la variable de forma continua </a:t>
            </a:r>
          </a:p>
          <a:p>
            <a:pPr marL="0" indent="0">
              <a:buNone/>
            </a:pPr>
            <a:r>
              <a:rPr lang="es-PE" dirty="0"/>
              <a:t>	ejemplo: 0–10 V, 4–20 mA</a:t>
            </a:r>
          </a:p>
          <a:p>
            <a:r>
              <a:rPr lang="es-PE" dirty="0"/>
              <a:t>Se basa en magnitudes físicas que varían progresivamente (temperatura, presión, velocidad).</a:t>
            </a:r>
          </a:p>
          <a:p>
            <a:r>
              <a:rPr lang="es-PE" dirty="0"/>
              <a:t>Analogía: Es como un </a:t>
            </a:r>
            <a:r>
              <a:rPr lang="es-PE" dirty="0" err="1"/>
              <a:t>dimmer</a:t>
            </a:r>
            <a:r>
              <a:rPr lang="es-PE" dirty="0"/>
              <a:t> de luz que regula la intensidad de manera suave, sin saltos.</a:t>
            </a:r>
          </a:p>
        </p:txBody>
      </p:sp>
      <p:pic>
        <p:nvPicPr>
          <p:cNvPr id="2050" name="Picture 2" descr="Por qué 4–20 mA? – CPI - Control para la Industria">
            <a:extLst>
              <a:ext uri="{FF2B5EF4-FFF2-40B4-BE49-F238E27FC236}">
                <a16:creationId xmlns:a16="http://schemas.microsoft.com/office/drawing/2014/main" id="{0EF4BAFC-C18C-EB14-5480-9FFEDE68C7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862236"/>
            <a:ext cx="4162425" cy="249206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ómo calcular la resistencia necesaria para convertir analógica de ...">
            <a:extLst>
              <a:ext uri="{FF2B5EF4-FFF2-40B4-BE49-F238E27FC236}">
                <a16:creationId xmlns:a16="http://schemas.microsoft.com/office/drawing/2014/main" id="{8ED9602F-9B52-11F4-2824-FE406814152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76800" y="4038600"/>
            <a:ext cx="3657600" cy="176807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ownload Scientific Diagram">
            <a:extLst>
              <a:ext uri="{FF2B5EF4-FFF2-40B4-BE49-F238E27FC236}">
                <a16:creationId xmlns:a16="http://schemas.microsoft.com/office/drawing/2014/main" id="{69A27498-18AD-2B00-C417-B77BF13CEA6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9213"/>
          <a:stretch>
            <a:fillRect/>
          </a:stretch>
        </p:blipFill>
        <p:spPr bwMode="auto">
          <a:xfrm>
            <a:off x="8791574" y="5108269"/>
            <a:ext cx="2211971" cy="146685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Download Scientific Diagram">
            <a:extLst>
              <a:ext uri="{FF2B5EF4-FFF2-40B4-BE49-F238E27FC236}">
                <a16:creationId xmlns:a16="http://schemas.microsoft.com/office/drawing/2014/main" id="{1057F0A8-5D02-00D1-E8F8-C54A6A0D057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51174"/>
          <a:stretch>
            <a:fillRect/>
          </a:stretch>
        </p:blipFill>
        <p:spPr bwMode="auto">
          <a:xfrm>
            <a:off x="8791574" y="3749074"/>
            <a:ext cx="2126566" cy="14668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FAAF5-F7CE-31E9-F18C-B8CC8978F9AF}"/>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31937D89-826F-F699-6815-467B91B3DEC8}"/>
              </a:ext>
            </a:extLst>
          </p:cNvPr>
          <p:cNvSpPr>
            <a:spLocks noGrp="1"/>
          </p:cNvSpPr>
          <p:nvPr>
            <p:ph type="title"/>
          </p:nvPr>
        </p:nvSpPr>
        <p:spPr/>
        <p:txBody>
          <a:bodyPr>
            <a:normAutofit/>
          </a:bodyPr>
          <a:lstStyle/>
          <a:p>
            <a:r>
              <a:rPr lang="es-PE" dirty="0"/>
              <a:t>Medición Analógica</a:t>
            </a:r>
          </a:p>
        </p:txBody>
      </p:sp>
      <p:sp>
        <p:nvSpPr>
          <p:cNvPr id="45" name="Marcador de contenido 44">
            <a:extLst>
              <a:ext uri="{FF2B5EF4-FFF2-40B4-BE49-F238E27FC236}">
                <a16:creationId xmlns:a16="http://schemas.microsoft.com/office/drawing/2014/main" id="{6CF94BB3-35D8-6E03-77F7-31CD30A474C0}"/>
              </a:ext>
            </a:extLst>
          </p:cNvPr>
          <p:cNvSpPr>
            <a:spLocks noGrp="1"/>
          </p:cNvSpPr>
          <p:nvPr>
            <p:ph idx="1"/>
          </p:nvPr>
        </p:nvSpPr>
        <p:spPr/>
        <p:txBody>
          <a:bodyPr/>
          <a:lstStyle/>
          <a:p>
            <a:r>
              <a:rPr lang="es-PE" dirty="0"/>
              <a:t>Fundamentos Matemáticos:</a:t>
            </a:r>
          </a:p>
          <a:p>
            <a:pPr marL="0" indent="0">
              <a:buNone/>
            </a:pPr>
            <a:r>
              <a:rPr lang="es-PE" dirty="0"/>
              <a:t>Señales analógicas se representan como funciones continuas:</a:t>
            </a:r>
          </a:p>
          <a:p>
            <a:pPr marL="0" indent="0">
              <a:buNone/>
            </a:pPr>
            <a:r>
              <a:rPr lang="es-PE" dirty="0"/>
              <a:t>		𝑉(𝑡) = 𝑉𝑚𝑎𝑥 . sin⁡(𝜔𝑡+𝜙) =&gt; Y = </a:t>
            </a:r>
            <a:r>
              <a:rPr lang="es-PE" dirty="0" err="1"/>
              <a:t>mx</a:t>
            </a:r>
            <a:r>
              <a:rPr lang="es-PE" dirty="0"/>
              <a:t> + b</a:t>
            </a:r>
          </a:p>
          <a:p>
            <a:pPr marL="0" indent="0">
              <a:buNone/>
            </a:pPr>
            <a:r>
              <a:rPr lang="es-PE" dirty="0"/>
              <a:t>Limitación: susceptibilidad al ruido y a la pérdida de precisión por deriva.</a:t>
            </a:r>
          </a:p>
        </p:txBody>
      </p:sp>
      <p:pic>
        <p:nvPicPr>
          <p:cNvPr id="3074" name="Picture 2" descr="4 to 20 mA Signal Plot">
            <a:extLst>
              <a:ext uri="{FF2B5EF4-FFF2-40B4-BE49-F238E27FC236}">
                <a16:creationId xmlns:a16="http://schemas.microsoft.com/office/drawing/2014/main" id="{B99A1C91-370C-BD65-50B5-6B29E7F2E2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276600"/>
            <a:ext cx="3619500" cy="2960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0137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419B7-5AFD-0B3D-8041-0A1190C10FB0}"/>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FF8B4401-7BCB-3AC9-D476-A583C69F791A}"/>
              </a:ext>
            </a:extLst>
          </p:cNvPr>
          <p:cNvSpPr>
            <a:spLocks noGrp="1"/>
          </p:cNvSpPr>
          <p:nvPr>
            <p:ph type="title"/>
          </p:nvPr>
        </p:nvSpPr>
        <p:spPr/>
        <p:txBody>
          <a:bodyPr>
            <a:normAutofit/>
          </a:bodyPr>
          <a:lstStyle/>
          <a:p>
            <a:r>
              <a:rPr lang="es-PE" dirty="0"/>
              <a:t>Medición Analógica</a:t>
            </a:r>
          </a:p>
        </p:txBody>
      </p:sp>
      <p:sp>
        <p:nvSpPr>
          <p:cNvPr id="45" name="Marcador de contenido 44">
            <a:extLst>
              <a:ext uri="{FF2B5EF4-FFF2-40B4-BE49-F238E27FC236}">
                <a16:creationId xmlns:a16="http://schemas.microsoft.com/office/drawing/2014/main" id="{E6D034D4-E2A3-FE07-DD12-A3CED3CD6796}"/>
              </a:ext>
            </a:extLst>
          </p:cNvPr>
          <p:cNvSpPr>
            <a:spLocks noGrp="1"/>
          </p:cNvSpPr>
          <p:nvPr>
            <p:ph idx="1"/>
          </p:nvPr>
        </p:nvSpPr>
        <p:spPr/>
        <p:txBody>
          <a:bodyPr/>
          <a:lstStyle/>
          <a:p>
            <a:r>
              <a:rPr lang="es-PE" dirty="0"/>
              <a:t>Aplicación Práctica:</a:t>
            </a:r>
          </a:p>
          <a:p>
            <a:r>
              <a:rPr lang="es-PE" dirty="0"/>
              <a:t>Sensores de temperatura PT100 en hornos industriales.</a:t>
            </a:r>
          </a:p>
          <a:p>
            <a:r>
              <a:rPr lang="es-PE" dirty="0"/>
              <a:t>Sensores de presión en calderas, entregando 4–20 mA</a:t>
            </a:r>
          </a:p>
        </p:txBody>
      </p:sp>
      <p:pic>
        <p:nvPicPr>
          <p:cNvPr id="2" name="Elementos multimedia en línea 1" title="Pruebas de funcionamiento de una PT100">
            <a:hlinkClick r:id="" action="ppaction://media"/>
            <a:extLst>
              <a:ext uri="{FF2B5EF4-FFF2-40B4-BE49-F238E27FC236}">
                <a16:creationId xmlns:a16="http://schemas.microsoft.com/office/drawing/2014/main" id="{EBF3B1A8-63CB-2706-0FBE-190CBBF03754}"/>
              </a:ext>
            </a:extLst>
          </p:cNvPr>
          <p:cNvPicPr>
            <a:picLocks noRot="1" noChangeAspect="1"/>
          </p:cNvPicPr>
          <p:nvPr>
            <a:videoFile r:link="rId1"/>
          </p:nvPr>
        </p:nvPicPr>
        <p:blipFill>
          <a:blip r:embed="rId4"/>
          <a:stretch>
            <a:fillRect/>
          </a:stretch>
        </p:blipFill>
        <p:spPr>
          <a:xfrm>
            <a:off x="2362200" y="2700147"/>
            <a:ext cx="6221413" cy="3515106"/>
          </a:xfrm>
          <a:prstGeom prst="rect">
            <a:avLst/>
          </a:prstGeom>
        </p:spPr>
      </p:pic>
    </p:spTree>
    <p:extLst>
      <p:ext uri="{BB962C8B-B14F-4D97-AF65-F5344CB8AC3E}">
        <p14:creationId xmlns:p14="http://schemas.microsoft.com/office/powerpoint/2010/main" val="202393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8B4BB-E010-5E6E-78A8-AA21AAD9E450}"/>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ECFB7804-2071-4E88-0278-145F5FA85A93}"/>
              </a:ext>
            </a:extLst>
          </p:cNvPr>
          <p:cNvSpPr>
            <a:spLocks noGrp="1"/>
          </p:cNvSpPr>
          <p:nvPr>
            <p:ph idx="1"/>
          </p:nvPr>
        </p:nvSpPr>
        <p:spPr>
          <a:xfrm>
            <a:off x="4518786" y="1316442"/>
            <a:ext cx="6454013" cy="1960158"/>
          </a:xfrm>
        </p:spPr>
        <p:txBody>
          <a:bodyPr>
            <a:normAutofit/>
          </a:bodyPr>
          <a:lstStyle/>
          <a:p>
            <a:r>
              <a:rPr lang="es-PE" sz="3000" b="1" dirty="0"/>
              <a:t>Pregunta 1:</a:t>
            </a:r>
            <a:br>
              <a:rPr lang="es-PE" sz="3000" dirty="0"/>
            </a:br>
            <a:r>
              <a:rPr lang="es-PE" sz="3000" dirty="0"/>
              <a:t>Cuál es la principal diferencia entre una medición analógica y digital?</a:t>
            </a:r>
          </a:p>
        </p:txBody>
      </p:sp>
      <p:pic>
        <p:nvPicPr>
          <p:cNvPr id="10" name="Marcador de posición de imagen 9">
            <a:extLst>
              <a:ext uri="{FF2B5EF4-FFF2-40B4-BE49-F238E27FC236}">
                <a16:creationId xmlns:a16="http://schemas.microsoft.com/office/drawing/2014/main" id="{4034C0AA-26D6-AFE0-5AB5-400513475C5C}"/>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72304BA0-55F0-6ACC-00B9-C2F0B40ECD4B}"/>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La analógica es continua y puede tomar infinitos valores en un rango; la digital es discreta, con valores binarios o cuantificados.</a:t>
            </a:r>
          </a:p>
        </p:txBody>
      </p:sp>
      <p:sp>
        <p:nvSpPr>
          <p:cNvPr id="5" name="Título 4">
            <a:extLst>
              <a:ext uri="{FF2B5EF4-FFF2-40B4-BE49-F238E27FC236}">
                <a16:creationId xmlns:a16="http://schemas.microsoft.com/office/drawing/2014/main" id="{4E54BE30-9B7E-9659-8B85-E12BF4EB1523}"/>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3298635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B6A48-38FE-4E6D-B9F5-12ADA0C988EC}"/>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E09C11D5-8E3C-08AB-33F3-8E02941F18F8}"/>
              </a:ext>
            </a:extLst>
          </p:cNvPr>
          <p:cNvSpPr>
            <a:spLocks noGrp="1"/>
          </p:cNvSpPr>
          <p:nvPr>
            <p:ph idx="1"/>
          </p:nvPr>
        </p:nvSpPr>
        <p:spPr>
          <a:xfrm>
            <a:off x="4518786" y="1316442"/>
            <a:ext cx="6454013" cy="1960158"/>
          </a:xfrm>
        </p:spPr>
        <p:txBody>
          <a:bodyPr>
            <a:normAutofit lnSpcReduction="10000"/>
          </a:bodyPr>
          <a:lstStyle/>
          <a:p>
            <a:r>
              <a:rPr lang="es-PE" sz="3000" b="1" dirty="0"/>
              <a:t>Pregunta 2:</a:t>
            </a:r>
            <a:br>
              <a:rPr lang="es-PE" sz="3000" dirty="0"/>
            </a:br>
            <a:r>
              <a:rPr lang="es-PE" sz="3000" dirty="0"/>
              <a:t>Si un sensor de presión entrega 4–20 mA para un rango de 0–10 bar, ¿qué presión corresponde a una lectura de 12 mA?</a:t>
            </a:r>
          </a:p>
        </p:txBody>
      </p:sp>
      <p:pic>
        <p:nvPicPr>
          <p:cNvPr id="10" name="Marcador de posición de imagen 9">
            <a:extLst>
              <a:ext uri="{FF2B5EF4-FFF2-40B4-BE49-F238E27FC236}">
                <a16:creationId xmlns:a16="http://schemas.microsoft.com/office/drawing/2014/main" id="{2D438B08-A2F7-CD30-D510-BDC49419D36D}"/>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24F6852B-E579-4636-FF7A-B82EA093F07C}"/>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a:t>
            </a:r>
          </a:p>
          <a:p>
            <a:pPr algn="just"/>
            <a:endParaRPr lang="es-PE" sz="2400" dirty="0"/>
          </a:p>
          <a:p>
            <a:pPr marL="0" indent="0" algn="just">
              <a:buNone/>
            </a:pPr>
            <a:r>
              <a:rPr lang="nl-NL" sz="2400" dirty="0"/>
              <a:t>P= (12−4)/ (20−4)​×10=5bar</a:t>
            </a:r>
            <a:endParaRPr lang="es-PE" sz="2400" dirty="0"/>
          </a:p>
        </p:txBody>
      </p:sp>
      <p:sp>
        <p:nvSpPr>
          <p:cNvPr id="5" name="Título 4">
            <a:extLst>
              <a:ext uri="{FF2B5EF4-FFF2-40B4-BE49-F238E27FC236}">
                <a16:creationId xmlns:a16="http://schemas.microsoft.com/office/drawing/2014/main" id="{C8935ED1-90F8-8CBA-BA85-301E7DEE6ABF}"/>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1454670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4998C-103A-680A-51CF-B66416D89630}"/>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D26D9353-7338-F950-9824-E5318D062F7D}"/>
              </a:ext>
            </a:extLst>
          </p:cNvPr>
          <p:cNvSpPr>
            <a:spLocks noGrp="1"/>
          </p:cNvSpPr>
          <p:nvPr>
            <p:ph idx="1"/>
          </p:nvPr>
        </p:nvSpPr>
        <p:spPr>
          <a:xfrm>
            <a:off x="4518786" y="1316442"/>
            <a:ext cx="6454013" cy="1960158"/>
          </a:xfrm>
        </p:spPr>
        <p:txBody>
          <a:bodyPr>
            <a:normAutofit lnSpcReduction="10000"/>
          </a:bodyPr>
          <a:lstStyle/>
          <a:p>
            <a:r>
              <a:rPr lang="es-PE" sz="3000" b="1" dirty="0"/>
              <a:t>Pregunta 3:</a:t>
            </a:r>
            <a:br>
              <a:rPr lang="es-PE" sz="3000" dirty="0"/>
            </a:br>
            <a:r>
              <a:rPr lang="es-PE" sz="3000" dirty="0"/>
              <a:t>¿Qué limitaciones presenta la medición analógica frente a entornos con alta interferencia electromagnética?</a:t>
            </a:r>
          </a:p>
        </p:txBody>
      </p:sp>
      <p:pic>
        <p:nvPicPr>
          <p:cNvPr id="10" name="Marcador de posición de imagen 9">
            <a:extLst>
              <a:ext uri="{FF2B5EF4-FFF2-40B4-BE49-F238E27FC236}">
                <a16:creationId xmlns:a16="http://schemas.microsoft.com/office/drawing/2014/main" id="{592BE483-1F5E-C8E9-C324-2626E14ADADF}"/>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3C7C8F9D-543D-F073-EC10-7D840DC00847}"/>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Es vulnerable al ruido, generando señales distorsionadas que afectan la precisión. Se recomienda blindaje y filtros.</a:t>
            </a:r>
          </a:p>
        </p:txBody>
      </p:sp>
      <p:sp>
        <p:nvSpPr>
          <p:cNvPr id="5" name="Título 4">
            <a:extLst>
              <a:ext uri="{FF2B5EF4-FFF2-40B4-BE49-F238E27FC236}">
                <a16:creationId xmlns:a16="http://schemas.microsoft.com/office/drawing/2014/main" id="{989BB0B3-497F-C101-A590-814DD2139EA1}"/>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2031452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8E972-26AF-552C-935F-18DF09288AA5}"/>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EC1003C8-52BA-5B86-78A4-94C6E335DE52}"/>
              </a:ext>
            </a:extLst>
          </p:cNvPr>
          <p:cNvSpPr>
            <a:spLocks noGrp="1"/>
          </p:cNvSpPr>
          <p:nvPr>
            <p:ph type="title"/>
          </p:nvPr>
        </p:nvSpPr>
        <p:spPr/>
        <p:txBody>
          <a:bodyPr>
            <a:normAutofit/>
          </a:bodyPr>
          <a:lstStyle/>
          <a:p>
            <a:r>
              <a:rPr lang="es-PE" dirty="0"/>
              <a:t>Medición Digital</a:t>
            </a:r>
          </a:p>
        </p:txBody>
      </p:sp>
      <p:sp>
        <p:nvSpPr>
          <p:cNvPr id="45" name="Marcador de contenido 44">
            <a:extLst>
              <a:ext uri="{FF2B5EF4-FFF2-40B4-BE49-F238E27FC236}">
                <a16:creationId xmlns:a16="http://schemas.microsoft.com/office/drawing/2014/main" id="{149C4ACE-FAB5-AC4F-9816-54B4B91C2419}"/>
              </a:ext>
            </a:extLst>
          </p:cNvPr>
          <p:cNvSpPr>
            <a:spLocks noGrp="1"/>
          </p:cNvSpPr>
          <p:nvPr>
            <p:ph idx="1"/>
          </p:nvPr>
        </p:nvSpPr>
        <p:spPr/>
        <p:txBody>
          <a:bodyPr/>
          <a:lstStyle/>
          <a:p>
            <a:r>
              <a:rPr lang="es-PE" dirty="0"/>
              <a:t>La medición digital convierte la señal analógica a un valor numérico discreto mediante un </a:t>
            </a:r>
            <a:r>
              <a:rPr lang="es-PE" dirty="0" err="1"/>
              <a:t>ADC</a:t>
            </a:r>
            <a:r>
              <a:rPr lang="es-PE" dirty="0"/>
              <a:t> (Conversor Analógico-Digital).</a:t>
            </a:r>
          </a:p>
          <a:p>
            <a:r>
              <a:rPr lang="es-PE" dirty="0"/>
              <a:t>Analogía: Es como tomar fotos de una película: se pierde continuidad, pero se obtiene información exacta en instantes discretos.</a:t>
            </a:r>
          </a:p>
          <a:p>
            <a:endParaRPr lang="es-PE" dirty="0"/>
          </a:p>
        </p:txBody>
      </p:sp>
      <p:pic>
        <p:nvPicPr>
          <p:cNvPr id="2050" name="Picture 2">
            <a:extLst>
              <a:ext uri="{FF2B5EF4-FFF2-40B4-BE49-F238E27FC236}">
                <a16:creationId xmlns:a16="http://schemas.microsoft.com/office/drawing/2014/main" id="{4BE4E8EB-9DFD-A9BB-6395-C4B1795275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3036003"/>
            <a:ext cx="4735003" cy="3071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7065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A3B52-98EA-A0A7-D3AE-328289393A8B}"/>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AB08F1C8-01D6-FE96-4B6A-1066E81622C0}"/>
              </a:ext>
            </a:extLst>
          </p:cNvPr>
          <p:cNvSpPr>
            <a:spLocks noGrp="1"/>
          </p:cNvSpPr>
          <p:nvPr>
            <p:ph type="title"/>
          </p:nvPr>
        </p:nvSpPr>
        <p:spPr/>
        <p:txBody>
          <a:bodyPr>
            <a:normAutofit/>
          </a:bodyPr>
          <a:lstStyle/>
          <a:p>
            <a:r>
              <a:rPr lang="es-PE" dirty="0"/>
              <a:t>Medición Digital</a:t>
            </a:r>
          </a:p>
        </p:txBody>
      </p:sp>
      <p:sp>
        <p:nvSpPr>
          <p:cNvPr id="45" name="Marcador de contenido 44">
            <a:extLst>
              <a:ext uri="{FF2B5EF4-FFF2-40B4-BE49-F238E27FC236}">
                <a16:creationId xmlns:a16="http://schemas.microsoft.com/office/drawing/2014/main" id="{C339A434-E159-5214-6986-24E03FF2922B}"/>
              </a:ext>
            </a:extLst>
          </p:cNvPr>
          <p:cNvSpPr>
            <a:spLocks noGrp="1"/>
          </p:cNvSpPr>
          <p:nvPr>
            <p:ph idx="1"/>
          </p:nvPr>
        </p:nvSpPr>
        <p:spPr/>
        <p:txBody>
          <a:bodyPr/>
          <a:lstStyle/>
          <a:p>
            <a:r>
              <a:rPr lang="es-PE" dirty="0"/>
              <a:t>Fundamentos Matemáticos:</a:t>
            </a:r>
          </a:p>
          <a:p>
            <a:pPr marL="0" indent="0">
              <a:buNone/>
            </a:pPr>
            <a:r>
              <a:rPr lang="es-PE" dirty="0"/>
              <a:t>Resolución del </a:t>
            </a:r>
            <a:r>
              <a:rPr lang="es-PE" dirty="0" err="1"/>
              <a:t>ADC</a:t>
            </a:r>
            <a:r>
              <a:rPr lang="es-PE" dirty="0"/>
              <a:t>:</a:t>
            </a:r>
          </a:p>
          <a:p>
            <a:pPr marL="0" indent="0">
              <a:buNone/>
            </a:pPr>
            <a:r>
              <a:rPr lang="es-PE" dirty="0"/>
              <a:t>donde 𝑛 = bits</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2F22BF8B-3DF7-A75F-45A1-6A1788AE2DF0}"/>
                  </a:ext>
                </a:extLst>
              </p:cNvPr>
              <p:cNvSpPr txBox="1"/>
              <p:nvPr/>
            </p:nvSpPr>
            <p:spPr>
              <a:xfrm>
                <a:off x="5791200" y="1524000"/>
                <a:ext cx="4221480" cy="101752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s-PE" sz="3600" smtClean="0"/>
                        <m:t>Resolucion</m:t>
                      </m:r>
                      <m:r>
                        <m:rPr>
                          <m:nor/>
                        </m:rPr>
                        <a:rPr lang="es-PE" sz="3600" smtClean="0"/>
                        <m:t>=</m:t>
                      </m:r>
                      <m:f>
                        <m:fPr>
                          <m:ctrlPr>
                            <a:rPr lang="es-PE" sz="3600" i="1" smtClean="0">
                              <a:latin typeface="Cambria Math" panose="02040503050406030204" pitchFamily="18" charset="0"/>
                            </a:rPr>
                          </m:ctrlPr>
                        </m:fPr>
                        <m:num>
                          <m:r>
                            <m:rPr>
                              <m:nor/>
                            </m:rPr>
                            <a:rPr lang="es-PE" sz="3600"/>
                            <m:t>Rango</m:t>
                          </m:r>
                        </m:num>
                        <m:den>
                          <m:sSup>
                            <m:sSupPr>
                              <m:ctrlPr>
                                <a:rPr lang="es-PE" sz="3600" b="0" i="1" smtClean="0">
                                  <a:latin typeface="Cambria Math" panose="02040503050406030204" pitchFamily="18" charset="0"/>
                                </a:rPr>
                              </m:ctrlPr>
                            </m:sSupPr>
                            <m:e>
                              <m:r>
                                <a:rPr lang="es-PE" sz="3600" b="0" i="1" smtClean="0">
                                  <a:latin typeface="Cambria Math" panose="02040503050406030204" pitchFamily="18" charset="0"/>
                                </a:rPr>
                                <m:t>2</m:t>
                              </m:r>
                            </m:e>
                            <m:sup>
                              <m:r>
                                <a:rPr lang="es-PE" sz="3600" b="0" i="1" smtClean="0">
                                  <a:latin typeface="Cambria Math" panose="02040503050406030204" pitchFamily="18" charset="0"/>
                                </a:rPr>
                                <m:t>𝑛</m:t>
                              </m:r>
                            </m:sup>
                          </m:sSup>
                        </m:den>
                      </m:f>
                      <m:r>
                        <m:rPr>
                          <m:nor/>
                        </m:rPr>
                        <a:rPr lang="es-PE" sz="3600"/>
                        <m:t>​</m:t>
                      </m:r>
                    </m:oMath>
                  </m:oMathPara>
                </a14:m>
                <a:endParaRPr lang="es-PE" dirty="0"/>
              </a:p>
            </p:txBody>
          </p:sp>
        </mc:Choice>
        <mc:Fallback xmlns="">
          <p:sp>
            <p:nvSpPr>
              <p:cNvPr id="6" name="CuadroTexto 5">
                <a:extLst>
                  <a:ext uri="{FF2B5EF4-FFF2-40B4-BE49-F238E27FC236}">
                    <a16:creationId xmlns:a16="http://schemas.microsoft.com/office/drawing/2014/main" id="{2F22BF8B-3DF7-A75F-45A1-6A1788AE2DF0}"/>
                  </a:ext>
                </a:extLst>
              </p:cNvPr>
              <p:cNvSpPr txBox="1">
                <a:spLocks noRot="1" noChangeAspect="1" noMove="1" noResize="1" noEditPoints="1" noAdjustHandles="1" noChangeArrowheads="1" noChangeShapeType="1" noTextEdit="1"/>
              </p:cNvSpPr>
              <p:nvPr/>
            </p:nvSpPr>
            <p:spPr>
              <a:xfrm>
                <a:off x="5791200" y="1524000"/>
                <a:ext cx="4221480" cy="1017523"/>
              </a:xfrm>
              <a:prstGeom prst="rect">
                <a:avLst/>
              </a:prstGeom>
              <a:blipFill>
                <a:blip r:embed="rId2"/>
                <a:stretch>
                  <a:fillRect/>
                </a:stretch>
              </a:blipFill>
            </p:spPr>
            <p:txBody>
              <a:bodyPr/>
              <a:lstStyle/>
              <a:p>
                <a:r>
                  <a:rPr lang="es-PE">
                    <a:noFill/>
                  </a:rPr>
                  <a:t> </a:t>
                </a:r>
              </a:p>
            </p:txBody>
          </p:sp>
        </mc:Fallback>
      </mc:AlternateContent>
      <p:pic>
        <p:nvPicPr>
          <p:cNvPr id="3076" name="Picture 4">
            <a:extLst>
              <a:ext uri="{FF2B5EF4-FFF2-40B4-BE49-F238E27FC236}">
                <a16:creationId xmlns:a16="http://schemas.microsoft.com/office/drawing/2014/main" id="{3C8F2A29-AD72-1A44-7D06-04DFEE1261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851158"/>
            <a:ext cx="7620000" cy="3400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732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B535B-2182-2C91-0A15-6BDF30B3056D}"/>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BAC8970C-A1FB-F46C-C127-D202F181219C}"/>
              </a:ext>
            </a:extLst>
          </p:cNvPr>
          <p:cNvSpPr>
            <a:spLocks noGrp="1"/>
          </p:cNvSpPr>
          <p:nvPr>
            <p:ph type="title"/>
          </p:nvPr>
        </p:nvSpPr>
        <p:spPr/>
        <p:txBody>
          <a:bodyPr>
            <a:normAutofit/>
          </a:bodyPr>
          <a:lstStyle/>
          <a:p>
            <a:r>
              <a:rPr lang="es-PE" dirty="0"/>
              <a:t>Medición Digital</a:t>
            </a:r>
          </a:p>
        </p:txBody>
      </p:sp>
      <p:sp>
        <p:nvSpPr>
          <p:cNvPr id="45" name="Marcador de contenido 44">
            <a:extLst>
              <a:ext uri="{FF2B5EF4-FFF2-40B4-BE49-F238E27FC236}">
                <a16:creationId xmlns:a16="http://schemas.microsoft.com/office/drawing/2014/main" id="{9B85DA86-A53E-7B67-2658-84FB58A07E54}"/>
              </a:ext>
            </a:extLst>
          </p:cNvPr>
          <p:cNvSpPr>
            <a:spLocks noGrp="1"/>
          </p:cNvSpPr>
          <p:nvPr>
            <p:ph idx="1"/>
          </p:nvPr>
        </p:nvSpPr>
        <p:spPr>
          <a:xfrm>
            <a:off x="914401" y="1389055"/>
            <a:ext cx="4876800" cy="4727583"/>
          </a:xfrm>
        </p:spPr>
        <p:txBody>
          <a:bodyPr/>
          <a:lstStyle/>
          <a:p>
            <a:r>
              <a:rPr lang="es-PE" dirty="0"/>
              <a:t>Aplicación Práctica:</a:t>
            </a:r>
          </a:p>
          <a:p>
            <a:pPr marL="0" indent="0">
              <a:buNone/>
            </a:pPr>
            <a:r>
              <a:rPr lang="es-PE" dirty="0" err="1"/>
              <a:t>Encoders</a:t>
            </a:r>
            <a:r>
              <a:rPr lang="es-PE" dirty="0"/>
              <a:t> digitales en robots.</a:t>
            </a:r>
          </a:p>
          <a:p>
            <a:pPr marL="0" indent="0">
              <a:buNone/>
            </a:pPr>
            <a:r>
              <a:rPr lang="es-PE" dirty="0"/>
              <a:t>Sensores de proximidad en sistemas de manufactura.</a:t>
            </a:r>
          </a:p>
          <a:p>
            <a:pPr marL="0" indent="0">
              <a:buNone/>
            </a:pPr>
            <a:r>
              <a:rPr lang="es-PE" dirty="0"/>
              <a:t>Medición digital en multímetros y </a:t>
            </a:r>
            <a:r>
              <a:rPr lang="es-PE" dirty="0" err="1"/>
              <a:t>PLCs</a:t>
            </a:r>
            <a:endParaRPr lang="es-PE" dirty="0"/>
          </a:p>
        </p:txBody>
      </p:sp>
      <p:pic>
        <p:nvPicPr>
          <p:cNvPr id="3074" name="Picture 2">
            <a:extLst>
              <a:ext uri="{FF2B5EF4-FFF2-40B4-BE49-F238E27FC236}">
                <a16:creationId xmlns:a16="http://schemas.microsoft.com/office/drawing/2014/main" id="{56C11EDC-BA7F-AD37-22FE-8BD1E7AE1D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775" y="1389055"/>
            <a:ext cx="5419825" cy="3429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7790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0D0DD-FA52-B933-9B59-315CC1041266}"/>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93AF31A5-8408-0415-1B3A-3CC1D1247422}"/>
              </a:ext>
            </a:extLst>
          </p:cNvPr>
          <p:cNvSpPr>
            <a:spLocks noGrp="1"/>
          </p:cNvSpPr>
          <p:nvPr>
            <p:ph idx="1"/>
          </p:nvPr>
        </p:nvSpPr>
        <p:spPr>
          <a:xfrm>
            <a:off x="4518786" y="1316442"/>
            <a:ext cx="6454013" cy="1960158"/>
          </a:xfrm>
        </p:spPr>
        <p:txBody>
          <a:bodyPr>
            <a:normAutofit/>
          </a:bodyPr>
          <a:lstStyle/>
          <a:p>
            <a:r>
              <a:rPr lang="es-PE" sz="3000" b="1" dirty="0"/>
              <a:t>Pregunta 1:</a:t>
            </a:r>
            <a:br>
              <a:rPr lang="es-PE" sz="3000" dirty="0"/>
            </a:br>
            <a:r>
              <a:rPr lang="es-PE" sz="3000" dirty="0"/>
              <a:t>¿Qué significa que un </a:t>
            </a:r>
            <a:r>
              <a:rPr lang="es-PE" sz="3000" dirty="0" err="1"/>
              <a:t>ADC</a:t>
            </a:r>
            <a:r>
              <a:rPr lang="es-PE" sz="3000" dirty="0"/>
              <a:t> sea de 10 bits?</a:t>
            </a:r>
          </a:p>
        </p:txBody>
      </p:sp>
      <p:pic>
        <p:nvPicPr>
          <p:cNvPr id="10" name="Marcador de posición de imagen 9">
            <a:extLst>
              <a:ext uri="{FF2B5EF4-FFF2-40B4-BE49-F238E27FC236}">
                <a16:creationId xmlns:a16="http://schemas.microsoft.com/office/drawing/2014/main" id="{6627BDAF-B36D-8B2A-CAFF-190934CE1DB8}"/>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mc:AlternateContent xmlns:mc="http://schemas.openxmlformats.org/markup-compatibility/2006" xmlns:a14="http://schemas.microsoft.com/office/drawing/2010/main">
        <mc:Choice Requires="a14">
          <p:sp>
            <p:nvSpPr>
              <p:cNvPr id="7" name="Marcador de contenido 3">
                <a:extLst>
                  <a:ext uri="{FF2B5EF4-FFF2-40B4-BE49-F238E27FC236}">
                    <a16:creationId xmlns:a16="http://schemas.microsoft.com/office/drawing/2014/main" id="{C91A1518-1A43-08E0-CCAB-3918D9062B3A}"/>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a:t>
                </a:r>
              </a:p>
              <a:p>
                <a:pPr marL="0" indent="0" algn="just">
                  <a:buNone/>
                </a:pPr>
                <a:r>
                  <a:rPr lang="es-PE" sz="2400" dirty="0"/>
                  <a:t>Se puede representar </a:t>
                </a:r>
                <a14:m>
                  <m:oMath xmlns:m="http://schemas.openxmlformats.org/officeDocument/2006/math">
                    <m:sSup>
                      <m:sSupPr>
                        <m:ctrlPr>
                          <a:rPr lang="es-PE" sz="2400" i="1" smtClean="0">
                            <a:latin typeface="Cambria Math" panose="02040503050406030204" pitchFamily="18" charset="0"/>
                          </a:rPr>
                        </m:ctrlPr>
                      </m:sSupPr>
                      <m:e>
                        <m:r>
                          <a:rPr lang="es-PE" sz="2400" b="0" i="1" smtClean="0">
                            <a:latin typeface="Cambria Math" panose="02040503050406030204" pitchFamily="18" charset="0"/>
                          </a:rPr>
                          <m:t>2</m:t>
                        </m:r>
                      </m:e>
                      <m:sup>
                        <m:r>
                          <a:rPr lang="es-PE" sz="2400" b="0" i="1" smtClean="0">
                            <a:latin typeface="Cambria Math" panose="02040503050406030204" pitchFamily="18" charset="0"/>
                          </a:rPr>
                          <m:t>10</m:t>
                        </m:r>
                      </m:sup>
                    </m:sSup>
                  </m:oMath>
                </a14:m>
                <a:r>
                  <a:rPr lang="es-PE" sz="2400" dirty="0"/>
                  <a:t>= 1024 niveles de cuantificación</a:t>
                </a:r>
              </a:p>
            </p:txBody>
          </p:sp>
        </mc:Choice>
        <mc:Fallback xmlns="">
          <p:sp>
            <p:nvSpPr>
              <p:cNvPr id="7" name="Marcador de contenido 3">
                <a:extLst>
                  <a:ext uri="{FF2B5EF4-FFF2-40B4-BE49-F238E27FC236}">
                    <a16:creationId xmlns:a16="http://schemas.microsoft.com/office/drawing/2014/main" id="{C91A1518-1A43-08E0-CCAB-3918D9062B3A}"/>
                  </a:ext>
                </a:extLst>
              </p:cNvPr>
              <p:cNvSpPr txBox="1">
                <a:spLocks noRot="1" noChangeAspect="1" noMove="1" noResize="1" noEditPoints="1" noAdjustHandles="1" noChangeArrowheads="1" noChangeShapeType="1" noTextEdit="1"/>
              </p:cNvSpPr>
              <p:nvPr/>
            </p:nvSpPr>
            <p:spPr>
              <a:xfrm>
                <a:off x="4518786" y="3581400"/>
                <a:ext cx="6454013" cy="2535237"/>
              </a:xfrm>
              <a:prstGeom prst="rect">
                <a:avLst/>
              </a:prstGeom>
              <a:blipFill>
                <a:blip r:embed="rId3"/>
                <a:stretch>
                  <a:fillRect l="-1416" t="-3373" r="-1511"/>
                </a:stretch>
              </a:blipFill>
            </p:spPr>
            <p:txBody>
              <a:bodyPr/>
              <a:lstStyle/>
              <a:p>
                <a:r>
                  <a:rPr lang="es-PE">
                    <a:noFill/>
                  </a:rPr>
                  <a:t> </a:t>
                </a:r>
              </a:p>
            </p:txBody>
          </p:sp>
        </mc:Fallback>
      </mc:AlternateContent>
      <p:sp>
        <p:nvSpPr>
          <p:cNvPr id="5" name="Título 4">
            <a:extLst>
              <a:ext uri="{FF2B5EF4-FFF2-40B4-BE49-F238E27FC236}">
                <a16:creationId xmlns:a16="http://schemas.microsoft.com/office/drawing/2014/main" id="{837D9DE1-D467-E3D5-7C2B-BC6790C96FE9}"/>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3446424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2C56D-8EBD-7AD0-8C8D-B6911EE47DD5}"/>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FDEBAD05-0DAA-74FD-4EA9-9C83B60AC096}"/>
              </a:ext>
            </a:extLst>
          </p:cNvPr>
          <p:cNvSpPr>
            <a:spLocks noGrp="1"/>
          </p:cNvSpPr>
          <p:nvPr>
            <p:ph idx="1"/>
          </p:nvPr>
        </p:nvSpPr>
        <p:spPr>
          <a:xfrm>
            <a:off x="4518786" y="1316442"/>
            <a:ext cx="6454013" cy="1960158"/>
          </a:xfrm>
        </p:spPr>
        <p:txBody>
          <a:bodyPr>
            <a:normAutofit/>
          </a:bodyPr>
          <a:lstStyle/>
          <a:p>
            <a:r>
              <a:rPr lang="es-PE" sz="3000" b="1" dirty="0"/>
              <a:t>Pregunta 2:</a:t>
            </a:r>
            <a:br>
              <a:rPr lang="es-PE" sz="3000" dirty="0"/>
            </a:br>
            <a:r>
              <a:rPr lang="es-PE" sz="3000" dirty="0"/>
              <a:t>Si un </a:t>
            </a:r>
            <a:r>
              <a:rPr lang="es-PE" sz="3000" dirty="0" err="1"/>
              <a:t>ADC</a:t>
            </a:r>
            <a:r>
              <a:rPr lang="es-PE" sz="3000" dirty="0"/>
              <a:t> de 8 bits mide un rango de 0–5 V, ¿cuál es la resolución en voltios por nivel?</a:t>
            </a:r>
          </a:p>
        </p:txBody>
      </p:sp>
      <p:pic>
        <p:nvPicPr>
          <p:cNvPr id="10" name="Marcador de posición de imagen 9">
            <a:extLst>
              <a:ext uri="{FF2B5EF4-FFF2-40B4-BE49-F238E27FC236}">
                <a16:creationId xmlns:a16="http://schemas.microsoft.com/office/drawing/2014/main" id="{10D4E4FD-5E39-FA60-4A0C-8CA742423B97}"/>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mc:AlternateContent xmlns:mc="http://schemas.openxmlformats.org/markup-compatibility/2006" xmlns:a14="http://schemas.microsoft.com/office/drawing/2010/main">
        <mc:Choice Requires="a14">
          <p:sp>
            <p:nvSpPr>
              <p:cNvPr id="7" name="Marcador de contenido 3">
                <a:extLst>
                  <a:ext uri="{FF2B5EF4-FFF2-40B4-BE49-F238E27FC236}">
                    <a16:creationId xmlns:a16="http://schemas.microsoft.com/office/drawing/2014/main" id="{48151C1D-572B-9803-3FC9-D9CEE06211D1}"/>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p>
              <a:p>
                <a:pPr algn="just"/>
                <a:endParaRPr lang="es-PE" sz="2400" b="1" dirty="0"/>
              </a:p>
              <a:p>
                <a:pPr algn="just"/>
                <a14:m>
                  <m:oMath xmlns:m="http://schemas.openxmlformats.org/officeDocument/2006/math">
                    <m:f>
                      <m:fPr>
                        <m:ctrlPr>
                          <a:rPr lang="pt-BR" sz="2400" i="1" smtClean="0">
                            <a:latin typeface="Cambria Math" panose="02040503050406030204" pitchFamily="18" charset="0"/>
                          </a:rPr>
                        </m:ctrlPr>
                      </m:fPr>
                      <m:num>
                        <m:r>
                          <a:rPr lang="es-PE" sz="2400" b="0" i="1" smtClean="0">
                            <a:latin typeface="Cambria Math" panose="02040503050406030204" pitchFamily="18" charset="0"/>
                          </a:rPr>
                          <m:t>5</m:t>
                        </m:r>
                      </m:num>
                      <m:den>
                        <m:sSup>
                          <m:sSupPr>
                            <m:ctrlPr>
                              <a:rPr lang="pt-BR" sz="2400" i="1" smtClean="0">
                                <a:latin typeface="Cambria Math" panose="02040503050406030204" pitchFamily="18" charset="0"/>
                              </a:rPr>
                            </m:ctrlPr>
                          </m:sSupPr>
                          <m:e>
                            <m:r>
                              <a:rPr lang="es-PE" sz="2400" b="0" i="1" smtClean="0">
                                <a:latin typeface="Cambria Math" panose="02040503050406030204" pitchFamily="18" charset="0"/>
                              </a:rPr>
                              <m:t>2</m:t>
                            </m:r>
                          </m:e>
                          <m:sup>
                            <m:r>
                              <a:rPr lang="es-PE" sz="2400" b="0" i="1" smtClean="0">
                                <a:latin typeface="Cambria Math" panose="02040503050406030204" pitchFamily="18" charset="0"/>
                              </a:rPr>
                              <m:t>8</m:t>
                            </m:r>
                          </m:sup>
                        </m:sSup>
                      </m:den>
                    </m:f>
                    <m:r>
                      <a:rPr lang="es-PE" sz="2400" b="0" i="1" smtClean="0">
                        <a:latin typeface="Cambria Math" panose="02040503050406030204" pitchFamily="18" charset="0"/>
                      </a:rPr>
                      <m:t>=</m:t>
                    </m:r>
                    <m:f>
                      <m:fPr>
                        <m:ctrlPr>
                          <a:rPr lang="pt-BR" sz="2400" i="1" smtClean="0">
                            <a:latin typeface="Cambria Math" panose="02040503050406030204" pitchFamily="18" charset="0"/>
                          </a:rPr>
                        </m:ctrlPr>
                      </m:fPr>
                      <m:num>
                        <m:r>
                          <a:rPr lang="es-PE" sz="2400" b="0" i="1" smtClean="0">
                            <a:latin typeface="Cambria Math" panose="02040503050406030204" pitchFamily="18" charset="0"/>
                          </a:rPr>
                          <m:t>5</m:t>
                        </m:r>
                      </m:num>
                      <m:den>
                        <m:r>
                          <a:rPr lang="pt-BR" sz="2400" i="1" smtClean="0">
                            <a:latin typeface="Cambria Math" panose="02040503050406030204" pitchFamily="18" charset="0"/>
                          </a:rPr>
                          <m:t>2</m:t>
                        </m:r>
                        <m:r>
                          <a:rPr lang="es-PE" sz="2400" b="0" i="1" smtClean="0">
                            <a:latin typeface="Cambria Math" panose="02040503050406030204" pitchFamily="18" charset="0"/>
                          </a:rPr>
                          <m:t>56</m:t>
                        </m:r>
                      </m:den>
                    </m:f>
                  </m:oMath>
                </a14:m>
                <a:endParaRPr lang="es-PE" sz="2400" dirty="0"/>
              </a:p>
            </p:txBody>
          </p:sp>
        </mc:Choice>
        <mc:Fallback xmlns="">
          <p:sp>
            <p:nvSpPr>
              <p:cNvPr id="7" name="Marcador de contenido 3">
                <a:extLst>
                  <a:ext uri="{FF2B5EF4-FFF2-40B4-BE49-F238E27FC236}">
                    <a16:creationId xmlns:a16="http://schemas.microsoft.com/office/drawing/2014/main" id="{48151C1D-572B-9803-3FC9-D9CEE06211D1}"/>
                  </a:ext>
                </a:extLst>
              </p:cNvPr>
              <p:cNvSpPr txBox="1">
                <a:spLocks noRot="1" noChangeAspect="1" noMove="1" noResize="1" noEditPoints="1" noAdjustHandles="1" noChangeArrowheads="1" noChangeShapeType="1" noTextEdit="1"/>
              </p:cNvSpPr>
              <p:nvPr/>
            </p:nvSpPr>
            <p:spPr>
              <a:xfrm>
                <a:off x="4518786" y="3581400"/>
                <a:ext cx="6454013" cy="2535237"/>
              </a:xfrm>
              <a:prstGeom prst="rect">
                <a:avLst/>
              </a:prstGeom>
              <a:blipFill>
                <a:blip r:embed="rId3"/>
                <a:stretch>
                  <a:fillRect l="-1228" t="-3373"/>
                </a:stretch>
              </a:blipFill>
            </p:spPr>
            <p:txBody>
              <a:bodyPr/>
              <a:lstStyle/>
              <a:p>
                <a:r>
                  <a:rPr lang="es-PE">
                    <a:noFill/>
                  </a:rPr>
                  <a:t> </a:t>
                </a:r>
              </a:p>
            </p:txBody>
          </p:sp>
        </mc:Fallback>
      </mc:AlternateContent>
      <p:sp>
        <p:nvSpPr>
          <p:cNvPr id="5" name="Título 4">
            <a:extLst>
              <a:ext uri="{FF2B5EF4-FFF2-40B4-BE49-F238E27FC236}">
                <a16:creationId xmlns:a16="http://schemas.microsoft.com/office/drawing/2014/main" id="{FC5CF273-428E-E01E-0FD7-B516BA7C7C4D}"/>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1313339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EAD9B-FBF9-69CD-70DA-EC0565B8A25F}"/>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E3960387-EC85-1523-80CA-95BCA5DF725D}"/>
              </a:ext>
            </a:extLst>
          </p:cNvPr>
          <p:cNvSpPr>
            <a:spLocks noGrp="1"/>
          </p:cNvSpPr>
          <p:nvPr>
            <p:ph type="title"/>
          </p:nvPr>
        </p:nvSpPr>
        <p:spPr/>
        <p:txBody>
          <a:bodyPr>
            <a:normAutofit/>
          </a:bodyPr>
          <a:lstStyle/>
          <a:p>
            <a:r>
              <a:rPr lang="es-PE" dirty="0"/>
              <a:t>Medición Comparativa</a:t>
            </a:r>
          </a:p>
        </p:txBody>
      </p:sp>
      <p:sp>
        <p:nvSpPr>
          <p:cNvPr id="45" name="Marcador de contenido 44">
            <a:extLst>
              <a:ext uri="{FF2B5EF4-FFF2-40B4-BE49-F238E27FC236}">
                <a16:creationId xmlns:a16="http://schemas.microsoft.com/office/drawing/2014/main" id="{F184A272-4A4C-CD57-6DAF-B8BA4FD79BB9}"/>
              </a:ext>
            </a:extLst>
          </p:cNvPr>
          <p:cNvSpPr>
            <a:spLocks noGrp="1"/>
          </p:cNvSpPr>
          <p:nvPr>
            <p:ph idx="1"/>
          </p:nvPr>
        </p:nvSpPr>
        <p:spPr/>
        <p:txBody>
          <a:bodyPr/>
          <a:lstStyle/>
          <a:p>
            <a:r>
              <a:rPr lang="es-PE" dirty="0"/>
              <a:t>En la medición comparativa no se mide directamente, sino que se compara con una referencia o patrón.</a:t>
            </a:r>
          </a:p>
          <a:p>
            <a:r>
              <a:rPr lang="es-PE" dirty="0"/>
              <a:t>Ejemplo: un calibrador compara la longitud con una escala.</a:t>
            </a:r>
          </a:p>
          <a:p>
            <a:r>
              <a:rPr lang="es-PE" dirty="0"/>
              <a:t>Analogía: Es como comparar la altura de dos personas sin conocer el valor exacto en centímetros.</a:t>
            </a:r>
          </a:p>
        </p:txBody>
      </p:sp>
      <p:pic>
        <p:nvPicPr>
          <p:cNvPr id="4098" name="Picture 2">
            <a:extLst>
              <a:ext uri="{FF2B5EF4-FFF2-40B4-BE49-F238E27FC236}">
                <a16:creationId xmlns:a16="http://schemas.microsoft.com/office/drawing/2014/main" id="{95A8DA06-D6EF-27C1-34E4-7BB174D66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3555916"/>
            <a:ext cx="4038600" cy="2694629"/>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a:extLst>
              <a:ext uri="{FF2B5EF4-FFF2-40B4-BE49-F238E27FC236}">
                <a16:creationId xmlns:a16="http://schemas.microsoft.com/office/drawing/2014/main" id="{6C3E3CED-0761-D399-0E10-01D4B6BEB76F}"/>
              </a:ext>
            </a:extLst>
          </p:cNvPr>
          <p:cNvPicPr>
            <a:picLocks noChangeAspect="1"/>
          </p:cNvPicPr>
          <p:nvPr/>
        </p:nvPicPr>
        <p:blipFill>
          <a:blip r:embed="rId3"/>
          <a:stretch>
            <a:fillRect/>
          </a:stretch>
        </p:blipFill>
        <p:spPr>
          <a:xfrm>
            <a:off x="6934202" y="3276600"/>
            <a:ext cx="2898829" cy="3185526"/>
          </a:xfrm>
          <a:prstGeom prst="rect">
            <a:avLst/>
          </a:prstGeom>
        </p:spPr>
      </p:pic>
    </p:spTree>
    <p:extLst>
      <p:ext uri="{BB962C8B-B14F-4D97-AF65-F5344CB8AC3E}">
        <p14:creationId xmlns:p14="http://schemas.microsoft.com/office/powerpoint/2010/main" val="2820413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6697D-E382-55DE-88A5-3192C5150ECD}"/>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BE0B361B-5F9B-102A-FEFD-5ED8B746C417}"/>
              </a:ext>
            </a:extLst>
          </p:cNvPr>
          <p:cNvSpPr>
            <a:spLocks noGrp="1"/>
          </p:cNvSpPr>
          <p:nvPr>
            <p:ph type="title"/>
          </p:nvPr>
        </p:nvSpPr>
        <p:spPr/>
        <p:txBody>
          <a:bodyPr>
            <a:normAutofit/>
          </a:bodyPr>
          <a:lstStyle/>
          <a:p>
            <a:r>
              <a:rPr lang="es-PE" dirty="0"/>
              <a:t>Medición Comparativa</a:t>
            </a:r>
          </a:p>
        </p:txBody>
      </p:sp>
      <mc:AlternateContent xmlns:mc="http://schemas.openxmlformats.org/markup-compatibility/2006" xmlns:a14="http://schemas.microsoft.com/office/drawing/2010/main">
        <mc:Choice Requires="a14">
          <p:sp>
            <p:nvSpPr>
              <p:cNvPr id="45" name="Marcador de contenido 44">
                <a:extLst>
                  <a:ext uri="{FF2B5EF4-FFF2-40B4-BE49-F238E27FC236}">
                    <a16:creationId xmlns:a16="http://schemas.microsoft.com/office/drawing/2014/main" id="{916163E1-37D9-9448-A4C9-4F103A75466A}"/>
                  </a:ext>
                </a:extLst>
              </p:cNvPr>
              <p:cNvSpPr>
                <a:spLocks noGrp="1"/>
              </p:cNvSpPr>
              <p:nvPr>
                <p:ph idx="1"/>
              </p:nvPr>
            </p:nvSpPr>
            <p:spPr/>
            <p:txBody>
              <a:bodyPr/>
              <a:lstStyle/>
              <a:p>
                <a:r>
                  <a:rPr lang="es-PE" dirty="0"/>
                  <a:t>Fundamentos Matemáticos:</a:t>
                </a:r>
              </a:p>
              <a:p>
                <a:pPr marL="0" indent="0">
                  <a:buNone/>
                </a:pPr>
                <a:r>
                  <a:rPr lang="es-PE" dirty="0"/>
                  <a:t>Error relativo en una comparación:</a:t>
                </a:r>
              </a:p>
              <a:p>
                <a:pPr marL="0" indent="0">
                  <a:buNone/>
                </a:pPr>
                <a:endParaRPr lang="es-PE" dirty="0"/>
              </a:p>
              <a:p>
                <a:pPr marL="0" indent="0">
                  <a:buNone/>
                </a:pPr>
                <a14:m>
                  <m:oMathPara xmlns:m="http://schemas.openxmlformats.org/officeDocument/2006/math">
                    <m:oMathParaPr>
                      <m:jc m:val="centerGroup"/>
                    </m:oMathParaPr>
                    <m:oMath xmlns:m="http://schemas.openxmlformats.org/officeDocument/2006/math">
                      <m:sSup>
                        <m:sSupPr>
                          <m:ctrlPr>
                            <a:rPr lang="pt-BR" i="1" smtClean="0">
                              <a:latin typeface="Cambria Math" panose="02040503050406030204" pitchFamily="18" charset="0"/>
                            </a:rPr>
                          </m:ctrlPr>
                        </m:sSupPr>
                        <m:e>
                          <m:r>
                            <a:rPr lang="es-PE" b="0" i="1" smtClean="0">
                              <a:latin typeface="Cambria Math" panose="02040503050406030204" pitchFamily="18" charset="0"/>
                            </a:rPr>
                            <m:t>𝐸𝑟</m:t>
                          </m:r>
                        </m:e>
                        <m:sup/>
                      </m:sSup>
                      <m:r>
                        <a:rPr lang="pt-BR" i="1" smtClean="0">
                          <a:latin typeface="Cambria Math" panose="02040503050406030204" pitchFamily="18" charset="0"/>
                        </a:rPr>
                        <m:t>=</m:t>
                      </m:r>
                      <m:f>
                        <m:fPr>
                          <m:ctrlPr>
                            <a:rPr lang="pt-BR" i="1" smtClean="0">
                              <a:latin typeface="Cambria Math" panose="02040503050406030204" pitchFamily="18" charset="0"/>
                            </a:rPr>
                          </m:ctrlPr>
                        </m:fPr>
                        <m:num>
                          <m:r>
                            <a:rPr lang="es-PE" b="0" i="1" smtClean="0">
                              <a:latin typeface="Cambria Math" panose="02040503050406030204" pitchFamily="18" charset="0"/>
                            </a:rPr>
                            <m:t>𝑋</m:t>
                          </m:r>
                          <m:r>
                            <a:rPr lang="es-PE" b="0" i="1" smtClean="0">
                              <a:latin typeface="Cambria Math" panose="02040503050406030204" pitchFamily="18" charset="0"/>
                            </a:rPr>
                            <m:t> </m:t>
                          </m:r>
                          <m:r>
                            <a:rPr lang="es-PE" b="0" i="1" smtClean="0">
                              <a:latin typeface="Cambria Math" panose="02040503050406030204" pitchFamily="18" charset="0"/>
                            </a:rPr>
                            <m:t>𝑚𝑒𝑑𝑖𝑑𝑜</m:t>
                          </m:r>
                          <m:r>
                            <a:rPr lang="es-PE" b="0" i="1" smtClean="0">
                              <a:latin typeface="Cambria Math" panose="02040503050406030204" pitchFamily="18" charset="0"/>
                            </a:rPr>
                            <m:t> −</m:t>
                          </m:r>
                          <m:r>
                            <a:rPr lang="es-PE" b="0" i="1" smtClean="0">
                              <a:latin typeface="Cambria Math" panose="02040503050406030204" pitchFamily="18" charset="0"/>
                            </a:rPr>
                            <m:t>𝑋</m:t>
                          </m:r>
                          <m:r>
                            <a:rPr lang="es-PE" b="0" i="1" smtClean="0">
                              <a:latin typeface="Cambria Math" panose="02040503050406030204" pitchFamily="18" charset="0"/>
                            </a:rPr>
                            <m:t> </m:t>
                          </m:r>
                          <m:r>
                            <a:rPr lang="es-PE" b="0" i="1" smtClean="0">
                              <a:latin typeface="Cambria Math" panose="02040503050406030204" pitchFamily="18" charset="0"/>
                            </a:rPr>
                            <m:t>𝑟𝑒𝑓𝑒𝑟𝑒𝑛𝑐𝑖𝑎𝑙</m:t>
                          </m:r>
                        </m:num>
                        <m:den>
                          <m:r>
                            <a:rPr lang="es-PE" i="1">
                              <a:latin typeface="Cambria Math" panose="02040503050406030204" pitchFamily="18" charset="0"/>
                            </a:rPr>
                            <m:t>𝑋</m:t>
                          </m:r>
                          <m:r>
                            <a:rPr lang="es-PE" i="1">
                              <a:latin typeface="Cambria Math" panose="02040503050406030204" pitchFamily="18" charset="0"/>
                            </a:rPr>
                            <m:t> </m:t>
                          </m:r>
                          <m:r>
                            <a:rPr lang="es-PE" i="1">
                              <a:latin typeface="Cambria Math" panose="02040503050406030204" pitchFamily="18" charset="0"/>
                            </a:rPr>
                            <m:t>𝑟𝑒𝑓𝑒𝑟𝑒𝑛𝑐𝑖𝑎𝑙</m:t>
                          </m:r>
                        </m:den>
                      </m:f>
                      <m:r>
                        <a:rPr lang="es-PE" b="0" i="1" smtClean="0">
                          <a:latin typeface="Cambria Math" panose="02040503050406030204" pitchFamily="18" charset="0"/>
                        </a:rPr>
                        <m:t>𝑥</m:t>
                      </m:r>
                      <m:r>
                        <a:rPr lang="es-PE" b="0" i="1" smtClean="0">
                          <a:latin typeface="Cambria Math" panose="02040503050406030204" pitchFamily="18" charset="0"/>
                        </a:rPr>
                        <m:t>100%</m:t>
                      </m:r>
                    </m:oMath>
                  </m:oMathPara>
                </a14:m>
                <a:endParaRPr lang="es-PE" dirty="0"/>
              </a:p>
            </p:txBody>
          </p:sp>
        </mc:Choice>
        <mc:Fallback xmlns="">
          <p:sp>
            <p:nvSpPr>
              <p:cNvPr id="45" name="Marcador de contenido 44">
                <a:extLst>
                  <a:ext uri="{FF2B5EF4-FFF2-40B4-BE49-F238E27FC236}">
                    <a16:creationId xmlns:a16="http://schemas.microsoft.com/office/drawing/2014/main" id="{916163E1-37D9-9448-A4C9-4F103A75466A}"/>
                  </a:ext>
                </a:extLst>
              </p:cNvPr>
              <p:cNvSpPr>
                <a:spLocks noGrp="1" noRot="1" noChangeAspect="1" noMove="1" noResize="1" noEditPoints="1" noAdjustHandles="1" noChangeArrowheads="1" noChangeShapeType="1" noTextEdit="1"/>
              </p:cNvSpPr>
              <p:nvPr>
                <p:ph idx="1"/>
              </p:nvPr>
            </p:nvSpPr>
            <p:spPr>
              <a:blipFill>
                <a:blip r:embed="rId2"/>
                <a:stretch>
                  <a:fillRect l="-960" t="-1806"/>
                </a:stretch>
              </a:blipFill>
            </p:spPr>
            <p:txBody>
              <a:bodyPr/>
              <a:lstStyle/>
              <a:p>
                <a:r>
                  <a:rPr lang="es-PE">
                    <a:noFill/>
                  </a:rPr>
                  <a:t> </a:t>
                </a:r>
              </a:p>
            </p:txBody>
          </p:sp>
        </mc:Fallback>
      </mc:AlternateContent>
      <p:pic>
        <p:nvPicPr>
          <p:cNvPr id="6146" name="Picture 2" descr="Los errores más comunes en un sistema de medición - SPC Consulting Group">
            <a:extLst>
              <a:ext uri="{FF2B5EF4-FFF2-40B4-BE49-F238E27FC236}">
                <a16:creationId xmlns:a16="http://schemas.microsoft.com/office/drawing/2014/main" id="{0D5256C3-53AB-E77B-C8E4-B313F44E65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722967"/>
            <a:ext cx="4229100" cy="239367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CD2E3F53-0108-8E6A-B239-1AFAE66E10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18145" y="3581400"/>
            <a:ext cx="3200400" cy="2405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84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8F841-0DF2-A214-9824-34BC090EA999}"/>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B919622E-DA4A-0E52-6409-E78B6B44F648}"/>
              </a:ext>
            </a:extLst>
          </p:cNvPr>
          <p:cNvSpPr>
            <a:spLocks noGrp="1"/>
          </p:cNvSpPr>
          <p:nvPr>
            <p:ph type="title"/>
          </p:nvPr>
        </p:nvSpPr>
        <p:spPr/>
        <p:txBody>
          <a:bodyPr>
            <a:normAutofit/>
          </a:bodyPr>
          <a:lstStyle/>
          <a:p>
            <a:r>
              <a:rPr lang="es-PE" dirty="0"/>
              <a:t>Medición Comparativa</a:t>
            </a:r>
          </a:p>
        </p:txBody>
      </p:sp>
      <p:sp>
        <p:nvSpPr>
          <p:cNvPr id="45" name="Marcador de contenido 44">
            <a:extLst>
              <a:ext uri="{FF2B5EF4-FFF2-40B4-BE49-F238E27FC236}">
                <a16:creationId xmlns:a16="http://schemas.microsoft.com/office/drawing/2014/main" id="{4F5362EB-A796-4235-DB94-90DEC829569B}"/>
              </a:ext>
            </a:extLst>
          </p:cNvPr>
          <p:cNvSpPr>
            <a:spLocks noGrp="1"/>
          </p:cNvSpPr>
          <p:nvPr>
            <p:ph idx="1"/>
          </p:nvPr>
        </p:nvSpPr>
        <p:spPr/>
        <p:txBody>
          <a:bodyPr/>
          <a:lstStyle/>
          <a:p>
            <a:r>
              <a:rPr lang="es-PE" dirty="0"/>
              <a:t>Aplicación Práctica:</a:t>
            </a:r>
          </a:p>
          <a:p>
            <a:pPr marL="0" indent="0">
              <a:buNone/>
            </a:pPr>
            <a:r>
              <a:rPr lang="es-PE" dirty="0"/>
              <a:t>Calibradores vernier en metrología.</a:t>
            </a:r>
          </a:p>
          <a:p>
            <a:pPr marL="0" indent="0">
              <a:buNone/>
            </a:pPr>
            <a:r>
              <a:rPr lang="es-PE" dirty="0"/>
              <a:t>Comparadores ópticos para inspección de piezas.</a:t>
            </a:r>
          </a:p>
          <a:p>
            <a:pPr marL="0" indent="0">
              <a:buNone/>
            </a:pPr>
            <a:r>
              <a:rPr lang="es-PE" dirty="0"/>
              <a:t>Ensayos de calibración en laboratorios industriales.</a:t>
            </a:r>
          </a:p>
        </p:txBody>
      </p:sp>
      <p:pic>
        <p:nvPicPr>
          <p:cNvPr id="3" name="Imagen 2">
            <a:extLst>
              <a:ext uri="{FF2B5EF4-FFF2-40B4-BE49-F238E27FC236}">
                <a16:creationId xmlns:a16="http://schemas.microsoft.com/office/drawing/2014/main" id="{8462958E-8962-E327-B05A-CA790B776B0D}"/>
              </a:ext>
            </a:extLst>
          </p:cNvPr>
          <p:cNvPicPr>
            <a:picLocks noChangeAspect="1"/>
          </p:cNvPicPr>
          <p:nvPr/>
        </p:nvPicPr>
        <p:blipFill>
          <a:blip r:embed="rId2"/>
          <a:stretch>
            <a:fillRect/>
          </a:stretch>
        </p:blipFill>
        <p:spPr>
          <a:xfrm>
            <a:off x="2133600" y="3262880"/>
            <a:ext cx="4644992" cy="3075278"/>
          </a:xfrm>
          <a:prstGeom prst="rect">
            <a:avLst/>
          </a:prstGeom>
        </p:spPr>
      </p:pic>
    </p:spTree>
    <p:extLst>
      <p:ext uri="{BB962C8B-B14F-4D97-AF65-F5344CB8AC3E}">
        <p14:creationId xmlns:p14="http://schemas.microsoft.com/office/powerpoint/2010/main" val="2806855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257A3-AF8C-2589-8DF6-B92D233AA879}"/>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53B697C7-704B-5D02-8FB2-B2C0E232ECC4}"/>
              </a:ext>
            </a:extLst>
          </p:cNvPr>
          <p:cNvSpPr>
            <a:spLocks noGrp="1"/>
          </p:cNvSpPr>
          <p:nvPr>
            <p:ph idx="1"/>
          </p:nvPr>
        </p:nvSpPr>
        <p:spPr>
          <a:xfrm>
            <a:off x="4518786" y="1316442"/>
            <a:ext cx="6454013" cy="1960158"/>
          </a:xfrm>
        </p:spPr>
        <p:txBody>
          <a:bodyPr>
            <a:normAutofit/>
          </a:bodyPr>
          <a:lstStyle/>
          <a:p>
            <a:r>
              <a:rPr lang="es-PE" sz="3000" b="1" dirty="0"/>
              <a:t>Pregunta 1:</a:t>
            </a:r>
            <a:br>
              <a:rPr lang="es-PE" sz="3000" dirty="0"/>
            </a:br>
            <a:r>
              <a:rPr lang="es-PE" sz="2800" dirty="0"/>
              <a:t>¿Qué caracteriza a una medición comparativa frente a una absoluta?</a:t>
            </a:r>
            <a:endParaRPr lang="es-PE" sz="3000" dirty="0"/>
          </a:p>
        </p:txBody>
      </p:sp>
      <p:pic>
        <p:nvPicPr>
          <p:cNvPr id="10" name="Marcador de posición de imagen 9">
            <a:extLst>
              <a:ext uri="{FF2B5EF4-FFF2-40B4-BE49-F238E27FC236}">
                <a16:creationId xmlns:a16="http://schemas.microsoft.com/office/drawing/2014/main" id="{27837B62-4D85-E775-334A-6C4B35BE96C9}"/>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A8421523-726B-EC6B-DD79-B57C96D1E057}"/>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a:t>
            </a:r>
          </a:p>
          <a:p>
            <a:pPr marL="0" indent="0" algn="just">
              <a:buNone/>
            </a:pPr>
            <a:r>
              <a:rPr lang="es-PE" sz="2400" dirty="0"/>
              <a:t>La comparativa evalúa la diferencia respecto a un patrón, mientras que la absoluta busca el valor exacto de la magnitud.</a:t>
            </a:r>
          </a:p>
        </p:txBody>
      </p:sp>
      <p:sp>
        <p:nvSpPr>
          <p:cNvPr id="5" name="Título 4">
            <a:extLst>
              <a:ext uri="{FF2B5EF4-FFF2-40B4-BE49-F238E27FC236}">
                <a16:creationId xmlns:a16="http://schemas.microsoft.com/office/drawing/2014/main" id="{9268F980-F1C2-671C-874D-17D288625E68}"/>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263764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31C17-66F2-D436-2DB4-C2E6A786D660}"/>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2F839AA3-D3AB-0BFB-A985-1E1CC4178411}"/>
              </a:ext>
            </a:extLst>
          </p:cNvPr>
          <p:cNvSpPr>
            <a:spLocks noGrp="1"/>
          </p:cNvSpPr>
          <p:nvPr>
            <p:ph idx="1"/>
          </p:nvPr>
        </p:nvSpPr>
        <p:spPr>
          <a:xfrm>
            <a:off x="4518786" y="1316442"/>
            <a:ext cx="6454013" cy="1960158"/>
          </a:xfrm>
        </p:spPr>
        <p:txBody>
          <a:bodyPr>
            <a:normAutofit lnSpcReduction="10000"/>
          </a:bodyPr>
          <a:lstStyle/>
          <a:p>
            <a:r>
              <a:rPr lang="es-PE" sz="3000" b="1" dirty="0"/>
              <a:t>Pregunta 2:</a:t>
            </a:r>
            <a:br>
              <a:rPr lang="es-PE" sz="3000" dirty="0"/>
            </a:br>
            <a:r>
              <a:rPr lang="es-PE" sz="3000" dirty="0"/>
              <a:t>Si una pieza medida con calibrador vernier marca 10.02 mm y el patrón es de 10.00 mm, ¿cuál es el error relativo?</a:t>
            </a:r>
          </a:p>
        </p:txBody>
      </p:sp>
      <p:pic>
        <p:nvPicPr>
          <p:cNvPr id="10" name="Marcador de posición de imagen 9">
            <a:extLst>
              <a:ext uri="{FF2B5EF4-FFF2-40B4-BE49-F238E27FC236}">
                <a16:creationId xmlns:a16="http://schemas.microsoft.com/office/drawing/2014/main" id="{B8FA8F70-1D36-002D-71F5-85F8CF6770B0}"/>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mc:AlternateContent xmlns:mc="http://schemas.openxmlformats.org/markup-compatibility/2006" xmlns:a14="http://schemas.microsoft.com/office/drawing/2010/main">
        <mc:Choice Requires="a14">
          <p:sp>
            <p:nvSpPr>
              <p:cNvPr id="7" name="Marcador de contenido 3">
                <a:extLst>
                  <a:ext uri="{FF2B5EF4-FFF2-40B4-BE49-F238E27FC236}">
                    <a16:creationId xmlns:a16="http://schemas.microsoft.com/office/drawing/2014/main" id="{9639576E-B96B-4E75-1468-95EEAEB31796}"/>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p>
              <a:p>
                <a:pPr algn="just"/>
                <a:endParaRPr lang="es-PE" sz="2400" b="1" dirty="0"/>
              </a:p>
              <a:p>
                <a:pPr algn="just"/>
                <a14:m>
                  <m:oMath xmlns:m="http://schemas.openxmlformats.org/officeDocument/2006/math">
                    <m:sSup>
                      <m:sSupPr>
                        <m:ctrlPr>
                          <a:rPr lang="pt-BR" sz="2400" i="1">
                            <a:latin typeface="Cambria Math" panose="02040503050406030204" pitchFamily="18" charset="0"/>
                          </a:rPr>
                        </m:ctrlPr>
                      </m:sSupPr>
                      <m:e>
                        <m:r>
                          <a:rPr lang="es-PE" sz="2400" i="1">
                            <a:latin typeface="Cambria Math" panose="02040503050406030204" pitchFamily="18" charset="0"/>
                          </a:rPr>
                          <m:t>𝐸𝑟</m:t>
                        </m:r>
                      </m:e>
                      <m:sup/>
                    </m:sSup>
                    <m:r>
                      <a:rPr lang="pt-BR" sz="2400" i="1">
                        <a:latin typeface="Cambria Math" panose="02040503050406030204" pitchFamily="18" charset="0"/>
                      </a:rPr>
                      <m:t>=</m:t>
                    </m:r>
                    <m:f>
                      <m:fPr>
                        <m:ctrlPr>
                          <a:rPr lang="pt-BR" sz="2400" i="1">
                            <a:latin typeface="Cambria Math" panose="02040503050406030204" pitchFamily="18" charset="0"/>
                          </a:rPr>
                        </m:ctrlPr>
                      </m:fPr>
                      <m:num>
                        <m:r>
                          <a:rPr lang="es-PE" sz="2400" b="0" i="1" smtClean="0">
                            <a:latin typeface="Cambria Math" panose="02040503050406030204" pitchFamily="18" charset="0"/>
                          </a:rPr>
                          <m:t>10,02 </m:t>
                        </m:r>
                        <m:r>
                          <a:rPr lang="es-PE" sz="2400" i="1">
                            <a:latin typeface="Cambria Math" panose="02040503050406030204" pitchFamily="18" charset="0"/>
                          </a:rPr>
                          <m:t>−</m:t>
                        </m:r>
                        <m:r>
                          <a:rPr lang="es-PE" sz="2400" b="0" i="1" smtClean="0">
                            <a:latin typeface="Cambria Math" panose="02040503050406030204" pitchFamily="18" charset="0"/>
                          </a:rPr>
                          <m:t>10,00</m:t>
                        </m:r>
                      </m:num>
                      <m:den>
                        <m:r>
                          <a:rPr lang="es-PE" sz="2400" b="0" i="1" smtClean="0">
                            <a:latin typeface="Cambria Math" panose="02040503050406030204" pitchFamily="18" charset="0"/>
                          </a:rPr>
                          <m:t>10,00</m:t>
                        </m:r>
                      </m:den>
                    </m:f>
                    <m:r>
                      <a:rPr lang="es-PE" sz="2400" i="1">
                        <a:latin typeface="Cambria Math" panose="02040503050406030204" pitchFamily="18" charset="0"/>
                      </a:rPr>
                      <m:t>𝑥</m:t>
                    </m:r>
                    <m:r>
                      <a:rPr lang="es-PE" sz="2400" i="1">
                        <a:latin typeface="Cambria Math" panose="02040503050406030204" pitchFamily="18" charset="0"/>
                      </a:rPr>
                      <m:t>100%=0,2%</m:t>
                    </m:r>
                  </m:oMath>
                </a14:m>
                <a:endParaRPr lang="es-PE" sz="2400" dirty="0"/>
              </a:p>
              <a:p>
                <a:pPr algn="just"/>
                <a:endParaRPr lang="es-PE" sz="2400" dirty="0"/>
              </a:p>
            </p:txBody>
          </p:sp>
        </mc:Choice>
        <mc:Fallback xmlns="">
          <p:sp>
            <p:nvSpPr>
              <p:cNvPr id="7" name="Marcador de contenido 3">
                <a:extLst>
                  <a:ext uri="{FF2B5EF4-FFF2-40B4-BE49-F238E27FC236}">
                    <a16:creationId xmlns:a16="http://schemas.microsoft.com/office/drawing/2014/main" id="{9639576E-B96B-4E75-1468-95EEAEB31796}"/>
                  </a:ext>
                </a:extLst>
              </p:cNvPr>
              <p:cNvSpPr txBox="1">
                <a:spLocks noRot="1" noChangeAspect="1" noMove="1" noResize="1" noEditPoints="1" noAdjustHandles="1" noChangeArrowheads="1" noChangeShapeType="1" noTextEdit="1"/>
              </p:cNvSpPr>
              <p:nvPr/>
            </p:nvSpPr>
            <p:spPr>
              <a:xfrm>
                <a:off x="4518786" y="3581400"/>
                <a:ext cx="6454013" cy="2535237"/>
              </a:xfrm>
              <a:prstGeom prst="rect">
                <a:avLst/>
              </a:prstGeom>
              <a:blipFill>
                <a:blip r:embed="rId3"/>
                <a:stretch>
                  <a:fillRect l="-1228" t="-3373"/>
                </a:stretch>
              </a:blipFill>
            </p:spPr>
            <p:txBody>
              <a:bodyPr/>
              <a:lstStyle/>
              <a:p>
                <a:r>
                  <a:rPr lang="es-PE">
                    <a:noFill/>
                  </a:rPr>
                  <a:t> </a:t>
                </a:r>
              </a:p>
            </p:txBody>
          </p:sp>
        </mc:Fallback>
      </mc:AlternateContent>
      <p:sp>
        <p:nvSpPr>
          <p:cNvPr id="5" name="Título 4">
            <a:extLst>
              <a:ext uri="{FF2B5EF4-FFF2-40B4-BE49-F238E27FC236}">
                <a16:creationId xmlns:a16="http://schemas.microsoft.com/office/drawing/2014/main" id="{938FF7F1-6D89-7521-896D-B769011ABCAA}"/>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211901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6EFFF-63B3-7F1F-0A46-1DE5C57345B9}"/>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DB56C35C-F781-2214-E140-4658F1CF94AF}"/>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9997648B-CDD7-4DD3-59E4-B83DE44129A8}"/>
              </a:ext>
            </a:extLst>
          </p:cNvPr>
          <p:cNvSpPr>
            <a:spLocks noGrp="1"/>
          </p:cNvSpPr>
          <p:nvPr>
            <p:ph idx="1"/>
          </p:nvPr>
        </p:nvSpPr>
        <p:spPr/>
        <p:txBody>
          <a:bodyPr/>
          <a:lstStyle/>
          <a:p>
            <a:pPr lvl="0"/>
            <a:r>
              <a:rPr lang="es-PE" b="1" dirty="0"/>
              <a:t>Clasificación de errores</a:t>
            </a:r>
            <a:r>
              <a:rPr lang="es-PE" dirty="0"/>
              <a:t>:</a:t>
            </a:r>
          </a:p>
          <a:p>
            <a:pPr lvl="1"/>
            <a:r>
              <a:rPr lang="es-PE" b="1" dirty="0"/>
              <a:t>Sistemáticos</a:t>
            </a:r>
            <a:r>
              <a:rPr lang="es-PE" dirty="0"/>
              <a:t> → Dependen del instrumento o del método (ej. mala calibración, fricción en un sensor).</a:t>
            </a:r>
          </a:p>
          <a:p>
            <a:pPr lvl="1"/>
            <a:r>
              <a:rPr lang="es-PE" b="1" dirty="0"/>
              <a:t>Aleatorios</a:t>
            </a:r>
            <a:r>
              <a:rPr lang="es-PE" dirty="0"/>
              <a:t> → Causados por perturbaciones imprevisibles (ruido eléctrico, vibraciones).</a:t>
            </a:r>
          </a:p>
          <a:p>
            <a:pPr lvl="1"/>
            <a:r>
              <a:rPr lang="es-PE" b="1" dirty="0"/>
              <a:t>Groseros o humanos</a:t>
            </a:r>
            <a:r>
              <a:rPr lang="es-PE" dirty="0"/>
              <a:t> → Lectura incorrecta, mala interpretación</a:t>
            </a:r>
          </a:p>
        </p:txBody>
      </p:sp>
    </p:spTree>
    <p:extLst>
      <p:ext uri="{BB962C8B-B14F-4D97-AF65-F5344CB8AC3E}">
        <p14:creationId xmlns:p14="http://schemas.microsoft.com/office/powerpoint/2010/main" val="26597736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09FA7-56EF-C83C-0EAE-0C3D2423FD9A}"/>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DBAC373A-37C2-9A5F-3235-75F0B69558D3}"/>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17305060-7372-2203-A544-AC60FF0DB82B}"/>
              </a:ext>
            </a:extLst>
          </p:cNvPr>
          <p:cNvSpPr>
            <a:spLocks noGrp="1"/>
          </p:cNvSpPr>
          <p:nvPr>
            <p:ph idx="1"/>
          </p:nvPr>
        </p:nvSpPr>
        <p:spPr/>
        <p:txBody>
          <a:bodyPr/>
          <a:lstStyle/>
          <a:p>
            <a:pPr lvl="0"/>
            <a:r>
              <a:rPr lang="es-PE" b="1" dirty="0"/>
              <a:t>Explicación Detallada</a:t>
            </a:r>
          </a:p>
          <a:p>
            <a:pPr marL="0" lvl="0" indent="0">
              <a:buNone/>
            </a:pPr>
            <a:r>
              <a:rPr lang="es-PE" dirty="0"/>
              <a:t>Los errores son desviaciones entre el valor medido y el valor verdadero. Se clasifican en:</a:t>
            </a:r>
          </a:p>
          <a:p>
            <a:pPr marL="0" lvl="0" indent="0">
              <a:buNone/>
            </a:pPr>
            <a:r>
              <a:rPr lang="es-PE" dirty="0"/>
              <a:t>Errores Sistemáticos: Reproducibles y con causa identificable (</a:t>
            </a:r>
            <a:r>
              <a:rPr lang="es-PE" dirty="0" err="1"/>
              <a:t>ej</a:t>
            </a:r>
            <a:r>
              <a:rPr lang="es-PE" dirty="0"/>
              <a:t>: mala calibración, deriva térmica).</a:t>
            </a:r>
          </a:p>
          <a:p>
            <a:pPr marL="0" lvl="0" indent="0">
              <a:buNone/>
            </a:pPr>
            <a:r>
              <a:rPr lang="es-PE" dirty="0"/>
              <a:t>Errores Aleatorios: Cambian de manera impredecible (</a:t>
            </a:r>
            <a:r>
              <a:rPr lang="es-PE" dirty="0" err="1"/>
              <a:t>ej</a:t>
            </a:r>
            <a:r>
              <a:rPr lang="es-PE" dirty="0"/>
              <a:t>: ruido eléctrico, vibraciones).</a:t>
            </a:r>
          </a:p>
          <a:p>
            <a:pPr marL="0" lvl="0" indent="0">
              <a:buNone/>
            </a:pPr>
            <a:r>
              <a:rPr lang="es-PE" dirty="0"/>
              <a:t>Errores Grosos (Humanos o Accidentales): Fallas por lectura o montaje.</a:t>
            </a:r>
          </a:p>
        </p:txBody>
      </p:sp>
    </p:spTree>
    <p:extLst>
      <p:ext uri="{BB962C8B-B14F-4D97-AF65-F5344CB8AC3E}">
        <p14:creationId xmlns:p14="http://schemas.microsoft.com/office/powerpoint/2010/main" val="3475685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8E1F7-4F41-6753-31E9-ABC20FFE51FB}"/>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042E7AB7-6161-745A-E291-E33759A46577}"/>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CC59037E-CC1F-D45B-FD15-42C53405D377}"/>
              </a:ext>
            </a:extLst>
          </p:cNvPr>
          <p:cNvSpPr>
            <a:spLocks noGrp="1"/>
          </p:cNvSpPr>
          <p:nvPr>
            <p:ph idx="1"/>
          </p:nvPr>
        </p:nvSpPr>
        <p:spPr/>
        <p:txBody>
          <a:bodyPr/>
          <a:lstStyle/>
          <a:p>
            <a:pPr lvl="0"/>
            <a:r>
              <a:rPr lang="es-PE" b="1" dirty="0"/>
              <a:t>Analogía: </a:t>
            </a:r>
          </a:p>
          <a:p>
            <a:pPr marL="0" lvl="0" indent="0">
              <a:buNone/>
            </a:pPr>
            <a:r>
              <a:rPr lang="es-PE" dirty="0"/>
              <a:t>Medir con una regla torcida (error sistemático)</a:t>
            </a:r>
          </a:p>
          <a:p>
            <a:pPr marL="0" lvl="0" indent="0">
              <a:buNone/>
            </a:pPr>
            <a:r>
              <a:rPr lang="es-PE" dirty="0"/>
              <a:t>Medir mientras la mesa vibra (error aleatorio)</a:t>
            </a:r>
          </a:p>
          <a:p>
            <a:pPr marL="0" lvl="0" indent="0">
              <a:buNone/>
            </a:pPr>
            <a:r>
              <a:rPr lang="es-PE" dirty="0"/>
              <a:t>Leer mal la escala (error groso).</a:t>
            </a:r>
          </a:p>
        </p:txBody>
      </p:sp>
      <p:pic>
        <p:nvPicPr>
          <p:cNvPr id="2" name="Picture 4">
            <a:extLst>
              <a:ext uri="{FF2B5EF4-FFF2-40B4-BE49-F238E27FC236}">
                <a16:creationId xmlns:a16="http://schemas.microsoft.com/office/drawing/2014/main" id="{F3C84E42-DA4A-59B8-2E07-A39C136E86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3414562"/>
            <a:ext cx="3200400" cy="2405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7558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C2C4-D0A9-C2B1-7160-F9980F1FF5ED}"/>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188D3CC7-04BA-219E-00A3-10D696E6AE70}"/>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11A48856-1FC3-273E-A2E0-B06B3F21F0A4}"/>
              </a:ext>
            </a:extLst>
          </p:cNvPr>
          <p:cNvSpPr>
            <a:spLocks noGrp="1"/>
          </p:cNvSpPr>
          <p:nvPr>
            <p:ph idx="1"/>
          </p:nvPr>
        </p:nvSpPr>
        <p:spPr/>
        <p:txBody>
          <a:bodyPr/>
          <a:lstStyle/>
          <a:p>
            <a:pPr lvl="0"/>
            <a:r>
              <a:rPr lang="es-PE" b="1" dirty="0"/>
              <a:t>Aplicación Práctica</a:t>
            </a:r>
            <a:r>
              <a:rPr lang="es-PE" dirty="0"/>
              <a:t>: </a:t>
            </a:r>
          </a:p>
          <a:p>
            <a:pPr marL="0" lvl="0" indent="0">
              <a:buNone/>
            </a:pPr>
            <a:r>
              <a:rPr lang="es-PE" dirty="0"/>
              <a:t>En un sistema de control de temperatura, un sensor descalibrado siempre marcará 2°C más (sistemático), mientras que el ruido eléctrico introduce pequeñas fluctuaciones (aleatorio).</a:t>
            </a:r>
          </a:p>
        </p:txBody>
      </p:sp>
      <p:pic>
        <p:nvPicPr>
          <p:cNvPr id="7170" name="Picture 2">
            <a:extLst>
              <a:ext uri="{FF2B5EF4-FFF2-40B4-BE49-F238E27FC236}">
                <a16:creationId xmlns:a16="http://schemas.microsoft.com/office/drawing/2014/main" id="{6B11B961-DEE3-5DC2-309A-3FB0880A74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667" b="13333"/>
          <a:stretch>
            <a:fillRect/>
          </a:stretch>
        </p:blipFill>
        <p:spPr bwMode="auto">
          <a:xfrm>
            <a:off x="3352800" y="3276600"/>
            <a:ext cx="4495800" cy="2528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4106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1B6CB-DDC6-4E2B-B595-EBC4D0A9A91D}"/>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7CFEC4EF-C8FA-B27B-D014-65930DC884FE}"/>
              </a:ext>
            </a:extLst>
          </p:cNvPr>
          <p:cNvSpPr>
            <a:spLocks noGrp="1"/>
          </p:cNvSpPr>
          <p:nvPr>
            <p:ph idx="1"/>
          </p:nvPr>
        </p:nvSpPr>
        <p:spPr>
          <a:xfrm>
            <a:off x="4518786" y="1316442"/>
            <a:ext cx="6454013" cy="1960158"/>
          </a:xfrm>
        </p:spPr>
        <p:txBody>
          <a:bodyPr>
            <a:normAutofit/>
          </a:bodyPr>
          <a:lstStyle/>
          <a:p>
            <a:r>
              <a:rPr lang="es-PE" sz="3000" b="1" dirty="0"/>
              <a:t>Pregunta 1:</a:t>
            </a:r>
            <a:br>
              <a:rPr lang="es-PE" sz="3000" dirty="0"/>
            </a:br>
            <a:r>
              <a:rPr lang="es-PE" sz="2800" dirty="0"/>
              <a:t>¿Qué diferencia fundamental existe entre un error sistemático y uno aleatorio?</a:t>
            </a:r>
            <a:endParaRPr lang="es-PE" sz="3000" dirty="0"/>
          </a:p>
        </p:txBody>
      </p:sp>
      <p:pic>
        <p:nvPicPr>
          <p:cNvPr id="10" name="Marcador de posición de imagen 9">
            <a:extLst>
              <a:ext uri="{FF2B5EF4-FFF2-40B4-BE49-F238E27FC236}">
                <a16:creationId xmlns:a16="http://schemas.microsoft.com/office/drawing/2014/main" id="{23066E41-6FC4-BF3C-3337-9D82D1EAF961}"/>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6B08FE64-ABC5-C96C-D3AE-B7106FD57680}"/>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a:t>
            </a:r>
          </a:p>
          <a:p>
            <a:pPr marL="0" indent="0" algn="just">
              <a:buNone/>
            </a:pPr>
            <a:r>
              <a:rPr lang="es-PE" sz="2400" dirty="0"/>
              <a:t>La comparativa evalúa la diferencia respecto a un patrón, mientras que la absoluta busca el valor exacto de la magnitud.</a:t>
            </a:r>
          </a:p>
        </p:txBody>
      </p:sp>
      <p:sp>
        <p:nvSpPr>
          <p:cNvPr id="5" name="Título 4">
            <a:extLst>
              <a:ext uri="{FF2B5EF4-FFF2-40B4-BE49-F238E27FC236}">
                <a16:creationId xmlns:a16="http://schemas.microsoft.com/office/drawing/2014/main" id="{566D9D12-AEE8-F2D0-E366-6C5079B1E201}"/>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384056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4FFDF-98C6-DEE9-9EBD-931220C32A22}"/>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551E4D36-4A6A-A664-406D-0F7EE914E6E9}"/>
              </a:ext>
            </a:extLst>
          </p:cNvPr>
          <p:cNvSpPr>
            <a:spLocks noGrp="1"/>
          </p:cNvSpPr>
          <p:nvPr>
            <p:ph idx="1"/>
          </p:nvPr>
        </p:nvSpPr>
        <p:spPr>
          <a:xfrm>
            <a:off x="4518786" y="1316442"/>
            <a:ext cx="6454013" cy="1960158"/>
          </a:xfrm>
        </p:spPr>
        <p:txBody>
          <a:bodyPr>
            <a:normAutofit lnSpcReduction="10000"/>
          </a:bodyPr>
          <a:lstStyle/>
          <a:p>
            <a:r>
              <a:rPr lang="es-PE" sz="3000" b="1" dirty="0"/>
              <a:t>Pregunta 2:</a:t>
            </a:r>
            <a:br>
              <a:rPr lang="es-PE" sz="3000" dirty="0"/>
            </a:br>
            <a:r>
              <a:rPr lang="es-PE" sz="3000" dirty="0"/>
              <a:t>Si una pieza medida con calibrador vernier marca 10.02 mm y el patrón es de 10.00 mm, ¿cuál es el error relativo?</a:t>
            </a:r>
          </a:p>
        </p:txBody>
      </p:sp>
      <p:pic>
        <p:nvPicPr>
          <p:cNvPr id="10" name="Marcador de posición de imagen 9">
            <a:extLst>
              <a:ext uri="{FF2B5EF4-FFF2-40B4-BE49-F238E27FC236}">
                <a16:creationId xmlns:a16="http://schemas.microsoft.com/office/drawing/2014/main" id="{E0F50CF3-065F-6C92-97DB-B702CA7DE982}"/>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mc:AlternateContent xmlns:mc="http://schemas.openxmlformats.org/markup-compatibility/2006" xmlns:a14="http://schemas.microsoft.com/office/drawing/2010/main">
        <mc:Choice Requires="a14">
          <p:sp>
            <p:nvSpPr>
              <p:cNvPr id="7" name="Marcador de contenido 3">
                <a:extLst>
                  <a:ext uri="{FF2B5EF4-FFF2-40B4-BE49-F238E27FC236}">
                    <a16:creationId xmlns:a16="http://schemas.microsoft.com/office/drawing/2014/main" id="{2FE23E68-E321-B4EB-9231-D2628496AA13}"/>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p>
              <a:p>
                <a:pPr algn="just"/>
                <a:endParaRPr lang="es-PE" sz="2400" b="1" dirty="0"/>
              </a:p>
              <a:p>
                <a:pPr algn="just"/>
                <a14:m>
                  <m:oMath xmlns:m="http://schemas.openxmlformats.org/officeDocument/2006/math">
                    <m:sSup>
                      <m:sSupPr>
                        <m:ctrlPr>
                          <a:rPr lang="pt-BR" sz="2400" i="1">
                            <a:latin typeface="Cambria Math" panose="02040503050406030204" pitchFamily="18" charset="0"/>
                          </a:rPr>
                        </m:ctrlPr>
                      </m:sSupPr>
                      <m:e>
                        <m:r>
                          <a:rPr lang="es-PE" sz="2400" i="1">
                            <a:latin typeface="Cambria Math" panose="02040503050406030204" pitchFamily="18" charset="0"/>
                          </a:rPr>
                          <m:t>𝐸𝑟</m:t>
                        </m:r>
                      </m:e>
                      <m:sup/>
                    </m:sSup>
                    <m:r>
                      <a:rPr lang="pt-BR" sz="2400" i="1">
                        <a:latin typeface="Cambria Math" panose="02040503050406030204" pitchFamily="18" charset="0"/>
                      </a:rPr>
                      <m:t>=</m:t>
                    </m:r>
                    <m:f>
                      <m:fPr>
                        <m:ctrlPr>
                          <a:rPr lang="pt-BR" sz="2400" i="1">
                            <a:latin typeface="Cambria Math" panose="02040503050406030204" pitchFamily="18" charset="0"/>
                          </a:rPr>
                        </m:ctrlPr>
                      </m:fPr>
                      <m:num>
                        <m:r>
                          <a:rPr lang="es-PE" sz="2400" b="0" i="1" smtClean="0">
                            <a:latin typeface="Cambria Math" panose="02040503050406030204" pitchFamily="18" charset="0"/>
                          </a:rPr>
                          <m:t>10,02 </m:t>
                        </m:r>
                        <m:r>
                          <a:rPr lang="es-PE" sz="2400" i="1">
                            <a:latin typeface="Cambria Math" panose="02040503050406030204" pitchFamily="18" charset="0"/>
                          </a:rPr>
                          <m:t>−</m:t>
                        </m:r>
                        <m:r>
                          <a:rPr lang="es-PE" sz="2400" b="0" i="1" smtClean="0">
                            <a:latin typeface="Cambria Math" panose="02040503050406030204" pitchFamily="18" charset="0"/>
                          </a:rPr>
                          <m:t>10,00</m:t>
                        </m:r>
                      </m:num>
                      <m:den>
                        <m:r>
                          <a:rPr lang="es-PE" sz="2400" b="0" i="1" smtClean="0">
                            <a:latin typeface="Cambria Math" panose="02040503050406030204" pitchFamily="18" charset="0"/>
                          </a:rPr>
                          <m:t>10,00</m:t>
                        </m:r>
                      </m:den>
                    </m:f>
                    <m:r>
                      <a:rPr lang="es-PE" sz="2400" i="1">
                        <a:latin typeface="Cambria Math" panose="02040503050406030204" pitchFamily="18" charset="0"/>
                      </a:rPr>
                      <m:t>𝑥</m:t>
                    </m:r>
                    <m:r>
                      <a:rPr lang="es-PE" sz="2400" i="1">
                        <a:latin typeface="Cambria Math" panose="02040503050406030204" pitchFamily="18" charset="0"/>
                      </a:rPr>
                      <m:t>100%=0,2%</m:t>
                    </m:r>
                  </m:oMath>
                </a14:m>
                <a:endParaRPr lang="es-PE" sz="2400" dirty="0"/>
              </a:p>
              <a:p>
                <a:pPr algn="just"/>
                <a:endParaRPr lang="es-PE" sz="2400" dirty="0"/>
              </a:p>
            </p:txBody>
          </p:sp>
        </mc:Choice>
        <mc:Fallback xmlns="">
          <p:sp>
            <p:nvSpPr>
              <p:cNvPr id="7" name="Marcador de contenido 3">
                <a:extLst>
                  <a:ext uri="{FF2B5EF4-FFF2-40B4-BE49-F238E27FC236}">
                    <a16:creationId xmlns:a16="http://schemas.microsoft.com/office/drawing/2014/main" id="{2FE23E68-E321-B4EB-9231-D2628496AA13}"/>
                  </a:ext>
                </a:extLst>
              </p:cNvPr>
              <p:cNvSpPr txBox="1">
                <a:spLocks noRot="1" noChangeAspect="1" noMove="1" noResize="1" noEditPoints="1" noAdjustHandles="1" noChangeArrowheads="1" noChangeShapeType="1" noTextEdit="1"/>
              </p:cNvSpPr>
              <p:nvPr/>
            </p:nvSpPr>
            <p:spPr>
              <a:xfrm>
                <a:off x="4518786" y="3581400"/>
                <a:ext cx="6454013" cy="2535237"/>
              </a:xfrm>
              <a:prstGeom prst="rect">
                <a:avLst/>
              </a:prstGeom>
              <a:blipFill>
                <a:blip r:embed="rId3"/>
                <a:stretch>
                  <a:fillRect l="-1228" t="-3373"/>
                </a:stretch>
              </a:blipFill>
            </p:spPr>
            <p:txBody>
              <a:bodyPr/>
              <a:lstStyle/>
              <a:p>
                <a:r>
                  <a:rPr lang="es-PE">
                    <a:noFill/>
                  </a:rPr>
                  <a:t> </a:t>
                </a:r>
              </a:p>
            </p:txBody>
          </p:sp>
        </mc:Fallback>
      </mc:AlternateContent>
      <p:sp>
        <p:nvSpPr>
          <p:cNvPr id="5" name="Título 4">
            <a:extLst>
              <a:ext uri="{FF2B5EF4-FFF2-40B4-BE49-F238E27FC236}">
                <a16:creationId xmlns:a16="http://schemas.microsoft.com/office/drawing/2014/main" id="{A5F9D05D-7067-DBE2-9EBA-7662B51F91F9}"/>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66381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CA192-7705-4512-8DDE-9E54882CAC66}"/>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E60D25BE-E99B-291E-6213-A774248ABAE4}"/>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B7106BED-F24F-DBE2-E5B2-DA2B707BEDA5}"/>
              </a:ext>
            </a:extLst>
          </p:cNvPr>
          <p:cNvSpPr>
            <a:spLocks noGrp="1"/>
          </p:cNvSpPr>
          <p:nvPr>
            <p:ph idx="1"/>
          </p:nvPr>
        </p:nvSpPr>
        <p:spPr/>
        <p:txBody>
          <a:bodyPr/>
          <a:lstStyle/>
          <a:p>
            <a:pPr lvl="0"/>
            <a:r>
              <a:rPr lang="es-PE" b="1" dirty="0"/>
              <a:t>Parámetros asociados al error</a:t>
            </a:r>
            <a:r>
              <a:rPr lang="es-PE" dirty="0"/>
              <a:t>:</a:t>
            </a:r>
          </a:p>
          <a:p>
            <a:pPr lvl="1"/>
            <a:r>
              <a:rPr lang="es-PE" dirty="0"/>
              <a:t>Exactitud.</a:t>
            </a:r>
          </a:p>
          <a:p>
            <a:pPr lvl="1"/>
            <a:r>
              <a:rPr lang="es-PE" dirty="0"/>
              <a:t>Precisión.</a:t>
            </a:r>
          </a:p>
          <a:p>
            <a:pPr lvl="1"/>
            <a:r>
              <a:rPr lang="es-PE" dirty="0"/>
              <a:t>Incertidumbre de la medición.</a:t>
            </a:r>
          </a:p>
          <a:p>
            <a:pPr lvl="1"/>
            <a:r>
              <a:rPr lang="es-PE" dirty="0"/>
              <a:t>Corrección de error.</a:t>
            </a:r>
          </a:p>
          <a:p>
            <a:endParaRPr lang="es-PE" dirty="0"/>
          </a:p>
        </p:txBody>
      </p:sp>
    </p:spTree>
    <p:extLst>
      <p:ext uri="{BB962C8B-B14F-4D97-AF65-F5344CB8AC3E}">
        <p14:creationId xmlns:p14="http://schemas.microsoft.com/office/powerpoint/2010/main" val="3232067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30297-A473-FE69-ED4D-CBA000206604}"/>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D5F4EA69-4C8C-0A06-A41A-9C8CFE813905}"/>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B001BF65-B9D1-5918-FE61-DAF552C3153B}"/>
              </a:ext>
            </a:extLst>
          </p:cNvPr>
          <p:cNvSpPr>
            <a:spLocks noGrp="1"/>
          </p:cNvSpPr>
          <p:nvPr>
            <p:ph idx="1"/>
          </p:nvPr>
        </p:nvSpPr>
        <p:spPr/>
        <p:txBody>
          <a:bodyPr/>
          <a:lstStyle/>
          <a:p>
            <a:pPr marL="0" indent="0">
              <a:buNone/>
            </a:pPr>
            <a:r>
              <a:rPr lang="es-PE" b="1" dirty="0"/>
              <a:t>Explicación Detallada</a:t>
            </a:r>
            <a:endParaRPr lang="es-PE" dirty="0"/>
          </a:p>
          <a:p>
            <a:r>
              <a:rPr lang="es-PE" b="1" dirty="0"/>
              <a:t>Exactitud</a:t>
            </a:r>
            <a:r>
              <a:rPr lang="es-PE" dirty="0"/>
              <a:t>: Cercanía al valor verdadero.</a:t>
            </a:r>
          </a:p>
          <a:p>
            <a:r>
              <a:rPr lang="es-PE" b="1" dirty="0"/>
              <a:t>Precisión</a:t>
            </a:r>
            <a:r>
              <a:rPr lang="es-PE" dirty="0"/>
              <a:t>: Repetibilidad de los resultados.</a:t>
            </a:r>
          </a:p>
          <a:p>
            <a:r>
              <a:rPr lang="es-PE" b="1" dirty="0"/>
              <a:t>Incertidumbre</a:t>
            </a:r>
            <a:r>
              <a:rPr lang="es-PE" dirty="0"/>
              <a:t>: Rango donde se espera que esté el valor verdadero</a:t>
            </a:r>
          </a:p>
          <a:p>
            <a:endParaRPr lang="es-PE" dirty="0"/>
          </a:p>
        </p:txBody>
      </p:sp>
      <p:pic>
        <p:nvPicPr>
          <p:cNvPr id="9218" name="Picture 2" descr="precision y exactitud">
            <a:extLst>
              <a:ext uri="{FF2B5EF4-FFF2-40B4-BE49-F238E27FC236}">
                <a16:creationId xmlns:a16="http://schemas.microsoft.com/office/drawing/2014/main" id="{39B75279-DCA5-7F17-6591-8D540E6BE4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4579" y="3421781"/>
            <a:ext cx="80772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952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65879-038B-6C88-0D25-1EF04EEC6FE2}"/>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7E6C4597-1F51-2887-3BF1-BD0992F00D48}"/>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CC6BCFFF-E4C2-1046-97EB-5EC2BE00F3C4}"/>
              </a:ext>
            </a:extLst>
          </p:cNvPr>
          <p:cNvSpPr>
            <a:spLocks noGrp="1"/>
          </p:cNvSpPr>
          <p:nvPr>
            <p:ph idx="1"/>
          </p:nvPr>
        </p:nvSpPr>
        <p:spPr/>
        <p:txBody>
          <a:bodyPr/>
          <a:lstStyle/>
          <a:p>
            <a:pPr marL="0" indent="0">
              <a:buNone/>
            </a:pPr>
            <a:r>
              <a:rPr lang="es-PE" b="1" dirty="0"/>
              <a:t>Analogía</a:t>
            </a:r>
            <a:r>
              <a:rPr lang="es-PE" dirty="0"/>
              <a:t>: Tirar dardos:</a:t>
            </a:r>
          </a:p>
          <a:p>
            <a:r>
              <a:rPr lang="es-PE" dirty="0"/>
              <a:t>Todos lejos del blanco pero juntos = precisión alta, exactitud baja.</a:t>
            </a:r>
          </a:p>
          <a:p>
            <a:r>
              <a:rPr lang="es-PE" dirty="0"/>
              <a:t>Todos cerca del blanco pero dispersos = exactitud alta, precisión baja.</a:t>
            </a:r>
          </a:p>
          <a:p>
            <a:r>
              <a:rPr lang="es-PE" dirty="0"/>
              <a:t>Todos cerca y agrupados = alta exactitud y precisión</a:t>
            </a:r>
          </a:p>
          <a:p>
            <a:endParaRPr lang="es-PE" dirty="0"/>
          </a:p>
        </p:txBody>
      </p:sp>
      <p:pic>
        <p:nvPicPr>
          <p:cNvPr id="2" name="Picture 2" descr="precision y exactitud">
            <a:extLst>
              <a:ext uri="{FF2B5EF4-FFF2-40B4-BE49-F238E27FC236}">
                <a16:creationId xmlns:a16="http://schemas.microsoft.com/office/drawing/2014/main" id="{1E72E949-BB00-ED60-A2A7-227AFC18D5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4579" y="3421781"/>
            <a:ext cx="8077200"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14171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829BF-344B-B4F3-BF0B-39315796E84C}"/>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FD3FE76A-1CCC-9657-0613-B6D45A5AB119}"/>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F73C79A6-D59A-4ED3-EADA-F8E803B4EEA0}"/>
              </a:ext>
            </a:extLst>
          </p:cNvPr>
          <p:cNvSpPr>
            <a:spLocks noGrp="1"/>
          </p:cNvSpPr>
          <p:nvPr>
            <p:ph idx="1"/>
          </p:nvPr>
        </p:nvSpPr>
        <p:spPr/>
        <p:txBody>
          <a:bodyPr/>
          <a:lstStyle/>
          <a:p>
            <a:pPr lvl="0"/>
            <a:r>
              <a:rPr lang="es-PE" b="1" dirty="0"/>
              <a:t>Fuentes de error</a:t>
            </a:r>
            <a:r>
              <a:rPr lang="es-PE" dirty="0"/>
              <a:t>:</a:t>
            </a:r>
          </a:p>
          <a:p>
            <a:pPr lvl="1"/>
            <a:r>
              <a:rPr lang="es-PE" dirty="0"/>
              <a:t>Instrumentales (limitaciones propias del dispositivo).</a:t>
            </a:r>
          </a:p>
          <a:p>
            <a:pPr lvl="1"/>
            <a:r>
              <a:rPr lang="es-PE" dirty="0"/>
              <a:t>Ambientales (temperatura, humedad, interferencias).</a:t>
            </a:r>
          </a:p>
          <a:p>
            <a:pPr lvl="1"/>
            <a:r>
              <a:rPr lang="es-PE" dirty="0"/>
              <a:t>Métodos de medida (inadecuado para la magnitud).</a:t>
            </a:r>
          </a:p>
          <a:p>
            <a:pPr lvl="1"/>
            <a:r>
              <a:rPr lang="es-PE" dirty="0"/>
              <a:t>Operador (error humano).</a:t>
            </a:r>
          </a:p>
          <a:p>
            <a:endParaRPr lang="es-PE" dirty="0"/>
          </a:p>
        </p:txBody>
      </p:sp>
    </p:spTree>
    <p:extLst>
      <p:ext uri="{BB962C8B-B14F-4D97-AF65-F5344CB8AC3E}">
        <p14:creationId xmlns:p14="http://schemas.microsoft.com/office/powerpoint/2010/main" val="7077740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8E414-2500-0073-3A24-40050B08AF6C}"/>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A7A008A0-9E5A-4A69-E303-ADB2ED9EE87E}"/>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06E987D4-87E3-46CE-BFCE-F4DE98A6D165}"/>
              </a:ext>
            </a:extLst>
          </p:cNvPr>
          <p:cNvSpPr>
            <a:spLocks noGrp="1"/>
          </p:cNvSpPr>
          <p:nvPr>
            <p:ph idx="1"/>
          </p:nvPr>
        </p:nvSpPr>
        <p:spPr/>
        <p:txBody>
          <a:bodyPr>
            <a:normAutofit/>
          </a:bodyPr>
          <a:lstStyle/>
          <a:p>
            <a:pPr marL="0" lvl="0" indent="0">
              <a:buNone/>
            </a:pPr>
            <a:r>
              <a:rPr lang="es-PE" b="1" dirty="0"/>
              <a:t>Error de medición del sensor de presión debido a una referencia cero incorrecta</a:t>
            </a:r>
          </a:p>
          <a:p>
            <a:pPr lvl="1"/>
            <a:r>
              <a:rPr lang="es-PE" dirty="0"/>
              <a:t>En primer lugar, es posible que el instrumento no tenga una referencia cero correcta, lo que puede dar lugar a lecturas inexactas.</a:t>
            </a:r>
          </a:p>
          <a:p>
            <a:pPr lvl="1"/>
            <a:r>
              <a:rPr lang="es-PE" dirty="0"/>
              <a:t>El punto cero del sensor se aleja de su posición inicial. </a:t>
            </a:r>
          </a:p>
        </p:txBody>
      </p:sp>
      <p:pic>
        <p:nvPicPr>
          <p:cNvPr id="2" name="Picture 2" descr="sensor-presion-medida-error-zero-incorrecto-es">
            <a:extLst>
              <a:ext uri="{FF2B5EF4-FFF2-40B4-BE49-F238E27FC236}">
                <a16:creationId xmlns:a16="http://schemas.microsoft.com/office/drawing/2014/main" id="{8602C9C8-8A2B-0D37-28EE-04B5FC3A53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962400"/>
            <a:ext cx="4151923"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8332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5E805-3D34-0C58-701A-5D7607CE8771}"/>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40B0D3CB-62C3-03BB-8BD8-F85287FA5B3F}"/>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6AFE1FE2-34BE-204B-D696-80FC9968B937}"/>
              </a:ext>
            </a:extLst>
          </p:cNvPr>
          <p:cNvSpPr>
            <a:spLocks noGrp="1"/>
          </p:cNvSpPr>
          <p:nvPr>
            <p:ph idx="1"/>
          </p:nvPr>
        </p:nvSpPr>
        <p:spPr/>
        <p:txBody>
          <a:bodyPr>
            <a:normAutofit/>
          </a:bodyPr>
          <a:lstStyle/>
          <a:p>
            <a:pPr marL="0" lvl="0" indent="0">
              <a:buNone/>
            </a:pPr>
            <a:r>
              <a:rPr lang="es-PE" b="1" dirty="0"/>
              <a:t>Error de medición del sensor de presión debido a una referencia cero incorrecta</a:t>
            </a:r>
          </a:p>
          <a:p>
            <a:pPr lvl="1"/>
            <a:r>
              <a:rPr lang="es-PE" dirty="0"/>
              <a:t>Los sensores de presión son dispositivos electrónicos. La señal de referencia cero puede desviarse con el tiempo debido a la temperatura, la presión o un cambio en las condiciones ambientales.</a:t>
            </a:r>
          </a:p>
          <a:p>
            <a:pPr lvl="1"/>
            <a:r>
              <a:rPr lang="es-PE" dirty="0"/>
              <a:t>Para evitar este tipo de error, es importante elegir un sensor de presión con una buena estabilidad a largo plazo.</a:t>
            </a:r>
          </a:p>
          <a:p>
            <a:pPr lvl="1"/>
            <a:r>
              <a:rPr lang="es-PE" dirty="0"/>
              <a:t>Si no es así, es necesario calibrar el sensor con mayor regularidad</a:t>
            </a:r>
          </a:p>
        </p:txBody>
      </p:sp>
      <p:pic>
        <p:nvPicPr>
          <p:cNvPr id="10242" name="Picture 2" descr="sensor-presion-medida-error-zero-incorrecto-es">
            <a:extLst>
              <a:ext uri="{FF2B5EF4-FFF2-40B4-BE49-F238E27FC236}">
                <a16:creationId xmlns:a16="http://schemas.microsoft.com/office/drawing/2014/main" id="{F2F1422A-F885-A488-6A18-3B39E1F7E1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962400"/>
            <a:ext cx="4151923"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45742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F97C7-3DFB-7AB9-E04C-05B2150A90D3}"/>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E994E5D1-F322-E5A3-63E6-BCDC319661B4}"/>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9CA7D902-1FED-1635-260C-9936A38C8371}"/>
              </a:ext>
            </a:extLst>
          </p:cNvPr>
          <p:cNvSpPr>
            <a:spLocks noGrp="1"/>
          </p:cNvSpPr>
          <p:nvPr>
            <p:ph idx="1"/>
          </p:nvPr>
        </p:nvSpPr>
        <p:spPr/>
        <p:txBody>
          <a:bodyPr>
            <a:normAutofit/>
          </a:bodyPr>
          <a:lstStyle/>
          <a:p>
            <a:pPr marL="0" indent="0">
              <a:buNone/>
            </a:pPr>
            <a:r>
              <a:rPr lang="es-PE" b="1" dirty="0"/>
              <a:t>Error de medición del sensor de presión debido al desplazamiento del fondo de escala</a:t>
            </a:r>
          </a:p>
          <a:p>
            <a:pPr lvl="1"/>
            <a:r>
              <a:rPr lang="es-PE" dirty="0"/>
              <a:t>En segundo lugar, el desplazamiento se produce cuando la escala completa del sensor se aleja de su posición original.</a:t>
            </a:r>
          </a:p>
          <a:p>
            <a:pPr lvl="1"/>
            <a:r>
              <a:rPr lang="es-PE" dirty="0"/>
              <a:t>Hay una serie de factores que pueden contribuir al cambio de escala completa, como los cambios de temperatura, las vibraciones y las interferencias eléctricas en el proceso. También puede haber cambiado el rango operativo del proceso.</a:t>
            </a:r>
          </a:p>
          <a:p>
            <a:pPr lvl="1"/>
            <a:endParaRPr lang="es-PE" dirty="0"/>
          </a:p>
        </p:txBody>
      </p:sp>
      <p:pic>
        <p:nvPicPr>
          <p:cNvPr id="12290" name="Picture 2" descr="error-en-la-medida-del-sensor-de-presion-debido-al-ajuste-del-pleine-echelle-es">
            <a:extLst>
              <a:ext uri="{FF2B5EF4-FFF2-40B4-BE49-F238E27FC236}">
                <a16:creationId xmlns:a16="http://schemas.microsoft.com/office/drawing/2014/main" id="{1E678A4D-DA1A-B81E-ABB0-4D19DCA203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123944"/>
            <a:ext cx="3597266" cy="2244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933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63089-AE9F-09DF-BC7F-8F84EF29CD84}"/>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F1122423-D295-BB31-6B07-FECE20FEE609}"/>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47432E06-FB58-9285-3DB0-F3DC2B792822}"/>
              </a:ext>
            </a:extLst>
          </p:cNvPr>
          <p:cNvSpPr>
            <a:spLocks noGrp="1"/>
          </p:cNvSpPr>
          <p:nvPr>
            <p:ph idx="1"/>
          </p:nvPr>
        </p:nvSpPr>
        <p:spPr/>
        <p:txBody>
          <a:bodyPr>
            <a:normAutofit/>
          </a:bodyPr>
          <a:lstStyle/>
          <a:p>
            <a:pPr marL="0" indent="0">
              <a:buNone/>
            </a:pPr>
            <a:r>
              <a:rPr lang="es-PE" b="1" dirty="0"/>
              <a:t>Error de medición del sensor de presión debido al desplazamiento del fondo de escala</a:t>
            </a:r>
          </a:p>
          <a:p>
            <a:pPr lvl="1"/>
            <a:r>
              <a:rPr lang="es-PE" dirty="0"/>
              <a:t>Para evitar este tipo de error, es importante comprender el proceso y las condiciones en las que funciona.</a:t>
            </a:r>
          </a:p>
          <a:p>
            <a:pPr lvl="1"/>
            <a:r>
              <a:rPr lang="es-PE" dirty="0"/>
              <a:t>Las desviaciones pueden compensarse recalibrando periódicamente el sensor.</a:t>
            </a:r>
          </a:p>
          <a:p>
            <a:pPr lvl="1"/>
            <a:endParaRPr lang="es-PE" dirty="0"/>
          </a:p>
        </p:txBody>
      </p:sp>
      <p:pic>
        <p:nvPicPr>
          <p:cNvPr id="12290" name="Picture 2" descr="error-en-la-medida-del-sensor-de-presion-debido-al-ajuste-del-pleine-echelle-es">
            <a:extLst>
              <a:ext uri="{FF2B5EF4-FFF2-40B4-BE49-F238E27FC236}">
                <a16:creationId xmlns:a16="http://schemas.microsoft.com/office/drawing/2014/main" id="{D5162E5D-1118-BF2D-A7DB-A7BDF8E2E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123944"/>
            <a:ext cx="3597266" cy="2244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6596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3A305-8F6B-A4C6-5F74-C40E3D6C1448}"/>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A4F74D54-A458-DED2-D73D-2D617B9155CA}"/>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6044AC4E-51DC-E777-6022-B7D1DB393163}"/>
              </a:ext>
            </a:extLst>
          </p:cNvPr>
          <p:cNvSpPr>
            <a:spLocks noGrp="1"/>
          </p:cNvSpPr>
          <p:nvPr>
            <p:ph idx="1"/>
          </p:nvPr>
        </p:nvSpPr>
        <p:spPr/>
        <p:txBody>
          <a:bodyPr>
            <a:normAutofit/>
          </a:bodyPr>
          <a:lstStyle/>
          <a:p>
            <a:pPr marL="0" indent="0">
              <a:buNone/>
            </a:pPr>
            <a:r>
              <a:rPr lang="es-PE" b="1" dirty="0"/>
              <a:t>Error de medición del sensor de presión debido al desplazamiento del fondo de escala</a:t>
            </a:r>
          </a:p>
          <a:p>
            <a:pPr lvl="1"/>
            <a:r>
              <a:rPr lang="es-PE" dirty="0"/>
              <a:t>Para evitar este tipo de error, es importante comprender el proceso y las condiciones en las que funciona.</a:t>
            </a:r>
          </a:p>
          <a:p>
            <a:pPr lvl="1"/>
            <a:r>
              <a:rPr lang="es-PE" dirty="0"/>
              <a:t>Las desviaciones pueden compensarse recalibrando periódicamente el sensor.</a:t>
            </a:r>
          </a:p>
          <a:p>
            <a:pPr lvl="1"/>
            <a:endParaRPr lang="es-PE" dirty="0"/>
          </a:p>
        </p:txBody>
      </p:sp>
      <p:pic>
        <p:nvPicPr>
          <p:cNvPr id="12290" name="Picture 2" descr="error-en-la-medida-del-sensor-de-presion-debido-al-ajuste-del-pleine-echelle-es">
            <a:extLst>
              <a:ext uri="{FF2B5EF4-FFF2-40B4-BE49-F238E27FC236}">
                <a16:creationId xmlns:a16="http://schemas.microsoft.com/office/drawing/2014/main" id="{39D865A4-BFC3-C4D2-7C98-FD9B99DB26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123944"/>
            <a:ext cx="3597266" cy="2244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69296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BDF3B-7AC8-011A-6E8E-8B7F98A0CE0F}"/>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4A8E92DD-C390-41EB-D6DD-6446ED39E304}"/>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E9BD3EEE-C316-550A-8F0A-6F28577C4933}"/>
              </a:ext>
            </a:extLst>
          </p:cNvPr>
          <p:cNvSpPr>
            <a:spLocks noGrp="1"/>
          </p:cNvSpPr>
          <p:nvPr>
            <p:ph idx="1"/>
          </p:nvPr>
        </p:nvSpPr>
        <p:spPr/>
        <p:txBody>
          <a:bodyPr>
            <a:normAutofit/>
          </a:bodyPr>
          <a:lstStyle/>
          <a:p>
            <a:pPr marL="0" indent="0">
              <a:buNone/>
            </a:pPr>
            <a:r>
              <a:rPr lang="es-PE" b="1" dirty="0"/>
              <a:t>Error de medición del sensor de presión debido a un rango inadecuado</a:t>
            </a:r>
          </a:p>
          <a:p>
            <a:pPr lvl="1"/>
            <a:r>
              <a:rPr lang="es-PE" dirty="0"/>
              <a:t>En tercer lugar, una de las causas más comunes de error de medición en los sensores de presión es la selección de un rango inadecuado.</a:t>
            </a:r>
          </a:p>
          <a:p>
            <a:pPr lvl="1"/>
            <a:r>
              <a:rPr lang="es-PE" dirty="0"/>
              <a:t>El rango de medición de cada sensor viene determinado por su tipo de célula.</a:t>
            </a:r>
          </a:p>
          <a:p>
            <a:pPr marL="457200" lvl="1" indent="0">
              <a:buNone/>
            </a:pPr>
            <a:endParaRPr lang="es-PE" dirty="0"/>
          </a:p>
          <a:p>
            <a:pPr lvl="1"/>
            <a:endParaRPr lang="es-PE" dirty="0"/>
          </a:p>
        </p:txBody>
      </p:sp>
      <p:pic>
        <p:nvPicPr>
          <p:cNvPr id="14338" name="Picture 2" descr="pressure-sensor-measurement-error-due-to-an-appropriate-range-es">
            <a:extLst>
              <a:ext uri="{FF2B5EF4-FFF2-40B4-BE49-F238E27FC236}">
                <a16:creationId xmlns:a16="http://schemas.microsoft.com/office/drawing/2014/main" id="{B2F66A73-5E86-6EB0-44A7-0D53532D8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538118"/>
            <a:ext cx="4343400" cy="27102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9663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30018-BB08-62E8-E293-2E17A8B3105B}"/>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FCD6C2AB-0D1E-708A-068B-D29AFE290993}"/>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341C24C7-847E-9A63-459D-1CDA35EDA6D8}"/>
              </a:ext>
            </a:extLst>
          </p:cNvPr>
          <p:cNvSpPr>
            <a:spLocks noGrp="1"/>
          </p:cNvSpPr>
          <p:nvPr>
            <p:ph idx="1"/>
          </p:nvPr>
        </p:nvSpPr>
        <p:spPr>
          <a:xfrm>
            <a:off x="914400" y="1389055"/>
            <a:ext cx="9753600" cy="4727583"/>
          </a:xfrm>
        </p:spPr>
        <p:txBody>
          <a:bodyPr>
            <a:normAutofit/>
          </a:bodyPr>
          <a:lstStyle/>
          <a:p>
            <a:pPr marL="0" indent="0">
              <a:buNone/>
            </a:pPr>
            <a:r>
              <a:rPr lang="es-PE" b="1" dirty="0"/>
              <a:t>Error de medición del sensor de presión debido a un rango inadecuado</a:t>
            </a:r>
          </a:p>
          <a:p>
            <a:pPr lvl="1"/>
            <a:r>
              <a:rPr lang="es-PE" dirty="0"/>
              <a:t>Este error concreto se debe al uso de un rango de célula demasiado pequeño o demasiado grande para la aplicación.</a:t>
            </a:r>
          </a:p>
          <a:p>
            <a:pPr lvl="1"/>
            <a:r>
              <a:rPr lang="es-PE" dirty="0"/>
              <a:t>Por ejemplo, si la </a:t>
            </a:r>
            <a:r>
              <a:rPr lang="es-PE" dirty="0" err="1"/>
              <a:t>rangeabilidad</a:t>
            </a:r>
            <a:r>
              <a:rPr lang="es-PE" dirty="0"/>
              <a:t> (la relación entre la presión máxima medible y la presión mínima medible) es demasiado baja, el sensor no podrá medir con precisión las presiones bajas. Esto puede dar lugar a señales de medición recortadas y lecturas de presión distorsionadas..</a:t>
            </a:r>
          </a:p>
          <a:p>
            <a:pPr lvl="1"/>
            <a:endParaRPr lang="es-PE" dirty="0"/>
          </a:p>
        </p:txBody>
      </p:sp>
      <p:pic>
        <p:nvPicPr>
          <p:cNvPr id="14338" name="Picture 2" descr="pressure-sensor-measurement-error-due-to-an-appropriate-range-es">
            <a:extLst>
              <a:ext uri="{FF2B5EF4-FFF2-40B4-BE49-F238E27FC236}">
                <a16:creationId xmlns:a16="http://schemas.microsoft.com/office/drawing/2014/main" id="{27F0104D-B8F1-FFCC-F7DC-B59D8CE4C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930238"/>
            <a:ext cx="3907692"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17128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9A156-A364-2781-DD31-5613DA5A570D}"/>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21494C7C-DD04-E790-197D-6F4FC6A5F504}"/>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03954E83-5497-0CBC-2BD8-1DAC6F43E423}"/>
              </a:ext>
            </a:extLst>
          </p:cNvPr>
          <p:cNvSpPr>
            <a:spLocks noGrp="1"/>
          </p:cNvSpPr>
          <p:nvPr>
            <p:ph idx="1"/>
          </p:nvPr>
        </p:nvSpPr>
        <p:spPr>
          <a:xfrm>
            <a:off x="914400" y="1389055"/>
            <a:ext cx="9753600" cy="4727583"/>
          </a:xfrm>
        </p:spPr>
        <p:txBody>
          <a:bodyPr>
            <a:normAutofit/>
          </a:bodyPr>
          <a:lstStyle/>
          <a:p>
            <a:pPr marL="0" indent="0">
              <a:buNone/>
            </a:pPr>
            <a:r>
              <a:rPr lang="es-PE" b="1" dirty="0"/>
              <a:t>Error de medición del sensor de presión debido a la incompatibilidad con las condiciones del proceso</a:t>
            </a:r>
          </a:p>
          <a:p>
            <a:pPr lvl="1"/>
            <a:r>
              <a:rPr lang="es-PE" dirty="0"/>
              <a:t>En cuarto lugar, el sensor de presión puede no ser compatible con las condiciones del proceso.</a:t>
            </a:r>
          </a:p>
          <a:p>
            <a:pPr lvl="1"/>
            <a:r>
              <a:rPr lang="es-PE" dirty="0"/>
              <a:t>Por ejemplo, algunos dispositivos pueden no ser capaces de soportar las altas temperaturas o presiones que se dan en algunos procesos industriales</a:t>
            </a:r>
          </a:p>
        </p:txBody>
      </p:sp>
      <p:pic>
        <p:nvPicPr>
          <p:cNvPr id="17410" name="Picture 2" descr="error-de-medición-del-sensor-de-presión-debido-a-la-incompatibilidad-es">
            <a:extLst>
              <a:ext uri="{FF2B5EF4-FFF2-40B4-BE49-F238E27FC236}">
                <a16:creationId xmlns:a16="http://schemas.microsoft.com/office/drawing/2014/main" id="{F43FFDED-2959-66EB-8FF1-00235C738E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038600"/>
            <a:ext cx="6956989" cy="2078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36597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67D7C-7BC5-A607-3DDF-BCB1868AEB39}"/>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CA6DE3F3-A62F-84BD-3A74-C78FFC876190}"/>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E907F306-1215-6F49-FA23-A9821AB8D491}"/>
              </a:ext>
            </a:extLst>
          </p:cNvPr>
          <p:cNvSpPr>
            <a:spLocks noGrp="1"/>
          </p:cNvSpPr>
          <p:nvPr>
            <p:ph idx="1"/>
          </p:nvPr>
        </p:nvSpPr>
        <p:spPr>
          <a:xfrm>
            <a:off x="914400" y="1389055"/>
            <a:ext cx="9753600" cy="4727583"/>
          </a:xfrm>
        </p:spPr>
        <p:txBody>
          <a:bodyPr>
            <a:normAutofit/>
          </a:bodyPr>
          <a:lstStyle/>
          <a:p>
            <a:pPr marL="0" indent="0">
              <a:buNone/>
            </a:pPr>
            <a:r>
              <a:rPr lang="es-PE" b="1" dirty="0"/>
              <a:t>Error de medición del sensor de presión debido a desgaste mecánico o daños</a:t>
            </a:r>
          </a:p>
          <a:p>
            <a:pPr lvl="1"/>
            <a:r>
              <a:rPr lang="es-PE" dirty="0"/>
              <a:t>En quinto lugar, pueden producirse errores de medición del sensor debido al desgaste mecánico o a daños en la membrana.</a:t>
            </a:r>
          </a:p>
          <a:p>
            <a:pPr lvl="1"/>
            <a:r>
              <a:rPr lang="es-PE" dirty="0"/>
              <a:t>El sensor puede haberse dañado durante la instalación, el funcionamiento o el mantenimiento.</a:t>
            </a:r>
          </a:p>
          <a:p>
            <a:pPr lvl="1"/>
            <a:r>
              <a:rPr lang="es-PE" dirty="0"/>
              <a:t>En general, este tipo de error requiere la reparación o sustitución del sensor de presión.</a:t>
            </a:r>
          </a:p>
        </p:txBody>
      </p:sp>
      <p:pic>
        <p:nvPicPr>
          <p:cNvPr id="19458" name="Picture 2" descr="error-measurement-pressure-sensor-due-a-l-mechanical-measurement-es">
            <a:extLst>
              <a:ext uri="{FF2B5EF4-FFF2-40B4-BE49-F238E27FC236}">
                <a16:creationId xmlns:a16="http://schemas.microsoft.com/office/drawing/2014/main" id="{166EE7AB-FE1D-8398-5015-33C62EBB70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4343400"/>
            <a:ext cx="6780222" cy="20252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6969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53B7F-2130-3762-547B-18E337CA62B4}"/>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83AB1B22-3694-0D68-867B-6F8E57195B6F}"/>
              </a:ext>
            </a:extLst>
          </p:cNvPr>
          <p:cNvSpPr>
            <a:spLocks noGrp="1"/>
          </p:cNvSpPr>
          <p:nvPr>
            <p:ph type="title"/>
          </p:nvPr>
        </p:nvSpPr>
        <p:spPr/>
        <p:txBody>
          <a:bodyPr>
            <a:normAutofit/>
          </a:bodyPr>
          <a:lstStyle/>
          <a:p>
            <a:r>
              <a:rPr lang="es-PE" dirty="0"/>
              <a:t>Errores en la medición</a:t>
            </a:r>
          </a:p>
        </p:txBody>
      </p:sp>
      <mc:AlternateContent xmlns:mc="http://schemas.openxmlformats.org/markup-compatibility/2006" xmlns:a14="http://schemas.microsoft.com/office/drawing/2010/main">
        <mc:Choice Requires="a14">
          <p:sp>
            <p:nvSpPr>
              <p:cNvPr id="45" name="Marcador de contenido 44">
                <a:extLst>
                  <a:ext uri="{FF2B5EF4-FFF2-40B4-BE49-F238E27FC236}">
                    <a16:creationId xmlns:a16="http://schemas.microsoft.com/office/drawing/2014/main" id="{90FF4C2E-361F-88A2-3BDC-B4AD158A3FF7}"/>
                  </a:ext>
                </a:extLst>
              </p:cNvPr>
              <p:cNvSpPr>
                <a:spLocks noGrp="1"/>
              </p:cNvSpPr>
              <p:nvPr>
                <p:ph idx="1"/>
              </p:nvPr>
            </p:nvSpPr>
            <p:spPr/>
            <p:txBody>
              <a:bodyPr/>
              <a:lstStyle/>
              <a:p>
                <a:pPr marL="0" indent="0">
                  <a:buNone/>
                </a:pPr>
                <a:r>
                  <a:rPr lang="es-PE" b="1" dirty="0"/>
                  <a:t>Fórmulas clave</a:t>
                </a:r>
                <a:r>
                  <a:rPr lang="es-PE" dirty="0"/>
                  <a:t>:</a:t>
                </a:r>
              </a:p>
              <a:p>
                <a:r>
                  <a:rPr lang="es-PE" dirty="0"/>
                  <a:t>Error absoluto: </a:t>
                </a:r>
                <a:r>
                  <a:rPr lang="es-PE" dirty="0" err="1"/>
                  <a:t>Ea</a:t>
                </a:r>
                <a:r>
                  <a:rPr lang="es-PE" dirty="0"/>
                  <a:t>= ∣</a:t>
                </a:r>
                <a:r>
                  <a:rPr lang="es-PE" dirty="0" err="1"/>
                  <a:t>Xm−Xv</a:t>
                </a:r>
                <a:r>
                  <a:rPr lang="es-PE" dirty="0"/>
                  <a:t>∣</a:t>
                </a:r>
              </a:p>
              <a:p>
                <a:r>
                  <a:rPr lang="es-PE" dirty="0"/>
                  <a:t>Error relativo: </a:t>
                </a:r>
              </a:p>
              <a:p>
                <a:pPr marL="0" indent="0">
                  <a:buNone/>
                </a:pPr>
                <a:r>
                  <a:rPr lang="es-PE" dirty="0"/>
                  <a:t>Er = </a:t>
                </a:r>
                <a14:m>
                  <m:oMath xmlns:m="http://schemas.openxmlformats.org/officeDocument/2006/math">
                    <m:f>
                      <m:fPr>
                        <m:ctrlPr>
                          <a:rPr lang="es-PE" i="1" dirty="0" smtClean="0">
                            <a:latin typeface="Cambria Math" panose="02040503050406030204" pitchFamily="18" charset="0"/>
                          </a:rPr>
                        </m:ctrlPr>
                      </m:fPr>
                      <m:num>
                        <m:r>
                          <a:rPr lang="es-PE" i="1" dirty="0">
                            <a:latin typeface="Cambria Math" panose="02040503050406030204" pitchFamily="18" charset="0"/>
                          </a:rPr>
                          <m:t>𝐸𝑎</m:t>
                        </m:r>
                      </m:num>
                      <m:den>
                        <m:r>
                          <a:rPr lang="es-PE" i="1" dirty="0">
                            <a:latin typeface="Cambria Math" panose="02040503050406030204" pitchFamily="18" charset="0"/>
                          </a:rPr>
                          <m:t>𝑋𝑣</m:t>
                        </m:r>
                      </m:den>
                    </m:f>
                  </m:oMath>
                </a14:m>
                <a:r>
                  <a:rPr lang="es-PE" dirty="0"/>
                  <a:t> × 100%</a:t>
                </a:r>
              </a:p>
              <a:p>
                <a:r>
                  <a:rPr lang="es-PE" dirty="0"/>
                  <a:t>Incertidumbre combinada (simplificada):</a:t>
                </a:r>
              </a:p>
              <a:p>
                <a:pPr marL="0" indent="0">
                  <a:buNone/>
                </a:pPr>
                <a:r>
                  <a:rPr lang="es-PE" dirty="0"/>
                  <a:t>U= </a:t>
                </a:r>
                <a14:m>
                  <m:oMath xmlns:m="http://schemas.openxmlformats.org/officeDocument/2006/math">
                    <m:rad>
                      <m:radPr>
                        <m:degHide m:val="on"/>
                        <m:ctrlPr>
                          <a:rPr lang="es-PE" i="1" smtClean="0">
                            <a:latin typeface="Cambria Math" panose="02040503050406030204" pitchFamily="18" charset="0"/>
                          </a:rPr>
                        </m:ctrlPr>
                      </m:radPr>
                      <m:deg/>
                      <m:e>
                        <m:sSubSup>
                          <m:sSubSupPr>
                            <m:ctrlPr>
                              <a:rPr lang="es-PE" i="1" smtClean="0">
                                <a:latin typeface="Cambria Math" panose="02040503050406030204" pitchFamily="18" charset="0"/>
                              </a:rPr>
                            </m:ctrlPr>
                          </m:sSubSupPr>
                          <m:e>
                            <m:r>
                              <a:rPr lang="es-PE" b="0" i="1" smtClean="0">
                                <a:latin typeface="Cambria Math" panose="02040503050406030204" pitchFamily="18" charset="0"/>
                              </a:rPr>
                              <m:t>𝑈</m:t>
                            </m:r>
                          </m:e>
                          <m:sub>
                            <m:r>
                              <a:rPr lang="es-PE" b="0" i="1" smtClean="0">
                                <a:latin typeface="Cambria Math" panose="02040503050406030204" pitchFamily="18" charset="0"/>
                              </a:rPr>
                              <m:t>1</m:t>
                            </m:r>
                          </m:sub>
                          <m:sup>
                            <m:r>
                              <a:rPr lang="es-PE" b="0" i="1" smtClean="0">
                                <a:latin typeface="Cambria Math" panose="02040503050406030204" pitchFamily="18" charset="0"/>
                              </a:rPr>
                              <m:t>2</m:t>
                            </m:r>
                          </m:sup>
                        </m:sSubSup>
                        <m:r>
                          <a:rPr lang="es-PE" b="0" i="1" smtClean="0">
                            <a:latin typeface="Cambria Math" panose="02040503050406030204" pitchFamily="18" charset="0"/>
                          </a:rPr>
                          <m:t>+</m:t>
                        </m:r>
                        <m:sSubSup>
                          <m:sSubSupPr>
                            <m:ctrlPr>
                              <a:rPr lang="es-PE" i="1">
                                <a:latin typeface="Cambria Math" panose="02040503050406030204" pitchFamily="18" charset="0"/>
                              </a:rPr>
                            </m:ctrlPr>
                          </m:sSubSupPr>
                          <m:e>
                            <m:r>
                              <a:rPr lang="es-PE" i="1">
                                <a:latin typeface="Cambria Math" panose="02040503050406030204" pitchFamily="18" charset="0"/>
                              </a:rPr>
                              <m:t>𝑈</m:t>
                            </m:r>
                          </m:e>
                          <m:sub>
                            <m:r>
                              <a:rPr lang="es-PE" b="0" i="1" smtClean="0">
                                <a:latin typeface="Cambria Math" panose="02040503050406030204" pitchFamily="18" charset="0"/>
                              </a:rPr>
                              <m:t>2</m:t>
                            </m:r>
                          </m:sub>
                          <m:sup>
                            <m:r>
                              <a:rPr lang="es-PE" i="1">
                                <a:latin typeface="Cambria Math" panose="02040503050406030204" pitchFamily="18" charset="0"/>
                              </a:rPr>
                              <m:t>2</m:t>
                            </m:r>
                          </m:sup>
                        </m:sSubSup>
                        <m:r>
                          <a:rPr lang="es-PE" b="0" i="1" smtClean="0">
                            <a:latin typeface="Cambria Math" panose="02040503050406030204" pitchFamily="18" charset="0"/>
                          </a:rPr>
                          <m:t>+…+</m:t>
                        </m:r>
                        <m:sSubSup>
                          <m:sSubSupPr>
                            <m:ctrlPr>
                              <a:rPr lang="es-PE" i="1">
                                <a:latin typeface="Cambria Math" panose="02040503050406030204" pitchFamily="18" charset="0"/>
                              </a:rPr>
                            </m:ctrlPr>
                          </m:sSubSupPr>
                          <m:e>
                            <m:r>
                              <a:rPr lang="es-PE" i="1">
                                <a:latin typeface="Cambria Math" panose="02040503050406030204" pitchFamily="18" charset="0"/>
                              </a:rPr>
                              <m:t>𝑈</m:t>
                            </m:r>
                          </m:e>
                          <m:sub>
                            <m:r>
                              <a:rPr lang="es-PE" b="0" i="1" smtClean="0">
                                <a:latin typeface="Cambria Math" panose="02040503050406030204" pitchFamily="18" charset="0"/>
                              </a:rPr>
                              <m:t>𝑛</m:t>
                            </m:r>
                          </m:sub>
                          <m:sup>
                            <m:r>
                              <a:rPr lang="es-PE" i="1">
                                <a:latin typeface="Cambria Math" panose="02040503050406030204" pitchFamily="18" charset="0"/>
                              </a:rPr>
                              <m:t>2</m:t>
                            </m:r>
                          </m:sup>
                        </m:sSubSup>
                      </m:e>
                    </m:rad>
                  </m:oMath>
                </a14:m>
                <a:endParaRPr lang="es-PE" dirty="0"/>
              </a:p>
            </p:txBody>
          </p:sp>
        </mc:Choice>
        <mc:Fallback xmlns="">
          <p:sp>
            <p:nvSpPr>
              <p:cNvPr id="45" name="Marcador de contenido 44">
                <a:extLst>
                  <a:ext uri="{FF2B5EF4-FFF2-40B4-BE49-F238E27FC236}">
                    <a16:creationId xmlns:a16="http://schemas.microsoft.com/office/drawing/2014/main" id="{90FF4C2E-361F-88A2-3BDC-B4AD158A3FF7}"/>
                  </a:ext>
                </a:extLst>
              </p:cNvPr>
              <p:cNvSpPr>
                <a:spLocks noGrp="1" noRot="1" noChangeAspect="1" noMove="1" noResize="1" noEditPoints="1" noAdjustHandles="1" noChangeArrowheads="1" noChangeShapeType="1" noTextEdit="1"/>
              </p:cNvSpPr>
              <p:nvPr>
                <p:ph idx="1"/>
              </p:nvPr>
            </p:nvSpPr>
            <p:spPr>
              <a:blipFill>
                <a:blip r:embed="rId3"/>
                <a:stretch>
                  <a:fillRect l="-960" t="-1806"/>
                </a:stretch>
              </a:blipFill>
            </p:spPr>
            <p:txBody>
              <a:bodyPr/>
              <a:lstStyle/>
              <a:p>
                <a:r>
                  <a:rPr lang="es-PE">
                    <a:noFill/>
                  </a:rPr>
                  <a:t> </a:t>
                </a:r>
              </a:p>
            </p:txBody>
          </p:sp>
        </mc:Fallback>
      </mc:AlternateContent>
    </p:spTree>
    <p:extLst>
      <p:ext uri="{BB962C8B-B14F-4D97-AF65-F5344CB8AC3E}">
        <p14:creationId xmlns:p14="http://schemas.microsoft.com/office/powerpoint/2010/main" val="32781805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0C9BE-0817-3A47-2939-F1020C25AFA3}"/>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1DC8339E-1144-5E9E-596A-D646B5C4C9A7}"/>
              </a:ext>
            </a:extLst>
          </p:cNvPr>
          <p:cNvSpPr>
            <a:spLocks noGrp="1"/>
          </p:cNvSpPr>
          <p:nvPr>
            <p:ph type="title"/>
          </p:nvPr>
        </p:nvSpPr>
        <p:spPr/>
        <p:txBody>
          <a:bodyPr>
            <a:normAutofit/>
          </a:bodyPr>
          <a:lstStyle/>
          <a:p>
            <a:r>
              <a:rPr lang="es-PE" dirty="0"/>
              <a:t>Errores en la medición</a:t>
            </a:r>
          </a:p>
        </p:txBody>
      </p:sp>
      <p:sp>
        <p:nvSpPr>
          <p:cNvPr id="45" name="Marcador de contenido 44">
            <a:extLst>
              <a:ext uri="{FF2B5EF4-FFF2-40B4-BE49-F238E27FC236}">
                <a16:creationId xmlns:a16="http://schemas.microsoft.com/office/drawing/2014/main" id="{6A942FEA-578F-96F7-C5B3-589962ED36C9}"/>
              </a:ext>
            </a:extLst>
          </p:cNvPr>
          <p:cNvSpPr>
            <a:spLocks noGrp="1"/>
          </p:cNvSpPr>
          <p:nvPr>
            <p:ph idx="1"/>
          </p:nvPr>
        </p:nvSpPr>
        <p:spPr/>
        <p:txBody>
          <a:bodyPr/>
          <a:lstStyle/>
          <a:p>
            <a:pPr marL="0" indent="0">
              <a:buNone/>
            </a:pPr>
            <a:r>
              <a:rPr lang="es-PE" b="1" dirty="0"/>
              <a:t>Aplicación Práctica</a:t>
            </a:r>
            <a:r>
              <a:rPr lang="es-PE" dirty="0"/>
              <a:t>: </a:t>
            </a:r>
          </a:p>
          <a:p>
            <a:pPr marL="0" indent="0">
              <a:buNone/>
            </a:pPr>
            <a:r>
              <a:rPr lang="es-PE" dirty="0"/>
              <a:t>En un </a:t>
            </a:r>
            <a:r>
              <a:rPr lang="es-PE" dirty="0" err="1"/>
              <a:t>ADC</a:t>
            </a:r>
            <a:r>
              <a:rPr lang="es-PE" dirty="0"/>
              <a:t> de 10 bits midiendo 0–5 V, la </a:t>
            </a:r>
            <a:r>
              <a:rPr lang="es-PE" dirty="0">
                <a:solidFill>
                  <a:srgbClr val="FF0000"/>
                </a:solidFill>
              </a:rPr>
              <a:t>resolución</a:t>
            </a:r>
            <a:r>
              <a:rPr lang="es-PE" dirty="0"/>
              <a:t> mínima es 4.88 </a:t>
            </a:r>
            <a:r>
              <a:rPr lang="es-PE" dirty="0" err="1"/>
              <a:t>mV</a:t>
            </a:r>
            <a:r>
              <a:rPr lang="es-PE" dirty="0"/>
              <a:t>. </a:t>
            </a:r>
          </a:p>
          <a:p>
            <a:pPr marL="0" indent="0">
              <a:buNone/>
            </a:pPr>
            <a:r>
              <a:rPr lang="es-PE" dirty="0"/>
              <a:t>La incertidumbre no puede ser menor que este valor.</a:t>
            </a:r>
          </a:p>
          <a:p>
            <a:pPr marL="0" indent="0">
              <a:buNone/>
            </a:pPr>
            <a:endParaRPr lang="es-PE" dirty="0"/>
          </a:p>
          <a:p>
            <a:pPr marL="0" indent="0">
              <a:buNone/>
            </a:pPr>
            <a:endParaRPr lang="es-PE" dirty="0"/>
          </a:p>
          <a:p>
            <a:endParaRPr lang="es-PE" dirty="0"/>
          </a:p>
        </p:txBody>
      </p:sp>
    </p:spTree>
    <p:extLst>
      <p:ext uri="{BB962C8B-B14F-4D97-AF65-F5344CB8AC3E}">
        <p14:creationId xmlns:p14="http://schemas.microsoft.com/office/powerpoint/2010/main" val="42072814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1FCB9-7ED2-18F1-45E8-E4F4ED66E361}"/>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F04F00D2-76CE-E43B-7324-73E3E13108AF}"/>
              </a:ext>
            </a:extLst>
          </p:cNvPr>
          <p:cNvSpPr>
            <a:spLocks noGrp="1"/>
          </p:cNvSpPr>
          <p:nvPr>
            <p:ph idx="1"/>
          </p:nvPr>
        </p:nvSpPr>
        <p:spPr>
          <a:xfrm>
            <a:off x="4518786" y="1316442"/>
            <a:ext cx="6454013" cy="1960158"/>
          </a:xfrm>
        </p:spPr>
        <p:txBody>
          <a:bodyPr>
            <a:normAutofit/>
          </a:bodyPr>
          <a:lstStyle/>
          <a:p>
            <a:r>
              <a:rPr lang="es-PE" sz="3000" b="1" dirty="0"/>
              <a:t>Pregunta 1:</a:t>
            </a:r>
            <a:br>
              <a:rPr lang="es-PE" sz="3000" dirty="0"/>
            </a:br>
            <a:r>
              <a:rPr lang="es-PE" sz="2800" dirty="0"/>
              <a:t>¿Cuál es la diferencia entre precisión y exactitud?</a:t>
            </a:r>
            <a:endParaRPr lang="es-PE" sz="3000" dirty="0"/>
          </a:p>
        </p:txBody>
      </p:sp>
      <p:pic>
        <p:nvPicPr>
          <p:cNvPr id="10" name="Marcador de posición de imagen 9">
            <a:extLst>
              <a:ext uri="{FF2B5EF4-FFF2-40B4-BE49-F238E27FC236}">
                <a16:creationId xmlns:a16="http://schemas.microsoft.com/office/drawing/2014/main" id="{131BFB08-2166-E07C-88D1-C74C1C51873D}"/>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A71B0A4A-2064-79E3-6BE8-90225318395F}"/>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a:t>
            </a:r>
          </a:p>
          <a:p>
            <a:pPr marL="0" indent="0" algn="just">
              <a:buNone/>
            </a:pPr>
            <a:r>
              <a:rPr lang="es-PE" sz="2400" dirty="0"/>
              <a:t>La precisión refleja repetibilidad de resultados, mientras que la exactitud es qué tan cercanos están al valor verdadero.</a:t>
            </a:r>
          </a:p>
        </p:txBody>
      </p:sp>
      <p:sp>
        <p:nvSpPr>
          <p:cNvPr id="5" name="Título 4">
            <a:extLst>
              <a:ext uri="{FF2B5EF4-FFF2-40B4-BE49-F238E27FC236}">
                <a16:creationId xmlns:a16="http://schemas.microsoft.com/office/drawing/2014/main" id="{EACE040B-544B-A655-CB60-12F92D07B011}"/>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2597409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2F370-4BF0-FED7-197D-E15122CF3766}"/>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24C655EE-2942-5FA8-E5C0-1BEC9F061E16}"/>
              </a:ext>
            </a:extLst>
          </p:cNvPr>
          <p:cNvSpPr>
            <a:spLocks noGrp="1"/>
          </p:cNvSpPr>
          <p:nvPr>
            <p:ph idx="1"/>
          </p:nvPr>
        </p:nvSpPr>
        <p:spPr>
          <a:xfrm>
            <a:off x="4518786" y="1316442"/>
            <a:ext cx="6454013" cy="1960158"/>
          </a:xfrm>
        </p:spPr>
        <p:txBody>
          <a:bodyPr>
            <a:normAutofit/>
          </a:bodyPr>
          <a:lstStyle/>
          <a:p>
            <a:r>
              <a:rPr lang="es-PE" sz="3000" b="1" dirty="0"/>
              <a:t>Pregunta 2:</a:t>
            </a:r>
            <a:br>
              <a:rPr lang="es-PE" sz="3000" dirty="0"/>
            </a:br>
            <a:r>
              <a:rPr lang="es-PE" sz="3000" dirty="0"/>
              <a:t>Un sensor mide 12.3, 12.4 y 12.5 V cuando el valor real es 12.0 V. Analice exactitud y precisión.</a:t>
            </a:r>
          </a:p>
        </p:txBody>
      </p:sp>
      <p:pic>
        <p:nvPicPr>
          <p:cNvPr id="10" name="Marcador de posición de imagen 9">
            <a:extLst>
              <a:ext uri="{FF2B5EF4-FFF2-40B4-BE49-F238E27FC236}">
                <a16:creationId xmlns:a16="http://schemas.microsoft.com/office/drawing/2014/main" id="{9786F700-0F62-AE30-044A-6D0D59A2348C}"/>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D8584F0C-5806-0D42-0CD0-64A020CF6323}"/>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p>
          <a:p>
            <a:pPr algn="just"/>
            <a:r>
              <a:rPr lang="es-PE" sz="2400" dirty="0"/>
              <a:t>Precisión alta (valores consistentes), exactitud baja (todos desplazados +0.3–0.5 V).</a:t>
            </a:r>
          </a:p>
        </p:txBody>
      </p:sp>
      <p:sp>
        <p:nvSpPr>
          <p:cNvPr id="5" name="Título 4">
            <a:extLst>
              <a:ext uri="{FF2B5EF4-FFF2-40B4-BE49-F238E27FC236}">
                <a16:creationId xmlns:a16="http://schemas.microsoft.com/office/drawing/2014/main" id="{91A510BB-E89E-A1B6-0B17-73C0E83E9E46}"/>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1257909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44EB7-6FDB-85DA-9FAB-014C35782D6B}"/>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F78D1B77-336C-7429-7216-22D40DE64561}"/>
              </a:ext>
            </a:extLst>
          </p:cNvPr>
          <p:cNvSpPr>
            <a:spLocks noGrp="1"/>
          </p:cNvSpPr>
          <p:nvPr>
            <p:ph idx="1"/>
          </p:nvPr>
        </p:nvSpPr>
        <p:spPr>
          <a:xfrm>
            <a:off x="4518786" y="1316442"/>
            <a:ext cx="6454013" cy="1960158"/>
          </a:xfrm>
        </p:spPr>
        <p:txBody>
          <a:bodyPr>
            <a:normAutofit/>
          </a:bodyPr>
          <a:lstStyle/>
          <a:p>
            <a:r>
              <a:rPr lang="es-PE" sz="3000" b="1" dirty="0"/>
              <a:t>Pregunta 3:</a:t>
            </a:r>
            <a:br>
              <a:rPr lang="es-PE" sz="3000" dirty="0"/>
            </a:br>
            <a:r>
              <a:rPr lang="es-PE" sz="3200" dirty="0"/>
              <a:t>¿Por qué la incertidumbre nunca puede eliminarse totalmente?</a:t>
            </a:r>
            <a:r>
              <a:rPr lang="es-PE" sz="3000" dirty="0"/>
              <a:t>.</a:t>
            </a:r>
          </a:p>
        </p:txBody>
      </p:sp>
      <p:pic>
        <p:nvPicPr>
          <p:cNvPr id="10" name="Marcador de posición de imagen 9">
            <a:extLst>
              <a:ext uri="{FF2B5EF4-FFF2-40B4-BE49-F238E27FC236}">
                <a16:creationId xmlns:a16="http://schemas.microsoft.com/office/drawing/2014/main" id="{34CBE5A9-87FD-0DF8-8CAA-0F0F9CFFA438}"/>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EEB948AE-A2A3-0631-15BF-E8D582863B43}"/>
              </a:ext>
            </a:extLst>
          </p:cNvPr>
          <p:cNvSpPr txBox="1">
            <a:spLocks/>
          </p:cNvSpPr>
          <p:nvPr/>
        </p:nvSpPr>
        <p:spPr>
          <a:xfrm>
            <a:off x="4518786" y="3581400"/>
            <a:ext cx="6454013"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p>
          <a:p>
            <a:pPr algn="just"/>
            <a:r>
              <a:rPr lang="es-PE" sz="2400" dirty="0"/>
              <a:t>Porque siempre existen limitaciones físicas, de resolución y de condiciones ambientales que introducen un rango inevitable de duda.</a:t>
            </a:r>
          </a:p>
        </p:txBody>
      </p:sp>
      <p:sp>
        <p:nvSpPr>
          <p:cNvPr id="5" name="Título 4">
            <a:extLst>
              <a:ext uri="{FF2B5EF4-FFF2-40B4-BE49-F238E27FC236}">
                <a16:creationId xmlns:a16="http://schemas.microsoft.com/office/drawing/2014/main" id="{6E6D58A8-0EE1-3AEE-A8AB-3499C70CA5BC}"/>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219077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6594F-1EC5-FC6C-DB0F-23D0B72F4977}"/>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2564C3A3-4076-A58C-C5BF-6123704F6D42}"/>
              </a:ext>
            </a:extLst>
          </p:cNvPr>
          <p:cNvSpPr>
            <a:spLocks noGrp="1"/>
          </p:cNvSpPr>
          <p:nvPr>
            <p:ph type="title"/>
          </p:nvPr>
        </p:nvSpPr>
        <p:spPr/>
        <p:txBody>
          <a:bodyPr>
            <a:normAutofit/>
          </a:bodyPr>
          <a:lstStyle/>
          <a:p>
            <a:r>
              <a:rPr lang="es-PE" dirty="0"/>
              <a:t>Métodos de Reducción y Control de Errores</a:t>
            </a:r>
          </a:p>
        </p:txBody>
      </p:sp>
      <p:sp>
        <p:nvSpPr>
          <p:cNvPr id="45" name="Marcador de contenido 44">
            <a:extLst>
              <a:ext uri="{FF2B5EF4-FFF2-40B4-BE49-F238E27FC236}">
                <a16:creationId xmlns:a16="http://schemas.microsoft.com/office/drawing/2014/main" id="{52D2D258-B121-C18C-24B6-0B19F4A6A4BA}"/>
              </a:ext>
            </a:extLst>
          </p:cNvPr>
          <p:cNvSpPr>
            <a:spLocks noGrp="1"/>
          </p:cNvSpPr>
          <p:nvPr>
            <p:ph idx="1"/>
          </p:nvPr>
        </p:nvSpPr>
        <p:spPr/>
        <p:txBody>
          <a:bodyPr/>
          <a:lstStyle/>
          <a:p>
            <a:pPr marL="0" indent="0">
              <a:buNone/>
            </a:pPr>
            <a:r>
              <a:rPr lang="es-PE" dirty="0"/>
              <a:t>Estrategias principales:</a:t>
            </a:r>
          </a:p>
          <a:p>
            <a:r>
              <a:rPr lang="es-PE" b="1" dirty="0"/>
              <a:t>Calibración periódica</a:t>
            </a:r>
            <a:r>
              <a:rPr lang="es-PE" dirty="0"/>
              <a:t> contra patrones.</a:t>
            </a:r>
          </a:p>
          <a:p>
            <a:r>
              <a:rPr lang="es-PE" b="1" dirty="0"/>
              <a:t>Redundancia</a:t>
            </a:r>
            <a:r>
              <a:rPr lang="es-PE" dirty="0"/>
              <a:t> (usar múltiples sensores).</a:t>
            </a:r>
          </a:p>
          <a:p>
            <a:r>
              <a:rPr lang="es-PE" b="1" dirty="0"/>
              <a:t>Filtrado digital</a:t>
            </a:r>
            <a:r>
              <a:rPr lang="es-PE" dirty="0"/>
              <a:t> (media móvil, Kalman).</a:t>
            </a:r>
          </a:p>
          <a:p>
            <a:r>
              <a:rPr lang="es-PE" b="1" dirty="0"/>
              <a:t>Diseño robusto</a:t>
            </a:r>
            <a:r>
              <a:rPr lang="es-PE" dirty="0"/>
              <a:t> (sensores adecuados para el rango).</a:t>
            </a:r>
          </a:p>
          <a:p>
            <a:r>
              <a:rPr lang="es-PE" b="1" dirty="0"/>
              <a:t>Condiciones controladas</a:t>
            </a:r>
            <a:r>
              <a:rPr lang="es-PE" dirty="0"/>
              <a:t> (temperatura, vibraciones).</a:t>
            </a:r>
          </a:p>
          <a:p>
            <a:pPr marL="0" indent="0">
              <a:buNone/>
            </a:pPr>
            <a:endParaRPr lang="es-PE" dirty="0"/>
          </a:p>
          <a:p>
            <a:pPr marL="0" indent="0">
              <a:buNone/>
            </a:pPr>
            <a:r>
              <a:rPr lang="es-PE" b="1" dirty="0"/>
              <a:t>Analogía</a:t>
            </a:r>
            <a:r>
              <a:rPr lang="es-PE" dirty="0"/>
              <a:t>: </a:t>
            </a:r>
          </a:p>
          <a:p>
            <a:pPr marL="0" indent="0">
              <a:buNone/>
            </a:pPr>
            <a:r>
              <a:rPr lang="es-PE" dirty="0"/>
              <a:t>Como en navegación marítima, se usan varios faros y GPS para compensar errores y mantener el rumbo.</a:t>
            </a:r>
          </a:p>
          <a:p>
            <a:pPr marL="0" indent="0">
              <a:buNone/>
            </a:pPr>
            <a:endParaRPr lang="es-PE" dirty="0"/>
          </a:p>
          <a:p>
            <a:pPr marL="0" indent="0">
              <a:buNone/>
            </a:pPr>
            <a:endParaRPr lang="es-PE" dirty="0"/>
          </a:p>
          <a:p>
            <a:endParaRPr lang="es-PE" dirty="0"/>
          </a:p>
        </p:txBody>
      </p:sp>
    </p:spTree>
    <p:extLst>
      <p:ext uri="{BB962C8B-B14F-4D97-AF65-F5344CB8AC3E}">
        <p14:creationId xmlns:p14="http://schemas.microsoft.com/office/powerpoint/2010/main" val="37425610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4A47D-320C-ECD6-4112-1A56D9DAB9C5}"/>
            </a:ext>
          </a:extLst>
        </p:cNvPr>
        <p:cNvGrpSpPr/>
        <p:nvPr/>
      </p:nvGrpSpPr>
      <p:grpSpPr>
        <a:xfrm>
          <a:off x="0" y="0"/>
          <a:ext cx="0" cy="0"/>
          <a:chOff x="0" y="0"/>
          <a:chExt cx="0" cy="0"/>
        </a:xfrm>
      </p:grpSpPr>
      <p:sp>
        <p:nvSpPr>
          <p:cNvPr id="44" name="Título 43">
            <a:extLst>
              <a:ext uri="{FF2B5EF4-FFF2-40B4-BE49-F238E27FC236}">
                <a16:creationId xmlns:a16="http://schemas.microsoft.com/office/drawing/2014/main" id="{86311EC2-4BB1-F230-9B62-5F33B94744D5}"/>
              </a:ext>
            </a:extLst>
          </p:cNvPr>
          <p:cNvSpPr>
            <a:spLocks noGrp="1"/>
          </p:cNvSpPr>
          <p:nvPr>
            <p:ph type="title"/>
          </p:nvPr>
        </p:nvSpPr>
        <p:spPr/>
        <p:txBody>
          <a:bodyPr>
            <a:normAutofit/>
          </a:bodyPr>
          <a:lstStyle/>
          <a:p>
            <a:r>
              <a:rPr lang="es-PE" dirty="0"/>
              <a:t>Métodos de Reducción y Control de Errores</a:t>
            </a:r>
          </a:p>
        </p:txBody>
      </p:sp>
      <p:sp>
        <p:nvSpPr>
          <p:cNvPr id="45" name="Marcador de contenido 44">
            <a:extLst>
              <a:ext uri="{FF2B5EF4-FFF2-40B4-BE49-F238E27FC236}">
                <a16:creationId xmlns:a16="http://schemas.microsoft.com/office/drawing/2014/main" id="{41EC9748-E3E1-E72D-A7D5-ACD3BF5A4869}"/>
              </a:ext>
            </a:extLst>
          </p:cNvPr>
          <p:cNvSpPr>
            <a:spLocks noGrp="1"/>
          </p:cNvSpPr>
          <p:nvPr>
            <p:ph idx="1"/>
          </p:nvPr>
        </p:nvSpPr>
        <p:spPr/>
        <p:txBody>
          <a:bodyPr/>
          <a:lstStyle/>
          <a:p>
            <a:pPr marL="0" indent="0">
              <a:buNone/>
            </a:pPr>
            <a:r>
              <a:rPr lang="es-PE" b="1" dirty="0"/>
              <a:t>Aplicación Práctica</a:t>
            </a:r>
            <a:r>
              <a:rPr lang="es-PE" dirty="0"/>
              <a:t>:</a:t>
            </a:r>
          </a:p>
          <a:p>
            <a:r>
              <a:rPr lang="es-PE" dirty="0"/>
              <a:t>En un sistema de </a:t>
            </a:r>
            <a:r>
              <a:rPr lang="es-PE" b="1" dirty="0"/>
              <a:t>robot cartesiano</a:t>
            </a:r>
            <a:r>
              <a:rPr lang="es-PE" dirty="0"/>
              <a:t>, se usan </a:t>
            </a:r>
            <a:r>
              <a:rPr lang="es-PE" dirty="0" err="1"/>
              <a:t>encoders</a:t>
            </a:r>
            <a:r>
              <a:rPr lang="es-PE" dirty="0"/>
              <a:t> + finales de carrera para compensar errores acumulados.</a:t>
            </a:r>
          </a:p>
          <a:p>
            <a:r>
              <a:rPr lang="es-PE" dirty="0"/>
              <a:t>En </a:t>
            </a:r>
            <a:r>
              <a:rPr lang="es-PE" b="1" dirty="0"/>
              <a:t>sistemas de potencia</a:t>
            </a:r>
            <a:r>
              <a:rPr lang="es-PE" dirty="0"/>
              <a:t>, se aplican filtros digitales para eliminar ruido de medición de corriente.</a:t>
            </a:r>
          </a:p>
          <a:p>
            <a:endParaRPr lang="es-PE" dirty="0"/>
          </a:p>
        </p:txBody>
      </p:sp>
    </p:spTree>
    <p:extLst>
      <p:ext uri="{BB962C8B-B14F-4D97-AF65-F5344CB8AC3E}">
        <p14:creationId xmlns:p14="http://schemas.microsoft.com/office/powerpoint/2010/main" val="34886821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92B0E-9869-379B-EA0A-BADF68D3B81C}"/>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C35DC7BB-6A2C-A435-EA7D-FD81ABD2F406}"/>
              </a:ext>
            </a:extLst>
          </p:cNvPr>
          <p:cNvSpPr>
            <a:spLocks noGrp="1"/>
          </p:cNvSpPr>
          <p:nvPr>
            <p:ph idx="1"/>
          </p:nvPr>
        </p:nvSpPr>
        <p:spPr>
          <a:xfrm>
            <a:off x="4518786" y="1316442"/>
            <a:ext cx="6454013" cy="1960158"/>
          </a:xfrm>
        </p:spPr>
        <p:txBody>
          <a:bodyPr>
            <a:normAutofit/>
          </a:bodyPr>
          <a:lstStyle/>
          <a:p>
            <a:r>
              <a:rPr lang="es-PE" sz="3000" b="1" dirty="0"/>
              <a:t>Pregunta 1:</a:t>
            </a:r>
            <a:br>
              <a:rPr lang="es-PE" sz="3000" dirty="0"/>
            </a:br>
            <a:r>
              <a:rPr lang="es-PE" sz="2800" dirty="0"/>
              <a:t>¿Qué técnica básica se usa para corregir errores sistemáticos?</a:t>
            </a:r>
            <a:endParaRPr lang="es-PE" sz="3000" dirty="0"/>
          </a:p>
        </p:txBody>
      </p:sp>
      <p:pic>
        <p:nvPicPr>
          <p:cNvPr id="10" name="Marcador de posición de imagen 9">
            <a:extLst>
              <a:ext uri="{FF2B5EF4-FFF2-40B4-BE49-F238E27FC236}">
                <a16:creationId xmlns:a16="http://schemas.microsoft.com/office/drawing/2014/main" id="{806EC066-F6E7-C2DE-8695-A495210CCECC}"/>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14A5A907-A031-C6C5-AE55-A32375EA6448}"/>
              </a:ext>
            </a:extLst>
          </p:cNvPr>
          <p:cNvSpPr txBox="1">
            <a:spLocks/>
          </p:cNvSpPr>
          <p:nvPr/>
        </p:nvSpPr>
        <p:spPr>
          <a:xfrm>
            <a:off x="4518786" y="3581400"/>
            <a:ext cx="6682614"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a:t>
            </a:r>
          </a:p>
          <a:p>
            <a:pPr marL="0" indent="0">
              <a:buNone/>
            </a:pPr>
            <a:r>
              <a:rPr lang="es-PE" sz="2400" dirty="0"/>
              <a:t>La calibración periódica con patrones de referencia.</a:t>
            </a:r>
          </a:p>
        </p:txBody>
      </p:sp>
      <p:sp>
        <p:nvSpPr>
          <p:cNvPr id="5" name="Título 4">
            <a:extLst>
              <a:ext uri="{FF2B5EF4-FFF2-40B4-BE49-F238E27FC236}">
                <a16:creationId xmlns:a16="http://schemas.microsoft.com/office/drawing/2014/main" id="{D3BB4818-0D02-DFC4-BD17-EB0CD668E873}"/>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3180548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21298-3101-5DF4-6852-290953AA7422}"/>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F9489E4A-6E3D-E819-2D8C-A4807F5508F1}"/>
              </a:ext>
            </a:extLst>
          </p:cNvPr>
          <p:cNvSpPr>
            <a:spLocks noGrp="1"/>
          </p:cNvSpPr>
          <p:nvPr>
            <p:ph idx="1"/>
          </p:nvPr>
        </p:nvSpPr>
        <p:spPr>
          <a:xfrm>
            <a:off x="4518786" y="1316442"/>
            <a:ext cx="6454013" cy="1960158"/>
          </a:xfrm>
        </p:spPr>
        <p:txBody>
          <a:bodyPr>
            <a:normAutofit/>
          </a:bodyPr>
          <a:lstStyle/>
          <a:p>
            <a:r>
              <a:rPr lang="es-PE" sz="3000" b="1" dirty="0"/>
              <a:t>Pregunta 1:</a:t>
            </a:r>
            <a:br>
              <a:rPr lang="es-PE" sz="3000" dirty="0"/>
            </a:br>
            <a:r>
              <a:rPr lang="es-PE" sz="2800" dirty="0"/>
              <a:t>¿Qué técnica básica se usa para corregir errores sistemáticos?</a:t>
            </a:r>
            <a:endParaRPr lang="es-PE" sz="3000" dirty="0"/>
          </a:p>
        </p:txBody>
      </p:sp>
      <p:pic>
        <p:nvPicPr>
          <p:cNvPr id="10" name="Marcador de posición de imagen 9">
            <a:extLst>
              <a:ext uri="{FF2B5EF4-FFF2-40B4-BE49-F238E27FC236}">
                <a16:creationId xmlns:a16="http://schemas.microsoft.com/office/drawing/2014/main" id="{FEDCB06D-9403-8B93-1DEF-96E807C36DBB}"/>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0716F01C-0185-A552-845D-52AD35C62C64}"/>
              </a:ext>
            </a:extLst>
          </p:cNvPr>
          <p:cNvSpPr txBox="1">
            <a:spLocks/>
          </p:cNvSpPr>
          <p:nvPr/>
        </p:nvSpPr>
        <p:spPr>
          <a:xfrm>
            <a:off x="4518786" y="3581400"/>
            <a:ext cx="6682614"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a:t>
            </a:r>
          </a:p>
          <a:p>
            <a:pPr marL="0" indent="0">
              <a:buNone/>
            </a:pPr>
            <a:r>
              <a:rPr lang="es-PE" sz="2400" dirty="0"/>
              <a:t>La calibración periódica con patrones de referencia.</a:t>
            </a:r>
          </a:p>
        </p:txBody>
      </p:sp>
      <p:sp>
        <p:nvSpPr>
          <p:cNvPr id="5" name="Título 4">
            <a:extLst>
              <a:ext uri="{FF2B5EF4-FFF2-40B4-BE49-F238E27FC236}">
                <a16:creationId xmlns:a16="http://schemas.microsoft.com/office/drawing/2014/main" id="{7778C51F-47FA-53B5-1FBB-87844DAB5C3A}"/>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382245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D2B7-B1DD-54B0-C997-340371BFD696}"/>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1E84DAB4-BBCC-9A49-6EE5-9EFB985E294D}"/>
              </a:ext>
            </a:extLst>
          </p:cNvPr>
          <p:cNvSpPr>
            <a:spLocks noGrp="1"/>
          </p:cNvSpPr>
          <p:nvPr>
            <p:ph idx="1"/>
          </p:nvPr>
        </p:nvSpPr>
        <p:spPr>
          <a:xfrm>
            <a:off x="4518786" y="1316442"/>
            <a:ext cx="6454013" cy="1960158"/>
          </a:xfrm>
        </p:spPr>
        <p:txBody>
          <a:bodyPr>
            <a:normAutofit/>
          </a:bodyPr>
          <a:lstStyle/>
          <a:p>
            <a:r>
              <a:rPr lang="es-PE" sz="3000" b="1" dirty="0"/>
              <a:t>Pregunta 2:</a:t>
            </a:r>
            <a:br>
              <a:rPr lang="es-PE" sz="3000" dirty="0"/>
            </a:br>
            <a:r>
              <a:rPr lang="es-PE" sz="2800" dirty="0"/>
              <a:t>Si un sensor de posición presenta mucho ruido en lecturas, ¿qué técnica de procesamiento aplicarías?</a:t>
            </a:r>
            <a:endParaRPr lang="es-PE" sz="3000" dirty="0"/>
          </a:p>
        </p:txBody>
      </p:sp>
      <p:pic>
        <p:nvPicPr>
          <p:cNvPr id="10" name="Marcador de posición de imagen 9">
            <a:extLst>
              <a:ext uri="{FF2B5EF4-FFF2-40B4-BE49-F238E27FC236}">
                <a16:creationId xmlns:a16="http://schemas.microsoft.com/office/drawing/2014/main" id="{C28F1245-AA19-81BC-B79F-AC07E6A36D83}"/>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0DEC1E5A-96BA-27D5-545A-68E293E5062A}"/>
              </a:ext>
            </a:extLst>
          </p:cNvPr>
          <p:cNvSpPr txBox="1">
            <a:spLocks/>
          </p:cNvSpPr>
          <p:nvPr/>
        </p:nvSpPr>
        <p:spPr>
          <a:xfrm>
            <a:off x="4518786" y="3581400"/>
            <a:ext cx="6682614"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a:t>
            </a:r>
          </a:p>
          <a:p>
            <a:pPr marL="0" indent="0">
              <a:buNone/>
            </a:pPr>
            <a:r>
              <a:rPr lang="es-PE" sz="2400" dirty="0"/>
              <a:t>Un filtro digital (media móvil, Kalman) para suavizar los dato.</a:t>
            </a:r>
          </a:p>
        </p:txBody>
      </p:sp>
      <p:sp>
        <p:nvSpPr>
          <p:cNvPr id="5" name="Título 4">
            <a:extLst>
              <a:ext uri="{FF2B5EF4-FFF2-40B4-BE49-F238E27FC236}">
                <a16:creationId xmlns:a16="http://schemas.microsoft.com/office/drawing/2014/main" id="{67FAA44B-E712-02DB-1360-DAF46FF14E32}"/>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2509919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32A4C-973B-BA3F-1FBD-3465036BDD3F}"/>
            </a:ext>
          </a:extLst>
        </p:cNvPr>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350A1167-399E-2D4E-CCD0-5D010BB82725}"/>
              </a:ext>
            </a:extLst>
          </p:cNvPr>
          <p:cNvSpPr>
            <a:spLocks noGrp="1"/>
          </p:cNvSpPr>
          <p:nvPr>
            <p:ph idx="1"/>
          </p:nvPr>
        </p:nvSpPr>
        <p:spPr>
          <a:xfrm>
            <a:off x="4518786" y="1316442"/>
            <a:ext cx="6454013" cy="1960158"/>
          </a:xfrm>
        </p:spPr>
        <p:txBody>
          <a:bodyPr>
            <a:normAutofit/>
          </a:bodyPr>
          <a:lstStyle/>
          <a:p>
            <a:r>
              <a:rPr lang="es-PE" sz="3000" b="1" dirty="0"/>
              <a:t>Pregunta 3:</a:t>
            </a:r>
            <a:br>
              <a:rPr lang="es-PE" sz="3000" dirty="0"/>
            </a:br>
            <a:r>
              <a:rPr lang="es-PE" sz="2800" dirty="0"/>
              <a:t>¿Es posible diseñar un sistema de medición “sin errores”?</a:t>
            </a:r>
            <a:endParaRPr lang="es-PE" sz="3000" dirty="0"/>
          </a:p>
        </p:txBody>
      </p:sp>
      <p:pic>
        <p:nvPicPr>
          <p:cNvPr id="10" name="Marcador de posición de imagen 9">
            <a:extLst>
              <a:ext uri="{FF2B5EF4-FFF2-40B4-BE49-F238E27FC236}">
                <a16:creationId xmlns:a16="http://schemas.microsoft.com/office/drawing/2014/main" id="{664E4AFB-ADD0-50F9-A0D9-259FAB9EFD15}"/>
              </a:ext>
            </a:extLst>
          </p:cNvPr>
          <p:cNvPicPr>
            <a:picLocks noGrp="1" noChangeAspect="1"/>
          </p:cNvPicPr>
          <p:nvPr>
            <p:ph type="pic" idx="10"/>
          </p:nvPr>
        </p:nvPicPr>
        <p:blipFill>
          <a:blip r:embed="rId2">
            <a:extLst>
              <a:ext uri="{28A0092B-C50C-407E-A947-70E740481C1C}">
                <a14:useLocalDpi xmlns:a14="http://schemas.microsoft.com/office/drawing/2010/main" val="0"/>
              </a:ext>
            </a:extLst>
          </a:blip>
          <a:srcRect l="13922" r="13922"/>
          <a:stretch>
            <a:fillRect/>
          </a:stretch>
        </p:blipFill>
        <p:spPr/>
      </p:pic>
      <p:sp>
        <p:nvSpPr>
          <p:cNvPr id="7" name="Marcador de contenido 3">
            <a:extLst>
              <a:ext uri="{FF2B5EF4-FFF2-40B4-BE49-F238E27FC236}">
                <a16:creationId xmlns:a16="http://schemas.microsoft.com/office/drawing/2014/main" id="{1A101A20-8DD6-E791-4CEA-C58286232DAA}"/>
              </a:ext>
            </a:extLst>
          </p:cNvPr>
          <p:cNvSpPr txBox="1">
            <a:spLocks/>
          </p:cNvSpPr>
          <p:nvPr/>
        </p:nvSpPr>
        <p:spPr>
          <a:xfrm>
            <a:off x="4518786" y="3581400"/>
            <a:ext cx="6682614" cy="2535237"/>
          </a:xfrm>
          <a:prstGeom prst="rect">
            <a:avLst/>
          </a:prstGeom>
        </p:spPr>
        <p:txBody>
          <a:bodyPr vert="horz" lIns="91440" tIns="45720" rIns="91440" bIns="45720" rtlCol="0">
            <a:norm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s-PE" sz="2400" b="1" dirty="0"/>
              <a:t>Respuesta:</a:t>
            </a:r>
            <a:r>
              <a:rPr lang="es-PE" sz="2400" dirty="0"/>
              <a:t> </a:t>
            </a:r>
          </a:p>
          <a:p>
            <a:pPr marL="0" indent="0">
              <a:buNone/>
            </a:pPr>
            <a:r>
              <a:rPr lang="es-PE" sz="2400" dirty="0"/>
              <a:t>No, porque toda medición tiene incertidumbre inherente; lo correcto es reducirla a niveles aceptables para la aplicación.</a:t>
            </a:r>
          </a:p>
        </p:txBody>
      </p:sp>
      <p:sp>
        <p:nvSpPr>
          <p:cNvPr id="5" name="Título 4">
            <a:extLst>
              <a:ext uri="{FF2B5EF4-FFF2-40B4-BE49-F238E27FC236}">
                <a16:creationId xmlns:a16="http://schemas.microsoft.com/office/drawing/2014/main" id="{396CD374-D7B6-D3D9-0851-1A8EA3532567}"/>
              </a:ext>
            </a:extLst>
          </p:cNvPr>
          <p:cNvSpPr>
            <a:spLocks noGrp="1"/>
          </p:cNvSpPr>
          <p:nvPr>
            <p:ph type="title"/>
          </p:nvPr>
        </p:nvSpPr>
        <p:spPr/>
        <p:txBody>
          <a:bodyPr/>
          <a:lstStyle/>
          <a:p>
            <a:r>
              <a:rPr lang="es-PE" dirty="0"/>
              <a:t>Practica:</a:t>
            </a:r>
          </a:p>
        </p:txBody>
      </p:sp>
    </p:spTree>
    <p:extLst>
      <p:ext uri="{BB962C8B-B14F-4D97-AF65-F5344CB8AC3E}">
        <p14:creationId xmlns:p14="http://schemas.microsoft.com/office/powerpoint/2010/main" val="293146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63D3520-FE6F-B949-7141-C8E0B85AC481}"/>
            </a:ext>
          </a:extLst>
        </p:cNvPr>
        <p:cNvGrpSpPr/>
        <p:nvPr/>
      </p:nvGrpSpPr>
      <p:grpSpPr>
        <a:xfrm>
          <a:off x="0" y="0"/>
          <a:ext cx="0" cy="0"/>
          <a:chOff x="0" y="0"/>
          <a:chExt cx="0" cy="0"/>
        </a:xfrm>
      </p:grpSpPr>
      <p:pic>
        <p:nvPicPr>
          <p:cNvPr id="3" name="Marcador de contenido 2">
            <a:extLst>
              <a:ext uri="{FF2B5EF4-FFF2-40B4-BE49-F238E27FC236}">
                <a16:creationId xmlns:a16="http://schemas.microsoft.com/office/drawing/2014/main" id="{99819E6A-E453-D24F-2B1E-1AED62367BEA}"/>
              </a:ext>
            </a:extLst>
          </p:cNvPr>
          <p:cNvPicPr>
            <a:picLocks noGrp="1" noChangeAspect="1"/>
          </p:cNvPicPr>
          <p:nvPr>
            <p:ph idx="1"/>
          </p:nvPr>
        </p:nvPicPr>
        <p:blipFill>
          <a:blip r:embed="rId2"/>
          <a:stretch>
            <a:fillRect/>
          </a:stretch>
        </p:blipFill>
        <p:spPr>
          <a:xfrm>
            <a:off x="93044" y="1093569"/>
            <a:ext cx="6019800" cy="4670862"/>
          </a:xfrm>
          <a:prstGeom prst="rect">
            <a:avLst/>
          </a:prstGeom>
        </p:spPr>
      </p:pic>
      <p:sp>
        <p:nvSpPr>
          <p:cNvPr id="4" name="Título 3">
            <a:extLst>
              <a:ext uri="{FF2B5EF4-FFF2-40B4-BE49-F238E27FC236}">
                <a16:creationId xmlns:a16="http://schemas.microsoft.com/office/drawing/2014/main" id="{AD665F64-2291-FF75-9A89-421B1DB264FE}"/>
              </a:ext>
            </a:extLst>
          </p:cNvPr>
          <p:cNvSpPr>
            <a:spLocks noGrp="1"/>
          </p:cNvSpPr>
          <p:nvPr>
            <p:ph type="title"/>
          </p:nvPr>
        </p:nvSpPr>
        <p:spPr/>
        <p:txBody>
          <a:bodyPr/>
          <a:lstStyle/>
          <a:p>
            <a:r>
              <a:rPr lang="es-PE" dirty="0"/>
              <a:t>En practica lo aprendido</a:t>
            </a:r>
          </a:p>
        </p:txBody>
      </p:sp>
      <p:pic>
        <p:nvPicPr>
          <p:cNvPr id="5" name="Imagen 4">
            <a:extLst>
              <a:ext uri="{FF2B5EF4-FFF2-40B4-BE49-F238E27FC236}">
                <a16:creationId xmlns:a16="http://schemas.microsoft.com/office/drawing/2014/main" id="{E087D6CD-1DC9-AD31-48E9-6138D079D5EE}"/>
              </a:ext>
            </a:extLst>
          </p:cNvPr>
          <p:cNvPicPr>
            <a:picLocks noChangeAspect="1"/>
          </p:cNvPicPr>
          <p:nvPr/>
        </p:nvPicPr>
        <p:blipFill>
          <a:blip r:embed="rId3"/>
          <a:srcRect l="7636" r="7084"/>
          <a:stretch>
            <a:fillRect/>
          </a:stretch>
        </p:blipFill>
        <p:spPr>
          <a:xfrm>
            <a:off x="5791200" y="2133600"/>
            <a:ext cx="5486400" cy="3910526"/>
          </a:xfrm>
          <a:prstGeom prst="rect">
            <a:avLst/>
          </a:prstGeom>
        </p:spPr>
      </p:pic>
    </p:spTree>
    <p:extLst>
      <p:ext uri="{BB962C8B-B14F-4D97-AF65-F5344CB8AC3E}">
        <p14:creationId xmlns:p14="http://schemas.microsoft.com/office/powerpoint/2010/main" val="25452848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E97E4-0357-5594-23BE-917DF695F421}"/>
            </a:ext>
          </a:extLst>
        </p:cNvPr>
        <p:cNvGrpSpPr/>
        <p:nvPr/>
      </p:nvGrpSpPr>
      <p:grpSpPr>
        <a:xfrm>
          <a:off x="0" y="0"/>
          <a:ext cx="0" cy="0"/>
          <a:chOff x="0" y="0"/>
          <a:chExt cx="0" cy="0"/>
        </a:xfrm>
      </p:grpSpPr>
      <p:sp>
        <p:nvSpPr>
          <p:cNvPr id="3" name="Título 2">
            <a:extLst>
              <a:ext uri="{FF2B5EF4-FFF2-40B4-BE49-F238E27FC236}">
                <a16:creationId xmlns:a16="http://schemas.microsoft.com/office/drawing/2014/main" id="{3379F2F8-089E-B53B-2BCB-48BD30DC0554}"/>
              </a:ext>
            </a:extLst>
          </p:cNvPr>
          <p:cNvSpPr>
            <a:spLocks noGrp="1"/>
          </p:cNvSpPr>
          <p:nvPr>
            <p:ph type="title"/>
          </p:nvPr>
        </p:nvSpPr>
        <p:spPr>
          <a:xfrm>
            <a:off x="457200" y="143473"/>
            <a:ext cx="10515600" cy="720001"/>
          </a:xfrm>
          <a:prstGeom prst="rect">
            <a:avLst/>
          </a:prstGeom>
        </p:spPr>
        <p:txBody>
          <a:bodyPr/>
          <a:lstStyle/>
          <a:p>
            <a:r>
              <a:rPr lang="es-PE" dirty="0"/>
              <a:t>Conclusiones</a:t>
            </a:r>
          </a:p>
        </p:txBody>
      </p:sp>
      <p:sp>
        <p:nvSpPr>
          <p:cNvPr id="4" name="Marcador de contenido 3">
            <a:extLst>
              <a:ext uri="{FF2B5EF4-FFF2-40B4-BE49-F238E27FC236}">
                <a16:creationId xmlns:a16="http://schemas.microsoft.com/office/drawing/2014/main" id="{E61DF2C5-A434-8D25-F78B-00F660C58EB4}"/>
              </a:ext>
            </a:extLst>
          </p:cNvPr>
          <p:cNvSpPr>
            <a:spLocks noGrp="1"/>
          </p:cNvSpPr>
          <p:nvPr>
            <p:ph idx="1"/>
          </p:nvPr>
        </p:nvSpPr>
        <p:spPr/>
        <p:txBody>
          <a:bodyPr>
            <a:normAutofit fontScale="92500"/>
          </a:bodyPr>
          <a:lstStyle/>
          <a:p>
            <a:pPr marL="514350" indent="-514350">
              <a:buFont typeface="+mj-lt"/>
              <a:buAutoNum type="arabicParenR"/>
            </a:pPr>
            <a:r>
              <a:rPr lang="es-PE" dirty="0"/>
              <a:t>____________________________________________________________________________________________</a:t>
            </a:r>
          </a:p>
          <a:p>
            <a:pPr marL="514350" indent="-514350">
              <a:buFont typeface="+mj-lt"/>
              <a:buAutoNum type="arabicParenR"/>
            </a:pPr>
            <a:endParaRPr lang="es-PE" dirty="0"/>
          </a:p>
          <a:p>
            <a:pPr marL="514350" indent="-514350">
              <a:buFont typeface="+mj-lt"/>
              <a:buAutoNum type="arabicParenR"/>
            </a:pPr>
            <a:r>
              <a:rPr lang="es-PE" dirty="0"/>
              <a:t>____________________________________________________________________________________________</a:t>
            </a:r>
          </a:p>
          <a:p>
            <a:pPr marL="514350" indent="-514350">
              <a:buFont typeface="+mj-lt"/>
              <a:buAutoNum type="arabicParenR"/>
            </a:pPr>
            <a:endParaRPr lang="es-PE" dirty="0"/>
          </a:p>
          <a:p>
            <a:pPr marL="514350" indent="-514350">
              <a:buFont typeface="+mj-lt"/>
              <a:buAutoNum type="arabicParenR"/>
            </a:pPr>
            <a:r>
              <a:rPr lang="es-PE" dirty="0"/>
              <a:t>____________________________________________________________________________________________</a:t>
            </a:r>
          </a:p>
        </p:txBody>
      </p:sp>
    </p:spTree>
    <p:extLst>
      <p:ext uri="{BB962C8B-B14F-4D97-AF65-F5344CB8AC3E}">
        <p14:creationId xmlns:p14="http://schemas.microsoft.com/office/powerpoint/2010/main" val="792509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E63AE8C6-C7EF-DC89-13C8-4A851C209FA8}"/>
              </a:ext>
            </a:extLst>
          </p:cNvPr>
          <p:cNvSpPr>
            <a:spLocks noGrp="1"/>
          </p:cNvSpPr>
          <p:nvPr>
            <p:ph type="ctrTitle"/>
          </p:nvPr>
        </p:nvSpPr>
        <p:spPr/>
        <p:txBody>
          <a:bodyPr/>
          <a:lstStyle/>
          <a:p>
            <a:r>
              <a:rPr lang="es-PE" dirty="0"/>
              <a:t>GRACIAS</a:t>
            </a:r>
          </a:p>
        </p:txBody>
      </p:sp>
      <p:sp>
        <p:nvSpPr>
          <p:cNvPr id="9" name="Subtítulo 8">
            <a:extLst>
              <a:ext uri="{FF2B5EF4-FFF2-40B4-BE49-F238E27FC236}">
                <a16:creationId xmlns:a16="http://schemas.microsoft.com/office/drawing/2014/main" id="{3D8D3E45-CD25-EE7B-1A56-5B419B888B17}"/>
              </a:ext>
            </a:extLst>
          </p:cNvPr>
          <p:cNvSpPr>
            <a:spLocks noGrp="1"/>
          </p:cNvSpPr>
          <p:nvPr>
            <p:ph type="subTitle" idx="1"/>
          </p:nvPr>
        </p:nvSpPr>
        <p:spPr/>
        <p:txBody>
          <a:bodyPr/>
          <a:lstStyle/>
          <a:p>
            <a:pPr marL="915797" marR="936140">
              <a:lnSpc>
                <a:spcPts val="1939"/>
              </a:lnSpc>
            </a:pPr>
            <a:r>
              <a:rPr lang="es-PE" spc="-1" dirty="0">
                <a:latin typeface="Arial"/>
                <a:cs typeface="Arial"/>
              </a:rPr>
              <a:t>Facultad de Ingeniería</a:t>
            </a:r>
            <a:endParaRPr lang="es-PE" dirty="0">
              <a:latin typeface="Arial"/>
              <a:cs typeface="Arial"/>
            </a:endParaRPr>
          </a:p>
          <a:p>
            <a:pPr>
              <a:lnSpc>
                <a:spcPct val="95825"/>
              </a:lnSpc>
            </a:pPr>
            <a:r>
              <a:rPr lang="es-PE" spc="-3" dirty="0">
                <a:latin typeface="Arial"/>
                <a:cs typeface="Arial"/>
              </a:rPr>
              <a:t>Departamento Académico de Electrónica</a:t>
            </a:r>
            <a:endParaRPr lang="es-PE" dirty="0">
              <a:latin typeface="Arial"/>
              <a:cs typeface="Arial"/>
            </a:endParaRPr>
          </a:p>
          <a:p>
            <a:endParaRPr lang="es-PE"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827EA46-E95E-45F0-9D63-A1A08817010F}"/>
              </a:ext>
            </a:extLst>
          </p:cNvPr>
          <p:cNvSpPr txBox="1"/>
          <p:nvPr/>
        </p:nvSpPr>
        <p:spPr>
          <a:xfrm rot="17510059">
            <a:off x="3021496" y="2517912"/>
            <a:ext cx="808382" cy="523220"/>
          </a:xfrm>
          <a:prstGeom prst="rect">
            <a:avLst/>
          </a:prstGeom>
          <a:noFill/>
        </p:spPr>
        <p:txBody>
          <a:bodyPr wrap="square" rtlCol="0">
            <a:spAutoFit/>
          </a:bodyPr>
          <a:lstStyle/>
          <a:p>
            <a:pPr algn="ctr"/>
            <a:r>
              <a:rPr lang="es-MX" sz="2800" b="1" dirty="0">
                <a:solidFill>
                  <a:schemeClr val="bg1"/>
                </a:solidFill>
              </a:rPr>
              <a:t>1</a:t>
            </a:r>
            <a:endParaRPr lang="es-CL" sz="2800" b="1" dirty="0">
              <a:solidFill>
                <a:schemeClr val="bg1"/>
              </a:solidFill>
            </a:endParaRPr>
          </a:p>
        </p:txBody>
      </p:sp>
      <p:pic>
        <p:nvPicPr>
          <p:cNvPr id="15" name="Imagen 14">
            <a:extLst>
              <a:ext uri="{FF2B5EF4-FFF2-40B4-BE49-F238E27FC236}">
                <a16:creationId xmlns:a16="http://schemas.microsoft.com/office/drawing/2014/main" id="{30487D73-858D-45F8-8BD2-61355E5E3A13}"/>
              </a:ext>
            </a:extLst>
          </p:cNvPr>
          <p:cNvPicPr>
            <a:picLocks noChangeAspect="1"/>
          </p:cNvPicPr>
          <p:nvPr/>
        </p:nvPicPr>
        <p:blipFill rotWithShape="1">
          <a:blip r:embed="rId2"/>
          <a:srcRect l="17549" r="17903"/>
          <a:stretch/>
        </p:blipFill>
        <p:spPr>
          <a:xfrm>
            <a:off x="452551" y="1061416"/>
            <a:ext cx="4582987" cy="4735167"/>
          </a:xfrm>
          <a:prstGeom prst="rect">
            <a:avLst/>
          </a:prstGeom>
        </p:spPr>
      </p:pic>
      <p:sp>
        <p:nvSpPr>
          <p:cNvPr id="16" name="GIRAR">
            <a:extLst>
              <a:ext uri="{FF2B5EF4-FFF2-40B4-BE49-F238E27FC236}">
                <a16:creationId xmlns:a16="http://schemas.microsoft.com/office/drawing/2014/main" id="{3BBAD306-B3A7-4CF4-8C01-0120F88F068F}"/>
              </a:ext>
            </a:extLst>
          </p:cNvPr>
          <p:cNvSpPr/>
          <p:nvPr/>
        </p:nvSpPr>
        <p:spPr>
          <a:xfrm>
            <a:off x="2427495" y="5937659"/>
            <a:ext cx="1949270" cy="750118"/>
          </a:xfrm>
          <a:prstGeom prst="roundRect">
            <a:avLst/>
          </a:prstGeom>
          <a:solidFill>
            <a:srgbClr val="00B0F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Girar</a:t>
            </a:r>
            <a:endParaRPr lang="es-CL" dirty="0"/>
          </a:p>
        </p:txBody>
      </p:sp>
      <p:sp>
        <p:nvSpPr>
          <p:cNvPr id="17" name="Flecha: hacia la izquierda 16">
            <a:extLst>
              <a:ext uri="{FF2B5EF4-FFF2-40B4-BE49-F238E27FC236}">
                <a16:creationId xmlns:a16="http://schemas.microsoft.com/office/drawing/2014/main" id="{93E65E6B-854B-4966-A362-8B0D92578025}"/>
              </a:ext>
            </a:extLst>
          </p:cNvPr>
          <p:cNvSpPr/>
          <p:nvPr/>
        </p:nvSpPr>
        <p:spPr>
          <a:xfrm rot="2577182" flipH="1">
            <a:off x="255121" y="859297"/>
            <a:ext cx="982074" cy="1307916"/>
          </a:xfrm>
          <a:prstGeom prst="leftArrow">
            <a:avLst/>
          </a:prstGeom>
          <a:solidFill>
            <a:srgbClr val="FF0000"/>
          </a:solidFill>
          <a:ln w="2857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8" name="1">
            <a:hlinkClick r:id="rId3" action="ppaction://hlinksldjump"/>
            <a:extLst>
              <a:ext uri="{FF2B5EF4-FFF2-40B4-BE49-F238E27FC236}">
                <a16:creationId xmlns:a16="http://schemas.microsoft.com/office/drawing/2014/main" id="{37DBAB94-9CCF-49FD-A752-74C1C4344F5E}"/>
              </a:ext>
            </a:extLst>
          </p:cNvPr>
          <p:cNvSpPr/>
          <p:nvPr/>
        </p:nvSpPr>
        <p:spPr>
          <a:xfrm>
            <a:off x="445345" y="170223"/>
            <a:ext cx="480700" cy="529800"/>
          </a:xfrm>
          <a:prstGeom prst="roundRect">
            <a:avLst/>
          </a:prstGeom>
          <a:solidFill>
            <a:srgbClr val="264478"/>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600" b="1" dirty="0"/>
              <a:t>1</a:t>
            </a:r>
            <a:endParaRPr lang="es-CL" sz="3600" b="1" dirty="0"/>
          </a:p>
        </p:txBody>
      </p:sp>
      <p:sp>
        <p:nvSpPr>
          <p:cNvPr id="19" name="2">
            <a:hlinkClick r:id="rId4" action="ppaction://hlinksldjump"/>
            <a:extLst>
              <a:ext uri="{FF2B5EF4-FFF2-40B4-BE49-F238E27FC236}">
                <a16:creationId xmlns:a16="http://schemas.microsoft.com/office/drawing/2014/main" id="{F6350F56-A768-4F59-AA92-03E540B69E30}"/>
              </a:ext>
            </a:extLst>
          </p:cNvPr>
          <p:cNvSpPr/>
          <p:nvPr/>
        </p:nvSpPr>
        <p:spPr>
          <a:xfrm>
            <a:off x="991445" y="170223"/>
            <a:ext cx="480700" cy="529800"/>
          </a:xfrm>
          <a:prstGeom prst="roundRect">
            <a:avLst/>
          </a:prstGeom>
          <a:solidFill>
            <a:srgbClr val="9E480E"/>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600" b="1" dirty="0"/>
              <a:t>2</a:t>
            </a:r>
            <a:endParaRPr lang="es-CL" sz="3600" b="1" dirty="0"/>
          </a:p>
        </p:txBody>
      </p:sp>
      <p:sp>
        <p:nvSpPr>
          <p:cNvPr id="20" name="3">
            <a:hlinkClick r:id="rId5" action="ppaction://hlinksldjump"/>
            <a:extLst>
              <a:ext uri="{FF2B5EF4-FFF2-40B4-BE49-F238E27FC236}">
                <a16:creationId xmlns:a16="http://schemas.microsoft.com/office/drawing/2014/main" id="{7020E704-1086-4DF8-BC2E-BBFF6371F455}"/>
              </a:ext>
            </a:extLst>
          </p:cNvPr>
          <p:cNvSpPr/>
          <p:nvPr/>
        </p:nvSpPr>
        <p:spPr>
          <a:xfrm>
            <a:off x="1601045" y="170223"/>
            <a:ext cx="480700" cy="529800"/>
          </a:xfrm>
          <a:prstGeom prst="roundRect">
            <a:avLst/>
          </a:prstGeom>
          <a:solidFill>
            <a:srgbClr val="4472C4"/>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600" b="1" dirty="0"/>
              <a:t>3</a:t>
            </a:r>
            <a:endParaRPr lang="es-CL" sz="3600" b="1" dirty="0"/>
          </a:p>
        </p:txBody>
      </p:sp>
      <p:sp>
        <p:nvSpPr>
          <p:cNvPr id="21" name="4">
            <a:hlinkClick r:id="rId6" action="ppaction://hlinksldjump"/>
            <a:extLst>
              <a:ext uri="{FF2B5EF4-FFF2-40B4-BE49-F238E27FC236}">
                <a16:creationId xmlns:a16="http://schemas.microsoft.com/office/drawing/2014/main" id="{D614A8B1-B86D-418C-AD28-414A09761F09}"/>
              </a:ext>
            </a:extLst>
          </p:cNvPr>
          <p:cNvSpPr/>
          <p:nvPr/>
        </p:nvSpPr>
        <p:spPr>
          <a:xfrm>
            <a:off x="2187145" y="170223"/>
            <a:ext cx="480700" cy="529800"/>
          </a:xfrm>
          <a:prstGeom prst="roundRect">
            <a:avLst/>
          </a:prstGeom>
          <a:solidFill>
            <a:srgbClr val="ED7D3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600" b="1" dirty="0"/>
              <a:t>4</a:t>
            </a:r>
            <a:endParaRPr lang="es-CL" sz="3600" b="1" dirty="0"/>
          </a:p>
        </p:txBody>
      </p:sp>
      <p:sp>
        <p:nvSpPr>
          <p:cNvPr id="22" name="5">
            <a:hlinkClick r:id="rId7" action="ppaction://hlinksldjump"/>
            <a:extLst>
              <a:ext uri="{FF2B5EF4-FFF2-40B4-BE49-F238E27FC236}">
                <a16:creationId xmlns:a16="http://schemas.microsoft.com/office/drawing/2014/main" id="{52250CDD-9892-4DFE-A75D-5C7FBDA0FA34}"/>
              </a:ext>
            </a:extLst>
          </p:cNvPr>
          <p:cNvSpPr/>
          <p:nvPr/>
        </p:nvSpPr>
        <p:spPr>
          <a:xfrm>
            <a:off x="2744045" y="163023"/>
            <a:ext cx="480700" cy="529800"/>
          </a:xfrm>
          <a:prstGeom prst="roundRect">
            <a:avLst/>
          </a:prstGeom>
          <a:solidFill>
            <a:srgbClr val="A5A5A5"/>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600" b="1" dirty="0"/>
              <a:t>5</a:t>
            </a:r>
            <a:endParaRPr lang="es-CL" sz="3600" b="1" dirty="0"/>
          </a:p>
        </p:txBody>
      </p:sp>
      <p:sp>
        <p:nvSpPr>
          <p:cNvPr id="23" name="6">
            <a:hlinkClick r:id="rId8" action="ppaction://hlinksldjump"/>
            <a:extLst>
              <a:ext uri="{FF2B5EF4-FFF2-40B4-BE49-F238E27FC236}">
                <a16:creationId xmlns:a16="http://schemas.microsoft.com/office/drawing/2014/main" id="{85D09BD6-D18F-4940-8610-CDE12E29E906}"/>
              </a:ext>
            </a:extLst>
          </p:cNvPr>
          <p:cNvSpPr/>
          <p:nvPr/>
        </p:nvSpPr>
        <p:spPr>
          <a:xfrm>
            <a:off x="3290145" y="163023"/>
            <a:ext cx="480700" cy="529800"/>
          </a:xfrm>
          <a:prstGeom prst="roundRect">
            <a:avLst/>
          </a:prstGeom>
          <a:solidFill>
            <a:srgbClr val="FFC0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600" b="1" dirty="0"/>
              <a:t>6</a:t>
            </a:r>
            <a:endParaRPr lang="es-CL" sz="3600" b="1" dirty="0"/>
          </a:p>
        </p:txBody>
      </p:sp>
      <p:sp>
        <p:nvSpPr>
          <p:cNvPr id="24" name="7">
            <a:hlinkClick r:id="rId9" action="ppaction://hlinksldjump"/>
            <a:extLst>
              <a:ext uri="{FF2B5EF4-FFF2-40B4-BE49-F238E27FC236}">
                <a16:creationId xmlns:a16="http://schemas.microsoft.com/office/drawing/2014/main" id="{0691266F-CFC6-4DF9-A0DF-69EADC51871C}"/>
              </a:ext>
            </a:extLst>
          </p:cNvPr>
          <p:cNvSpPr/>
          <p:nvPr/>
        </p:nvSpPr>
        <p:spPr>
          <a:xfrm>
            <a:off x="3899745" y="163023"/>
            <a:ext cx="480700" cy="529800"/>
          </a:xfrm>
          <a:prstGeom prst="roundRect">
            <a:avLst/>
          </a:prstGeom>
          <a:solidFill>
            <a:srgbClr val="5B9BD5"/>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600" b="1" dirty="0"/>
              <a:t>7</a:t>
            </a:r>
            <a:endParaRPr lang="es-CL" sz="3600" b="1" dirty="0"/>
          </a:p>
        </p:txBody>
      </p:sp>
      <p:sp>
        <p:nvSpPr>
          <p:cNvPr id="25" name="8">
            <a:hlinkClick r:id="rId10" action="ppaction://hlinksldjump"/>
            <a:extLst>
              <a:ext uri="{FF2B5EF4-FFF2-40B4-BE49-F238E27FC236}">
                <a16:creationId xmlns:a16="http://schemas.microsoft.com/office/drawing/2014/main" id="{AE73D79A-B46C-49E0-85BC-4949FFC01E89}"/>
              </a:ext>
            </a:extLst>
          </p:cNvPr>
          <p:cNvSpPr/>
          <p:nvPr/>
        </p:nvSpPr>
        <p:spPr>
          <a:xfrm>
            <a:off x="4485845" y="163023"/>
            <a:ext cx="480700" cy="529800"/>
          </a:xfrm>
          <a:prstGeom prst="roundRect">
            <a:avLst/>
          </a:prstGeom>
          <a:solidFill>
            <a:srgbClr val="70AD47"/>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3600" b="1" dirty="0"/>
              <a:t>8</a:t>
            </a:r>
            <a:endParaRPr lang="es-CL" sz="3600" b="1" dirty="0"/>
          </a:p>
        </p:txBody>
      </p:sp>
      <p:sp>
        <p:nvSpPr>
          <p:cNvPr id="26" name="REINICIAR JUEGO">
            <a:hlinkClick r:id="rId11" action="ppaction://hlinksldjump"/>
            <a:extLst>
              <a:ext uri="{FF2B5EF4-FFF2-40B4-BE49-F238E27FC236}">
                <a16:creationId xmlns:a16="http://schemas.microsoft.com/office/drawing/2014/main" id="{6BEA8C86-56CD-458E-9942-55C0D847A1CB}"/>
              </a:ext>
            </a:extLst>
          </p:cNvPr>
          <p:cNvSpPr/>
          <p:nvPr/>
        </p:nvSpPr>
        <p:spPr>
          <a:xfrm>
            <a:off x="228600" y="5906291"/>
            <a:ext cx="1949270" cy="750118"/>
          </a:xfrm>
          <a:prstGeom prst="roundRect">
            <a:avLst/>
          </a:prstGeom>
          <a:solidFill>
            <a:schemeClr val="accent1"/>
          </a:solidFill>
          <a:ln w="57150">
            <a:solidFill>
              <a:schemeClr val="bg1"/>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Reiniciar juego</a:t>
            </a:r>
            <a:endParaRPr lang="es-CL" dirty="0"/>
          </a:p>
        </p:txBody>
      </p:sp>
      <p:graphicFrame>
        <p:nvGraphicFramePr>
          <p:cNvPr id="6" name="Tabla 5">
            <a:extLst>
              <a:ext uri="{FF2B5EF4-FFF2-40B4-BE49-F238E27FC236}">
                <a16:creationId xmlns:a16="http://schemas.microsoft.com/office/drawing/2014/main" id="{492D9EA2-7C8F-8C03-53F7-BD65BD567733}"/>
              </a:ext>
            </a:extLst>
          </p:cNvPr>
          <p:cNvGraphicFramePr>
            <a:graphicFrameLocks noGrp="1"/>
          </p:cNvGraphicFramePr>
          <p:nvPr>
            <p:extLst>
              <p:ext uri="{D42A27DB-BD31-4B8C-83A1-F6EECF244321}">
                <p14:modId xmlns:p14="http://schemas.microsoft.com/office/powerpoint/2010/main" val="2158006493"/>
              </p:ext>
            </p:extLst>
          </p:nvPr>
        </p:nvGraphicFramePr>
        <p:xfrm>
          <a:off x="5315452" y="412683"/>
          <a:ext cx="6876548" cy="3166993"/>
        </p:xfrm>
        <a:graphic>
          <a:graphicData uri="http://schemas.openxmlformats.org/drawingml/2006/table">
            <a:tbl>
              <a:tblPr>
                <a:tableStyleId>{6E25E649-3F16-4E02-A733-19D2CDBF48F0}</a:tableStyleId>
              </a:tblPr>
              <a:tblGrid>
                <a:gridCol w="432876">
                  <a:extLst>
                    <a:ext uri="{9D8B030D-6E8A-4147-A177-3AD203B41FA5}">
                      <a16:colId xmlns:a16="http://schemas.microsoft.com/office/drawing/2014/main" val="555114397"/>
                    </a:ext>
                  </a:extLst>
                </a:gridCol>
                <a:gridCol w="2856983">
                  <a:extLst>
                    <a:ext uri="{9D8B030D-6E8A-4147-A177-3AD203B41FA5}">
                      <a16:colId xmlns:a16="http://schemas.microsoft.com/office/drawing/2014/main" val="3364780800"/>
                    </a:ext>
                  </a:extLst>
                </a:gridCol>
                <a:gridCol w="729706">
                  <a:extLst>
                    <a:ext uri="{9D8B030D-6E8A-4147-A177-3AD203B41FA5}">
                      <a16:colId xmlns:a16="http://schemas.microsoft.com/office/drawing/2014/main" val="3575683726"/>
                    </a:ext>
                  </a:extLst>
                </a:gridCol>
                <a:gridCol w="2856983">
                  <a:extLst>
                    <a:ext uri="{9D8B030D-6E8A-4147-A177-3AD203B41FA5}">
                      <a16:colId xmlns:a16="http://schemas.microsoft.com/office/drawing/2014/main" val="2137656618"/>
                    </a:ext>
                  </a:extLst>
                </a:gridCol>
              </a:tblGrid>
              <a:tr h="255093">
                <a:tc>
                  <a:txBody>
                    <a:bodyPr/>
                    <a:lstStyle/>
                    <a:p>
                      <a:pPr algn="ctr" fontAlgn="b">
                        <a:buNone/>
                      </a:pPr>
                      <a:r>
                        <a:rPr lang="es-PE" sz="1800" b="1" u="none" strike="noStrike">
                          <a:effectLst/>
                        </a:rPr>
                        <a:t>ID</a:t>
                      </a:r>
                      <a:endParaRPr lang="es-PE" sz="1800" b="1" i="0" u="none" strike="noStrike">
                        <a:solidFill>
                          <a:srgbClr val="FFFFFF"/>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800" b="1" u="none" strike="noStrike">
                          <a:effectLst/>
                        </a:rPr>
                        <a:t>Apellidos y Nombres</a:t>
                      </a:r>
                      <a:endParaRPr lang="es-PE" sz="1800" b="1" i="0" u="none" strike="noStrike">
                        <a:solidFill>
                          <a:srgbClr val="FFFFFF"/>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s-PE" sz="1800" b="1" u="none" strike="noStrike">
                          <a:effectLst/>
                        </a:rPr>
                        <a:t>ID2</a:t>
                      </a:r>
                      <a:endParaRPr lang="es-PE" sz="1800" b="1" i="0" u="none" strike="noStrike">
                        <a:solidFill>
                          <a:srgbClr val="FFFFFF"/>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s-PE" sz="1800" b="1" u="none" strike="noStrike" dirty="0">
                          <a:effectLst/>
                        </a:rPr>
                        <a:t>Apellidos y Nombres2</a:t>
                      </a:r>
                      <a:endParaRPr lang="es-PE" sz="1800" b="1" i="0" u="none" strike="noStrike" dirty="0">
                        <a:solidFill>
                          <a:srgbClr val="FFFFFF"/>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8717400"/>
                  </a:ext>
                </a:extLst>
              </a:tr>
              <a:tr h="255093">
                <a:tc>
                  <a:txBody>
                    <a:bodyPr/>
                    <a:lstStyle/>
                    <a:p>
                      <a:pPr algn="ctr" fontAlgn="b">
                        <a:buNone/>
                      </a:pPr>
                      <a:r>
                        <a:rPr lang="es-PE" sz="1800" u="none" strike="noStrike">
                          <a:effectLst/>
                        </a:rPr>
                        <a:t>1</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r>
                        <a:rPr lang="es-PE" sz="1400" u="none" strike="noStrike">
                          <a:effectLst/>
                        </a:rPr>
                        <a:t>AGUERO HURTADO ISAAC JUNIOR</a:t>
                      </a:r>
                      <a:endParaRPr lang="es-PE" sz="1400" b="0" i="0" u="none" strike="noStrike">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s-PE" sz="1800" u="none" strike="noStrike">
                          <a:effectLst/>
                        </a:rPr>
                        <a:t>1</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400" u="none" strike="noStrike" dirty="0" err="1">
                          <a:effectLst/>
                        </a:rPr>
                        <a:t>FELIX</a:t>
                      </a:r>
                      <a:r>
                        <a:rPr lang="es-PE" sz="1400" u="none" strike="noStrike" dirty="0">
                          <a:effectLst/>
                        </a:rPr>
                        <a:t> FIGUEROA FERNANDO</a:t>
                      </a:r>
                      <a:endParaRPr lang="es-PE" sz="14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7466057"/>
                  </a:ext>
                </a:extLst>
              </a:tr>
              <a:tr h="436942">
                <a:tc>
                  <a:txBody>
                    <a:bodyPr/>
                    <a:lstStyle/>
                    <a:p>
                      <a:pPr algn="ctr" fontAlgn="b">
                        <a:buNone/>
                      </a:pPr>
                      <a:r>
                        <a:rPr lang="es-PE" sz="1800" u="none" strike="noStrike" dirty="0">
                          <a:effectLst/>
                        </a:rPr>
                        <a:t>2</a:t>
                      </a:r>
                      <a:endParaRPr lang="es-PE"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endParaRPr lang="es-PE" sz="1400" u="none" strike="noStrike" dirty="0">
                        <a:effectLst/>
                      </a:endParaRPr>
                    </a:p>
                    <a:p>
                      <a:pPr algn="l" fontAlgn="t">
                        <a:buNone/>
                      </a:pPr>
                      <a:r>
                        <a:rPr lang="es-PE" sz="1400" u="none" strike="noStrike" dirty="0">
                          <a:effectLst/>
                        </a:rPr>
                        <a:t>ALVARADO PURIZACA NALLELY</a:t>
                      </a:r>
                      <a:endParaRPr lang="es-PE" sz="14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s-PE" sz="1800" u="none" strike="noStrike">
                          <a:effectLst/>
                        </a:rPr>
                        <a:t>2</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400" u="none" strike="noStrike" dirty="0">
                          <a:effectLst/>
                        </a:rPr>
                        <a:t>HINOSTROZA </a:t>
                      </a:r>
                      <a:r>
                        <a:rPr lang="es-PE" sz="1400" u="none" strike="noStrike" dirty="0" err="1">
                          <a:effectLst/>
                        </a:rPr>
                        <a:t>CARDENAS</a:t>
                      </a:r>
                      <a:r>
                        <a:rPr lang="es-PE" sz="1400" u="none" strike="noStrike" dirty="0">
                          <a:effectLst/>
                        </a:rPr>
                        <a:t> </a:t>
                      </a:r>
                      <a:r>
                        <a:rPr lang="es-PE" sz="1400" u="none" strike="noStrike" dirty="0" err="1">
                          <a:effectLst/>
                        </a:rPr>
                        <a:t>DEEPARK</a:t>
                      </a:r>
                      <a:r>
                        <a:rPr lang="es-PE" sz="1400" u="none" strike="noStrike" dirty="0">
                          <a:effectLst/>
                        </a:rPr>
                        <a:t> KENNY</a:t>
                      </a:r>
                      <a:endParaRPr lang="es-PE"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6157473"/>
                  </a:ext>
                </a:extLst>
              </a:tr>
              <a:tr h="436942">
                <a:tc>
                  <a:txBody>
                    <a:bodyPr/>
                    <a:lstStyle/>
                    <a:p>
                      <a:pPr algn="ctr" fontAlgn="b">
                        <a:buNone/>
                      </a:pPr>
                      <a:r>
                        <a:rPr lang="es-PE" sz="1800" u="none" strike="noStrike">
                          <a:effectLst/>
                        </a:rPr>
                        <a:t>3</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endParaRPr lang="es-PE" sz="1400" u="none" strike="noStrike" dirty="0">
                        <a:effectLst/>
                      </a:endParaRPr>
                    </a:p>
                    <a:p>
                      <a:pPr algn="l" fontAlgn="t">
                        <a:buNone/>
                      </a:pPr>
                      <a:r>
                        <a:rPr lang="es-PE" sz="1400" u="none" strike="noStrike" dirty="0" err="1">
                          <a:effectLst/>
                        </a:rPr>
                        <a:t>BENDEZU</a:t>
                      </a:r>
                      <a:r>
                        <a:rPr lang="es-PE" sz="1400" u="none" strike="noStrike" dirty="0">
                          <a:effectLst/>
                        </a:rPr>
                        <a:t> </a:t>
                      </a:r>
                      <a:r>
                        <a:rPr lang="es-PE" sz="1400" u="none" strike="noStrike" dirty="0" err="1">
                          <a:effectLst/>
                        </a:rPr>
                        <a:t>CACERES</a:t>
                      </a:r>
                      <a:r>
                        <a:rPr lang="es-PE" sz="1400" u="none" strike="noStrike" dirty="0">
                          <a:effectLst/>
                        </a:rPr>
                        <a:t> RENZO MANUEL</a:t>
                      </a:r>
                      <a:endParaRPr lang="es-PE" sz="14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s-PE" sz="1800" u="none" strike="noStrike">
                          <a:effectLst/>
                        </a:rPr>
                        <a:t>3</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400" u="none" strike="noStrike">
                          <a:effectLst/>
                        </a:rPr>
                        <a:t>HUNGARO MELGAREJO JUAN JOSE</a:t>
                      </a:r>
                      <a:endParaRPr lang="es-PE" sz="14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934715"/>
                  </a:ext>
                </a:extLst>
              </a:tr>
              <a:tr h="255093">
                <a:tc>
                  <a:txBody>
                    <a:bodyPr/>
                    <a:lstStyle/>
                    <a:p>
                      <a:pPr algn="ctr" fontAlgn="b">
                        <a:buNone/>
                      </a:pPr>
                      <a:r>
                        <a:rPr lang="es-PE" sz="1800" u="none" strike="noStrike">
                          <a:effectLst/>
                        </a:rPr>
                        <a:t>4</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r>
                        <a:rPr lang="it-IT" sz="1400" u="none" strike="noStrike" dirty="0">
                          <a:effectLst/>
                        </a:rPr>
                        <a:t>BUJAICO SOTO JEAN PIERRE FABIANO</a:t>
                      </a:r>
                      <a:endParaRPr lang="it-IT" sz="14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s-PE" sz="1800" u="none" strike="noStrike">
                          <a:effectLst/>
                        </a:rPr>
                        <a:t>4</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400" u="none" strike="noStrike">
                          <a:effectLst/>
                        </a:rPr>
                        <a:t>ISPILCO HERNANDEZ JIMMY LARRY</a:t>
                      </a:r>
                      <a:endParaRPr lang="es-PE" sz="14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1915674"/>
                  </a:ext>
                </a:extLst>
              </a:tr>
              <a:tr h="255093">
                <a:tc>
                  <a:txBody>
                    <a:bodyPr/>
                    <a:lstStyle/>
                    <a:p>
                      <a:pPr algn="ctr" fontAlgn="b">
                        <a:buNone/>
                      </a:pPr>
                      <a:r>
                        <a:rPr lang="es-PE" sz="1800" u="none" strike="noStrike">
                          <a:effectLst/>
                        </a:rPr>
                        <a:t>5</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r>
                        <a:rPr lang="es-PE" sz="1400" u="none" strike="noStrike" dirty="0" err="1">
                          <a:effectLst/>
                        </a:rPr>
                        <a:t>CAJUSOL</a:t>
                      </a:r>
                      <a:r>
                        <a:rPr lang="es-PE" sz="1400" u="none" strike="noStrike" dirty="0">
                          <a:effectLst/>
                        </a:rPr>
                        <a:t> CHAPOÑAN ISMAEL OSCAR</a:t>
                      </a:r>
                      <a:endParaRPr lang="es-PE" sz="14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s-PE" sz="1800" u="none" strike="noStrike">
                          <a:effectLst/>
                        </a:rPr>
                        <a:t>5</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400" u="none" strike="noStrike" dirty="0" err="1">
                          <a:effectLst/>
                        </a:rPr>
                        <a:t>LOPEZ</a:t>
                      </a:r>
                      <a:r>
                        <a:rPr lang="es-PE" sz="1400" u="none" strike="noStrike" dirty="0">
                          <a:effectLst/>
                        </a:rPr>
                        <a:t> ARIAS </a:t>
                      </a:r>
                      <a:r>
                        <a:rPr lang="es-PE" sz="1400" u="none" strike="noStrike" dirty="0" err="1">
                          <a:effectLst/>
                        </a:rPr>
                        <a:t>HEIDY</a:t>
                      </a:r>
                      <a:r>
                        <a:rPr lang="es-PE" sz="1400" u="none" strike="noStrike" dirty="0">
                          <a:effectLst/>
                        </a:rPr>
                        <a:t> </a:t>
                      </a:r>
                      <a:r>
                        <a:rPr lang="es-PE" sz="1400" u="none" strike="noStrike" dirty="0" err="1">
                          <a:effectLst/>
                        </a:rPr>
                        <a:t>ROCIO</a:t>
                      </a:r>
                      <a:endParaRPr lang="es-PE"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1014838"/>
                  </a:ext>
                </a:extLst>
              </a:tr>
              <a:tr h="436942">
                <a:tc>
                  <a:txBody>
                    <a:bodyPr/>
                    <a:lstStyle/>
                    <a:p>
                      <a:pPr algn="ctr" fontAlgn="b">
                        <a:buNone/>
                      </a:pPr>
                      <a:r>
                        <a:rPr lang="es-PE" sz="1800" u="none" strike="noStrike">
                          <a:effectLst/>
                        </a:rPr>
                        <a:t>6</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r>
                        <a:rPr lang="es-PE" sz="1400" u="none" strike="noStrike" dirty="0">
                          <a:effectLst/>
                        </a:rPr>
                        <a:t>CARRANZA ROJAS LUIS GERARDO</a:t>
                      </a:r>
                      <a:endParaRPr lang="es-PE" sz="1400" b="0" i="0" u="none" strike="noStrike" dirty="0">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s-PE" sz="1800" u="none" strike="noStrike">
                          <a:effectLst/>
                        </a:rPr>
                        <a:t>6</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400" u="none" strike="noStrike" dirty="0" err="1">
                          <a:effectLst/>
                        </a:rPr>
                        <a:t>MARROQUIN</a:t>
                      </a:r>
                      <a:r>
                        <a:rPr lang="es-PE" sz="1400" u="none" strike="noStrike" dirty="0">
                          <a:effectLst/>
                        </a:rPr>
                        <a:t> DENEGRI-CORNEJO ISRAEL</a:t>
                      </a:r>
                      <a:endParaRPr lang="es-PE"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3124996"/>
                  </a:ext>
                </a:extLst>
              </a:tr>
              <a:tr h="255093">
                <a:tc>
                  <a:txBody>
                    <a:bodyPr/>
                    <a:lstStyle/>
                    <a:p>
                      <a:pPr algn="ctr" fontAlgn="b">
                        <a:buNone/>
                      </a:pPr>
                      <a:r>
                        <a:rPr lang="es-PE" sz="1800" u="none" strike="noStrike">
                          <a:effectLst/>
                        </a:rPr>
                        <a:t>7</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r>
                        <a:rPr lang="es-PE" sz="1400" u="none" strike="noStrike">
                          <a:effectLst/>
                        </a:rPr>
                        <a:t>CONDORI SALAZAR JUAN HERSON</a:t>
                      </a:r>
                      <a:endParaRPr lang="es-PE" sz="1400" b="0" i="0" u="none" strike="noStrike">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s-PE" sz="1800" u="none" strike="noStrike">
                          <a:effectLst/>
                        </a:rPr>
                        <a:t>7</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400" u="none" strike="noStrike">
                          <a:effectLst/>
                        </a:rPr>
                        <a:t>PALOMINO CHULLUNCUY DIEGO LUIS</a:t>
                      </a:r>
                      <a:endParaRPr lang="es-PE" sz="14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496520"/>
                  </a:ext>
                </a:extLst>
              </a:tr>
              <a:tr h="436942">
                <a:tc>
                  <a:txBody>
                    <a:bodyPr/>
                    <a:lstStyle/>
                    <a:p>
                      <a:pPr algn="ctr" fontAlgn="b">
                        <a:buNone/>
                      </a:pPr>
                      <a:r>
                        <a:rPr lang="es-PE" sz="1800" u="none" strike="noStrike">
                          <a:effectLst/>
                        </a:rPr>
                        <a:t>8</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r>
                        <a:rPr lang="es-PE" sz="1400" u="none" strike="noStrike">
                          <a:effectLst/>
                        </a:rPr>
                        <a:t>CONTRERAS FARFAN RENATO GONZALO</a:t>
                      </a:r>
                      <a:endParaRPr lang="es-PE" sz="1400" b="0" i="0" u="none" strike="noStrike">
                        <a:solidFill>
                          <a:srgbClr val="000000"/>
                        </a:solidFill>
                        <a:effectLst/>
                        <a:latin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s-PE" sz="1800" u="none" strike="noStrike">
                          <a:effectLst/>
                        </a:rPr>
                        <a:t>8</a:t>
                      </a:r>
                      <a:endParaRPr lang="es-PE"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400" u="none" strike="noStrike" dirty="0" err="1">
                          <a:effectLst/>
                        </a:rPr>
                        <a:t>PEREZ</a:t>
                      </a:r>
                      <a:r>
                        <a:rPr lang="es-PE" sz="1400" u="none" strike="noStrike" dirty="0">
                          <a:effectLst/>
                        </a:rPr>
                        <a:t> </a:t>
                      </a:r>
                      <a:r>
                        <a:rPr lang="es-PE" sz="1400" u="none" strike="noStrike" dirty="0" err="1">
                          <a:effectLst/>
                        </a:rPr>
                        <a:t>AVILA</a:t>
                      </a:r>
                      <a:r>
                        <a:rPr lang="es-PE" sz="1400" u="none" strike="noStrike" dirty="0">
                          <a:effectLst/>
                        </a:rPr>
                        <a:t> KENNETH RICHARD</a:t>
                      </a:r>
                      <a:endParaRPr lang="es-PE" sz="14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1643262"/>
                  </a:ext>
                </a:extLst>
              </a:tr>
            </a:tbl>
          </a:graphicData>
        </a:graphic>
      </p:graphicFrame>
      <p:graphicFrame>
        <p:nvGraphicFramePr>
          <p:cNvPr id="7" name="Tabla 6">
            <a:extLst>
              <a:ext uri="{FF2B5EF4-FFF2-40B4-BE49-F238E27FC236}">
                <a16:creationId xmlns:a16="http://schemas.microsoft.com/office/drawing/2014/main" id="{8AFEFF6F-CC82-010B-4F3E-677E724A2F4A}"/>
              </a:ext>
            </a:extLst>
          </p:cNvPr>
          <p:cNvGraphicFramePr>
            <a:graphicFrameLocks noGrp="1"/>
          </p:cNvGraphicFramePr>
          <p:nvPr>
            <p:extLst>
              <p:ext uri="{D42A27DB-BD31-4B8C-83A1-F6EECF244321}">
                <p14:modId xmlns:p14="http://schemas.microsoft.com/office/powerpoint/2010/main" val="2290037084"/>
              </p:ext>
            </p:extLst>
          </p:nvPr>
        </p:nvGraphicFramePr>
        <p:xfrm>
          <a:off x="6324600" y="3776052"/>
          <a:ext cx="4724400" cy="2895597"/>
        </p:xfrm>
        <a:graphic>
          <a:graphicData uri="http://schemas.openxmlformats.org/drawingml/2006/table">
            <a:tbl>
              <a:tblPr>
                <a:tableStyleId>{9D7B26C5-4107-4FEC-AEDC-1716B250A1EF}</a:tableStyleId>
              </a:tblPr>
              <a:tblGrid>
                <a:gridCol w="998111">
                  <a:extLst>
                    <a:ext uri="{9D8B030D-6E8A-4147-A177-3AD203B41FA5}">
                      <a16:colId xmlns:a16="http://schemas.microsoft.com/office/drawing/2014/main" val="1602777274"/>
                    </a:ext>
                  </a:extLst>
                </a:gridCol>
                <a:gridCol w="3726289">
                  <a:extLst>
                    <a:ext uri="{9D8B030D-6E8A-4147-A177-3AD203B41FA5}">
                      <a16:colId xmlns:a16="http://schemas.microsoft.com/office/drawing/2014/main" val="1986998704"/>
                    </a:ext>
                  </a:extLst>
                </a:gridCol>
              </a:tblGrid>
              <a:tr h="321733">
                <a:tc>
                  <a:txBody>
                    <a:bodyPr/>
                    <a:lstStyle/>
                    <a:p>
                      <a:pPr algn="ctr" fontAlgn="b">
                        <a:buNone/>
                      </a:pPr>
                      <a:r>
                        <a:rPr lang="es-PE" sz="1800" b="1" u="none" strike="noStrike" dirty="0">
                          <a:effectLst/>
                          <a:latin typeface="+mn-lt"/>
                        </a:rPr>
                        <a:t>ID3</a:t>
                      </a:r>
                      <a:endParaRPr lang="es-PE" sz="1800" b="1" i="0" u="none" strike="noStrike" dirty="0">
                        <a:solidFill>
                          <a:srgbClr val="FFFFFF"/>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800" b="1" u="none" strike="noStrike" dirty="0">
                          <a:effectLst/>
                          <a:latin typeface="+mn-lt"/>
                        </a:rPr>
                        <a:t>Apellidos y Nombres3</a:t>
                      </a:r>
                      <a:endParaRPr lang="es-PE" sz="1800" b="1" i="0" u="none" strike="noStrike" dirty="0">
                        <a:solidFill>
                          <a:srgbClr val="FFFFFF"/>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116096"/>
                  </a:ext>
                </a:extLst>
              </a:tr>
              <a:tr h="321733">
                <a:tc>
                  <a:txBody>
                    <a:bodyPr/>
                    <a:lstStyle/>
                    <a:p>
                      <a:pPr algn="ctr" fontAlgn="b">
                        <a:buNone/>
                      </a:pPr>
                      <a:r>
                        <a:rPr lang="es-PE" sz="1800" u="none" strike="noStrike" dirty="0">
                          <a:effectLst/>
                          <a:latin typeface="+mn-lt"/>
                        </a:rPr>
                        <a:t>1</a:t>
                      </a:r>
                      <a:endParaRPr lang="es-PE"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800" u="none" strike="noStrike" dirty="0">
                          <a:effectLst/>
                          <a:latin typeface="+mn-lt"/>
                        </a:rPr>
                        <a:t>QUIN </a:t>
                      </a:r>
                      <a:r>
                        <a:rPr lang="es-PE" sz="1800" u="none" strike="noStrike" dirty="0" err="1">
                          <a:effectLst/>
                          <a:latin typeface="+mn-lt"/>
                        </a:rPr>
                        <a:t>CELIZ</a:t>
                      </a:r>
                      <a:r>
                        <a:rPr lang="es-PE" sz="1800" u="none" strike="noStrike" dirty="0">
                          <a:effectLst/>
                          <a:latin typeface="+mn-lt"/>
                        </a:rPr>
                        <a:t> </a:t>
                      </a:r>
                      <a:r>
                        <a:rPr lang="es-PE" sz="1800" u="none" strike="noStrike" dirty="0" err="1">
                          <a:effectLst/>
                          <a:latin typeface="+mn-lt"/>
                        </a:rPr>
                        <a:t>HECTOR</a:t>
                      </a:r>
                      <a:r>
                        <a:rPr lang="es-PE" sz="1800" u="none" strike="noStrike" dirty="0">
                          <a:effectLst/>
                          <a:latin typeface="+mn-lt"/>
                        </a:rPr>
                        <a:t> HUGO</a:t>
                      </a:r>
                      <a:endParaRPr lang="es-PE"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7613778"/>
                  </a:ext>
                </a:extLst>
              </a:tr>
              <a:tr h="321733">
                <a:tc>
                  <a:txBody>
                    <a:bodyPr/>
                    <a:lstStyle/>
                    <a:p>
                      <a:pPr algn="ctr" fontAlgn="b">
                        <a:buNone/>
                      </a:pPr>
                      <a:r>
                        <a:rPr lang="es-PE" sz="1800" u="none" strike="noStrike">
                          <a:effectLst/>
                          <a:latin typeface="+mn-lt"/>
                        </a:rPr>
                        <a:t>2</a:t>
                      </a:r>
                      <a:endParaRPr lang="es-PE"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800" u="none" strike="noStrike" dirty="0">
                          <a:effectLst/>
                          <a:latin typeface="+mn-lt"/>
                        </a:rPr>
                        <a:t>ROJAS </a:t>
                      </a:r>
                      <a:r>
                        <a:rPr lang="es-PE" sz="1800" u="none" strike="noStrike" dirty="0" err="1">
                          <a:effectLst/>
                          <a:latin typeface="+mn-lt"/>
                        </a:rPr>
                        <a:t>IDONE</a:t>
                      </a:r>
                      <a:r>
                        <a:rPr lang="es-PE" sz="1800" u="none" strike="noStrike" dirty="0">
                          <a:effectLst/>
                          <a:latin typeface="+mn-lt"/>
                        </a:rPr>
                        <a:t> PIERO JESUS</a:t>
                      </a:r>
                      <a:endParaRPr lang="es-PE"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5512085"/>
                  </a:ext>
                </a:extLst>
              </a:tr>
              <a:tr h="321733">
                <a:tc>
                  <a:txBody>
                    <a:bodyPr/>
                    <a:lstStyle/>
                    <a:p>
                      <a:pPr algn="ctr" fontAlgn="b">
                        <a:buNone/>
                      </a:pPr>
                      <a:r>
                        <a:rPr lang="es-PE" sz="1800" u="none" strike="noStrike">
                          <a:effectLst/>
                          <a:latin typeface="+mn-lt"/>
                        </a:rPr>
                        <a:t>3</a:t>
                      </a:r>
                      <a:endParaRPr lang="es-PE"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800" u="none" strike="noStrike" dirty="0">
                          <a:effectLst/>
                          <a:latin typeface="+mn-lt"/>
                        </a:rPr>
                        <a:t>SALDARRIAGA </a:t>
                      </a:r>
                      <a:r>
                        <a:rPr lang="es-PE" sz="1800" u="none" strike="noStrike" dirty="0" err="1">
                          <a:effectLst/>
                          <a:latin typeface="+mn-lt"/>
                        </a:rPr>
                        <a:t>YANGALI</a:t>
                      </a:r>
                      <a:r>
                        <a:rPr lang="es-PE" sz="1800" u="none" strike="noStrike" dirty="0">
                          <a:effectLst/>
                          <a:latin typeface="+mn-lt"/>
                        </a:rPr>
                        <a:t> JUAN DIEGO</a:t>
                      </a:r>
                      <a:endParaRPr lang="es-PE"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0289498"/>
                  </a:ext>
                </a:extLst>
              </a:tr>
              <a:tr h="321733">
                <a:tc>
                  <a:txBody>
                    <a:bodyPr/>
                    <a:lstStyle/>
                    <a:p>
                      <a:pPr algn="ctr" fontAlgn="b">
                        <a:buNone/>
                      </a:pPr>
                      <a:r>
                        <a:rPr lang="es-PE" sz="1800" u="none" strike="noStrike">
                          <a:effectLst/>
                          <a:latin typeface="+mn-lt"/>
                        </a:rPr>
                        <a:t>4</a:t>
                      </a:r>
                      <a:endParaRPr lang="es-PE"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800" u="none" strike="noStrike" dirty="0">
                          <a:effectLst/>
                          <a:latin typeface="+mn-lt"/>
                        </a:rPr>
                        <a:t>SANCHEZ ROBLADILLO CRISTHIAN</a:t>
                      </a:r>
                      <a:endParaRPr lang="es-PE"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387566"/>
                  </a:ext>
                </a:extLst>
              </a:tr>
              <a:tr h="321733">
                <a:tc>
                  <a:txBody>
                    <a:bodyPr/>
                    <a:lstStyle/>
                    <a:p>
                      <a:pPr algn="ctr" fontAlgn="b">
                        <a:buNone/>
                      </a:pPr>
                      <a:r>
                        <a:rPr lang="es-PE" sz="1800" u="none" strike="noStrike">
                          <a:effectLst/>
                          <a:latin typeface="+mn-lt"/>
                        </a:rPr>
                        <a:t>5</a:t>
                      </a:r>
                      <a:endParaRPr lang="es-PE"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800" u="none" strike="noStrike" dirty="0">
                          <a:effectLst/>
                          <a:latin typeface="+mn-lt"/>
                        </a:rPr>
                        <a:t>TRUJILLO NOLASCO JAIME </a:t>
                      </a:r>
                      <a:r>
                        <a:rPr lang="es-PE" sz="1800" u="none" strike="noStrike" dirty="0" err="1">
                          <a:effectLst/>
                          <a:latin typeface="+mn-lt"/>
                        </a:rPr>
                        <a:t>YONEL</a:t>
                      </a:r>
                      <a:endParaRPr lang="es-PE"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8610345"/>
                  </a:ext>
                </a:extLst>
              </a:tr>
              <a:tr h="321733">
                <a:tc>
                  <a:txBody>
                    <a:bodyPr/>
                    <a:lstStyle/>
                    <a:p>
                      <a:pPr algn="ctr" fontAlgn="b">
                        <a:buNone/>
                      </a:pPr>
                      <a:r>
                        <a:rPr lang="es-PE" sz="1800" u="none" strike="noStrike">
                          <a:effectLst/>
                          <a:latin typeface="+mn-lt"/>
                        </a:rPr>
                        <a:t>6</a:t>
                      </a:r>
                      <a:endParaRPr lang="es-PE"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800" u="none" strike="noStrike" dirty="0">
                          <a:effectLst/>
                          <a:latin typeface="+mn-lt"/>
                        </a:rPr>
                        <a:t>VALVERDE SALVADOR JADE SAMIRA</a:t>
                      </a:r>
                      <a:endParaRPr lang="es-PE"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2507103"/>
                  </a:ext>
                </a:extLst>
              </a:tr>
              <a:tr h="321733">
                <a:tc>
                  <a:txBody>
                    <a:bodyPr/>
                    <a:lstStyle/>
                    <a:p>
                      <a:pPr algn="ctr" fontAlgn="b">
                        <a:buNone/>
                      </a:pPr>
                      <a:r>
                        <a:rPr lang="es-PE" sz="1800" u="none" strike="noStrike">
                          <a:effectLst/>
                          <a:latin typeface="+mn-lt"/>
                        </a:rPr>
                        <a:t>7</a:t>
                      </a:r>
                      <a:endParaRPr lang="es-PE"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s-PE" sz="1800" u="none" strike="noStrike" dirty="0">
                          <a:effectLst/>
                          <a:latin typeface="+mn-lt"/>
                        </a:rPr>
                        <a:t>VELARDE </a:t>
                      </a:r>
                      <a:r>
                        <a:rPr lang="es-PE" sz="1800" u="none" strike="noStrike" dirty="0" err="1">
                          <a:effectLst/>
                          <a:latin typeface="+mn-lt"/>
                        </a:rPr>
                        <a:t>ARONI</a:t>
                      </a:r>
                      <a:r>
                        <a:rPr lang="es-PE" sz="1800" u="none" strike="noStrike" dirty="0">
                          <a:effectLst/>
                          <a:latin typeface="+mn-lt"/>
                        </a:rPr>
                        <a:t> KEVIN ANDERSON</a:t>
                      </a:r>
                      <a:endParaRPr lang="es-PE"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4604323"/>
                  </a:ext>
                </a:extLst>
              </a:tr>
              <a:tr h="321733">
                <a:tc>
                  <a:txBody>
                    <a:bodyPr/>
                    <a:lstStyle/>
                    <a:p>
                      <a:pPr algn="ctr" fontAlgn="b">
                        <a:buNone/>
                      </a:pPr>
                      <a:r>
                        <a:rPr lang="es-PE" sz="1800" u="none" strike="noStrike">
                          <a:effectLst/>
                          <a:latin typeface="+mn-lt"/>
                        </a:rPr>
                        <a:t>8</a:t>
                      </a:r>
                      <a:endParaRPr lang="es-PE"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endParaRPr lang="es-PE"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2821800"/>
                  </a:ext>
                </a:extLst>
              </a:tr>
            </a:tbl>
          </a:graphicData>
        </a:graphic>
      </p:graphicFrame>
      <p:sp>
        <p:nvSpPr>
          <p:cNvPr id="8" name="Rectángulo 7">
            <a:hlinkClick r:id="" action="ppaction://hlinkshowjump?jump=previousslide"/>
            <a:extLst>
              <a:ext uri="{FF2B5EF4-FFF2-40B4-BE49-F238E27FC236}">
                <a16:creationId xmlns:a16="http://schemas.microsoft.com/office/drawing/2014/main" id="{6E00FBD8-C04F-23BB-1AD2-7FF7A56E4B14}"/>
              </a:ext>
            </a:extLst>
          </p:cNvPr>
          <p:cNvSpPr/>
          <p:nvPr/>
        </p:nvSpPr>
        <p:spPr>
          <a:xfrm>
            <a:off x="5035538" y="5410200"/>
            <a:ext cx="831863" cy="12462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68046222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8" presetClass="emph" presetSubtype="0" repeatCount="indefinite" fill="hold" nodeType="withEffect">
                                  <p:stCondLst>
                                    <p:cond delay="0"/>
                                  </p:stCondLst>
                                  <p:endCondLst>
                                    <p:cond evt="onNext" delay="0">
                                      <p:tgtEl>
                                        <p:sldTgt/>
                                      </p:tgtEl>
                                    </p:cond>
                                  </p:endCondLst>
                                  <p:childTnLst>
                                    <p:animRot by="21600000">
                                      <p:cBhvr>
                                        <p:cTn id="6" dur="500" fill="hold"/>
                                        <p:tgtEl>
                                          <p:spTgt spid="15"/>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nextCondLst>
                <p:cond evt="onClick" delay="0">
                  <p:tgtEl>
                    <p:spTgt spid="16"/>
                  </p:tgtEl>
                </p:cond>
              </p:nextCondLst>
            </p:seq>
            <p:seq concurrent="1" nextAc="seek">
              <p:cTn id="11" restart="whenNotActive" fill="hold" evtFilter="cancelBubble" nodeType="interactiveSeq">
                <p:stCondLst>
                  <p:cond evt="onClick" delay="0">
                    <p:tgtEl>
                      <p:spTgt spid="18"/>
                    </p:tgtEl>
                  </p:cond>
                </p:stCondLst>
                <p:endSync evt="end" delay="0">
                  <p:rtn val="all"/>
                </p:endSync>
                <p:childTnLst>
                  <p:par>
                    <p:cTn id="12" fill="hold">
                      <p:stCondLst>
                        <p:cond delay="0"/>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16" restart="whenNotActive" fill="hold" evtFilter="cancelBubble" nodeType="interactiveSeq">
                <p:stCondLst>
                  <p:cond evt="onClick" delay="0">
                    <p:tgtEl>
                      <p:spTgt spid="19"/>
                    </p:tgtEl>
                  </p:cond>
                </p:stCondLst>
                <p:endSync evt="end" delay="0">
                  <p:rtn val="all"/>
                </p:endSync>
                <p:childTnLst>
                  <p:par>
                    <p:cTn id="17" fill="hold">
                      <p:stCondLst>
                        <p:cond delay="0"/>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21" restart="whenNotActive" fill="hold" evtFilter="cancelBubble" nodeType="interactiveSeq">
                <p:stCondLst>
                  <p:cond evt="onClick" delay="0">
                    <p:tgtEl>
                      <p:spTgt spid="20"/>
                    </p:tgtEl>
                  </p:cond>
                </p:stCondLst>
                <p:endSync evt="end" delay="0">
                  <p:rtn val="all"/>
                </p:endSync>
                <p:childTnLst>
                  <p:par>
                    <p:cTn id="22" fill="hold">
                      <p:stCondLst>
                        <p:cond delay="0"/>
                      </p:stCondLst>
                      <p:childTnLst>
                        <p:par>
                          <p:cTn id="23" fill="hold">
                            <p:stCondLst>
                              <p:cond delay="0"/>
                            </p:stCondLst>
                            <p:childTnLst>
                              <p:par>
                                <p:cTn id="24" presetID="1" presetClass="exit"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26" restart="whenNotActive" fill="hold" evtFilter="cancelBubble" nodeType="interactiveSeq">
                <p:stCondLst>
                  <p:cond evt="onClick" delay="0">
                    <p:tgtEl>
                      <p:spTgt spid="21"/>
                    </p:tgtEl>
                  </p:cond>
                </p:stCondLst>
                <p:endSync evt="end" delay="0">
                  <p:rtn val="all"/>
                </p:endSync>
                <p:childTnLst>
                  <p:par>
                    <p:cTn id="27" fill="hold">
                      <p:stCondLst>
                        <p:cond delay="0"/>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31" restart="whenNotActive" fill="hold" evtFilter="cancelBubble" nodeType="interactiveSeq">
                <p:stCondLst>
                  <p:cond evt="onClick" delay="0">
                    <p:tgtEl>
                      <p:spTgt spid="22"/>
                    </p:tgtEl>
                  </p:cond>
                </p:stCondLst>
                <p:endSync evt="end" delay="0">
                  <p:rtn val="all"/>
                </p:endSync>
                <p:childTnLst>
                  <p:par>
                    <p:cTn id="32" fill="hold">
                      <p:stCondLst>
                        <p:cond delay="0"/>
                      </p:stCondLst>
                      <p:childTnLst>
                        <p:par>
                          <p:cTn id="33" fill="hold">
                            <p:stCondLst>
                              <p:cond delay="0"/>
                            </p:stCondLst>
                            <p:childTnLst>
                              <p:par>
                                <p:cTn id="34" presetID="1" presetClass="exit" presetSubtype="0" fill="hold" grpId="0" nodeType="clickEffect">
                                  <p:stCondLst>
                                    <p:cond delay="0"/>
                                  </p:stCondLst>
                                  <p:childTnLst>
                                    <p:set>
                                      <p:cBhvr>
                                        <p:cTn id="35" dur="1" fill="hold">
                                          <p:stCondLst>
                                            <p:cond delay="0"/>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36" restart="whenNotActive" fill="hold" evtFilter="cancelBubble" nodeType="interactiveSeq">
                <p:stCondLst>
                  <p:cond evt="onClick" delay="0">
                    <p:tgtEl>
                      <p:spTgt spid="23"/>
                    </p:tgtEl>
                  </p:cond>
                </p:stCondLst>
                <p:endSync evt="end" delay="0">
                  <p:rtn val="all"/>
                </p:endSync>
                <p:childTnLst>
                  <p:par>
                    <p:cTn id="37" fill="hold">
                      <p:stCondLst>
                        <p:cond delay="0"/>
                      </p:stCondLst>
                      <p:childTnLst>
                        <p:par>
                          <p:cTn id="38" fill="hold">
                            <p:stCondLst>
                              <p:cond delay="0"/>
                            </p:stCondLst>
                            <p:childTnLst>
                              <p:par>
                                <p:cTn id="39" presetID="1" presetClass="exit"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seq concurrent="1" nextAc="seek">
              <p:cTn id="41" restart="whenNotActive" fill="hold" evtFilter="cancelBubble" nodeType="interactiveSeq">
                <p:stCondLst>
                  <p:cond evt="onClick" delay="0">
                    <p:tgtEl>
                      <p:spTgt spid="24"/>
                    </p:tgtEl>
                  </p:cond>
                </p:stCondLst>
                <p:endSync evt="end" delay="0">
                  <p:rtn val="all"/>
                </p:endSync>
                <p:childTnLst>
                  <p:par>
                    <p:cTn id="42" fill="hold">
                      <p:stCondLst>
                        <p:cond delay="0"/>
                      </p:stCondLst>
                      <p:childTnLst>
                        <p:par>
                          <p:cTn id="43" fill="hold">
                            <p:stCondLst>
                              <p:cond delay="0"/>
                            </p:stCondLst>
                            <p:childTnLst>
                              <p:par>
                                <p:cTn id="44" presetID="1" presetClass="exit" presetSubtype="0" fill="hold" grpId="0" nodeType="clickEffect">
                                  <p:stCondLst>
                                    <p:cond delay="0"/>
                                  </p:stCondLst>
                                  <p:childTnLst>
                                    <p:set>
                                      <p:cBhvr>
                                        <p:cTn id="45" dur="1" fill="hold">
                                          <p:stCondLst>
                                            <p:cond delay="0"/>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46" restart="whenNotActive" fill="hold" evtFilter="cancelBubble" nodeType="interactiveSeq">
                <p:stCondLst>
                  <p:cond evt="onClick" delay="0">
                    <p:tgtEl>
                      <p:spTgt spid="25"/>
                    </p:tgtEl>
                  </p:cond>
                </p:stCondLst>
                <p:endSync evt="end" delay="0">
                  <p:rtn val="all"/>
                </p:endSync>
                <p:childTnLst>
                  <p:par>
                    <p:cTn id="47" fill="hold">
                      <p:stCondLst>
                        <p:cond delay="0"/>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4228</TotalTime>
  <Words>3380</Words>
  <Application>Microsoft Office PowerPoint</Application>
  <PresentationFormat>Panorámica</PresentationFormat>
  <Paragraphs>392</Paragraphs>
  <Slides>58</Slides>
  <Notes>19</Notes>
  <HiddenSlides>2</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58</vt:i4>
      </vt:variant>
    </vt:vector>
  </HeadingPairs>
  <TitlesOfParts>
    <vt:vector size="62" baseType="lpstr">
      <vt:lpstr>Arial</vt:lpstr>
      <vt:lpstr>Calibri</vt:lpstr>
      <vt:lpstr>Cambria Math</vt:lpstr>
      <vt:lpstr>Office Theme</vt:lpstr>
      <vt:lpstr>Presentación de PowerPoint</vt:lpstr>
      <vt:lpstr>Noticias de Hoy</vt:lpstr>
      <vt:lpstr>¿Dudas de la sesión anterior?</vt:lpstr>
      <vt:lpstr>Saberes Previos: Análisis de Tipos de Mediciones</vt:lpstr>
      <vt:lpstr>¿Qué se puede apreciar en la imagen?</vt:lpstr>
      <vt:lpstr>Utilidad</vt:lpstr>
      <vt:lpstr>Logro de la sesión:</vt:lpstr>
      <vt:lpstr>Temas:</vt:lpstr>
      <vt:lpstr>Medición Analógica</vt:lpstr>
      <vt:lpstr>Medición Analógica</vt:lpstr>
      <vt:lpstr>Medición Analógica</vt:lpstr>
      <vt:lpstr>Practica:</vt:lpstr>
      <vt:lpstr>Practica:</vt:lpstr>
      <vt:lpstr>Practica:</vt:lpstr>
      <vt:lpstr>Medición Digital</vt:lpstr>
      <vt:lpstr>Medición Digital</vt:lpstr>
      <vt:lpstr>Medición Digital</vt:lpstr>
      <vt:lpstr>Practica:</vt:lpstr>
      <vt:lpstr>Practica:</vt:lpstr>
      <vt:lpstr>Medición Comparativa</vt:lpstr>
      <vt:lpstr>Medición Comparativa</vt:lpstr>
      <vt:lpstr>Medición Comparativa</vt:lpstr>
      <vt:lpstr>Practica:</vt:lpstr>
      <vt:lpstr>Practica:</vt:lpstr>
      <vt:lpstr>Errores en la medición</vt:lpstr>
      <vt:lpstr>Errores en la medición</vt:lpstr>
      <vt:lpstr>Errores en la medición</vt:lpstr>
      <vt:lpstr>Errores en la medición</vt:lpstr>
      <vt:lpstr>Practica:</vt:lpstr>
      <vt:lpstr>Practica:</vt:lpstr>
      <vt:lpstr>Errores en la medición</vt:lpstr>
      <vt:lpstr>Errores en la medición</vt:lpstr>
      <vt:lpstr>Errores en la medición</vt:lpstr>
      <vt:lpstr>Errores en la medición</vt:lpstr>
      <vt:lpstr>Errores en la medición</vt:lpstr>
      <vt:lpstr>Errores en la medición</vt:lpstr>
      <vt:lpstr>Errores en la medición</vt:lpstr>
      <vt:lpstr>Errores en la medición</vt:lpstr>
      <vt:lpstr>Errores en la medición</vt:lpstr>
      <vt:lpstr>Errores en la medición</vt:lpstr>
      <vt:lpstr>Errores en la medición</vt:lpstr>
      <vt:lpstr>Errores en la medición</vt:lpstr>
      <vt:lpstr>Errores en la medición</vt:lpstr>
      <vt:lpstr>Errores en la medición</vt:lpstr>
      <vt:lpstr>Errores en la medición</vt:lpstr>
      <vt:lpstr>Practica:</vt:lpstr>
      <vt:lpstr>Practica:</vt:lpstr>
      <vt:lpstr>Practica:</vt:lpstr>
      <vt:lpstr>Métodos de Reducción y Control de Errores</vt:lpstr>
      <vt:lpstr>Métodos de Reducción y Control de Errores</vt:lpstr>
      <vt:lpstr>Practica:</vt:lpstr>
      <vt:lpstr>Practica:</vt:lpstr>
      <vt:lpstr>Practica:</vt:lpstr>
      <vt:lpstr>Practica:</vt:lpstr>
      <vt:lpstr>En practica lo aprendido</vt:lpstr>
      <vt:lpstr>Conclusiones</vt:lpstr>
      <vt:lpstr>GRACIAS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Windows-PC</dc:creator>
  <cp:lastModifiedBy>Anibal Sanchez</cp:lastModifiedBy>
  <cp:revision>30</cp:revision>
  <dcterms:modified xsi:type="dcterms:W3CDTF">2025-08-30T17:12:03Z</dcterms:modified>
</cp:coreProperties>
</file>